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8fcde34-7499-a6b6-708e-b96e1e1ea3fa}">
          <p14:sldIdLst>
            <p14:sldId id="256"/>
            <p14:sldId id="257"/>
          </p14:sldIdLst>
        </p14:section>
        <p14:section name="Question" id="{04a7169e-f469-360b-6f5a-9a91503c03ff}">
          <p14:sldIdLst>
            <p14:sldId id="258"/>
          </p14:sldIdLst>
        </p14:section>
        <p14:section name="Where" id="{154bf92a-c973-0f60-e9ed-99bac20950e7}">
          <p14:sldIdLst>
            <p14:sldId id="259"/>
            <p14:sldId id="260"/>
            <p14:sldId id="261"/>
            <p14:sldId id="262"/>
            <p14:sldId id="263"/>
            <p14:sldId id="264"/>
          </p14:sldIdLst>
        </p14:section>
        <p14:section name="What happened" id="{081fb3b7-5c0d-5434-28e5-0c855c78aa58}">
          <p14:sldIdLst>
            <p14:sldId id="265"/>
            <p14:sldId id="266"/>
          </p14:sldIdLst>
        </p14:section>
        <p14:section name="Where it went" id="{597ee659-5a90-9f75-aed3-bfcbc70966ad}">
          <p14:sldIdLst>
            <p14:sldId id="267"/>
            <p14:sldId id="268"/>
            <p14:sldId id="269"/>
          </p14:sldIdLst>
        </p14:section>
        <p14:section name="Why it came back" id="{bad9a40b-dc5f-d614-9903-b8c17cd36cbc}">
          <p14:sldIdLst>
            <p14:sldId id="270"/>
            <p14:sldId id="271"/>
            <p14:sldId id="272"/>
          </p14:sldIdLst>
        </p14:section>
        <p14:section name="Is it causal?" id="{527380aa-c72c-0333-ef1e-b08016070f1f}">
          <p14:sldIdLst>
            <p14:sldId id="273"/>
            <p14:sldId id="274"/>
            <p14:sldId id="275"/>
          </p14:sldIdLst>
        </p14:section>
        <p14:section name="Limits" id="{e4b3dcd2-a087-964e-0832-5f0169e410d4}">
          <p14:sldIdLst>
            <p14:sldId id="276"/>
          </p14:sldIdLst>
        </p14:section>
        <p14:section name="For FZS" id="{8bc63e61-e570-62d7-e0bb-14a225af2df4}">
          <p14:sldIdLst>
            <p14:sldId id="277"/>
          </p14:sldIdLst>
        </p14:section>
        <p14:section name="Closing" id="{30b01e30-f328-1bfd-9d9a-14d34f7749c3}">
          <p14:sldIdLst>
            <p14:sldId id="278"/>
          </p14:sldIdLst>
        </p14:section>
        <p14:section name="Backup" id="{8ad532f0-4e32-99ba-1c99-b345be9ba02f}">
          <p14:sldIdLst>
            <p14:sldId id="279"/>
            <p14:sldId id="280"/>
            <p14:sldId id="281"/>
            <p14:sldId id="282"/>
            <p14:sldId id="283"/>
            <p14:sldId id="284"/>
            <p14:sldId id="285"/>
            <p14:sldId id="286"/>
            <p14:sldId id="287"/>
            <p14:sldId id="288"/>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Good morning, we are Group Giant Anteater. We are Ruby Ann Grambauer, Sebastian Schmid, Laurens van der Lely, Omkar Mate and Dhruv Chaudhari.
Our title is our main finding: Operation Mercurio bought a pause, not an end. The photo shows La Pampa from an army helicopter in 2019: everything brown and blue is mined land.
Our case is Operation Mercurio, Peru's biggest operation against illegal gold mining, which started in February 2019 in La Pampa, right next to the Tambopata reserve where FZS works. We used 30-metre satellite maps for every year since 1985 and tried six ways to test whether the operation caused what we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Two facts about the giant anteater.
One: its tongue is about 60 centimetres long and flicks in and out up to 150 times a minute. That's how it eats up to 35,000 ants and termites a day (Smithsonian's National Zoo; National Geographic).
Two, and this is the one to remember: it spends only about a minute at each mound, because the ants fight back. It never destroys the nest. It moves on and comes back later to feed again (National Geographic).
Hold on to that habit. It is a good description of what we found for gold mining in La Pampa.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FZS supports SERNANP's operations against illegal gold mining around Tambopata. Operations are expensive, and they end. So the practical question: what should FZS expect in the targeted area, and around it, once an operation is over?
Three possibilities: mining stops for good (deterrence), it moves next door (displacement), or it waits and comes back (delay). Inside the target alone these look the same, so we compare areas.
The answer up front, all description. One: net mining additions in the Tambopata buffer zone fell from about 1,640 to 163 hectares a year in 2019 to 2021. But a quarter to a half of that fall is pits going out of use, most of it in 2019; the rest is fewer new pits. Two: just across the road, in the legal corridor, net additions rose from about 60 to 395 hectares a year. Three: in the later years, 2022 to 2025, the buffer zone was back at about 1,829 hectares a year, much of it on old pits.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of 4, about 12 seconds; click for the next step. This is Madre de Dios, in the south-east of the Peruvian Amazon. In green, the protected areas: Tambopata National Reserve in the south, the core FZS helps protect, ringed by its buffer zone. We use the buffer zone exactly as SERNANP draws it, including the Kotsimba native community inside it. West of it the Amarakaeri buffer zone, our less-treated comparison. Pink outlines are native communities.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of 4, about 12 seconds; click for the next step. The white line is the Interoceanic Highway, the paved road from Brazil to the Pacific. It runs right along the edge of the buffer zone. Remember this road: it becomes the border in our story. Blue lines are rivers: the gold here is alluvial, in the floodplains.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of 4, about 12 seconds; click for the next step. The blue area is the mining corridor created by decree in 2012, D.L. 1100. Inside it, small-scale mining can be permitted. South of the road, in the buffer zone, the same work is a crime. Legality is about location: the satellite maps themselves cannot tell legal from illegal mining.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of 4, about 12 seconds; click for the next step. In orange, La Pampa, the target of Operation Mercurio from February 2019. We define it as the buffer zone's part between 70.15 and 69.80 degrees west; there is no official boundary. The blue box just across the road is the part of the legal corridor directly opposite. Watch these two boxes: every number on the next slides is net mining additions in these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One measure on every slide from here on: net mining additions, in hectares per year. It is simply the mining area this year minus last year, from the MapBiomas Peru satellite maps at 30 metres.
We split it into three parts, always in the same colours. Brown: new land, mined for the first time since 1985. Amber: re-mined, old pits that were out of use for at least a year and are mined again. A pit worked in both years is in none of the three flows; it simply stays in the mining area. Teal: stopped, pits that left the mining class, most often because they flooded or started to regrow. Net equals new plus re-mined minus stopped.
Why it matters: a fall in net additions can mean fewer new pits, or more pits going out of use. Those are different stories for FZS.
And the same zones everywhere: the Tambopata buffer zone as SERNANP draws it, La Pampa as its western part, the strip of legal corridor across the road, the Amarakaeri buffer zone as the less-treated comparison, and the whole department. Hectares measure mining activity, not the number of miners.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click to play. Each year, brown pixels are land mined for the first time, amber are old pits mined again, teal are pits that stopped; grey is everything mapped as mining that year. On the right, the net additions per year for La Pampa and for the strip across the road, with the three parts.
Before 2019, brown dominates in La Pampa, south of the road. Watch 2019, the Mercurio year: new clearing did not stop in 2019 — about 1,533 hectares of new land in La Pampa, against 1,835 in 2018 — but a lot of land went out of use: 1,495 hectares stopped. So net additions drop to 243.
In 2020 and 2021, La Pampa's net additions sit near zero while the strip across the road lights up. In the later years, amber appears: mining comes back, much of it on old pits.
The video ends with the caveat we repeat: satellites can't see river dredges or mercury.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One measure on every chart from here: net mining additions, the mining area this year minus last year, in hectares per year. Zone: the Tambopata buffer zone, exactly as SERNANP draws it.
Before the operation, 2016 to 2018, it added about 1,640 hectares a year. In 2019 to 2021, Mercurio and what followed, only 163: a 90% fall. In the later years, 2022 to 2025, it was back at 1,829, or 1,251 without 2023, a spike only these maps show.
For comparison, the less-treated Amarakaeri buffer zone went the other way over the same years, 289 to 574. All description so far. Other events (COVID in 2020, Plan Restauración in 2021) are in the shaded years; we only mark Mercurio and the 2023 emergency on the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Same zone, now split into its three parts, year by year. Brown up is new land, mined for the first time; amber is old pits mined again; teal below zero is stopped land, pits that left the mining class; the black line is net.
In 2019 new pits kept opening: 1,926 hectares of new land, against 2,369 in 2018. But 1,807 hectares stopped, against 1,035 in 2018, so net additions fell to 417. New land only drops from 2020, which is also the first COVID year.
Over 2019 to 2021, more stopping explains 25%–47% of the fall in net additions, depending on how we count map flicker; 68% of the extra stopping came in 2019. In Amarakaeri, stopped land stayed flat, 542 to 584 hectares a year.
Why it matters for FZS: in the first year of an operation, new pits keep opening at the edges while the targeted pits go quiet. That is why a ring around the operation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Zoom out to the whole department. Net additions in Madre de Dios never fell: 3,610 → 4,639 → 12,047 hectares a year across the three periods.
Blue is the legal mining corridor: all the land in the D.L. 1100 decree, not only the strip across the road we show next. The percentage is the corridor's share of the department's net additions, summed over each period: 42%, then 80%, then 68%.
Careful: the rise elsewhere in the department was 1.8 times the size of Tambopata's fall, so this is not just the same miners moving; new entrants and the gold price play a part. MAAP #208 finds the same: most mining deforestation in 2021 to 2024 was inside the corridor.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Now the strip of legal corridor directly across the highway from La Pampa: up to 10 kilometres north of the road, at La Pampa's longitudes. Blue is that strip, orange is La Pampa itself.
Across the road, net additions rose from about 60 hectares a year in 2016 to 2018 to 395 in 2019 to 2021, while La Pampa fell from 1,209 to 85.
Independent evidence points the same way: Dethier and colleagues (2023) report most activity abandoned in the targeted zones and faster mining just outside them. But we cannot show it was the same people who crossed the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The same story in 1-kilometre bands, at La Pampa's longitudes: orange south of the highway, the La Pampa side; blue north, the corridor side.
In 2016 to 2018 nearly all net additions were south of the road: 1,375 hectares a year south against 224 north. In 2019 to 2021 the south dropped to 53 while the north rose to 1,112, first right next to the road, then deeper in. In the later years both sides grew.
Description only: the bands show where mining happened, not who did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Why did it come back? Three things line up; this is context, not a test.
Left: the anti-illegal-mining budget booked in Madre de Dios, programme PP 0128, peaked at about 31 million soles in 2019 and fell to about 5 million in 2025; it's a lower bound because national units book in Lima. Middle: the gold price, up 2.7-fold from 2018 to 2025. Right: net additions in the Tambopata buffer zone, back up as the money faded and the price rose.
We don't show a correlation: eleven years is too few, and money also follows mining.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Back to the parts, 2014 to 2025. In the later years the buffer zone averaged 1,829 hectares a year net, 1,251 without the 2023 spike.
Much of it came back on old pits: re-mined land was 46% of the land added, or 33% without 2023 — a third to a half. Forest-loss alerts miss this, because there is no forest left to lose. MAAP #193 (2023) reports the same return to degraded land.
We call 2022 to 2025 'the later years', not 'after enforcement', because enforcement went on in waves: Plan Restauración in 2021 and a state of emergency from April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This is FZS's core area: the Tambopata National Reserve itself, not the buffer zone.
Net additions inside the reserve stayed small or negative for years; in 2019 to 2021 they averaged −33 hectares a year. In 2025 they jumped by 241 hectares. MAAP #241 (2026) reports about 500 hectares from late 2025 to February 2026, and that the navy withdrew from its Malinowski river posts in 2025 for lack of funds.
The 2017 bar, about 534 hectares, is an earlier jump; treat single years with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Only one area was targeted, so to ask 'did Mercurio cause the fall?' we need a stand-in: what would the Tambopata buffer zone have done without it? We built that stand-in six ways.
All six point down; two hold up: comparing with the 14 other Peruvian buffer zones (difference-in-differences with zone and year effects) and weighting zones and years to match Tambopata's past (synthetic difference-in-differences, −1,544 hectares a year). Both find a fall far bigger than any other zone's, but only in hectares; for its size Tambopata is ordinary.
None is clean. A weighted copy (synthetic control) can't track a zone this big before 2019. The Brazilian twins grew at a different pace before 2019, on another product. Either side of the road is too noisy (p = 0.25). Seven matching methods all find Tambopata slower, but never beyond chance. Details in the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This is the one causal sentence we are willing to make, and it has an 'if'. If the other buffer zones show what the Tambopata buffer zone would have done without the operation, then Mercurio and the operations that followed lowered its net mining additions by about 1,453 to 1,663 hectares a year in 2019 to 2021. The low end compares it with all 14 other Peruvian buffer zones; the high end with Amarakaeri alone, both against a 2014 to 2018 baseline.
Three limits. It holds in hectares, not relative to the zone's size: scaled, Tambopata is 3rd–6th of 7, nothing special. A quarter to a half of it is pits going out of use rather than fewer new pits. And it coincides with COVID: new land only fell from 2020. Read it as an upper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How the test works: we pretend each of the other zones was the one targeted, and compute the same number. If Mercurio mattered, Tambopata's real change should stand out from all the fake ones.
Top row, in hectares: the Tambopata buffer zone, the orange dot, is far to the left of every grey dot: 1st of 15. But it was also first in 2014, before Mercurio: it is simply the biggest zone.
Bottom row, the same change scaled to each zone's normal pre-2019 year: Tambopata sits among the others, 3rd of 7 here, and 3rd–6th across the ways of scaling. A big zone falls a lot in hectares just by being big. That is why our claim is in hectares only, and a rank is not a significance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Every brief must say what satellites can't see. River dredges: MAAP counted 148 rising to 598 in La Pampa between 2021 and 2023. Mercury in rivers and fish. People: hectares measure mining activity, not the number of miners. And map flicker: 37% of the land that 'stopped' in 2019 to 2021 was mapped as mining again within two years, so some stopping is the classifier, or miners returning.
On the right, the direction of each bias. Targeted at its record peak, miners moving into comparison zones, size, and counting pits that stop as less mining all make the fall look bigger. The comparison zones' own operations and yearly maps blurring a February start push the other way.
So: read our fall as an upper bound, and the return as a lower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Three recommendations. They build on this one case, so treat them as informed expectations, not proven rules.
One, stay after the sweep. Net additions stayed low only in 2019 to 2021; in the later years the buffer zone was back at about 1,829 hectares a year (1,251 without 2023). Fund lasting presence, not one-off operations.
Two, watch the ring around the operation. In 2019 new pits kept opening while old ones went quiet, and net additions across the road rose from about 60 to 395 hectares a year. Near-real-time forest-loss alerts, like GLAD or MAAP, on a ring of a few kilometres around each operation catch the next pit early. Add old pits to the watch list: alerts miss re-mining.
Three, guard the reserve's edge and its river. 91% of the first-time mining inside the reserve along its border with the buffer zone, 2000 to 2025, lies within one kilometre of the edge. Staffed posts on the Malinowski river are a direct shield; MAAP #241 reports that the navy left those posts in 2025.
What would let us say more: dated patrol records per zone from SERNANP or FZS, dredge counts, and mercury sampling.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 Backup: six methods in detail, the one causal range, stopped land, road and cells, legality, declared gold, money, risk map, twins, Brazil, the map video and definitions.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only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zone-level designs give a large, stable number, and only in hectares: scaled to size Tambopata is ordinary. The raw rank 1 of 15 also appears in 2014, before Mercurio, so it measures size, not significance. Synthetic control cannot fit Tambopata's size before 2019; the twins grew differently before 2019 and use another product (Amazon Mining Watch new area, not net additions); the road discontinuity measures a swing and is too noisy on net additions; matching never beats chance and has no common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range runs from zone + year effects across all 15 zones (−1,453) to Tambopata vs Amarakaeri on the 2014–18 baseline (−1,663). Synthetic DiD and the gold-price model fall inside. Two estimates are left out: each zone's own trend (−1,859) fails the fake-2016 test, and synthetic control (−411) puts all weight on Amarakaeri without a pre-2019 fit. All conditional; an upper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'stopped' means on the ground. Most stopped land becomes water (flooded pits) or regrows; a large share is mapped as mining again within two years: in the Tambopata buffer zone 37% for 2019–21. That is classifier flicker or miners returning; we have no image validation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Spatial regression discontinuity (rdrobust, difference in discontinuities) at the road and at the reserve edge, and a 1-km cell panel with cell and year effects. Neither is informative on net additions: the road swing is noisy and is an upper bound because displacement breaks the no-spillover assumption; the cell comparison holds almost no mining.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Mining Watch / MAAP legality layer on first-time mining (new land), Madre de Dios. Another product; today's concessions applied to all years.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official Madre de Dios gold series 'fell' in 2020 because the ministry stopped adding its artisanal estimate. Producer-declared gold did not fall. Do not cite it as a production fall.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Informed speculation from cited parameters, not a finding: gold mined, declared gold, social cost estimates and enforcement money per year, 2022–25, log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not a causal map: chance of new land per 1-km cell in the next years, from distance to the road, rivers, gold-bearing land and existing mining.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Rule-based twins (Ruby's design), all chosen by one dating rule. On another product (Amazon Mining Watch new area, comparable to new land, not net additions), the Tambopata buffer zone added new area in 2019–21 at 16% of the twins' mean pace (41% without Munduruku). Before 2019 the twins grew differently, so they can't show the counterfactual.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if asked. In the Yanomami, Munduruku and Kayapó territories mining had boomed for years and fell after 2022. Federal operations arrived at the peak, and Munduruku was already falling before its operation, so our data cannot separate the operations from the end of the boom. A national change in January 2023 (end of the gold 'good faith' rule, electronic invoices) hit all territories at once. Net additions, MapBiomas Brazil Collection 11.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the same four steps as the click-through map slides, as one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for questions. The course's statistics workbook numbers (1,640 → 163 ha/yr) are reproduced as checks; our numbers come from the rasters on one set of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243B42"/>
        </a:solidFill>
      </p:bgPr>
    </p:bg>
    <p:spTree>
      <p:nvGrpSpPr>
        <p:cNvPr id="1" name=""/>
        <p:cNvGrpSpPr/>
        <p:nvPr/>
      </p:nvGrpSpPr>
      <p:grpSpPr>
        <a:xfrm>
          <a:off x="0" y="0"/>
          <a:ext cx="0" cy="0"/>
          <a:chOff x="0" y="0"/>
          <a:chExt cx="0" cy="0"/>
        </a:xfrm>
      </p:grpSpPr>
      <p:sp>
        <p:nvSpPr>
          <p:cNvPr id="2" name="Text 0"/>
          <p:cNvSpPr/>
          <p:nvPr/>
        </p:nvSpPr>
        <p:spPr>
          <a:xfrm>
            <a:off x="502920" y="6510528"/>
            <a:ext cx="8229600" cy="219456"/>
          </a:xfrm>
          <a:prstGeom prst="rect">
            <a:avLst/>
          </a:prstGeom>
          <a:noFill/>
          <a:ln/>
        </p:spPr>
        <p:txBody>
          <a:bodyPr wrap="square" lIns="0" tIns="0" rIns="0" bIns="0" rtlCol="0" anchor="ctr"/>
          <a:lstStyle/>
          <a:p>
            <a:pPr indent="0" marL="0">
              <a:buNone/>
            </a:pPr>
            <a:r>
              <a:rPr lang="en-US" sz="900" spc="150" kern="0" dirty="0">
                <a:solidFill>
                  <a:srgbClr val="C3D0CF"/>
                </a:solidFill>
                <a:latin typeface="Roboto Medium" pitchFamily="34" charset="0"/>
                <a:ea typeface="Roboto Medium" pitchFamily="34" charset="-122"/>
                <a:cs typeface="Roboto Medium" pitchFamily="34" charset="-120"/>
              </a:rPr>
              <a:t>WHEN THE PATROLS LEAVE  ·  GROUP GIANT ANTEATER  ·  DATA FOR GOOD</a:t>
            </a:r>
            <a:endParaRPr lang="en-US" sz="900" dirty="0"/>
          </a:p>
        </p:txBody>
      </p:sp>
      <p:sp>
        <p:nvSpPr>
          <p:cNvPr id="3" name="Shape 1"/>
          <p:cNvSpPr/>
          <p:nvPr/>
        </p:nvSpPr>
        <p:spPr>
          <a:xfrm>
            <a:off x="10554919" y="6309360"/>
            <a:ext cx="457200" cy="457200"/>
          </a:xfrm>
          <a:prstGeom prst="rect">
            <a:avLst>
              <a:gd name="adj" fmla="val 8000"/>
            </a:avLst>
          </a:prstGeom>
          <a:solidFill>
            <a:srgbClr val="FFFFFF"/>
          </a:solidFill>
          <a:ln/>
        </p:spPr>
      </p:sp>
      <p:pic>
        <p:nvPicPr>
          <p:cNvPr id="4" name="Image 0" descr="/Users/sebastianschmid/Projects/uni/DataForGood/GroupAnteaterDataForGood/presentation/deck/assets/fzs_logo.png">    </p:cNvPr>
          <p:cNvPicPr>
            <a:picLocks noChangeAspect="1"/>
          </p:cNvPicPr>
          <p:nvPr/>
        </p:nvPicPr>
        <p:blipFill>
          <a:blip r:embed="rId1"/>
          <a:stretch>
            <a:fillRect/>
          </a:stretch>
        </p:blipFill>
        <p:spPr>
          <a:xfrm>
            <a:off x="10591495" y="6345936"/>
            <a:ext cx="402336" cy="384048"/>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C3D0CF"/>
                </a:solidFill>
                <a:latin typeface="Roboto"/>
                <a:ea typeface="Roboto"/>
                <a:cs typeface="Robo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2EFEA"/>
        </a:solidFill>
      </p:bgPr>
    </p:bg>
    <p:spTree>
      <p:nvGrpSpPr>
        <p:cNvPr id="1" name=""/>
        <p:cNvGrpSpPr/>
        <p:nvPr/>
      </p:nvGrpSpPr>
      <p:grpSpPr>
        <a:xfrm>
          <a:off x="0" y="0"/>
          <a:ext cx="0" cy="0"/>
          <a:chOff x="0" y="0"/>
          <a:chExt cx="0" cy="0"/>
        </a:xfrm>
      </p:grpSpPr>
      <p:sp>
        <p:nvSpPr>
          <p:cNvPr id="2" name="Text 0"/>
          <p:cNvSpPr/>
          <p:nvPr/>
        </p:nvSpPr>
        <p:spPr>
          <a:xfrm>
            <a:off x="502920" y="6510528"/>
            <a:ext cx="8229600" cy="219456"/>
          </a:xfrm>
          <a:prstGeom prst="rect">
            <a:avLst/>
          </a:prstGeom>
          <a:noFill/>
          <a:ln/>
        </p:spPr>
        <p:txBody>
          <a:bodyPr wrap="square" lIns="0" tIns="0" rIns="0" bIns="0" rtlCol="0" anchor="ctr"/>
          <a:lstStyle/>
          <a:p>
            <a:pPr indent="0" marL="0">
              <a:buNone/>
            </a:pPr>
            <a:r>
              <a:rPr lang="en-US" sz="900" spc="150" kern="0" dirty="0">
                <a:solidFill>
                  <a:srgbClr val="6C7B80"/>
                </a:solidFill>
                <a:latin typeface="Roboto Medium" pitchFamily="34" charset="0"/>
                <a:ea typeface="Roboto Medium" pitchFamily="34" charset="-122"/>
                <a:cs typeface="Roboto Medium" pitchFamily="34" charset="-120"/>
              </a:rPr>
              <a:t>WHEN THE PATROLS LEAVE  ·  GROUP GIANT ANTEATER  ·  DATA FOR GOOD</a:t>
            </a:r>
            <a:endParaRPr lang="en-US" sz="900" dirty="0"/>
          </a:p>
        </p:txBody>
      </p:sp>
      <p:pic>
        <p:nvPicPr>
          <p:cNvPr id="3" name="Image 0" descr="/Users/sebastianschmid/Projects/uni/DataForGood/GroupAnteaterDataForGood/presentation/deck/assets/fzs_logo.png">    </p:cNvPr>
          <p:cNvPicPr>
            <a:picLocks noChangeAspect="1"/>
          </p:cNvPicPr>
          <p:nvPr/>
        </p:nvPicPr>
        <p:blipFill>
          <a:blip r:embed="rId1"/>
          <a:stretch>
            <a:fillRect/>
          </a:stretch>
        </p:blipFill>
        <p:spPr>
          <a:xfrm>
            <a:off x="10591495" y="6345936"/>
            <a:ext cx="402336" cy="384048"/>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C3D0CF"/>
                </a:solidFill>
                <a:latin typeface="Roboto"/>
                <a:ea typeface="Roboto"/>
                <a:cs typeface="Robo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video" Target="../media/media-9-1.mp4"/><Relationship Id="rId2" Type="http://schemas.microsoft.com/office/2007/relationships/media" Target="../media/media-9-1.mp4"/><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3.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video" Target="../media/media-35-1.mp4"/><Relationship Id="rId2" Type="http://schemas.microsoft.com/office/2007/relationships/media" Target="../media/media-35-1.mp4"/><Relationship Id="rId3" Type="http://schemas.openxmlformats.org/officeDocument/2006/relationships/image" Target="../media/image-35-3.png"/><Relationship Id="rId4" Type="http://schemas.openxmlformats.org/officeDocument/2006/relationships/slideLayout" Target="../slideLayouts/slideLayout3.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02920" y="384048"/>
            <a:ext cx="6569964" cy="274320"/>
          </a:xfrm>
          <a:prstGeom prst="rect">
            <a:avLst/>
          </a:prstGeom>
          <a:noFill/>
          <a:ln/>
        </p:spPr>
        <p:txBody>
          <a:bodyPr wrap="square" lIns="0" tIns="0" rIns="0" bIns="0" rtlCol="0" anchor="ctr"/>
          <a:lstStyle/>
          <a:p>
            <a:pPr indent="0" marL="0">
              <a:buNone/>
            </a:pPr>
            <a:r>
              <a:rPr lang="en-US" sz="1200" spc="220" kern="0" dirty="0">
                <a:solidFill>
                  <a:srgbClr val="B9C94F"/>
                </a:solidFill>
                <a:latin typeface="Roboto Medium" pitchFamily="34" charset="0"/>
                <a:ea typeface="Roboto Medium" pitchFamily="34" charset="-122"/>
                <a:cs typeface="Roboto Medium" pitchFamily="34" charset="-120"/>
              </a:rPr>
              <a:t>WHEN THE PATROLS LEAVE · DATA FOR GOOD · QUESTION 2</a:t>
            </a:r>
            <a:endParaRPr lang="en-US" sz="1200" dirty="0"/>
          </a:p>
        </p:txBody>
      </p:sp>
      <p:sp>
        <p:nvSpPr>
          <p:cNvPr id="3" name="Shape 1"/>
          <p:cNvSpPr/>
          <p:nvPr/>
        </p:nvSpPr>
        <p:spPr>
          <a:xfrm>
            <a:off x="7182612" y="521208"/>
            <a:ext cx="4506163" cy="0"/>
          </a:xfrm>
          <a:prstGeom prst="line">
            <a:avLst/>
          </a:prstGeom>
          <a:noFill/>
          <a:ln w="9525">
            <a:solidFill>
              <a:srgbClr val="B9C94F">
                <a:alpha val="70000"/>
              </a:srgbClr>
            </a:solidFill>
            <a:prstDash val="solid"/>
          </a:ln>
        </p:spPr>
      </p:sp>
      <p:sp>
        <p:nvSpPr>
          <p:cNvPr id="4" name="title"/>
          <p:cNvSpPr txBox="1"/>
          <p:nvPr/>
        </p:nvSpPr>
        <p:spPr>
          <a:xfrm>
            <a:off x="502920" y="1097280"/>
            <a:ext cx="6309360" cy="2194560"/>
          </a:xfrm>
          <a:prstGeom prst="rect">
            <a:avLst/>
          </a:prstGeom>
          <a:noFill/>
          <a:ln/>
        </p:spPr>
        <p:txBody>
          <a:bodyPr wrap="square" lIns="0" tIns="0" rIns="0" bIns="0" rtlCol="0" anchor="t"/>
          <a:lstStyle/>
          <a:p>
            <a:pPr indent="0" marL="0">
              <a:buNone/>
            </a:pPr>
            <a:r>
              <a:rPr lang="en-US" sz="4600" dirty="0">
                <a:solidFill>
                  <a:srgbClr val="F3F5F2"/>
                </a:solidFill>
                <a:latin typeface="Roboto Light" pitchFamily="34" charset="0"/>
                <a:ea typeface="Roboto Light" pitchFamily="34" charset="-122"/>
                <a:cs typeface="Roboto Light" pitchFamily="34" charset="-120"/>
              </a:rPr>
              <a:t>A pause, not an end:</a:t>
            </a:r>
            <a:endParaRPr lang="en-US" sz="4600" dirty="0"/>
          </a:p>
          <a:p>
            <a:pPr indent="0" marL="0">
              <a:buNone/>
            </a:pPr>
            <a:r>
              <a:rPr lang="en-US" sz="4600" dirty="0">
                <a:solidFill>
                  <a:srgbClr val="B9C94F"/>
                </a:solidFill>
                <a:latin typeface="Roboto Light" pitchFamily="34" charset="0"/>
                <a:ea typeface="Roboto Light" pitchFamily="34" charset="-122"/>
                <a:cs typeface="Roboto Light" pitchFamily="34" charset="-120"/>
              </a:rPr>
              <a:t>mining after Operation Mercurio</a:t>
            </a:r>
            <a:endParaRPr lang="en-US" sz="4600" dirty="0"/>
          </a:p>
        </p:txBody>
      </p:sp>
      <p:sp>
        <p:nvSpPr>
          <p:cNvPr id="5" name="Text 3"/>
          <p:cNvSpPr txBox="1"/>
          <p:nvPr/>
        </p:nvSpPr>
        <p:spPr>
          <a:xfrm>
            <a:off x="502920" y="3337560"/>
            <a:ext cx="5760720" cy="548640"/>
          </a:xfrm>
          <a:prstGeom prst="rect">
            <a:avLst/>
          </a:prstGeom>
          <a:noFill/>
          <a:ln/>
        </p:spPr>
        <p:txBody>
          <a:bodyPr wrap="square" lIns="0" tIns="0" rIns="0" bIns="0" rtlCol="0" anchor="t"/>
          <a:lstStyle/>
          <a:p>
            <a:pPr indent="0" marL="0">
              <a:buNone/>
            </a:pPr>
            <a:r>
              <a:rPr lang="en-US" sz="1700" dirty="0">
                <a:solidFill>
                  <a:srgbClr val="C3D0CF"/>
                </a:solidFill>
                <a:latin typeface="Roboto" pitchFamily="34" charset="0"/>
                <a:ea typeface="Roboto" pitchFamily="34" charset="-122"/>
                <a:cs typeface="Roboto" pitchFamily="34" charset="-120"/>
              </a:rPr>
              <a:t>What it means for FZS's work in Tambopata. Prepared for the Frankfurt Zoological Society.</a:t>
            </a:r>
            <a:endParaRPr lang="en-US" sz="1700" dirty="0"/>
          </a:p>
        </p:txBody>
      </p:sp>
      <p:sp>
        <p:nvSpPr>
          <p:cNvPr id="6" name="Shape 4"/>
          <p:cNvSpPr/>
          <p:nvPr/>
        </p:nvSpPr>
        <p:spPr>
          <a:xfrm>
            <a:off x="502920" y="4526280"/>
            <a:ext cx="6126480" cy="0"/>
          </a:xfrm>
          <a:prstGeom prst="line">
            <a:avLst/>
          </a:prstGeom>
          <a:noFill/>
          <a:ln w="9525">
            <a:solidFill>
              <a:srgbClr val="FFFFFF">
                <a:alpha val="18000"/>
              </a:srgbClr>
            </a:solidFill>
            <a:prstDash val="solid"/>
          </a:ln>
        </p:spPr>
      </p:sp>
      <p:sp>
        <p:nvSpPr>
          <p:cNvPr id="7" name="Text 5"/>
          <p:cNvSpPr txBox="1"/>
          <p:nvPr/>
        </p:nvSpPr>
        <p:spPr>
          <a:xfrm>
            <a:off x="502920" y="4645152"/>
            <a:ext cx="1874520" cy="548640"/>
          </a:xfrm>
          <a:prstGeom prst="rect">
            <a:avLst/>
          </a:prstGeom>
          <a:noFill/>
          <a:ln/>
        </p:spPr>
        <p:txBody>
          <a:bodyPr wrap="square" lIns="0" tIns="0" rIns="0" bIns="0" rtlCol="0" anchor="ctr"/>
          <a:lstStyle/>
          <a:p>
            <a:pPr indent="0" marL="0">
              <a:buNone/>
            </a:pPr>
            <a:r>
              <a:rPr lang="en-US" sz="2800" dirty="0">
                <a:solidFill>
                  <a:srgbClr val="B9C94F"/>
                </a:solidFill>
                <a:latin typeface="Roboto Light" pitchFamily="34" charset="0"/>
                <a:ea typeface="Roboto Light" pitchFamily="34" charset="-122"/>
                <a:cs typeface="Roboto Light" pitchFamily="34" charset="-120"/>
              </a:rPr>
              <a:t>Feb 2019</a:t>
            </a:r>
            <a:endParaRPr lang="en-US" sz="2800" dirty="0"/>
          </a:p>
        </p:txBody>
      </p:sp>
      <p:sp>
        <p:nvSpPr>
          <p:cNvPr id="8" name="Text 6"/>
          <p:cNvSpPr txBox="1"/>
          <p:nvPr/>
        </p:nvSpPr>
        <p:spPr>
          <a:xfrm>
            <a:off x="502920" y="5193792"/>
            <a:ext cx="1828800" cy="365760"/>
          </a:xfrm>
          <a:prstGeom prst="rect">
            <a:avLst/>
          </a:prstGeom>
          <a:noFill/>
          <a:ln/>
        </p:spPr>
        <p:txBody>
          <a:bodyPr wrap="square" lIns="0" tIns="0" rIns="0" bIns="0" rtlCol="0" anchor="t"/>
          <a:lstStyle/>
          <a:p>
            <a:pPr indent="0" marL="0">
              <a:buNone/>
            </a:pPr>
            <a:r>
              <a:rPr lang="en-US" sz="1200" dirty="0">
                <a:solidFill>
                  <a:srgbClr val="C3D0CF"/>
                </a:solidFill>
                <a:latin typeface="Roboto" pitchFamily="34" charset="0"/>
                <a:ea typeface="Roboto" pitchFamily="34" charset="-122"/>
                <a:cs typeface="Roboto" pitchFamily="34" charset="-120"/>
              </a:rPr>
              <a:t>Operation Mercurio starts</a:t>
            </a:r>
            <a:endParaRPr lang="en-US" sz="1200" dirty="0"/>
          </a:p>
        </p:txBody>
      </p:sp>
      <p:sp>
        <p:nvSpPr>
          <p:cNvPr id="9" name="Shape 7"/>
          <p:cNvSpPr/>
          <p:nvPr/>
        </p:nvSpPr>
        <p:spPr>
          <a:xfrm>
            <a:off x="2450592" y="4617720"/>
            <a:ext cx="0" cy="914400"/>
          </a:xfrm>
          <a:prstGeom prst="line">
            <a:avLst/>
          </a:prstGeom>
          <a:noFill/>
          <a:ln w="9525">
            <a:solidFill>
              <a:srgbClr val="FFFFFF">
                <a:alpha val="18000"/>
              </a:srgbClr>
            </a:solidFill>
            <a:prstDash val="solid"/>
          </a:ln>
        </p:spPr>
      </p:sp>
      <p:sp>
        <p:nvSpPr>
          <p:cNvPr id="10" name="Text 8"/>
          <p:cNvSpPr txBox="1"/>
          <p:nvPr/>
        </p:nvSpPr>
        <p:spPr>
          <a:xfrm>
            <a:off x="2578608" y="4645152"/>
            <a:ext cx="1874520" cy="548640"/>
          </a:xfrm>
          <a:prstGeom prst="rect">
            <a:avLst/>
          </a:prstGeom>
          <a:noFill/>
          <a:ln/>
        </p:spPr>
        <p:txBody>
          <a:bodyPr wrap="square" lIns="0" tIns="0" rIns="0" bIns="0" rtlCol="0" anchor="ctr"/>
          <a:lstStyle/>
          <a:p>
            <a:pPr indent="0" marL="0">
              <a:buNone/>
            </a:pPr>
            <a:r>
              <a:rPr lang="en-US" sz="2800" dirty="0">
                <a:solidFill>
                  <a:srgbClr val="B9C94F"/>
                </a:solidFill>
                <a:latin typeface="Roboto Light" pitchFamily="34" charset="0"/>
                <a:ea typeface="Roboto Light" pitchFamily="34" charset="-122"/>
                <a:cs typeface="Roboto Light" pitchFamily="34" charset="-120"/>
              </a:rPr>
              <a:t>30 m</a:t>
            </a:r>
            <a:endParaRPr lang="en-US" sz="2800" dirty="0"/>
          </a:p>
        </p:txBody>
      </p:sp>
      <p:sp>
        <p:nvSpPr>
          <p:cNvPr id="11" name="Text 9"/>
          <p:cNvSpPr txBox="1"/>
          <p:nvPr/>
        </p:nvSpPr>
        <p:spPr>
          <a:xfrm>
            <a:off x="2578608" y="5193792"/>
            <a:ext cx="1828800" cy="365760"/>
          </a:xfrm>
          <a:prstGeom prst="rect">
            <a:avLst/>
          </a:prstGeom>
          <a:noFill/>
          <a:ln/>
        </p:spPr>
        <p:txBody>
          <a:bodyPr wrap="square" lIns="0" tIns="0" rIns="0" bIns="0" rtlCol="0" anchor="t"/>
          <a:lstStyle/>
          <a:p>
            <a:pPr indent="0" marL="0">
              <a:buNone/>
            </a:pPr>
            <a:r>
              <a:rPr lang="en-US" sz="1200" dirty="0">
                <a:solidFill>
                  <a:srgbClr val="C3D0CF"/>
                </a:solidFill>
                <a:latin typeface="Roboto" pitchFamily="34" charset="0"/>
                <a:ea typeface="Roboto" pitchFamily="34" charset="-122"/>
                <a:cs typeface="Roboto" pitchFamily="34" charset="-120"/>
              </a:rPr>
              <a:t>satellite pixels since 1985</a:t>
            </a:r>
            <a:endParaRPr lang="en-US" sz="1200" dirty="0"/>
          </a:p>
        </p:txBody>
      </p:sp>
      <p:sp>
        <p:nvSpPr>
          <p:cNvPr id="12" name="Shape 10"/>
          <p:cNvSpPr/>
          <p:nvPr/>
        </p:nvSpPr>
        <p:spPr>
          <a:xfrm>
            <a:off x="4526280" y="4617720"/>
            <a:ext cx="0" cy="914400"/>
          </a:xfrm>
          <a:prstGeom prst="line">
            <a:avLst/>
          </a:prstGeom>
          <a:noFill/>
          <a:ln w="9525">
            <a:solidFill>
              <a:srgbClr val="FFFFFF">
                <a:alpha val="18000"/>
              </a:srgbClr>
            </a:solidFill>
            <a:prstDash val="solid"/>
          </a:ln>
        </p:spPr>
      </p:sp>
      <p:sp>
        <p:nvSpPr>
          <p:cNvPr id="13" name="Text 11"/>
          <p:cNvSpPr txBox="1"/>
          <p:nvPr/>
        </p:nvSpPr>
        <p:spPr>
          <a:xfrm>
            <a:off x="4654296" y="4645152"/>
            <a:ext cx="1874520" cy="548640"/>
          </a:xfrm>
          <a:prstGeom prst="rect">
            <a:avLst/>
          </a:prstGeom>
          <a:noFill/>
          <a:ln/>
        </p:spPr>
        <p:txBody>
          <a:bodyPr wrap="square" lIns="0" tIns="0" rIns="0" bIns="0" rtlCol="0" anchor="ctr"/>
          <a:lstStyle/>
          <a:p>
            <a:pPr indent="0" marL="0">
              <a:buNone/>
            </a:pPr>
            <a:r>
              <a:rPr lang="en-US" sz="2800" dirty="0">
                <a:solidFill>
                  <a:srgbClr val="B9C94F"/>
                </a:solidFill>
                <a:latin typeface="Roboto Light" pitchFamily="34" charset="0"/>
                <a:ea typeface="Roboto Light" pitchFamily="34" charset="-122"/>
                <a:cs typeface="Roboto Light" pitchFamily="34" charset="-120"/>
              </a:rPr>
              <a:t>6</a:t>
            </a:r>
            <a:endParaRPr lang="en-US" sz="2800" dirty="0"/>
          </a:p>
        </p:txBody>
      </p:sp>
      <p:sp>
        <p:nvSpPr>
          <p:cNvPr id="14" name="Text 12"/>
          <p:cNvSpPr txBox="1"/>
          <p:nvPr/>
        </p:nvSpPr>
        <p:spPr>
          <a:xfrm>
            <a:off x="4654296" y="5193792"/>
            <a:ext cx="1828800" cy="365760"/>
          </a:xfrm>
          <a:prstGeom prst="rect">
            <a:avLst/>
          </a:prstGeom>
          <a:noFill/>
          <a:ln/>
        </p:spPr>
        <p:txBody>
          <a:bodyPr wrap="square" lIns="0" tIns="0" rIns="0" bIns="0" rtlCol="0" anchor="t"/>
          <a:lstStyle/>
          <a:p>
            <a:pPr indent="0" marL="0">
              <a:buNone/>
            </a:pPr>
            <a:r>
              <a:rPr lang="en-US" sz="1200" dirty="0">
                <a:solidFill>
                  <a:srgbClr val="C3D0CF"/>
                </a:solidFill>
                <a:latin typeface="Roboto" pitchFamily="34" charset="0"/>
                <a:ea typeface="Roboto" pitchFamily="34" charset="-122"/>
                <a:cs typeface="Roboto" pitchFamily="34" charset="-120"/>
              </a:rPr>
              <a:t>ways we tested for cause</a:t>
            </a:r>
            <a:endParaRPr lang="en-US" sz="1200" dirty="0"/>
          </a:p>
        </p:txBody>
      </p:sp>
      <p:pic>
        <p:nvPicPr>
          <p:cNvPr id="15" name="Image 0" descr="aerial view of mined land in La Pampa during the 2019 operation">    </p:cNvPr>
          <p:cNvPicPr>
            <a:picLocks noChangeAspect="1"/>
          </p:cNvPicPr>
          <p:nvPr/>
        </p:nvPicPr>
        <p:blipFill>
          <a:blip r:embed="rId1"/>
          <a:stretch>
            <a:fillRect/>
          </a:stretch>
        </p:blipFill>
        <p:spPr>
          <a:xfrm>
            <a:off x="7086600" y="384048"/>
            <a:ext cx="4602175" cy="5650992"/>
          </a:xfrm>
          <a:prstGeom prst="rect">
            <a:avLst/>
          </a:prstGeom>
        </p:spPr>
      </p:pic>
      <p:sp>
        <p:nvSpPr>
          <p:cNvPr id="16" name="Text 13"/>
          <p:cNvSpPr txBox="1"/>
          <p:nvPr/>
        </p:nvSpPr>
        <p:spPr>
          <a:xfrm>
            <a:off x="7086600" y="6071616"/>
            <a:ext cx="4602175" cy="274320"/>
          </a:xfrm>
          <a:prstGeom prst="rect">
            <a:avLst/>
          </a:prstGeom>
          <a:noFill/>
          <a:ln/>
        </p:spPr>
        <p:txBody>
          <a:bodyPr wrap="square" lIns="0" tIns="0" rIns="0" bIns="0" rtlCol="0" anchor="t"/>
          <a:lstStyle/>
          <a:p>
            <a:pPr indent="0" marL="0">
              <a:buNone/>
            </a:pPr>
            <a:r>
              <a:rPr lang="en-US" sz="800" dirty="0">
                <a:solidFill>
                  <a:srgbClr val="C3D0CF"/>
                </a:solidFill>
                <a:latin typeface="Roboto" pitchFamily="34" charset="0"/>
                <a:ea typeface="Roboto" pitchFamily="34" charset="-122"/>
                <a:cs typeface="Roboto" pitchFamily="34" charset="-120"/>
              </a:rPr>
              <a:t>Photo: La Pampa, Madre de Dios, 2019 (army operation). Eliftoledo, Wikimedia Commons, CC BY-SA 4.0, cropped.</a:t>
            </a:r>
            <a:endParaRPr lang="en-US" sz="800" dirty="0"/>
          </a:p>
        </p:txBody>
      </p:sp>
      <p:sp>
        <p:nvSpPr>
          <p:cNvPr id="17" name="Text 14"/>
          <p:cNvSpPr txBox="1"/>
          <p:nvPr/>
        </p:nvSpPr>
        <p:spPr>
          <a:xfrm>
            <a:off x="502920" y="3977640"/>
            <a:ext cx="6126480" cy="411480"/>
          </a:xfrm>
          <a:prstGeom prst="rect">
            <a:avLst/>
          </a:prstGeom>
          <a:noFill/>
          <a:ln/>
        </p:spPr>
        <p:txBody>
          <a:bodyPr wrap="square" lIns="0" tIns="0" rIns="0" bIns="0" rtlCol="0" anchor="t"/>
          <a:lstStyle/>
          <a:p>
            <a:pPr indent="0" marL="0">
              <a:buNone/>
            </a:pPr>
            <a:r>
              <a:rPr lang="en-US" sz="1200" dirty="0">
                <a:solidFill>
                  <a:srgbClr val="C3D0CF"/>
                </a:solidFill>
                <a:latin typeface="Roboto" pitchFamily="34" charset="0"/>
                <a:ea typeface="Roboto" pitchFamily="34" charset="-122"/>
                <a:cs typeface="Roboto" pitchFamily="34" charset="-120"/>
              </a:rPr>
              <a:t>Group Giant Anteater · Ruby Ann Grambauer, Sebastian Schmid, Laurens van der Lely, Omkar Mate, Dhruv Chaudhari</a:t>
            </a:r>
            <a:endParaRPr lang="en-US" sz="12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C3D0CF"/>
                </a:solidFill>
                <a:latin typeface="Roboto"/>
                <a:ea typeface="Roboto"/>
                <a:cs typeface="Robot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384048"/>
            <a:ext cx="4101084"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00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TWO FACTS ABOUT OUR ANIMAL</a:t>
            </a:r>
            <a:endParaRPr lang="en-US" sz="1200" dirty="0"/>
          </a:p>
        </p:txBody>
      </p:sp>
      <p:sp>
        <p:nvSpPr>
          <p:cNvPr id="3" name="Shape 1"/>
          <p:cNvSpPr/>
          <p:nvPr/>
        </p:nvSpPr>
        <p:spPr>
          <a:xfrm>
            <a:off x="4713732" y="521208"/>
            <a:ext cx="6975043" cy="0"/>
          </a:xfrm>
          <a:prstGeom prst="line">
            <a:avLst/>
          </a:prstGeom>
          <a:noFill/>
          <a:ln w="9525">
            <a:solidFill>
              <a:srgbClr val="3C7D2C">
                <a:alpha val="55000"/>
              </a:srgbClr>
            </a:solidFill>
            <a:prstDash val="solid"/>
          </a:ln>
        </p:spPr>
      </p:sp>
      <p:sp>
        <p:nvSpPr>
          <p:cNvPr id="4"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Anteaters eat 35,000 ants a day, and never destroy a nest</a:t>
            </a:r>
            <a:endParaRPr lang="en-US" sz="2800" dirty="0"/>
          </a:p>
        </p:txBody>
      </p:sp>
      <p:sp>
        <p:nvSpPr>
          <p:cNvPr id="5" name="plate"/>
          <p:cNvSpPr/>
          <p:nvPr/>
        </p:nvSpPr>
        <p:spPr>
          <a:xfrm>
            <a:off x="502920" y="1737360"/>
            <a:ext cx="3566160" cy="3749040"/>
          </a:xfrm>
          <a:prstGeom prst="rect">
            <a:avLst/>
          </a:prstGeom>
          <a:solidFill>
            <a:srgbClr val="FBFAF7"/>
          </a:solidFill>
          <a:ln w="9525">
            <a:solidFill>
              <a:srgbClr val="D9D2C7"/>
            </a:solidFill>
            <a:prstDash val="solid"/>
          </a:ln>
        </p:spPr>
      </p:sp>
      <p:sp>
        <p:nvSpPr>
          <p:cNvPr id="6" name="Text 4"/>
          <p:cNvSpPr txBox="1"/>
          <p:nvPr/>
        </p:nvSpPr>
        <p:spPr>
          <a:xfrm>
            <a:off x="822960" y="2057400"/>
            <a:ext cx="2926080" cy="914400"/>
          </a:xfrm>
          <a:prstGeom prst="rect">
            <a:avLst/>
          </a:prstGeom>
          <a:noFill/>
          <a:ln/>
        </p:spPr>
        <p:txBody>
          <a:bodyPr wrap="square" lIns="0" tIns="0" rIns="0" bIns="0" rtlCol="0" anchor="ctr"/>
          <a:lstStyle/>
          <a:p>
            <a:pPr indent="0" marL="0">
              <a:buNone/>
            </a:pPr>
            <a:r>
              <a:rPr lang="en-US" sz="5000" dirty="0">
                <a:solidFill>
                  <a:srgbClr val="3C7D2C"/>
                </a:solidFill>
                <a:latin typeface="Roboto Light" pitchFamily="34" charset="0"/>
                <a:ea typeface="Roboto Light" pitchFamily="34" charset="-122"/>
                <a:cs typeface="Roboto Light" pitchFamily="34" charset="-120"/>
              </a:rPr>
              <a:t>60 cm</a:t>
            </a:r>
            <a:endParaRPr lang="en-US" sz="5000" dirty="0"/>
          </a:p>
        </p:txBody>
      </p:sp>
      <p:sp>
        <p:nvSpPr>
          <p:cNvPr id="7" name="Text 5"/>
          <p:cNvSpPr txBox="1"/>
          <p:nvPr/>
        </p:nvSpPr>
        <p:spPr>
          <a:xfrm>
            <a:off x="822960" y="3017520"/>
            <a:ext cx="2926080" cy="274320"/>
          </a:xfrm>
          <a:prstGeom prst="rect">
            <a:avLst/>
          </a:prstGeom>
          <a:noFill/>
          <a:ln/>
        </p:spPr>
        <p:txBody>
          <a:bodyPr wrap="square" lIns="0" tIns="0" rIns="0" bIns="0" rtlCol="0" anchor="ctr"/>
          <a:lstStyle/>
          <a:p>
            <a:pPr indent="0" marL="0">
              <a:buNone/>
            </a:pPr>
            <a:r>
              <a:rPr lang="en-US" sz="1200" spc="200" kern="0" dirty="0">
                <a:solidFill>
                  <a:srgbClr val="4A5B60"/>
                </a:solidFill>
                <a:latin typeface="Roboto Medium" pitchFamily="34" charset="0"/>
                <a:ea typeface="Roboto Medium" pitchFamily="34" charset="-122"/>
                <a:cs typeface="Roboto Medium" pitchFamily="34" charset="-120"/>
              </a:rPr>
              <a:t>OF TONGUE</a:t>
            </a:r>
            <a:endParaRPr lang="en-US" sz="1200" dirty="0"/>
          </a:p>
        </p:txBody>
      </p:sp>
      <p:sp>
        <p:nvSpPr>
          <p:cNvPr id="8" name="Text 6"/>
          <p:cNvSpPr txBox="1"/>
          <p:nvPr/>
        </p:nvSpPr>
        <p:spPr>
          <a:xfrm>
            <a:off x="822960" y="3429000"/>
            <a:ext cx="2926080" cy="1097280"/>
          </a:xfrm>
          <a:prstGeom prst="rect">
            <a:avLst/>
          </a:prstGeom>
          <a:noFill/>
          <a:ln/>
        </p:spPr>
        <p:txBody>
          <a:bodyPr wrap="square" lIns="0" tIns="0" rIns="0" bIns="0" rtlCol="0" anchor="t"/>
          <a:lstStyle/>
          <a:p>
            <a:pPr indent="0" marL="0">
              <a:buNone/>
            </a:pPr>
            <a:r>
              <a:rPr lang="en-US" sz="1800" dirty="0">
                <a:solidFill>
                  <a:srgbClr val="22383F"/>
                </a:solidFill>
                <a:latin typeface="Roboto" pitchFamily="34" charset="0"/>
                <a:ea typeface="Roboto" pitchFamily="34" charset="-122"/>
                <a:cs typeface="Roboto" pitchFamily="34" charset="-120"/>
              </a:rPr>
              <a:t>Flicks up to 150 times a minute.</a:t>
            </a:r>
            <a:endParaRPr lang="en-US" sz="1800" dirty="0"/>
          </a:p>
        </p:txBody>
      </p:sp>
      <p:sp>
        <p:nvSpPr>
          <p:cNvPr id="9" name="Text 7"/>
          <p:cNvSpPr txBox="1"/>
          <p:nvPr/>
        </p:nvSpPr>
        <p:spPr>
          <a:xfrm>
            <a:off x="822960" y="5029200"/>
            <a:ext cx="2926080" cy="274320"/>
          </a:xfrm>
          <a:prstGeom prst="rect">
            <a:avLst/>
          </a:prstGeom>
          <a:noFill/>
          <a:ln/>
        </p:spPr>
        <p:txBody>
          <a:bodyPr wrap="square" lIns="0" tIns="0" rIns="0" bIns="0" rtlCol="0" anchor="ctr"/>
          <a:lstStyle/>
          <a:p>
            <a:pPr indent="0" marL="0">
              <a:buNone/>
            </a:pPr>
            <a:r>
              <a:rPr lang="en-US" sz="1000" dirty="0">
                <a:solidFill>
                  <a:srgbClr val="6C7B80"/>
                </a:solidFill>
                <a:latin typeface="Roboto" pitchFamily="34" charset="0"/>
                <a:ea typeface="Roboto" pitchFamily="34" charset="-122"/>
                <a:cs typeface="Roboto" pitchFamily="34" charset="-120"/>
              </a:rPr>
              <a:t>Smithsonian's National Zoo; National Geographic</a:t>
            </a:r>
            <a:endParaRPr lang="en-US" sz="1000" dirty="0"/>
          </a:p>
        </p:txBody>
      </p:sp>
      <p:sp>
        <p:nvSpPr>
          <p:cNvPr id="10" name="plate"/>
          <p:cNvSpPr/>
          <p:nvPr/>
        </p:nvSpPr>
        <p:spPr>
          <a:xfrm>
            <a:off x="4297680" y="1737360"/>
            <a:ext cx="3566160" cy="3749040"/>
          </a:xfrm>
          <a:prstGeom prst="rect">
            <a:avLst/>
          </a:prstGeom>
          <a:solidFill>
            <a:srgbClr val="FBFAF7"/>
          </a:solidFill>
          <a:ln w="9525">
            <a:solidFill>
              <a:srgbClr val="D9D2C7"/>
            </a:solidFill>
            <a:prstDash val="solid"/>
          </a:ln>
        </p:spPr>
      </p:sp>
      <p:sp>
        <p:nvSpPr>
          <p:cNvPr id="11" name="Text 9"/>
          <p:cNvSpPr txBox="1"/>
          <p:nvPr/>
        </p:nvSpPr>
        <p:spPr>
          <a:xfrm>
            <a:off x="4617720" y="2057400"/>
            <a:ext cx="2926080" cy="914400"/>
          </a:xfrm>
          <a:prstGeom prst="rect">
            <a:avLst/>
          </a:prstGeom>
          <a:noFill/>
          <a:ln/>
        </p:spPr>
        <p:txBody>
          <a:bodyPr wrap="square" lIns="0" tIns="0" rIns="0" bIns="0" rtlCol="0" anchor="ctr"/>
          <a:lstStyle/>
          <a:p>
            <a:pPr indent="0" marL="0">
              <a:buNone/>
            </a:pPr>
            <a:r>
              <a:rPr lang="en-US" sz="5000" dirty="0">
                <a:solidFill>
                  <a:srgbClr val="3C7D2C"/>
                </a:solidFill>
                <a:latin typeface="Roboto Light" pitchFamily="34" charset="0"/>
                <a:ea typeface="Roboto Light" pitchFamily="34" charset="-122"/>
                <a:cs typeface="Roboto Light" pitchFamily="34" charset="-120"/>
              </a:rPr>
              <a:t>1 minute</a:t>
            </a:r>
            <a:endParaRPr lang="en-US" sz="5000" dirty="0"/>
          </a:p>
        </p:txBody>
      </p:sp>
      <p:sp>
        <p:nvSpPr>
          <p:cNvPr id="12" name="Text 10"/>
          <p:cNvSpPr txBox="1"/>
          <p:nvPr/>
        </p:nvSpPr>
        <p:spPr>
          <a:xfrm>
            <a:off x="4617720" y="3017520"/>
            <a:ext cx="2926080" cy="274320"/>
          </a:xfrm>
          <a:prstGeom prst="rect">
            <a:avLst/>
          </a:prstGeom>
          <a:noFill/>
          <a:ln/>
        </p:spPr>
        <p:txBody>
          <a:bodyPr wrap="square" lIns="0" tIns="0" rIns="0" bIns="0" rtlCol="0" anchor="ctr"/>
          <a:lstStyle/>
          <a:p>
            <a:pPr indent="0" marL="0">
              <a:buNone/>
            </a:pPr>
            <a:r>
              <a:rPr lang="en-US" sz="1200" spc="200" kern="0" dirty="0">
                <a:solidFill>
                  <a:srgbClr val="4A5B60"/>
                </a:solidFill>
                <a:latin typeface="Roboto Medium" pitchFamily="34" charset="0"/>
                <a:ea typeface="Roboto Medium" pitchFamily="34" charset="-122"/>
                <a:cs typeface="Roboto Medium" pitchFamily="34" charset="-120"/>
              </a:rPr>
              <a:t>PER MOUND</a:t>
            </a:r>
            <a:endParaRPr lang="en-US" sz="1200" dirty="0"/>
          </a:p>
        </p:txBody>
      </p:sp>
      <p:sp>
        <p:nvSpPr>
          <p:cNvPr id="13" name="Text 11"/>
          <p:cNvSpPr txBox="1"/>
          <p:nvPr/>
        </p:nvSpPr>
        <p:spPr>
          <a:xfrm>
            <a:off x="4617720" y="3429000"/>
            <a:ext cx="2926080" cy="1097280"/>
          </a:xfrm>
          <a:prstGeom prst="rect">
            <a:avLst/>
          </a:prstGeom>
          <a:noFill/>
          <a:ln/>
        </p:spPr>
        <p:txBody>
          <a:bodyPr wrap="square" lIns="0" tIns="0" rIns="0" bIns="0" rtlCol="0" anchor="t"/>
          <a:lstStyle/>
          <a:p>
            <a:pPr indent="0" marL="0">
              <a:buNone/>
            </a:pPr>
            <a:r>
              <a:rPr lang="en-US" sz="1800" dirty="0">
                <a:solidFill>
                  <a:srgbClr val="22383F"/>
                </a:solidFill>
                <a:latin typeface="Roboto" pitchFamily="34" charset="0"/>
                <a:ea typeface="Roboto" pitchFamily="34" charset="-122"/>
                <a:cs typeface="Roboto" pitchFamily="34" charset="-120"/>
              </a:rPr>
              <a:t>Then it moves on, and comes back later.</a:t>
            </a:r>
            <a:endParaRPr lang="en-US" sz="1800" dirty="0"/>
          </a:p>
        </p:txBody>
      </p:sp>
      <p:sp>
        <p:nvSpPr>
          <p:cNvPr id="14" name="Text 12"/>
          <p:cNvSpPr txBox="1"/>
          <p:nvPr/>
        </p:nvSpPr>
        <p:spPr>
          <a:xfrm>
            <a:off x="4617720" y="5029200"/>
            <a:ext cx="2926080" cy="274320"/>
          </a:xfrm>
          <a:prstGeom prst="rect">
            <a:avLst/>
          </a:prstGeom>
          <a:noFill/>
          <a:ln/>
        </p:spPr>
        <p:txBody>
          <a:bodyPr wrap="square" lIns="0" tIns="0" rIns="0" bIns="0" rtlCol="0" anchor="ctr"/>
          <a:lstStyle/>
          <a:p>
            <a:pPr indent="0" marL="0">
              <a:buNone/>
            </a:pPr>
            <a:r>
              <a:rPr lang="en-US" sz="1000" dirty="0">
                <a:solidFill>
                  <a:srgbClr val="6C7B80"/>
                </a:solidFill>
                <a:latin typeface="Roboto" pitchFamily="34" charset="0"/>
                <a:ea typeface="Roboto" pitchFamily="34" charset="-122"/>
                <a:cs typeface="Roboto" pitchFamily="34" charset="-120"/>
              </a:rPr>
              <a:t>National Geographic</a:t>
            </a:r>
            <a:endParaRPr lang="en-US" sz="1000" dirty="0"/>
          </a:p>
        </p:txBody>
      </p:sp>
      <p:pic>
        <p:nvPicPr>
          <p:cNvPr id="15" name="Image 0" descr="anteater at a termite mound">    </p:cNvPr>
          <p:cNvPicPr>
            <a:picLocks noChangeAspect="1"/>
          </p:cNvPicPr>
          <p:nvPr/>
        </p:nvPicPr>
        <p:blipFill>
          <a:blip r:embed="rId1"/>
          <a:stretch>
            <a:fillRect/>
          </a:stretch>
        </p:blipFill>
        <p:spPr>
          <a:xfrm>
            <a:off x="8092440" y="1737360"/>
            <a:ext cx="3596335" cy="3749040"/>
          </a:xfrm>
          <a:prstGeom prst="rect">
            <a:avLst/>
          </a:prstGeom>
        </p:spPr>
      </p:pic>
      <p:sp>
        <p:nvSpPr>
          <p:cNvPr id="16" name="Text 13"/>
          <p:cNvSpPr txBox="1"/>
          <p:nvPr/>
        </p:nvSpPr>
        <p:spPr>
          <a:xfrm>
            <a:off x="8092440" y="5532120"/>
            <a:ext cx="3596335" cy="228600"/>
          </a:xfrm>
          <a:prstGeom prst="rect">
            <a:avLst/>
          </a:prstGeom>
          <a:noFill/>
          <a:ln/>
        </p:spPr>
        <p:txBody>
          <a:bodyPr wrap="square" lIns="0" tIns="0" rIns="0" bIns="0" rtlCol="0" anchor="ctr"/>
          <a:lstStyle/>
          <a:p>
            <a:pPr algn="ctr" indent="0" marL="0">
              <a:buNone/>
            </a:pPr>
            <a:r>
              <a:rPr lang="en-US" sz="1000" i="1" dirty="0">
                <a:solidFill>
                  <a:srgbClr val="6C7B80"/>
                </a:solidFill>
                <a:latin typeface="Roboto" pitchFamily="34" charset="0"/>
                <a:ea typeface="Roboto" pitchFamily="34" charset="-122"/>
                <a:cs typeface="Roboto" pitchFamily="34" charset="-120"/>
              </a:rPr>
              <a:t>Giant anteater at a termite mound</a:t>
            </a:r>
            <a:endParaRPr lang="en-US" sz="1000" dirty="0"/>
          </a:p>
        </p:txBody>
      </p:sp>
      <p:pic>
        <p:nvPicPr>
          <p:cNvPr id="17" name="Image 1" descr="leaf icon">    </p:cNvPr>
          <p:cNvPicPr>
            <a:picLocks noChangeAspect="1"/>
          </p:cNvPicPr>
          <p:nvPr/>
        </p:nvPicPr>
        <p:blipFill>
          <a:blip r:embed="rId2"/>
          <a:stretch>
            <a:fillRect/>
          </a:stretch>
        </p:blipFill>
        <p:spPr>
          <a:xfrm>
            <a:off x="502920" y="5715000"/>
            <a:ext cx="502920" cy="502920"/>
          </a:xfrm>
          <a:prstGeom prst="rect">
            <a:avLst/>
          </a:prstGeom>
        </p:spPr>
      </p:pic>
      <p:sp>
        <p:nvSpPr>
          <p:cNvPr id="18" name="Text 14"/>
          <p:cNvSpPr txBox="1"/>
          <p:nvPr/>
        </p:nvSpPr>
        <p:spPr>
          <a:xfrm>
            <a:off x="1143000" y="5733288"/>
            <a:ext cx="10545775" cy="457200"/>
          </a:xfrm>
          <a:prstGeom prst="rect">
            <a:avLst/>
          </a:prstGeom>
          <a:noFill/>
          <a:ln/>
        </p:spPr>
        <p:txBody>
          <a:bodyPr wrap="square" lIns="0" tIns="0" rIns="0" bIns="0" rtlCol="0" anchor="ctr"/>
          <a:lstStyle/>
          <a:p>
            <a:pPr indent="0" marL="0">
              <a:buNone/>
            </a:pPr>
            <a:r>
              <a:rPr lang="en-US" sz="2000" dirty="0">
                <a:solidFill>
                  <a:srgbClr val="22383F"/>
                </a:solidFill>
                <a:latin typeface="Roboto Light" pitchFamily="34" charset="0"/>
                <a:ea typeface="Roboto Light" pitchFamily="34" charset="-122"/>
                <a:cs typeface="Roboto Light" pitchFamily="34" charset="-120"/>
              </a:rPr>
              <a:t>Mining in La Pampa did the same: it moved on, then came back.</a:t>
            </a:r>
            <a:endParaRPr lang="en-US" sz="20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384048"/>
            <a:ext cx="2372868" cy="274320"/>
          </a:xfrm>
          <a:prstGeom prst="rect">
            <a:avLst/>
          </a:prstGeom>
          <a:noFill/>
          <a:ln/>
        </p:spPr>
        <p:txBody>
          <a:bodyPr wrap="square" lIns="0" tIns="0" rIns="0" bIns="0" rtlCol="0" anchor="ctr"/>
          <a:lstStyle/>
          <a:p>
            <a:pPr indent="0" marL="0">
              <a:buNone/>
            </a:pPr>
            <a:r>
              <a:rPr lang="en-US" sz="1200" spc="220" kern="0" dirty="0">
                <a:solidFill>
                  <a:srgbClr val="B9C94F"/>
                </a:solidFill>
                <a:latin typeface="Roboto Medium" pitchFamily="34" charset="0"/>
                <a:ea typeface="Roboto Medium" pitchFamily="34" charset="-122"/>
                <a:cs typeface="Roboto Medium" pitchFamily="34" charset="-120"/>
              </a:rPr>
              <a:t>01   </a:t>
            </a:r>
            <a:pPr indent="0" marL="0">
              <a:buNone/>
            </a:pPr>
            <a:r>
              <a:rPr lang="en-US" sz="1200" spc="220" kern="0" dirty="0">
                <a:solidFill>
                  <a:srgbClr val="B9C94F"/>
                </a:solidFill>
                <a:latin typeface="Roboto Medium" pitchFamily="34" charset="0"/>
                <a:ea typeface="Roboto Medium" pitchFamily="34" charset="-122"/>
                <a:cs typeface="Roboto Medium" pitchFamily="34" charset="-120"/>
              </a:rPr>
              <a:t>THE QUESTION</a:t>
            </a:r>
            <a:endParaRPr lang="en-US" sz="1200" dirty="0"/>
          </a:p>
        </p:txBody>
      </p:sp>
      <p:sp>
        <p:nvSpPr>
          <p:cNvPr id="3" name="Shape 1"/>
          <p:cNvSpPr/>
          <p:nvPr/>
        </p:nvSpPr>
        <p:spPr>
          <a:xfrm>
            <a:off x="2985516" y="521208"/>
            <a:ext cx="8703259" cy="0"/>
          </a:xfrm>
          <a:prstGeom prst="line">
            <a:avLst/>
          </a:prstGeom>
          <a:noFill/>
          <a:ln w="9525">
            <a:solidFill>
              <a:srgbClr val="B9C94F">
                <a:alpha val="70000"/>
              </a:srgbClr>
            </a:solidFill>
            <a:prstDash val="solid"/>
          </a:ln>
        </p:spPr>
      </p:sp>
      <p:sp>
        <p:nvSpPr>
          <p:cNvPr id="4"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F3F5F2"/>
                </a:solidFill>
                <a:latin typeface="Roboto Light" pitchFamily="34" charset="0"/>
                <a:ea typeface="Roboto Light" pitchFamily="34" charset="-122"/>
                <a:cs typeface="Roboto Light" pitchFamily="34" charset="-120"/>
              </a:rPr>
              <a:t>FZS pays for operations. What happens when one ends?</a:t>
            </a:r>
            <a:endParaRPr lang="en-US" sz="2800" dirty="0"/>
          </a:p>
        </p:txBody>
      </p:sp>
      <p:sp>
        <p:nvSpPr>
          <p:cNvPr id="5"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C3D0CF"/>
                </a:solidFill>
                <a:latin typeface="Roboto" pitchFamily="34" charset="0"/>
                <a:ea typeface="Roboto" pitchFamily="34" charset="-122"/>
                <a:cs typeface="Roboto" pitchFamily="34" charset="-120"/>
              </a:rPr>
              <a:t>Net mining additions, ha/yr · Tambopata buffer zone, La Pampa, Madre de Dios · 2016–18 vs 2019–21 vs 2022–25</a:t>
            </a:r>
            <a:endParaRPr lang="en-US" sz="1250" dirty="0"/>
          </a:p>
        </p:txBody>
      </p:sp>
      <p:sp>
        <p:nvSpPr>
          <p:cNvPr id="6" name="Text 4"/>
          <p:cNvSpPr txBox="1"/>
          <p:nvPr/>
        </p:nvSpPr>
        <p:spPr>
          <a:xfrm>
            <a:off x="502920" y="2011680"/>
            <a:ext cx="3657600" cy="274320"/>
          </a:xfrm>
          <a:prstGeom prst="rect">
            <a:avLst/>
          </a:prstGeom>
          <a:noFill/>
          <a:ln/>
        </p:spPr>
        <p:txBody>
          <a:bodyPr wrap="square" lIns="0" tIns="0" rIns="0" bIns="0" rtlCol="0" anchor="ctr"/>
          <a:lstStyle/>
          <a:p>
            <a:pPr indent="0" marL="0">
              <a:buNone/>
            </a:pPr>
            <a:r>
              <a:rPr lang="en-US" sz="1200" spc="220" kern="0" dirty="0">
                <a:solidFill>
                  <a:srgbClr val="B9C94F"/>
                </a:solidFill>
                <a:latin typeface="Roboto Medium" pitchFamily="34" charset="0"/>
                <a:ea typeface="Roboto Medium" pitchFamily="34" charset="-122"/>
                <a:cs typeface="Roboto Medium" pitchFamily="34" charset="-120"/>
              </a:rPr>
              <a:t>WHAT WE FOUND</a:t>
            </a:r>
            <a:endParaRPr lang="en-US" sz="1200" dirty="0"/>
          </a:p>
        </p:txBody>
      </p:sp>
      <p:sp>
        <p:nvSpPr>
          <p:cNvPr id="7" name="Shape 5"/>
          <p:cNvSpPr/>
          <p:nvPr/>
        </p:nvSpPr>
        <p:spPr>
          <a:xfrm>
            <a:off x="502920" y="2468880"/>
            <a:ext cx="640080" cy="640080"/>
          </a:xfrm>
          <a:prstGeom prst="ellipse">
            <a:avLst/>
          </a:prstGeom>
          <a:solidFill>
            <a:srgbClr val="2E4850"/>
          </a:solidFill>
          <a:ln w="12700">
            <a:solidFill>
              <a:srgbClr val="B9C94F"/>
            </a:solidFill>
            <a:prstDash val="solid"/>
          </a:ln>
        </p:spPr>
      </p:sp>
      <p:pic>
        <p:nvPicPr>
          <p:cNvPr id="8" name="Image 0" descr="preencoded.png">    </p:cNvPr>
          <p:cNvPicPr>
            <a:picLocks noChangeAspect="1"/>
          </p:cNvPicPr>
          <p:nvPr/>
        </p:nvPicPr>
        <p:blipFill>
          <a:blip r:embed="rId1"/>
          <a:stretch>
            <a:fillRect/>
          </a:stretch>
        </p:blipFill>
        <p:spPr>
          <a:xfrm>
            <a:off x="649224" y="2615184"/>
            <a:ext cx="347472" cy="347472"/>
          </a:xfrm>
          <a:prstGeom prst="rect">
            <a:avLst/>
          </a:prstGeom>
        </p:spPr>
      </p:pic>
      <p:sp>
        <p:nvSpPr>
          <p:cNvPr id="9" name="Text 6"/>
          <p:cNvSpPr txBox="1"/>
          <p:nvPr/>
        </p:nvSpPr>
        <p:spPr>
          <a:xfrm>
            <a:off x="502920" y="3291840"/>
            <a:ext cx="3429000" cy="256032"/>
          </a:xfrm>
          <a:prstGeom prst="rect">
            <a:avLst/>
          </a:prstGeom>
          <a:noFill/>
          <a:ln/>
        </p:spPr>
        <p:txBody>
          <a:bodyPr wrap="square" lIns="0" tIns="0" rIns="0" bIns="0" rtlCol="0" anchor="ctr"/>
          <a:lstStyle/>
          <a:p>
            <a:pPr indent="0" marL="0">
              <a:buNone/>
            </a:pPr>
            <a:r>
              <a:rPr lang="en-US" sz="1100" spc="200" kern="0" dirty="0">
                <a:solidFill>
                  <a:srgbClr val="C3D0CF"/>
                </a:solidFill>
                <a:latin typeface="Roboto Medium" pitchFamily="34" charset="0"/>
                <a:ea typeface="Roboto Medium" pitchFamily="34" charset="-122"/>
                <a:cs typeface="Roboto Medium" pitchFamily="34" charset="-120"/>
              </a:rPr>
              <a:t>1 · IT FELL, LOCALLY</a:t>
            </a:r>
            <a:endParaRPr lang="en-US" sz="1100" dirty="0"/>
          </a:p>
        </p:txBody>
      </p:sp>
      <p:sp>
        <p:nvSpPr>
          <p:cNvPr id="10" name="Text 7"/>
          <p:cNvSpPr txBox="1"/>
          <p:nvPr/>
        </p:nvSpPr>
        <p:spPr>
          <a:xfrm>
            <a:off x="502920" y="3602736"/>
            <a:ext cx="3429000" cy="777240"/>
          </a:xfrm>
          <a:prstGeom prst="rect">
            <a:avLst/>
          </a:prstGeom>
          <a:noFill/>
          <a:ln/>
        </p:spPr>
        <p:txBody>
          <a:bodyPr wrap="square" lIns="0" tIns="0" rIns="0" bIns="0" rtlCol="0" anchor="t"/>
          <a:lstStyle/>
          <a:p>
            <a:pPr indent="0" marL="0">
              <a:buNone/>
            </a:pPr>
            <a:r>
              <a:rPr lang="en-US" sz="4000" dirty="0">
                <a:solidFill>
                  <a:srgbClr val="B9C94F"/>
                </a:solidFill>
                <a:latin typeface="Roboto Light" pitchFamily="34" charset="0"/>
                <a:ea typeface="Roboto Light" pitchFamily="34" charset="-122"/>
                <a:cs typeface="Roboto Light" pitchFamily="34" charset="-120"/>
              </a:rPr>
              <a:t>1,640 → 163</a:t>
            </a:r>
            <a:endParaRPr lang="en-US" sz="4000" dirty="0"/>
          </a:p>
        </p:txBody>
      </p:sp>
      <p:sp>
        <p:nvSpPr>
          <p:cNvPr id="11" name="Text 8"/>
          <p:cNvSpPr txBox="1"/>
          <p:nvPr/>
        </p:nvSpPr>
        <p:spPr>
          <a:xfrm>
            <a:off x="502920" y="4407408"/>
            <a:ext cx="3429000" cy="822960"/>
          </a:xfrm>
          <a:prstGeom prst="rect">
            <a:avLst/>
          </a:prstGeom>
          <a:noFill/>
          <a:ln/>
        </p:spPr>
        <p:txBody>
          <a:bodyPr wrap="square" lIns="0" tIns="0" rIns="0" bIns="0" rtlCol="0" anchor="t"/>
          <a:lstStyle/>
          <a:p>
            <a:pPr indent="0" marL="0">
              <a:buNone/>
            </a:pPr>
            <a:r>
              <a:rPr lang="en-US" sz="1400" dirty="0">
                <a:solidFill>
                  <a:srgbClr val="C3D0CF"/>
                </a:solidFill>
                <a:latin typeface="Roboto" pitchFamily="34" charset="0"/>
                <a:ea typeface="Roboto" pitchFamily="34" charset="-122"/>
                <a:cs typeface="Roboto" pitchFamily="34" charset="-120"/>
              </a:rPr>
              <a:t>ha/yr, Tambopata buffer zone. 25%–47% of the fall: pits going out of use</a:t>
            </a:r>
            <a:endParaRPr lang="en-US" sz="1400" dirty="0"/>
          </a:p>
        </p:txBody>
      </p:sp>
      <p:sp>
        <p:nvSpPr>
          <p:cNvPr id="12" name="Shape 9"/>
          <p:cNvSpPr/>
          <p:nvPr/>
        </p:nvSpPr>
        <p:spPr>
          <a:xfrm>
            <a:off x="4096512" y="2468880"/>
            <a:ext cx="0" cy="3200400"/>
          </a:xfrm>
          <a:prstGeom prst="line">
            <a:avLst/>
          </a:prstGeom>
          <a:noFill/>
          <a:ln w="9525">
            <a:solidFill>
              <a:srgbClr val="FFFFFF">
                <a:alpha val="18000"/>
              </a:srgbClr>
            </a:solidFill>
            <a:prstDash val="solid"/>
          </a:ln>
        </p:spPr>
      </p:sp>
      <p:sp>
        <p:nvSpPr>
          <p:cNvPr id="13" name="Shape 10"/>
          <p:cNvSpPr/>
          <p:nvPr/>
        </p:nvSpPr>
        <p:spPr>
          <a:xfrm>
            <a:off x="4279392" y="2468880"/>
            <a:ext cx="640080" cy="640080"/>
          </a:xfrm>
          <a:prstGeom prst="ellipse">
            <a:avLst/>
          </a:prstGeom>
          <a:solidFill>
            <a:srgbClr val="2E4850"/>
          </a:solidFill>
          <a:ln w="12700">
            <a:solidFill>
              <a:srgbClr val="B9C94F"/>
            </a:solidFill>
            <a:prstDash val="solid"/>
          </a:ln>
        </p:spPr>
      </p:sp>
      <p:pic>
        <p:nvPicPr>
          <p:cNvPr id="14" name="Image 1" descr="preencoded.png">    </p:cNvPr>
          <p:cNvPicPr>
            <a:picLocks noChangeAspect="1"/>
          </p:cNvPicPr>
          <p:nvPr/>
        </p:nvPicPr>
        <p:blipFill>
          <a:blip r:embed="rId2"/>
          <a:stretch>
            <a:fillRect/>
          </a:stretch>
        </p:blipFill>
        <p:spPr>
          <a:xfrm>
            <a:off x="4425696" y="2615184"/>
            <a:ext cx="347472" cy="347472"/>
          </a:xfrm>
          <a:prstGeom prst="rect">
            <a:avLst/>
          </a:prstGeom>
        </p:spPr>
      </p:pic>
      <p:sp>
        <p:nvSpPr>
          <p:cNvPr id="15" name="Text 11"/>
          <p:cNvSpPr txBox="1"/>
          <p:nvPr/>
        </p:nvSpPr>
        <p:spPr>
          <a:xfrm>
            <a:off x="4279392" y="3291840"/>
            <a:ext cx="3429000" cy="256032"/>
          </a:xfrm>
          <a:prstGeom prst="rect">
            <a:avLst/>
          </a:prstGeom>
          <a:noFill/>
          <a:ln/>
        </p:spPr>
        <p:txBody>
          <a:bodyPr wrap="square" lIns="0" tIns="0" rIns="0" bIns="0" rtlCol="0" anchor="ctr"/>
          <a:lstStyle/>
          <a:p>
            <a:pPr indent="0" marL="0">
              <a:buNone/>
            </a:pPr>
            <a:r>
              <a:rPr lang="en-US" sz="1100" spc="200" kern="0" dirty="0">
                <a:solidFill>
                  <a:srgbClr val="C3D0CF"/>
                </a:solidFill>
                <a:latin typeface="Roboto Medium" pitchFamily="34" charset="0"/>
                <a:ea typeface="Roboto Medium" pitchFamily="34" charset="-122"/>
                <a:cs typeface="Roboto Medium" pitchFamily="34" charset="-120"/>
              </a:rPr>
              <a:t>2 · IT MOVED</a:t>
            </a:r>
            <a:endParaRPr lang="en-US" sz="1100" dirty="0"/>
          </a:p>
        </p:txBody>
      </p:sp>
      <p:sp>
        <p:nvSpPr>
          <p:cNvPr id="16" name="Text 12"/>
          <p:cNvSpPr txBox="1"/>
          <p:nvPr/>
        </p:nvSpPr>
        <p:spPr>
          <a:xfrm>
            <a:off x="4279392" y="3602736"/>
            <a:ext cx="3429000" cy="777240"/>
          </a:xfrm>
          <a:prstGeom prst="rect">
            <a:avLst/>
          </a:prstGeom>
          <a:noFill/>
          <a:ln/>
        </p:spPr>
        <p:txBody>
          <a:bodyPr wrap="square" lIns="0" tIns="0" rIns="0" bIns="0" rtlCol="0" anchor="t"/>
          <a:lstStyle/>
          <a:p>
            <a:pPr indent="0" marL="0">
              <a:buNone/>
            </a:pPr>
            <a:r>
              <a:rPr lang="en-US" sz="4000" dirty="0">
                <a:solidFill>
                  <a:srgbClr val="B9C94F"/>
                </a:solidFill>
                <a:latin typeface="Roboto Light" pitchFamily="34" charset="0"/>
                <a:ea typeface="Roboto Light" pitchFamily="34" charset="-122"/>
                <a:cs typeface="Roboto Light" pitchFamily="34" charset="-120"/>
              </a:rPr>
              <a:t>60 → 395</a:t>
            </a:r>
            <a:endParaRPr lang="en-US" sz="4000" dirty="0"/>
          </a:p>
        </p:txBody>
      </p:sp>
      <p:sp>
        <p:nvSpPr>
          <p:cNvPr id="17" name="Text 13"/>
          <p:cNvSpPr txBox="1"/>
          <p:nvPr/>
        </p:nvSpPr>
        <p:spPr>
          <a:xfrm>
            <a:off x="4279392" y="4407408"/>
            <a:ext cx="3429000" cy="822960"/>
          </a:xfrm>
          <a:prstGeom prst="rect">
            <a:avLst/>
          </a:prstGeom>
          <a:noFill/>
          <a:ln/>
        </p:spPr>
        <p:txBody>
          <a:bodyPr wrap="square" lIns="0" tIns="0" rIns="0" bIns="0" rtlCol="0" anchor="t"/>
          <a:lstStyle/>
          <a:p>
            <a:pPr indent="0" marL="0">
              <a:buNone/>
            </a:pPr>
            <a:r>
              <a:rPr lang="en-US" sz="1400" dirty="0">
                <a:solidFill>
                  <a:srgbClr val="C3D0CF"/>
                </a:solidFill>
                <a:latin typeface="Roboto" pitchFamily="34" charset="0"/>
                <a:ea typeface="Roboto" pitchFamily="34" charset="-122"/>
                <a:cs typeface="Roboto" pitchFamily="34" charset="-120"/>
              </a:rPr>
              <a:t>ha/yr just across the road, in the legal corridor</a:t>
            </a:r>
            <a:endParaRPr lang="en-US" sz="1400" dirty="0"/>
          </a:p>
        </p:txBody>
      </p:sp>
      <p:sp>
        <p:nvSpPr>
          <p:cNvPr id="18" name="Shape 14"/>
          <p:cNvSpPr/>
          <p:nvPr/>
        </p:nvSpPr>
        <p:spPr>
          <a:xfrm>
            <a:off x="7872984" y="2468880"/>
            <a:ext cx="0" cy="3200400"/>
          </a:xfrm>
          <a:prstGeom prst="line">
            <a:avLst/>
          </a:prstGeom>
          <a:noFill/>
          <a:ln w="9525">
            <a:solidFill>
              <a:srgbClr val="FFFFFF">
                <a:alpha val="18000"/>
              </a:srgbClr>
            </a:solidFill>
            <a:prstDash val="solid"/>
          </a:ln>
        </p:spPr>
      </p:sp>
      <p:sp>
        <p:nvSpPr>
          <p:cNvPr id="19" name="Shape 15"/>
          <p:cNvSpPr/>
          <p:nvPr/>
        </p:nvSpPr>
        <p:spPr>
          <a:xfrm>
            <a:off x="8055864" y="2468880"/>
            <a:ext cx="640080" cy="640080"/>
          </a:xfrm>
          <a:prstGeom prst="ellipse">
            <a:avLst/>
          </a:prstGeom>
          <a:solidFill>
            <a:srgbClr val="2E4850"/>
          </a:solidFill>
          <a:ln w="12700">
            <a:solidFill>
              <a:srgbClr val="B9C94F"/>
            </a:solidFill>
            <a:prstDash val="solid"/>
          </a:ln>
        </p:spPr>
      </p:sp>
      <p:pic>
        <p:nvPicPr>
          <p:cNvPr id="20" name="Image 2" descr="preencoded.png">    </p:cNvPr>
          <p:cNvPicPr>
            <a:picLocks noChangeAspect="1"/>
          </p:cNvPicPr>
          <p:nvPr/>
        </p:nvPicPr>
        <p:blipFill>
          <a:blip r:embed="rId3"/>
          <a:stretch>
            <a:fillRect/>
          </a:stretch>
        </p:blipFill>
        <p:spPr>
          <a:xfrm>
            <a:off x="8202168" y="2615184"/>
            <a:ext cx="347472" cy="347472"/>
          </a:xfrm>
          <a:prstGeom prst="rect">
            <a:avLst/>
          </a:prstGeom>
        </p:spPr>
      </p:pic>
      <p:sp>
        <p:nvSpPr>
          <p:cNvPr id="21" name="Text 16"/>
          <p:cNvSpPr txBox="1"/>
          <p:nvPr/>
        </p:nvSpPr>
        <p:spPr>
          <a:xfrm>
            <a:off x="8055864" y="3291840"/>
            <a:ext cx="3429000" cy="256032"/>
          </a:xfrm>
          <a:prstGeom prst="rect">
            <a:avLst/>
          </a:prstGeom>
          <a:noFill/>
          <a:ln/>
        </p:spPr>
        <p:txBody>
          <a:bodyPr wrap="square" lIns="0" tIns="0" rIns="0" bIns="0" rtlCol="0" anchor="ctr"/>
          <a:lstStyle/>
          <a:p>
            <a:pPr indent="0" marL="0">
              <a:buNone/>
            </a:pPr>
            <a:r>
              <a:rPr lang="en-US" sz="1100" spc="200" kern="0" dirty="0">
                <a:solidFill>
                  <a:srgbClr val="C3D0CF"/>
                </a:solidFill>
                <a:latin typeface="Roboto Medium" pitchFamily="34" charset="0"/>
                <a:ea typeface="Roboto Medium" pitchFamily="34" charset="-122"/>
                <a:cs typeface="Roboto Medium" pitchFamily="34" charset="-120"/>
              </a:rPr>
              <a:t>3 · IT CAME BACK</a:t>
            </a:r>
            <a:endParaRPr lang="en-US" sz="1100" dirty="0"/>
          </a:p>
        </p:txBody>
      </p:sp>
      <p:sp>
        <p:nvSpPr>
          <p:cNvPr id="22" name="Text 17"/>
          <p:cNvSpPr txBox="1"/>
          <p:nvPr/>
        </p:nvSpPr>
        <p:spPr>
          <a:xfrm>
            <a:off x="8055864" y="3602736"/>
            <a:ext cx="3429000" cy="777240"/>
          </a:xfrm>
          <a:prstGeom prst="rect">
            <a:avLst/>
          </a:prstGeom>
          <a:noFill/>
          <a:ln/>
        </p:spPr>
        <p:txBody>
          <a:bodyPr wrap="square" lIns="0" tIns="0" rIns="0" bIns="0" rtlCol="0" anchor="t"/>
          <a:lstStyle/>
          <a:p>
            <a:pPr indent="0" marL="0">
              <a:buNone/>
            </a:pPr>
            <a:r>
              <a:rPr lang="en-US" sz="4000" dirty="0">
                <a:solidFill>
                  <a:srgbClr val="B9C94F"/>
                </a:solidFill>
                <a:latin typeface="Roboto Light" pitchFamily="34" charset="0"/>
                <a:ea typeface="Roboto Light" pitchFamily="34" charset="-122"/>
                <a:cs typeface="Roboto Light" pitchFamily="34" charset="-120"/>
              </a:rPr>
              <a:t>1,829</a:t>
            </a:r>
            <a:endParaRPr lang="en-US" sz="4000" dirty="0"/>
          </a:p>
        </p:txBody>
      </p:sp>
      <p:sp>
        <p:nvSpPr>
          <p:cNvPr id="23" name="Text 18"/>
          <p:cNvSpPr txBox="1"/>
          <p:nvPr/>
        </p:nvSpPr>
        <p:spPr>
          <a:xfrm>
            <a:off x="8055864" y="4407408"/>
            <a:ext cx="3429000" cy="822960"/>
          </a:xfrm>
          <a:prstGeom prst="rect">
            <a:avLst/>
          </a:prstGeom>
          <a:noFill/>
          <a:ln/>
        </p:spPr>
        <p:txBody>
          <a:bodyPr wrap="square" lIns="0" tIns="0" rIns="0" bIns="0" rtlCol="0" anchor="t"/>
          <a:lstStyle/>
          <a:p>
            <a:pPr indent="0" marL="0">
              <a:buNone/>
            </a:pPr>
            <a:r>
              <a:rPr lang="en-US" sz="1400" dirty="0">
                <a:solidFill>
                  <a:srgbClr val="C3D0CF"/>
                </a:solidFill>
                <a:latin typeface="Roboto" pitchFamily="34" charset="0"/>
                <a:ea typeface="Roboto" pitchFamily="34" charset="-122"/>
                <a:cs typeface="Roboto" pitchFamily="34" charset="-120"/>
              </a:rPr>
              <a:t>ha/yr in the later years (2022–25), much of it on old pits</a:t>
            </a:r>
            <a:endParaRPr lang="en-US" sz="1400" dirty="0"/>
          </a:p>
        </p:txBody>
      </p:sp>
      <p:sp>
        <p:nvSpPr>
          <p:cNvPr id="24" name="Text 19"/>
          <p:cNvSpPr txBox="1"/>
          <p:nvPr/>
        </p:nvSpPr>
        <p:spPr>
          <a:xfrm>
            <a:off x="502920" y="5897880"/>
            <a:ext cx="11185855" cy="274320"/>
          </a:xfrm>
          <a:prstGeom prst="rect">
            <a:avLst/>
          </a:prstGeom>
          <a:noFill/>
          <a:ln/>
        </p:spPr>
        <p:txBody>
          <a:bodyPr wrap="square" lIns="0" tIns="0" rIns="0" bIns="0" rtlCol="0" anchor="ctr"/>
          <a:lstStyle/>
          <a:p>
            <a:pPr indent="0" marL="0">
              <a:buNone/>
            </a:pPr>
            <a:r>
              <a:rPr lang="en-US" sz="1200" dirty="0">
                <a:solidFill>
                  <a:srgbClr val="C3D0CF"/>
                </a:solidFill>
                <a:latin typeface="Roboto" pitchFamily="34" charset="0"/>
                <a:ea typeface="Roboto" pitchFamily="34" charset="-122"/>
                <a:cs typeface="Roboto" pitchFamily="34" charset="-120"/>
              </a:rPr>
              <a:t>All three: description. Net additions = new land + re-mined − stopped, from yearly 30-m satellite maps.</a:t>
            </a:r>
            <a:endParaRPr lang="en-US" sz="12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C3D0CF"/>
                </a:solidFill>
                <a:latin typeface="Roboto"/>
                <a:ea typeface="Roboto"/>
                <a:cs typeface="Robo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384048"/>
            <a:ext cx="2372868"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02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WHERE WE ARE</a:t>
            </a:r>
            <a:endParaRPr lang="en-US" sz="1200" dirty="0"/>
          </a:p>
        </p:txBody>
      </p:sp>
      <p:sp>
        <p:nvSpPr>
          <p:cNvPr id="3" name="Shape 1"/>
          <p:cNvSpPr/>
          <p:nvPr/>
        </p:nvSpPr>
        <p:spPr>
          <a:xfrm>
            <a:off x="2985516" y="521208"/>
            <a:ext cx="6325819"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La Pampa sits one road away from legal mining land</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Madre de Dios, Peru · step 1 of 4 · zones as used on every slide</a:t>
            </a:r>
            <a:endParaRPr lang="en-US" sz="1250" dirty="0"/>
          </a:p>
        </p:txBody>
      </p:sp>
      <p:sp>
        <p:nvSpPr>
          <p:cNvPr id="7" name="Text 5"/>
          <p:cNvSpPr/>
          <p:nvPr/>
        </p:nvSpPr>
        <p:spPr>
          <a:xfrm>
            <a:off x="502920" y="1755648"/>
            <a:ext cx="329184" cy="329184"/>
          </a:xfrm>
          <a:prstGeom prst="ellipse">
            <a:avLst/>
          </a:prstGeom>
          <a:solidFill>
            <a:srgbClr val="3C7D2C"/>
          </a:solidFill>
          <a:ln w="12700">
            <a:solidFill>
              <a:srgbClr val="3C7D2C"/>
            </a:solidFill>
          </a:ln>
        </p:spPr>
        <p:txBody>
          <a:bodyPr wrap="square" lIns="0" tIns="0" rIns="0" bIns="0" rtlCol="0" anchor="ctr"/>
          <a:lstStyle/>
          <a:p>
            <a:pPr algn="ctr" indent="0" marL="0">
              <a:buNone/>
            </a:pPr>
            <a:r>
              <a:rPr lang="en-US" sz="1200" dirty="0">
                <a:solidFill>
                  <a:srgbClr val="FFFFFF"/>
                </a:solidFill>
                <a:latin typeface="Roboto Medium" pitchFamily="34" charset="0"/>
                <a:ea typeface="Roboto Medium" pitchFamily="34" charset="-122"/>
                <a:cs typeface="Roboto Medium" pitchFamily="34" charset="-120"/>
              </a:rPr>
              <a:t>1</a:t>
            </a:r>
            <a:endParaRPr lang="en-US" sz="1200" dirty="0"/>
          </a:p>
        </p:txBody>
      </p:sp>
      <p:sp>
        <p:nvSpPr>
          <p:cNvPr id="8" name="Text 6"/>
          <p:cNvSpPr txBox="1"/>
          <p:nvPr/>
        </p:nvSpPr>
        <p:spPr>
          <a:xfrm>
            <a:off x="960120" y="1737360"/>
            <a:ext cx="2743200" cy="365760"/>
          </a:xfrm>
          <a:prstGeom prst="rect">
            <a:avLst/>
          </a:prstGeom>
          <a:noFill/>
          <a:ln/>
        </p:spPr>
        <p:txBody>
          <a:bodyPr wrap="square" lIns="0" tIns="0" rIns="0" bIns="0" rtlCol="0" anchor="ctr"/>
          <a:lstStyle/>
          <a:p>
            <a:pPr indent="0" marL="0">
              <a:buNone/>
            </a:pPr>
            <a:r>
              <a:rPr lang="en-US" sz="1600" dirty="0">
                <a:solidFill>
                  <a:srgbClr val="22383F"/>
                </a:solidFill>
                <a:latin typeface="Roboto Medium" pitchFamily="34" charset="0"/>
                <a:ea typeface="Roboto Medium" pitchFamily="34" charset="-122"/>
                <a:cs typeface="Roboto Medium" pitchFamily="34" charset="-120"/>
              </a:rPr>
              <a:t>Protected areas</a:t>
            </a:r>
            <a:endParaRPr lang="en-US" sz="1600" dirty="0"/>
          </a:p>
        </p:txBody>
      </p:sp>
      <p:sp>
        <p:nvSpPr>
          <p:cNvPr id="9" name="Text 7"/>
          <p:cNvSpPr txBox="1"/>
          <p:nvPr/>
        </p:nvSpPr>
        <p:spPr>
          <a:xfrm>
            <a:off x="960120" y="2121408"/>
            <a:ext cx="2743200" cy="697230"/>
          </a:xfrm>
          <a:prstGeom prst="rect">
            <a:avLst/>
          </a:prstGeom>
          <a:noFill/>
          <a:ln/>
        </p:spPr>
        <p:txBody>
          <a:bodyPr wrap="square" lIns="0" tIns="0" rIns="0" bIns="0" rtlCol="0" anchor="t"/>
          <a:lstStyle/>
          <a:p>
            <a:pPr indent="0" marL="0">
              <a:buNone/>
            </a:pPr>
            <a:r>
              <a:rPr lang="en-US" sz="1300" dirty="0">
                <a:solidFill>
                  <a:srgbClr val="4A5B60"/>
                </a:solidFill>
                <a:latin typeface="Roboto" pitchFamily="34" charset="0"/>
                <a:ea typeface="Roboto" pitchFamily="34" charset="-122"/>
                <a:cs typeface="Roboto" pitchFamily="34" charset="-120"/>
              </a:rPr>
              <a:t>Tambopata reserve, its buffer zone and the Amarakaeri buffer zone. Pink: communities.</a:t>
            </a:r>
            <a:endParaRPr lang="en-US" sz="1300" dirty="0"/>
          </a:p>
        </p:txBody>
      </p:sp>
      <p:sp>
        <p:nvSpPr>
          <p:cNvPr id="10" name="Text 8"/>
          <p:cNvSpPr/>
          <p:nvPr/>
        </p:nvSpPr>
        <p:spPr>
          <a:xfrm>
            <a:off x="502920" y="2910078"/>
            <a:ext cx="329184" cy="329184"/>
          </a:xfrm>
          <a:prstGeom prst="ellipse">
            <a:avLst/>
          </a:prstGeom>
          <a:ln w="12700">
            <a:solidFill>
              <a:srgbClr val="C9C1B4"/>
            </a:solidFill>
          </a:ln>
        </p:spPr>
        <p:txBody>
          <a:bodyPr wrap="square" lIns="0" tIns="0" rIns="0" bIns="0" rtlCol="0" anchor="ctr"/>
          <a:lstStyle/>
          <a:p>
            <a:pPr algn="ctr" indent="0" marL="0">
              <a:buNone/>
            </a:pPr>
            <a:r>
              <a:rPr lang="en-US" sz="1200" dirty="0">
                <a:solidFill>
                  <a:srgbClr val="6C7B80"/>
                </a:solidFill>
                <a:latin typeface="Roboto Medium" pitchFamily="34" charset="0"/>
                <a:ea typeface="Roboto Medium" pitchFamily="34" charset="-122"/>
                <a:cs typeface="Roboto Medium" pitchFamily="34" charset="-120"/>
              </a:rPr>
              <a:t>2</a:t>
            </a:r>
            <a:endParaRPr lang="en-US" sz="1200" dirty="0"/>
          </a:p>
        </p:txBody>
      </p:sp>
      <p:sp>
        <p:nvSpPr>
          <p:cNvPr id="11" name="Text 9"/>
          <p:cNvSpPr txBox="1"/>
          <p:nvPr/>
        </p:nvSpPr>
        <p:spPr>
          <a:xfrm>
            <a:off x="960120" y="2891790"/>
            <a:ext cx="2743200" cy="365760"/>
          </a:xfrm>
          <a:prstGeom prst="rect">
            <a:avLst/>
          </a:prstGeom>
          <a:noFill/>
          <a:ln/>
        </p:spPr>
        <p:txBody>
          <a:bodyPr wrap="square" lIns="0" tIns="0" rIns="0" bIns="0" rtlCol="0" anchor="ctr"/>
          <a:lstStyle/>
          <a:p>
            <a:pPr indent="0" marL="0">
              <a:buNone/>
            </a:pPr>
            <a:r>
              <a:rPr lang="en-US" sz="1600" dirty="0">
                <a:solidFill>
                  <a:srgbClr val="6C7B80"/>
                </a:solidFill>
                <a:latin typeface="Roboto" pitchFamily="34" charset="0"/>
                <a:ea typeface="Roboto" pitchFamily="34" charset="-122"/>
                <a:cs typeface="Roboto" pitchFamily="34" charset="-120"/>
              </a:rPr>
              <a:t>The Interoceanic Highway</a:t>
            </a:r>
            <a:endParaRPr lang="en-US" sz="1600" dirty="0"/>
          </a:p>
        </p:txBody>
      </p:sp>
      <p:sp>
        <p:nvSpPr>
          <p:cNvPr id="12" name="Text 10"/>
          <p:cNvSpPr/>
          <p:nvPr/>
        </p:nvSpPr>
        <p:spPr>
          <a:xfrm>
            <a:off x="502920" y="4064508"/>
            <a:ext cx="329184" cy="329184"/>
          </a:xfrm>
          <a:prstGeom prst="ellipse">
            <a:avLst/>
          </a:prstGeom>
          <a:ln w="12700">
            <a:solidFill>
              <a:srgbClr val="C9C1B4"/>
            </a:solidFill>
          </a:ln>
        </p:spPr>
        <p:txBody>
          <a:bodyPr wrap="square" lIns="0" tIns="0" rIns="0" bIns="0" rtlCol="0" anchor="ctr"/>
          <a:lstStyle/>
          <a:p>
            <a:pPr algn="ctr" indent="0" marL="0">
              <a:buNone/>
            </a:pPr>
            <a:r>
              <a:rPr lang="en-US" sz="1200" dirty="0">
                <a:solidFill>
                  <a:srgbClr val="6C7B80"/>
                </a:solidFill>
                <a:latin typeface="Roboto Medium" pitchFamily="34" charset="0"/>
                <a:ea typeface="Roboto Medium" pitchFamily="34" charset="-122"/>
                <a:cs typeface="Roboto Medium" pitchFamily="34" charset="-120"/>
              </a:rPr>
              <a:t>3</a:t>
            </a:r>
            <a:endParaRPr lang="en-US" sz="1200" dirty="0"/>
          </a:p>
        </p:txBody>
      </p:sp>
      <p:sp>
        <p:nvSpPr>
          <p:cNvPr id="13" name="Text 11"/>
          <p:cNvSpPr txBox="1"/>
          <p:nvPr/>
        </p:nvSpPr>
        <p:spPr>
          <a:xfrm>
            <a:off x="960120" y="4046220"/>
            <a:ext cx="2743200" cy="365760"/>
          </a:xfrm>
          <a:prstGeom prst="rect">
            <a:avLst/>
          </a:prstGeom>
          <a:noFill/>
          <a:ln/>
        </p:spPr>
        <p:txBody>
          <a:bodyPr wrap="square" lIns="0" tIns="0" rIns="0" bIns="0" rtlCol="0" anchor="ctr"/>
          <a:lstStyle/>
          <a:p>
            <a:pPr indent="0" marL="0">
              <a:buNone/>
            </a:pPr>
            <a:r>
              <a:rPr lang="en-US" sz="1600" dirty="0">
                <a:solidFill>
                  <a:srgbClr val="6C7B80"/>
                </a:solidFill>
                <a:latin typeface="Roboto" pitchFamily="34" charset="0"/>
                <a:ea typeface="Roboto" pitchFamily="34" charset="-122"/>
                <a:cs typeface="Roboto" pitchFamily="34" charset="-120"/>
              </a:rPr>
              <a:t>Where mining can be legal</a:t>
            </a:r>
            <a:endParaRPr lang="en-US" sz="1600" dirty="0"/>
          </a:p>
        </p:txBody>
      </p:sp>
      <p:sp>
        <p:nvSpPr>
          <p:cNvPr id="14" name="Text 12"/>
          <p:cNvSpPr/>
          <p:nvPr/>
        </p:nvSpPr>
        <p:spPr>
          <a:xfrm>
            <a:off x="502920" y="5218938"/>
            <a:ext cx="329184" cy="329184"/>
          </a:xfrm>
          <a:prstGeom prst="ellipse">
            <a:avLst/>
          </a:prstGeom>
          <a:ln w="12700">
            <a:solidFill>
              <a:srgbClr val="C9C1B4"/>
            </a:solidFill>
          </a:ln>
        </p:spPr>
        <p:txBody>
          <a:bodyPr wrap="square" lIns="0" tIns="0" rIns="0" bIns="0" rtlCol="0" anchor="ctr"/>
          <a:lstStyle/>
          <a:p>
            <a:pPr algn="ctr" indent="0" marL="0">
              <a:buNone/>
            </a:pPr>
            <a:r>
              <a:rPr lang="en-US" sz="1200" dirty="0">
                <a:solidFill>
                  <a:srgbClr val="6C7B80"/>
                </a:solidFill>
                <a:latin typeface="Roboto Medium" pitchFamily="34" charset="0"/>
                <a:ea typeface="Roboto Medium" pitchFamily="34" charset="-122"/>
                <a:cs typeface="Roboto Medium" pitchFamily="34" charset="-120"/>
              </a:rPr>
              <a:t>4</a:t>
            </a:r>
            <a:endParaRPr lang="en-US" sz="1200" dirty="0"/>
          </a:p>
        </p:txBody>
      </p:sp>
      <p:sp>
        <p:nvSpPr>
          <p:cNvPr id="15" name="Text 13"/>
          <p:cNvSpPr txBox="1"/>
          <p:nvPr/>
        </p:nvSpPr>
        <p:spPr>
          <a:xfrm>
            <a:off x="960120" y="5200650"/>
            <a:ext cx="2743200" cy="365760"/>
          </a:xfrm>
          <a:prstGeom prst="rect">
            <a:avLst/>
          </a:prstGeom>
          <a:noFill/>
          <a:ln/>
        </p:spPr>
        <p:txBody>
          <a:bodyPr wrap="square" lIns="0" tIns="0" rIns="0" bIns="0" rtlCol="0" anchor="ctr"/>
          <a:lstStyle/>
          <a:p>
            <a:pPr indent="0" marL="0">
              <a:buNone/>
            </a:pPr>
            <a:r>
              <a:rPr lang="en-US" sz="1600" dirty="0">
                <a:solidFill>
                  <a:srgbClr val="6C7B80"/>
                </a:solidFill>
                <a:latin typeface="Roboto" pitchFamily="34" charset="0"/>
                <a:ea typeface="Roboto" pitchFamily="34" charset="-122"/>
                <a:cs typeface="Roboto" pitchFamily="34" charset="-120"/>
              </a:rPr>
              <a:t>The target</a:t>
            </a:r>
            <a:endParaRPr lang="en-US" sz="1600" dirty="0"/>
          </a:p>
        </p:txBody>
      </p:sp>
      <p:pic>
        <p:nvPicPr>
          <p:cNvPr id="16" name="Image 0" descr="map step 1">    </p:cNvPr>
          <p:cNvPicPr>
            <a:picLocks noChangeAspect="1"/>
          </p:cNvPicPr>
          <p:nvPr/>
        </p:nvPicPr>
        <p:blipFill>
          <a:blip r:embed="rId1"/>
          <a:stretch>
            <a:fillRect/>
          </a:stretch>
        </p:blipFill>
        <p:spPr>
          <a:xfrm>
            <a:off x="3931920" y="1737360"/>
            <a:ext cx="7756855" cy="4363231"/>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384048"/>
            <a:ext cx="2372868"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02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WHERE WE ARE</a:t>
            </a:r>
            <a:endParaRPr lang="en-US" sz="1200" dirty="0"/>
          </a:p>
        </p:txBody>
      </p:sp>
      <p:sp>
        <p:nvSpPr>
          <p:cNvPr id="3" name="Shape 1"/>
          <p:cNvSpPr/>
          <p:nvPr/>
        </p:nvSpPr>
        <p:spPr>
          <a:xfrm>
            <a:off x="2985516" y="521208"/>
            <a:ext cx="6325819"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La Pampa sits one road away from legal mining land</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Madre de Dios, Peru · step 2 of 4 · zones as used on every slide</a:t>
            </a:r>
            <a:endParaRPr lang="en-US" sz="1250" dirty="0"/>
          </a:p>
        </p:txBody>
      </p:sp>
      <p:sp>
        <p:nvSpPr>
          <p:cNvPr id="7" name="Text 5"/>
          <p:cNvSpPr/>
          <p:nvPr/>
        </p:nvSpPr>
        <p:spPr>
          <a:xfrm>
            <a:off x="502920" y="1755648"/>
            <a:ext cx="329184" cy="329184"/>
          </a:xfrm>
          <a:prstGeom prst="ellipse">
            <a:avLst/>
          </a:prstGeom>
          <a:ln w="12700">
            <a:solidFill>
              <a:srgbClr val="3C7D2C"/>
            </a:solidFill>
          </a:ln>
        </p:spPr>
        <p:txBody>
          <a:bodyPr wrap="square" lIns="0" tIns="0" rIns="0" bIns="0" rtlCol="0" anchor="ctr"/>
          <a:lstStyle/>
          <a:p>
            <a:pPr algn="ctr" indent="0" marL="0">
              <a:buNone/>
            </a:pPr>
            <a:r>
              <a:rPr lang="en-US" sz="1200" dirty="0">
                <a:solidFill>
                  <a:srgbClr val="3C7D2C"/>
                </a:solidFill>
                <a:latin typeface="Roboto Medium" pitchFamily="34" charset="0"/>
                <a:ea typeface="Roboto Medium" pitchFamily="34" charset="-122"/>
                <a:cs typeface="Roboto Medium" pitchFamily="34" charset="-120"/>
              </a:rPr>
              <a:t>1</a:t>
            </a:r>
            <a:endParaRPr lang="en-US" sz="1200" dirty="0"/>
          </a:p>
        </p:txBody>
      </p:sp>
      <p:sp>
        <p:nvSpPr>
          <p:cNvPr id="8" name="Text 6"/>
          <p:cNvSpPr txBox="1"/>
          <p:nvPr/>
        </p:nvSpPr>
        <p:spPr>
          <a:xfrm>
            <a:off x="960120" y="1737360"/>
            <a:ext cx="2743200" cy="365760"/>
          </a:xfrm>
          <a:prstGeom prst="rect">
            <a:avLst/>
          </a:prstGeom>
          <a:noFill/>
          <a:ln/>
        </p:spPr>
        <p:txBody>
          <a:bodyPr wrap="square" lIns="0" tIns="0" rIns="0" bIns="0" rtlCol="0" anchor="ctr"/>
          <a:lstStyle/>
          <a:p>
            <a:pPr indent="0" marL="0">
              <a:buNone/>
            </a:pPr>
            <a:r>
              <a:rPr lang="en-US" sz="1600" dirty="0">
                <a:solidFill>
                  <a:srgbClr val="4A5B60"/>
                </a:solidFill>
                <a:latin typeface="Roboto" pitchFamily="34" charset="0"/>
                <a:ea typeface="Roboto" pitchFamily="34" charset="-122"/>
                <a:cs typeface="Roboto" pitchFamily="34" charset="-120"/>
              </a:rPr>
              <a:t>Protected areas</a:t>
            </a:r>
            <a:endParaRPr lang="en-US" sz="1600" dirty="0"/>
          </a:p>
        </p:txBody>
      </p:sp>
      <p:sp>
        <p:nvSpPr>
          <p:cNvPr id="9" name="Text 7"/>
          <p:cNvSpPr/>
          <p:nvPr/>
        </p:nvSpPr>
        <p:spPr>
          <a:xfrm>
            <a:off x="502920" y="2910078"/>
            <a:ext cx="329184" cy="329184"/>
          </a:xfrm>
          <a:prstGeom prst="ellipse">
            <a:avLst/>
          </a:prstGeom>
          <a:solidFill>
            <a:srgbClr val="3C7D2C"/>
          </a:solidFill>
          <a:ln w="12700">
            <a:solidFill>
              <a:srgbClr val="3C7D2C"/>
            </a:solidFill>
          </a:ln>
        </p:spPr>
        <p:txBody>
          <a:bodyPr wrap="square" lIns="0" tIns="0" rIns="0" bIns="0" rtlCol="0" anchor="ctr"/>
          <a:lstStyle/>
          <a:p>
            <a:pPr algn="ctr" indent="0" marL="0">
              <a:buNone/>
            </a:pPr>
            <a:r>
              <a:rPr lang="en-US" sz="1200" dirty="0">
                <a:solidFill>
                  <a:srgbClr val="FFFFFF"/>
                </a:solidFill>
                <a:latin typeface="Roboto Medium" pitchFamily="34" charset="0"/>
                <a:ea typeface="Roboto Medium" pitchFamily="34" charset="-122"/>
                <a:cs typeface="Roboto Medium" pitchFamily="34" charset="-120"/>
              </a:rPr>
              <a:t>2</a:t>
            </a:r>
            <a:endParaRPr lang="en-US" sz="1200" dirty="0"/>
          </a:p>
        </p:txBody>
      </p:sp>
      <p:sp>
        <p:nvSpPr>
          <p:cNvPr id="10" name="Text 8"/>
          <p:cNvSpPr txBox="1"/>
          <p:nvPr/>
        </p:nvSpPr>
        <p:spPr>
          <a:xfrm>
            <a:off x="960120" y="2891790"/>
            <a:ext cx="2743200" cy="365760"/>
          </a:xfrm>
          <a:prstGeom prst="rect">
            <a:avLst/>
          </a:prstGeom>
          <a:noFill/>
          <a:ln/>
        </p:spPr>
        <p:txBody>
          <a:bodyPr wrap="square" lIns="0" tIns="0" rIns="0" bIns="0" rtlCol="0" anchor="ctr"/>
          <a:lstStyle/>
          <a:p>
            <a:pPr indent="0" marL="0">
              <a:buNone/>
            </a:pPr>
            <a:r>
              <a:rPr lang="en-US" sz="1600" dirty="0">
                <a:solidFill>
                  <a:srgbClr val="22383F"/>
                </a:solidFill>
                <a:latin typeface="Roboto Medium" pitchFamily="34" charset="0"/>
                <a:ea typeface="Roboto Medium" pitchFamily="34" charset="-122"/>
                <a:cs typeface="Roboto Medium" pitchFamily="34" charset="-120"/>
              </a:rPr>
              <a:t>The Interoceanic Highway</a:t>
            </a:r>
            <a:endParaRPr lang="en-US" sz="1600" dirty="0"/>
          </a:p>
        </p:txBody>
      </p:sp>
      <p:sp>
        <p:nvSpPr>
          <p:cNvPr id="11" name="Text 9"/>
          <p:cNvSpPr txBox="1"/>
          <p:nvPr/>
        </p:nvSpPr>
        <p:spPr>
          <a:xfrm>
            <a:off x="960120" y="3275838"/>
            <a:ext cx="2743200" cy="697230"/>
          </a:xfrm>
          <a:prstGeom prst="rect">
            <a:avLst/>
          </a:prstGeom>
          <a:noFill/>
          <a:ln/>
        </p:spPr>
        <p:txBody>
          <a:bodyPr wrap="square" lIns="0" tIns="0" rIns="0" bIns="0" rtlCol="0" anchor="t"/>
          <a:lstStyle/>
          <a:p>
            <a:pPr indent="0" marL="0">
              <a:buNone/>
            </a:pPr>
            <a:r>
              <a:rPr lang="en-US" sz="1300" dirty="0">
                <a:solidFill>
                  <a:srgbClr val="4A5B60"/>
                </a:solidFill>
                <a:latin typeface="Roboto" pitchFamily="34" charset="0"/>
                <a:ea typeface="Roboto" pitchFamily="34" charset="-122"/>
                <a:cs typeface="Roboto" pitchFamily="34" charset="-120"/>
              </a:rPr>
              <a:t>One road runs along the buffer zone and splits it from the land to the north.</a:t>
            </a:r>
            <a:endParaRPr lang="en-US" sz="1300" dirty="0"/>
          </a:p>
        </p:txBody>
      </p:sp>
      <p:sp>
        <p:nvSpPr>
          <p:cNvPr id="12" name="Text 10"/>
          <p:cNvSpPr/>
          <p:nvPr/>
        </p:nvSpPr>
        <p:spPr>
          <a:xfrm>
            <a:off x="502920" y="4064508"/>
            <a:ext cx="329184" cy="329184"/>
          </a:xfrm>
          <a:prstGeom prst="ellipse">
            <a:avLst/>
          </a:prstGeom>
          <a:ln w="12700">
            <a:solidFill>
              <a:srgbClr val="C9C1B4"/>
            </a:solidFill>
          </a:ln>
        </p:spPr>
        <p:txBody>
          <a:bodyPr wrap="square" lIns="0" tIns="0" rIns="0" bIns="0" rtlCol="0" anchor="ctr"/>
          <a:lstStyle/>
          <a:p>
            <a:pPr algn="ctr" indent="0" marL="0">
              <a:buNone/>
            </a:pPr>
            <a:r>
              <a:rPr lang="en-US" sz="1200" dirty="0">
                <a:solidFill>
                  <a:srgbClr val="6C7B80"/>
                </a:solidFill>
                <a:latin typeface="Roboto Medium" pitchFamily="34" charset="0"/>
                <a:ea typeface="Roboto Medium" pitchFamily="34" charset="-122"/>
                <a:cs typeface="Roboto Medium" pitchFamily="34" charset="-120"/>
              </a:rPr>
              <a:t>3</a:t>
            </a:r>
            <a:endParaRPr lang="en-US" sz="1200" dirty="0"/>
          </a:p>
        </p:txBody>
      </p:sp>
      <p:sp>
        <p:nvSpPr>
          <p:cNvPr id="13" name="Text 11"/>
          <p:cNvSpPr txBox="1"/>
          <p:nvPr/>
        </p:nvSpPr>
        <p:spPr>
          <a:xfrm>
            <a:off x="960120" y="4046220"/>
            <a:ext cx="2743200" cy="365760"/>
          </a:xfrm>
          <a:prstGeom prst="rect">
            <a:avLst/>
          </a:prstGeom>
          <a:noFill/>
          <a:ln/>
        </p:spPr>
        <p:txBody>
          <a:bodyPr wrap="square" lIns="0" tIns="0" rIns="0" bIns="0" rtlCol="0" anchor="ctr"/>
          <a:lstStyle/>
          <a:p>
            <a:pPr indent="0" marL="0">
              <a:buNone/>
            </a:pPr>
            <a:r>
              <a:rPr lang="en-US" sz="1600" dirty="0">
                <a:solidFill>
                  <a:srgbClr val="6C7B80"/>
                </a:solidFill>
                <a:latin typeface="Roboto" pitchFamily="34" charset="0"/>
                <a:ea typeface="Roboto" pitchFamily="34" charset="-122"/>
                <a:cs typeface="Roboto" pitchFamily="34" charset="-120"/>
              </a:rPr>
              <a:t>Where mining can be legal</a:t>
            </a:r>
            <a:endParaRPr lang="en-US" sz="1600" dirty="0"/>
          </a:p>
        </p:txBody>
      </p:sp>
      <p:sp>
        <p:nvSpPr>
          <p:cNvPr id="14" name="Text 12"/>
          <p:cNvSpPr/>
          <p:nvPr/>
        </p:nvSpPr>
        <p:spPr>
          <a:xfrm>
            <a:off x="502920" y="5218938"/>
            <a:ext cx="329184" cy="329184"/>
          </a:xfrm>
          <a:prstGeom prst="ellipse">
            <a:avLst/>
          </a:prstGeom>
          <a:ln w="12700">
            <a:solidFill>
              <a:srgbClr val="C9C1B4"/>
            </a:solidFill>
          </a:ln>
        </p:spPr>
        <p:txBody>
          <a:bodyPr wrap="square" lIns="0" tIns="0" rIns="0" bIns="0" rtlCol="0" anchor="ctr"/>
          <a:lstStyle/>
          <a:p>
            <a:pPr algn="ctr" indent="0" marL="0">
              <a:buNone/>
            </a:pPr>
            <a:r>
              <a:rPr lang="en-US" sz="1200" dirty="0">
                <a:solidFill>
                  <a:srgbClr val="6C7B80"/>
                </a:solidFill>
                <a:latin typeface="Roboto Medium" pitchFamily="34" charset="0"/>
                <a:ea typeface="Roboto Medium" pitchFamily="34" charset="-122"/>
                <a:cs typeface="Roboto Medium" pitchFamily="34" charset="-120"/>
              </a:rPr>
              <a:t>4</a:t>
            </a:r>
            <a:endParaRPr lang="en-US" sz="1200" dirty="0"/>
          </a:p>
        </p:txBody>
      </p:sp>
      <p:sp>
        <p:nvSpPr>
          <p:cNvPr id="15" name="Text 13"/>
          <p:cNvSpPr txBox="1"/>
          <p:nvPr/>
        </p:nvSpPr>
        <p:spPr>
          <a:xfrm>
            <a:off x="960120" y="5200650"/>
            <a:ext cx="2743200" cy="365760"/>
          </a:xfrm>
          <a:prstGeom prst="rect">
            <a:avLst/>
          </a:prstGeom>
          <a:noFill/>
          <a:ln/>
        </p:spPr>
        <p:txBody>
          <a:bodyPr wrap="square" lIns="0" tIns="0" rIns="0" bIns="0" rtlCol="0" anchor="ctr"/>
          <a:lstStyle/>
          <a:p>
            <a:pPr indent="0" marL="0">
              <a:buNone/>
            </a:pPr>
            <a:r>
              <a:rPr lang="en-US" sz="1600" dirty="0">
                <a:solidFill>
                  <a:srgbClr val="6C7B80"/>
                </a:solidFill>
                <a:latin typeface="Roboto" pitchFamily="34" charset="0"/>
                <a:ea typeface="Roboto" pitchFamily="34" charset="-122"/>
                <a:cs typeface="Roboto" pitchFamily="34" charset="-120"/>
              </a:rPr>
              <a:t>The target</a:t>
            </a:r>
            <a:endParaRPr lang="en-US" sz="1600" dirty="0"/>
          </a:p>
        </p:txBody>
      </p:sp>
      <p:pic>
        <p:nvPicPr>
          <p:cNvPr id="16" name="Image 0" descr="map step 2">    </p:cNvPr>
          <p:cNvPicPr>
            <a:picLocks noChangeAspect="1"/>
          </p:cNvPicPr>
          <p:nvPr/>
        </p:nvPicPr>
        <p:blipFill>
          <a:blip r:embed="rId1"/>
          <a:stretch>
            <a:fillRect/>
          </a:stretch>
        </p:blipFill>
        <p:spPr>
          <a:xfrm>
            <a:off x="3931920" y="1737360"/>
            <a:ext cx="7756855" cy="4363231"/>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384048"/>
            <a:ext cx="2372868"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02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WHERE WE ARE</a:t>
            </a:r>
            <a:endParaRPr lang="en-US" sz="1200" dirty="0"/>
          </a:p>
        </p:txBody>
      </p:sp>
      <p:sp>
        <p:nvSpPr>
          <p:cNvPr id="3" name="Shape 1"/>
          <p:cNvSpPr/>
          <p:nvPr/>
        </p:nvSpPr>
        <p:spPr>
          <a:xfrm>
            <a:off x="2985516" y="521208"/>
            <a:ext cx="6325819"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La Pampa sits one road away from legal mining land</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Madre de Dios, Peru · step 3 of 4 · zones as used on every slide</a:t>
            </a:r>
            <a:endParaRPr lang="en-US" sz="1250" dirty="0"/>
          </a:p>
        </p:txBody>
      </p:sp>
      <p:sp>
        <p:nvSpPr>
          <p:cNvPr id="7" name="Text 5"/>
          <p:cNvSpPr/>
          <p:nvPr/>
        </p:nvSpPr>
        <p:spPr>
          <a:xfrm>
            <a:off x="502920" y="1755648"/>
            <a:ext cx="329184" cy="329184"/>
          </a:xfrm>
          <a:prstGeom prst="ellipse">
            <a:avLst/>
          </a:prstGeom>
          <a:ln w="12700">
            <a:solidFill>
              <a:srgbClr val="3C7D2C"/>
            </a:solidFill>
          </a:ln>
        </p:spPr>
        <p:txBody>
          <a:bodyPr wrap="square" lIns="0" tIns="0" rIns="0" bIns="0" rtlCol="0" anchor="ctr"/>
          <a:lstStyle/>
          <a:p>
            <a:pPr algn="ctr" indent="0" marL="0">
              <a:buNone/>
            </a:pPr>
            <a:r>
              <a:rPr lang="en-US" sz="1200" dirty="0">
                <a:solidFill>
                  <a:srgbClr val="3C7D2C"/>
                </a:solidFill>
                <a:latin typeface="Roboto Medium" pitchFamily="34" charset="0"/>
                <a:ea typeface="Roboto Medium" pitchFamily="34" charset="-122"/>
                <a:cs typeface="Roboto Medium" pitchFamily="34" charset="-120"/>
              </a:rPr>
              <a:t>1</a:t>
            </a:r>
            <a:endParaRPr lang="en-US" sz="1200" dirty="0"/>
          </a:p>
        </p:txBody>
      </p:sp>
      <p:sp>
        <p:nvSpPr>
          <p:cNvPr id="8" name="Text 6"/>
          <p:cNvSpPr txBox="1"/>
          <p:nvPr/>
        </p:nvSpPr>
        <p:spPr>
          <a:xfrm>
            <a:off x="960120" y="1737360"/>
            <a:ext cx="2743200" cy="365760"/>
          </a:xfrm>
          <a:prstGeom prst="rect">
            <a:avLst/>
          </a:prstGeom>
          <a:noFill/>
          <a:ln/>
        </p:spPr>
        <p:txBody>
          <a:bodyPr wrap="square" lIns="0" tIns="0" rIns="0" bIns="0" rtlCol="0" anchor="ctr"/>
          <a:lstStyle/>
          <a:p>
            <a:pPr indent="0" marL="0">
              <a:buNone/>
            </a:pPr>
            <a:r>
              <a:rPr lang="en-US" sz="1600" dirty="0">
                <a:solidFill>
                  <a:srgbClr val="4A5B60"/>
                </a:solidFill>
                <a:latin typeface="Roboto" pitchFamily="34" charset="0"/>
                <a:ea typeface="Roboto" pitchFamily="34" charset="-122"/>
                <a:cs typeface="Roboto" pitchFamily="34" charset="-120"/>
              </a:rPr>
              <a:t>Protected areas</a:t>
            </a:r>
            <a:endParaRPr lang="en-US" sz="1600" dirty="0"/>
          </a:p>
        </p:txBody>
      </p:sp>
      <p:sp>
        <p:nvSpPr>
          <p:cNvPr id="9" name="Text 7"/>
          <p:cNvSpPr/>
          <p:nvPr/>
        </p:nvSpPr>
        <p:spPr>
          <a:xfrm>
            <a:off x="502920" y="2910078"/>
            <a:ext cx="329184" cy="329184"/>
          </a:xfrm>
          <a:prstGeom prst="ellipse">
            <a:avLst/>
          </a:prstGeom>
          <a:ln w="12700">
            <a:solidFill>
              <a:srgbClr val="3C7D2C"/>
            </a:solidFill>
          </a:ln>
        </p:spPr>
        <p:txBody>
          <a:bodyPr wrap="square" lIns="0" tIns="0" rIns="0" bIns="0" rtlCol="0" anchor="ctr"/>
          <a:lstStyle/>
          <a:p>
            <a:pPr algn="ctr" indent="0" marL="0">
              <a:buNone/>
            </a:pPr>
            <a:r>
              <a:rPr lang="en-US" sz="1200" dirty="0">
                <a:solidFill>
                  <a:srgbClr val="3C7D2C"/>
                </a:solidFill>
                <a:latin typeface="Roboto Medium" pitchFamily="34" charset="0"/>
                <a:ea typeface="Roboto Medium" pitchFamily="34" charset="-122"/>
                <a:cs typeface="Roboto Medium" pitchFamily="34" charset="-120"/>
              </a:rPr>
              <a:t>2</a:t>
            </a:r>
            <a:endParaRPr lang="en-US" sz="1200" dirty="0"/>
          </a:p>
        </p:txBody>
      </p:sp>
      <p:sp>
        <p:nvSpPr>
          <p:cNvPr id="10" name="Text 8"/>
          <p:cNvSpPr txBox="1"/>
          <p:nvPr/>
        </p:nvSpPr>
        <p:spPr>
          <a:xfrm>
            <a:off x="960120" y="2891790"/>
            <a:ext cx="2743200" cy="365760"/>
          </a:xfrm>
          <a:prstGeom prst="rect">
            <a:avLst/>
          </a:prstGeom>
          <a:noFill/>
          <a:ln/>
        </p:spPr>
        <p:txBody>
          <a:bodyPr wrap="square" lIns="0" tIns="0" rIns="0" bIns="0" rtlCol="0" anchor="ctr"/>
          <a:lstStyle/>
          <a:p>
            <a:pPr indent="0" marL="0">
              <a:buNone/>
            </a:pPr>
            <a:r>
              <a:rPr lang="en-US" sz="1600" dirty="0">
                <a:solidFill>
                  <a:srgbClr val="4A5B60"/>
                </a:solidFill>
                <a:latin typeface="Roboto" pitchFamily="34" charset="0"/>
                <a:ea typeface="Roboto" pitchFamily="34" charset="-122"/>
                <a:cs typeface="Roboto" pitchFamily="34" charset="-120"/>
              </a:rPr>
              <a:t>The Interoceanic Highway</a:t>
            </a:r>
            <a:endParaRPr lang="en-US" sz="1600" dirty="0"/>
          </a:p>
        </p:txBody>
      </p:sp>
      <p:sp>
        <p:nvSpPr>
          <p:cNvPr id="11" name="Text 9"/>
          <p:cNvSpPr/>
          <p:nvPr/>
        </p:nvSpPr>
        <p:spPr>
          <a:xfrm>
            <a:off x="502920" y="4064508"/>
            <a:ext cx="329184" cy="329184"/>
          </a:xfrm>
          <a:prstGeom prst="ellipse">
            <a:avLst/>
          </a:prstGeom>
          <a:solidFill>
            <a:srgbClr val="3C7D2C"/>
          </a:solidFill>
          <a:ln w="12700">
            <a:solidFill>
              <a:srgbClr val="3C7D2C"/>
            </a:solidFill>
          </a:ln>
        </p:spPr>
        <p:txBody>
          <a:bodyPr wrap="square" lIns="0" tIns="0" rIns="0" bIns="0" rtlCol="0" anchor="ctr"/>
          <a:lstStyle/>
          <a:p>
            <a:pPr algn="ctr" indent="0" marL="0">
              <a:buNone/>
            </a:pPr>
            <a:r>
              <a:rPr lang="en-US" sz="1200" dirty="0">
                <a:solidFill>
                  <a:srgbClr val="FFFFFF"/>
                </a:solidFill>
                <a:latin typeface="Roboto Medium" pitchFamily="34" charset="0"/>
                <a:ea typeface="Roboto Medium" pitchFamily="34" charset="-122"/>
                <a:cs typeface="Roboto Medium" pitchFamily="34" charset="-120"/>
              </a:rPr>
              <a:t>3</a:t>
            </a:r>
            <a:endParaRPr lang="en-US" sz="1200" dirty="0"/>
          </a:p>
        </p:txBody>
      </p:sp>
      <p:sp>
        <p:nvSpPr>
          <p:cNvPr id="12" name="Text 10"/>
          <p:cNvSpPr txBox="1"/>
          <p:nvPr/>
        </p:nvSpPr>
        <p:spPr>
          <a:xfrm>
            <a:off x="960120" y="4046220"/>
            <a:ext cx="2743200" cy="365760"/>
          </a:xfrm>
          <a:prstGeom prst="rect">
            <a:avLst/>
          </a:prstGeom>
          <a:noFill/>
          <a:ln/>
        </p:spPr>
        <p:txBody>
          <a:bodyPr wrap="square" lIns="0" tIns="0" rIns="0" bIns="0" rtlCol="0" anchor="ctr"/>
          <a:lstStyle/>
          <a:p>
            <a:pPr indent="0" marL="0">
              <a:buNone/>
            </a:pPr>
            <a:r>
              <a:rPr lang="en-US" sz="1600" dirty="0">
                <a:solidFill>
                  <a:srgbClr val="22383F"/>
                </a:solidFill>
                <a:latin typeface="Roboto Medium" pitchFamily="34" charset="0"/>
                <a:ea typeface="Roboto Medium" pitchFamily="34" charset="-122"/>
                <a:cs typeface="Roboto Medium" pitchFamily="34" charset="-120"/>
              </a:rPr>
              <a:t>Where mining can be legal</a:t>
            </a:r>
            <a:endParaRPr lang="en-US" sz="1600" dirty="0"/>
          </a:p>
        </p:txBody>
      </p:sp>
      <p:sp>
        <p:nvSpPr>
          <p:cNvPr id="13" name="Text 11"/>
          <p:cNvSpPr txBox="1"/>
          <p:nvPr/>
        </p:nvSpPr>
        <p:spPr>
          <a:xfrm>
            <a:off x="960120" y="4430268"/>
            <a:ext cx="2743200" cy="697230"/>
          </a:xfrm>
          <a:prstGeom prst="rect">
            <a:avLst/>
          </a:prstGeom>
          <a:noFill/>
          <a:ln/>
        </p:spPr>
        <p:txBody>
          <a:bodyPr wrap="square" lIns="0" tIns="0" rIns="0" bIns="0" rtlCol="0" anchor="t"/>
          <a:lstStyle/>
          <a:p>
            <a:pPr indent="0" marL="0">
              <a:buNone/>
            </a:pPr>
            <a:r>
              <a:rPr lang="en-US" sz="1300" dirty="0">
                <a:solidFill>
                  <a:srgbClr val="4A5B60"/>
                </a:solidFill>
                <a:latin typeface="Roboto" pitchFamily="34" charset="0"/>
                <a:ea typeface="Roboto" pitchFamily="34" charset="-122"/>
                <a:cs typeface="Roboto" pitchFamily="34" charset="-120"/>
              </a:rPr>
              <a:t>The legal mining corridor, north of the road. South of it, in the buffer zone: a crime.</a:t>
            </a:r>
            <a:endParaRPr lang="en-US" sz="1300" dirty="0"/>
          </a:p>
        </p:txBody>
      </p:sp>
      <p:sp>
        <p:nvSpPr>
          <p:cNvPr id="14" name="Text 12"/>
          <p:cNvSpPr/>
          <p:nvPr/>
        </p:nvSpPr>
        <p:spPr>
          <a:xfrm>
            <a:off x="502920" y="5218938"/>
            <a:ext cx="329184" cy="329184"/>
          </a:xfrm>
          <a:prstGeom prst="ellipse">
            <a:avLst/>
          </a:prstGeom>
          <a:ln w="12700">
            <a:solidFill>
              <a:srgbClr val="C9C1B4"/>
            </a:solidFill>
          </a:ln>
        </p:spPr>
        <p:txBody>
          <a:bodyPr wrap="square" lIns="0" tIns="0" rIns="0" bIns="0" rtlCol="0" anchor="ctr"/>
          <a:lstStyle/>
          <a:p>
            <a:pPr algn="ctr" indent="0" marL="0">
              <a:buNone/>
            </a:pPr>
            <a:r>
              <a:rPr lang="en-US" sz="1200" dirty="0">
                <a:solidFill>
                  <a:srgbClr val="6C7B80"/>
                </a:solidFill>
                <a:latin typeface="Roboto Medium" pitchFamily="34" charset="0"/>
                <a:ea typeface="Roboto Medium" pitchFamily="34" charset="-122"/>
                <a:cs typeface="Roboto Medium" pitchFamily="34" charset="-120"/>
              </a:rPr>
              <a:t>4</a:t>
            </a:r>
            <a:endParaRPr lang="en-US" sz="1200" dirty="0"/>
          </a:p>
        </p:txBody>
      </p:sp>
      <p:sp>
        <p:nvSpPr>
          <p:cNvPr id="15" name="Text 13"/>
          <p:cNvSpPr txBox="1"/>
          <p:nvPr/>
        </p:nvSpPr>
        <p:spPr>
          <a:xfrm>
            <a:off x="960120" y="5200650"/>
            <a:ext cx="2743200" cy="365760"/>
          </a:xfrm>
          <a:prstGeom prst="rect">
            <a:avLst/>
          </a:prstGeom>
          <a:noFill/>
          <a:ln/>
        </p:spPr>
        <p:txBody>
          <a:bodyPr wrap="square" lIns="0" tIns="0" rIns="0" bIns="0" rtlCol="0" anchor="ctr"/>
          <a:lstStyle/>
          <a:p>
            <a:pPr indent="0" marL="0">
              <a:buNone/>
            </a:pPr>
            <a:r>
              <a:rPr lang="en-US" sz="1600" dirty="0">
                <a:solidFill>
                  <a:srgbClr val="6C7B80"/>
                </a:solidFill>
                <a:latin typeface="Roboto" pitchFamily="34" charset="0"/>
                <a:ea typeface="Roboto" pitchFamily="34" charset="-122"/>
                <a:cs typeface="Roboto" pitchFamily="34" charset="-120"/>
              </a:rPr>
              <a:t>The target</a:t>
            </a:r>
            <a:endParaRPr lang="en-US" sz="1600" dirty="0"/>
          </a:p>
        </p:txBody>
      </p:sp>
      <p:pic>
        <p:nvPicPr>
          <p:cNvPr id="16" name="Image 0" descr="map step 3">    </p:cNvPr>
          <p:cNvPicPr>
            <a:picLocks noChangeAspect="1"/>
          </p:cNvPicPr>
          <p:nvPr/>
        </p:nvPicPr>
        <p:blipFill>
          <a:blip r:embed="rId1"/>
          <a:stretch>
            <a:fillRect/>
          </a:stretch>
        </p:blipFill>
        <p:spPr>
          <a:xfrm>
            <a:off x="3931920" y="1737360"/>
            <a:ext cx="7756855" cy="4363231"/>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384048"/>
            <a:ext cx="2372868"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02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WHERE WE ARE</a:t>
            </a:r>
            <a:endParaRPr lang="en-US" sz="1200" dirty="0"/>
          </a:p>
        </p:txBody>
      </p:sp>
      <p:sp>
        <p:nvSpPr>
          <p:cNvPr id="3" name="Shape 1"/>
          <p:cNvSpPr/>
          <p:nvPr/>
        </p:nvSpPr>
        <p:spPr>
          <a:xfrm>
            <a:off x="2985516" y="521208"/>
            <a:ext cx="6325819"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La Pampa sits one road away from legal mining land</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Madre de Dios, Peru · step 4 of 4 · zones as used on every slide</a:t>
            </a:r>
            <a:endParaRPr lang="en-US" sz="1250" dirty="0"/>
          </a:p>
        </p:txBody>
      </p:sp>
      <p:sp>
        <p:nvSpPr>
          <p:cNvPr id="7" name="Text 5"/>
          <p:cNvSpPr/>
          <p:nvPr/>
        </p:nvSpPr>
        <p:spPr>
          <a:xfrm>
            <a:off x="502920" y="1755648"/>
            <a:ext cx="329184" cy="329184"/>
          </a:xfrm>
          <a:prstGeom prst="ellipse">
            <a:avLst/>
          </a:prstGeom>
          <a:ln w="12700">
            <a:solidFill>
              <a:srgbClr val="3C7D2C"/>
            </a:solidFill>
          </a:ln>
        </p:spPr>
        <p:txBody>
          <a:bodyPr wrap="square" lIns="0" tIns="0" rIns="0" bIns="0" rtlCol="0" anchor="ctr"/>
          <a:lstStyle/>
          <a:p>
            <a:pPr algn="ctr" indent="0" marL="0">
              <a:buNone/>
            </a:pPr>
            <a:r>
              <a:rPr lang="en-US" sz="1200" dirty="0">
                <a:solidFill>
                  <a:srgbClr val="3C7D2C"/>
                </a:solidFill>
                <a:latin typeface="Roboto Medium" pitchFamily="34" charset="0"/>
                <a:ea typeface="Roboto Medium" pitchFamily="34" charset="-122"/>
                <a:cs typeface="Roboto Medium" pitchFamily="34" charset="-120"/>
              </a:rPr>
              <a:t>1</a:t>
            </a:r>
            <a:endParaRPr lang="en-US" sz="1200" dirty="0"/>
          </a:p>
        </p:txBody>
      </p:sp>
      <p:sp>
        <p:nvSpPr>
          <p:cNvPr id="8" name="Text 6"/>
          <p:cNvSpPr txBox="1"/>
          <p:nvPr/>
        </p:nvSpPr>
        <p:spPr>
          <a:xfrm>
            <a:off x="960120" y="1737360"/>
            <a:ext cx="2743200" cy="365760"/>
          </a:xfrm>
          <a:prstGeom prst="rect">
            <a:avLst/>
          </a:prstGeom>
          <a:noFill/>
          <a:ln/>
        </p:spPr>
        <p:txBody>
          <a:bodyPr wrap="square" lIns="0" tIns="0" rIns="0" bIns="0" rtlCol="0" anchor="ctr"/>
          <a:lstStyle/>
          <a:p>
            <a:pPr indent="0" marL="0">
              <a:buNone/>
            </a:pPr>
            <a:r>
              <a:rPr lang="en-US" sz="1600" dirty="0">
                <a:solidFill>
                  <a:srgbClr val="4A5B60"/>
                </a:solidFill>
                <a:latin typeface="Roboto" pitchFamily="34" charset="0"/>
                <a:ea typeface="Roboto" pitchFamily="34" charset="-122"/>
                <a:cs typeface="Roboto" pitchFamily="34" charset="-120"/>
              </a:rPr>
              <a:t>Protected areas</a:t>
            </a:r>
            <a:endParaRPr lang="en-US" sz="1600" dirty="0"/>
          </a:p>
        </p:txBody>
      </p:sp>
      <p:sp>
        <p:nvSpPr>
          <p:cNvPr id="9" name="Text 7"/>
          <p:cNvSpPr/>
          <p:nvPr/>
        </p:nvSpPr>
        <p:spPr>
          <a:xfrm>
            <a:off x="502920" y="2910078"/>
            <a:ext cx="329184" cy="329184"/>
          </a:xfrm>
          <a:prstGeom prst="ellipse">
            <a:avLst/>
          </a:prstGeom>
          <a:ln w="12700">
            <a:solidFill>
              <a:srgbClr val="3C7D2C"/>
            </a:solidFill>
          </a:ln>
        </p:spPr>
        <p:txBody>
          <a:bodyPr wrap="square" lIns="0" tIns="0" rIns="0" bIns="0" rtlCol="0" anchor="ctr"/>
          <a:lstStyle/>
          <a:p>
            <a:pPr algn="ctr" indent="0" marL="0">
              <a:buNone/>
            </a:pPr>
            <a:r>
              <a:rPr lang="en-US" sz="1200" dirty="0">
                <a:solidFill>
                  <a:srgbClr val="3C7D2C"/>
                </a:solidFill>
                <a:latin typeface="Roboto Medium" pitchFamily="34" charset="0"/>
                <a:ea typeface="Roboto Medium" pitchFamily="34" charset="-122"/>
                <a:cs typeface="Roboto Medium" pitchFamily="34" charset="-120"/>
              </a:rPr>
              <a:t>2</a:t>
            </a:r>
            <a:endParaRPr lang="en-US" sz="1200" dirty="0"/>
          </a:p>
        </p:txBody>
      </p:sp>
      <p:sp>
        <p:nvSpPr>
          <p:cNvPr id="10" name="Text 8"/>
          <p:cNvSpPr txBox="1"/>
          <p:nvPr/>
        </p:nvSpPr>
        <p:spPr>
          <a:xfrm>
            <a:off x="960120" y="2891790"/>
            <a:ext cx="2743200" cy="365760"/>
          </a:xfrm>
          <a:prstGeom prst="rect">
            <a:avLst/>
          </a:prstGeom>
          <a:noFill/>
          <a:ln/>
        </p:spPr>
        <p:txBody>
          <a:bodyPr wrap="square" lIns="0" tIns="0" rIns="0" bIns="0" rtlCol="0" anchor="ctr"/>
          <a:lstStyle/>
          <a:p>
            <a:pPr indent="0" marL="0">
              <a:buNone/>
            </a:pPr>
            <a:r>
              <a:rPr lang="en-US" sz="1600" dirty="0">
                <a:solidFill>
                  <a:srgbClr val="4A5B60"/>
                </a:solidFill>
                <a:latin typeface="Roboto" pitchFamily="34" charset="0"/>
                <a:ea typeface="Roboto" pitchFamily="34" charset="-122"/>
                <a:cs typeface="Roboto" pitchFamily="34" charset="-120"/>
              </a:rPr>
              <a:t>The Interoceanic Highway</a:t>
            </a:r>
            <a:endParaRPr lang="en-US" sz="1600" dirty="0"/>
          </a:p>
        </p:txBody>
      </p:sp>
      <p:sp>
        <p:nvSpPr>
          <p:cNvPr id="11" name="Text 9"/>
          <p:cNvSpPr/>
          <p:nvPr/>
        </p:nvSpPr>
        <p:spPr>
          <a:xfrm>
            <a:off x="502920" y="4064508"/>
            <a:ext cx="329184" cy="329184"/>
          </a:xfrm>
          <a:prstGeom prst="ellipse">
            <a:avLst/>
          </a:prstGeom>
          <a:ln w="12700">
            <a:solidFill>
              <a:srgbClr val="3C7D2C"/>
            </a:solidFill>
          </a:ln>
        </p:spPr>
        <p:txBody>
          <a:bodyPr wrap="square" lIns="0" tIns="0" rIns="0" bIns="0" rtlCol="0" anchor="ctr"/>
          <a:lstStyle/>
          <a:p>
            <a:pPr algn="ctr" indent="0" marL="0">
              <a:buNone/>
            </a:pPr>
            <a:r>
              <a:rPr lang="en-US" sz="1200" dirty="0">
                <a:solidFill>
                  <a:srgbClr val="3C7D2C"/>
                </a:solidFill>
                <a:latin typeface="Roboto Medium" pitchFamily="34" charset="0"/>
                <a:ea typeface="Roboto Medium" pitchFamily="34" charset="-122"/>
                <a:cs typeface="Roboto Medium" pitchFamily="34" charset="-120"/>
              </a:rPr>
              <a:t>3</a:t>
            </a:r>
            <a:endParaRPr lang="en-US" sz="1200" dirty="0"/>
          </a:p>
        </p:txBody>
      </p:sp>
      <p:sp>
        <p:nvSpPr>
          <p:cNvPr id="12" name="Text 10"/>
          <p:cNvSpPr txBox="1"/>
          <p:nvPr/>
        </p:nvSpPr>
        <p:spPr>
          <a:xfrm>
            <a:off x="960120" y="4046220"/>
            <a:ext cx="2743200" cy="365760"/>
          </a:xfrm>
          <a:prstGeom prst="rect">
            <a:avLst/>
          </a:prstGeom>
          <a:noFill/>
          <a:ln/>
        </p:spPr>
        <p:txBody>
          <a:bodyPr wrap="square" lIns="0" tIns="0" rIns="0" bIns="0" rtlCol="0" anchor="ctr"/>
          <a:lstStyle/>
          <a:p>
            <a:pPr indent="0" marL="0">
              <a:buNone/>
            </a:pPr>
            <a:r>
              <a:rPr lang="en-US" sz="1600" dirty="0">
                <a:solidFill>
                  <a:srgbClr val="4A5B60"/>
                </a:solidFill>
                <a:latin typeface="Roboto" pitchFamily="34" charset="0"/>
                <a:ea typeface="Roboto" pitchFamily="34" charset="-122"/>
                <a:cs typeface="Roboto" pitchFamily="34" charset="-120"/>
              </a:rPr>
              <a:t>Where mining can be legal</a:t>
            </a:r>
            <a:endParaRPr lang="en-US" sz="1600" dirty="0"/>
          </a:p>
        </p:txBody>
      </p:sp>
      <p:sp>
        <p:nvSpPr>
          <p:cNvPr id="13" name="Text 11"/>
          <p:cNvSpPr/>
          <p:nvPr/>
        </p:nvSpPr>
        <p:spPr>
          <a:xfrm>
            <a:off x="502920" y="5218938"/>
            <a:ext cx="329184" cy="329184"/>
          </a:xfrm>
          <a:prstGeom prst="ellipse">
            <a:avLst/>
          </a:prstGeom>
          <a:solidFill>
            <a:srgbClr val="3C7D2C"/>
          </a:solidFill>
          <a:ln w="12700">
            <a:solidFill>
              <a:srgbClr val="3C7D2C"/>
            </a:solidFill>
          </a:ln>
        </p:spPr>
        <p:txBody>
          <a:bodyPr wrap="square" lIns="0" tIns="0" rIns="0" bIns="0" rtlCol="0" anchor="ctr"/>
          <a:lstStyle/>
          <a:p>
            <a:pPr algn="ctr" indent="0" marL="0">
              <a:buNone/>
            </a:pPr>
            <a:r>
              <a:rPr lang="en-US" sz="1200" dirty="0">
                <a:solidFill>
                  <a:srgbClr val="FFFFFF"/>
                </a:solidFill>
                <a:latin typeface="Roboto Medium" pitchFamily="34" charset="0"/>
                <a:ea typeface="Roboto Medium" pitchFamily="34" charset="-122"/>
                <a:cs typeface="Roboto Medium" pitchFamily="34" charset="-120"/>
              </a:rPr>
              <a:t>4</a:t>
            </a:r>
            <a:endParaRPr lang="en-US" sz="1200" dirty="0"/>
          </a:p>
        </p:txBody>
      </p:sp>
      <p:sp>
        <p:nvSpPr>
          <p:cNvPr id="14" name="Text 12"/>
          <p:cNvSpPr txBox="1"/>
          <p:nvPr/>
        </p:nvSpPr>
        <p:spPr>
          <a:xfrm>
            <a:off x="960120" y="5200650"/>
            <a:ext cx="2743200" cy="365760"/>
          </a:xfrm>
          <a:prstGeom prst="rect">
            <a:avLst/>
          </a:prstGeom>
          <a:noFill/>
          <a:ln/>
        </p:spPr>
        <p:txBody>
          <a:bodyPr wrap="square" lIns="0" tIns="0" rIns="0" bIns="0" rtlCol="0" anchor="ctr"/>
          <a:lstStyle/>
          <a:p>
            <a:pPr indent="0" marL="0">
              <a:buNone/>
            </a:pPr>
            <a:r>
              <a:rPr lang="en-US" sz="1600" dirty="0">
                <a:solidFill>
                  <a:srgbClr val="22383F"/>
                </a:solidFill>
                <a:latin typeface="Roboto Medium" pitchFamily="34" charset="0"/>
                <a:ea typeface="Roboto Medium" pitchFamily="34" charset="-122"/>
                <a:cs typeface="Roboto Medium" pitchFamily="34" charset="-120"/>
              </a:rPr>
              <a:t>The target</a:t>
            </a:r>
            <a:endParaRPr lang="en-US" sz="1600" dirty="0"/>
          </a:p>
        </p:txBody>
      </p:sp>
      <p:sp>
        <p:nvSpPr>
          <p:cNvPr id="15" name="Text 13"/>
          <p:cNvSpPr txBox="1"/>
          <p:nvPr/>
        </p:nvSpPr>
        <p:spPr>
          <a:xfrm>
            <a:off x="960120" y="5584698"/>
            <a:ext cx="2743200" cy="697230"/>
          </a:xfrm>
          <a:prstGeom prst="rect">
            <a:avLst/>
          </a:prstGeom>
          <a:noFill/>
          <a:ln/>
        </p:spPr>
        <p:txBody>
          <a:bodyPr wrap="square" lIns="0" tIns="0" rIns="0" bIns="0" rtlCol="0" anchor="t"/>
          <a:lstStyle/>
          <a:p>
            <a:pPr indent="0" marL="0">
              <a:buNone/>
            </a:pPr>
            <a:r>
              <a:rPr lang="en-US" sz="1300" dirty="0">
                <a:solidFill>
                  <a:srgbClr val="4A5B60"/>
                </a:solidFill>
                <a:latin typeface="Roboto" pitchFamily="34" charset="0"/>
                <a:ea typeface="Roboto" pitchFamily="34" charset="-122"/>
                <a:cs typeface="Roboto" pitchFamily="34" charset="-120"/>
              </a:rPr>
              <a:t>La Pampa, Mercurio's target from Feb 2019, and the corridor strip across the road.</a:t>
            </a:r>
            <a:endParaRPr lang="en-US" sz="1300" dirty="0"/>
          </a:p>
        </p:txBody>
      </p:sp>
      <p:pic>
        <p:nvPicPr>
          <p:cNvPr id="16" name="Image 0" descr="map step 4">    </p:cNvPr>
          <p:cNvPicPr>
            <a:picLocks noChangeAspect="1"/>
          </p:cNvPicPr>
          <p:nvPr/>
        </p:nvPicPr>
        <p:blipFill>
          <a:blip r:embed="rId1"/>
          <a:stretch>
            <a:fillRect/>
          </a:stretch>
        </p:blipFill>
        <p:spPr>
          <a:xfrm>
            <a:off x="3931920" y="1737360"/>
            <a:ext cx="7756855" cy="4363231"/>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384048"/>
            <a:ext cx="2743200"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03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WHAT WE MEASURE</a:t>
            </a:r>
            <a:endParaRPr lang="en-US" sz="1200" dirty="0"/>
          </a:p>
        </p:txBody>
      </p:sp>
      <p:sp>
        <p:nvSpPr>
          <p:cNvPr id="3" name="Shape 1"/>
          <p:cNvSpPr/>
          <p:nvPr/>
        </p:nvSpPr>
        <p:spPr>
          <a:xfrm>
            <a:off x="3355848" y="521208"/>
            <a:ext cx="5955487"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One measure on every slide: net mining additions</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additions (ha/yr) = new land + re-mined − stopped · per 30-m pixel, year t vs the years before · MapBiomas Peru Collection 4, 1985–2025</a:t>
            </a:r>
            <a:endParaRPr lang="en-US" sz="1250" dirty="0"/>
          </a:p>
        </p:txBody>
      </p:sp>
      <p:sp>
        <p:nvSpPr>
          <p:cNvPr id="7" name="Text 5"/>
          <p:cNvSpPr txBox="1"/>
          <p:nvPr/>
        </p:nvSpPr>
        <p:spPr>
          <a:xfrm>
            <a:off x="2834640" y="1828800"/>
            <a:ext cx="731520" cy="228600"/>
          </a:xfrm>
          <a:prstGeom prst="rect">
            <a:avLst/>
          </a:prstGeom>
          <a:noFill/>
          <a:ln/>
        </p:spPr>
        <p:txBody>
          <a:bodyPr wrap="square" lIns="0" tIns="0" rIns="0" bIns="0" rtlCol="0" anchor="ctr"/>
          <a:lstStyle/>
          <a:p>
            <a:pPr algn="ctr" indent="0" marL="0">
              <a:buNone/>
            </a:pPr>
            <a:r>
              <a:rPr lang="en-US" sz="1000" spc="150" kern="0" dirty="0">
                <a:solidFill>
                  <a:srgbClr val="6C7B80"/>
                </a:solidFill>
                <a:latin typeface="Roboto Medium" pitchFamily="34" charset="0"/>
                <a:ea typeface="Roboto Medium" pitchFamily="34" charset="-122"/>
                <a:cs typeface="Roboto Medium" pitchFamily="34" charset="-120"/>
              </a:rPr>
              <a:t>YEAR</a:t>
            </a:r>
            <a:endParaRPr lang="en-US" sz="1000" dirty="0"/>
          </a:p>
        </p:txBody>
      </p:sp>
      <p:sp>
        <p:nvSpPr>
          <p:cNvPr id="8" name="Text 6"/>
          <p:cNvSpPr txBox="1"/>
          <p:nvPr/>
        </p:nvSpPr>
        <p:spPr>
          <a:xfrm>
            <a:off x="2834640" y="2057400"/>
            <a:ext cx="731520" cy="228600"/>
          </a:xfrm>
          <a:prstGeom prst="rect">
            <a:avLst/>
          </a:prstGeom>
          <a:noFill/>
          <a:ln/>
        </p:spPr>
        <p:txBody>
          <a:bodyPr wrap="square" lIns="0" tIns="0" rIns="0" bIns="0" rtlCol="0" anchor="ctr"/>
          <a:lstStyle/>
          <a:p>
            <a:pPr algn="ctr" indent="0" marL="0">
              <a:buNone/>
            </a:pPr>
            <a:r>
              <a:rPr lang="en-US" sz="1100" dirty="0">
                <a:solidFill>
                  <a:srgbClr val="4A5B60"/>
                </a:solidFill>
                <a:latin typeface="Roboto" pitchFamily="34" charset="0"/>
                <a:ea typeface="Roboto" pitchFamily="34" charset="-122"/>
                <a:cs typeface="Roboto" pitchFamily="34" charset="-120"/>
              </a:rPr>
              <a:t>t − 1</a:t>
            </a:r>
            <a:endParaRPr lang="en-US" sz="1100" dirty="0"/>
          </a:p>
        </p:txBody>
      </p:sp>
      <p:sp>
        <p:nvSpPr>
          <p:cNvPr id="9" name="Text 7"/>
          <p:cNvSpPr txBox="1"/>
          <p:nvPr/>
        </p:nvSpPr>
        <p:spPr>
          <a:xfrm>
            <a:off x="3931920" y="2057400"/>
            <a:ext cx="731520" cy="228600"/>
          </a:xfrm>
          <a:prstGeom prst="rect">
            <a:avLst/>
          </a:prstGeom>
          <a:noFill/>
          <a:ln/>
        </p:spPr>
        <p:txBody>
          <a:bodyPr wrap="square" lIns="0" tIns="0" rIns="0" bIns="0" rtlCol="0" anchor="ctr"/>
          <a:lstStyle/>
          <a:p>
            <a:pPr algn="ctr" indent="0" marL="0">
              <a:buNone/>
            </a:pPr>
            <a:r>
              <a:rPr lang="en-US" sz="1100" dirty="0">
                <a:solidFill>
                  <a:srgbClr val="4A5B60"/>
                </a:solidFill>
                <a:latin typeface="Roboto" pitchFamily="34" charset="0"/>
                <a:ea typeface="Roboto" pitchFamily="34" charset="-122"/>
                <a:cs typeface="Roboto" pitchFamily="34" charset="-120"/>
              </a:rPr>
              <a:t>t</a:t>
            </a:r>
            <a:endParaRPr lang="en-US" sz="1100" dirty="0"/>
          </a:p>
        </p:txBody>
      </p:sp>
      <p:sp>
        <p:nvSpPr>
          <p:cNvPr id="10" name="Text 8"/>
          <p:cNvSpPr txBox="1"/>
          <p:nvPr/>
        </p:nvSpPr>
        <p:spPr>
          <a:xfrm>
            <a:off x="502920" y="2377440"/>
            <a:ext cx="365760" cy="566928"/>
          </a:xfrm>
          <a:prstGeom prst="rect">
            <a:avLst/>
          </a:prstGeom>
          <a:noFill/>
          <a:ln/>
        </p:spPr>
        <p:txBody>
          <a:bodyPr wrap="square" lIns="0" tIns="0" rIns="0" bIns="0" rtlCol="0" anchor="ctr"/>
          <a:lstStyle/>
          <a:p>
            <a:pPr indent="0" marL="0">
              <a:buNone/>
            </a:pPr>
            <a:r>
              <a:rPr lang="en-US" sz="3000" dirty="0">
                <a:solidFill>
                  <a:srgbClr val="9A5520"/>
                </a:solidFill>
                <a:latin typeface="Roboto Light" pitchFamily="34" charset="0"/>
                <a:ea typeface="Roboto Light" pitchFamily="34" charset="-122"/>
                <a:cs typeface="Roboto Light" pitchFamily="34" charset="-120"/>
              </a:rPr>
              <a:t>+</a:t>
            </a:r>
            <a:endParaRPr lang="en-US" sz="3000" dirty="0"/>
          </a:p>
        </p:txBody>
      </p:sp>
      <p:sp>
        <p:nvSpPr>
          <p:cNvPr id="11" name="Text 9"/>
          <p:cNvSpPr txBox="1"/>
          <p:nvPr/>
        </p:nvSpPr>
        <p:spPr>
          <a:xfrm>
            <a:off x="868680" y="2331720"/>
            <a:ext cx="1920240" cy="658368"/>
          </a:xfrm>
          <a:prstGeom prst="rect">
            <a:avLst/>
          </a:prstGeom>
          <a:noFill/>
          <a:ln/>
        </p:spPr>
        <p:txBody>
          <a:bodyPr wrap="square" lIns="0" tIns="0" rIns="0" bIns="0" rtlCol="0" anchor="ctr"/>
          <a:lstStyle/>
          <a:p>
            <a:pPr indent="0" marL="0">
              <a:buNone/>
            </a:pPr>
            <a:r>
              <a:rPr lang="en-US" sz="1700" dirty="0">
                <a:solidFill>
                  <a:srgbClr val="22383F"/>
                </a:solidFill>
                <a:latin typeface="Roboto Medium" pitchFamily="34" charset="0"/>
                <a:ea typeface="Roboto Medium" pitchFamily="34" charset="-122"/>
                <a:cs typeface="Roboto Medium" pitchFamily="34" charset="-120"/>
              </a:rPr>
              <a:t>New land</a:t>
            </a:r>
            <a:endParaRPr lang="en-US" sz="1700" dirty="0"/>
          </a:p>
          <a:p>
            <a:pPr indent="0" marL="0">
              <a:buNone/>
            </a:pPr>
            <a:r>
              <a:rPr lang="en-US" sz="1200" dirty="0">
                <a:solidFill>
                  <a:srgbClr val="4A5B60"/>
                </a:solidFill>
                <a:latin typeface="Roboto" pitchFamily="34" charset="0"/>
                <a:ea typeface="Roboto" pitchFamily="34" charset="-122"/>
                <a:cs typeface="Roboto" pitchFamily="34" charset="-120"/>
              </a:rPr>
              <a:t>never mined before</a:t>
            </a:r>
            <a:endParaRPr lang="en-US" sz="1700" dirty="0"/>
          </a:p>
        </p:txBody>
      </p:sp>
      <p:sp>
        <p:nvSpPr>
          <p:cNvPr id="12" name="Text 10"/>
          <p:cNvSpPr/>
          <p:nvPr/>
        </p:nvSpPr>
        <p:spPr>
          <a:xfrm>
            <a:off x="2916936" y="2377440"/>
            <a:ext cx="566928" cy="566928"/>
          </a:xfrm>
          <a:prstGeom prst="rect">
            <a:avLst/>
          </a:prstGeom>
          <a:solidFill>
            <a:srgbClr val="E7E1D6"/>
          </a:solidFill>
          <a:ln w="9525">
            <a:solidFill>
              <a:srgbClr val="C9C1B4"/>
            </a:solidFill>
          </a:ln>
        </p:spPr>
        <p:txBody>
          <a:bodyPr wrap="square" lIns="25400" tIns="25400" rIns="25400" bIns="25400" rtlCol="0" anchor="ctr"/>
          <a:lstStyle/>
          <a:p>
            <a:pPr algn="ctr" indent="0" marL="0">
              <a:buNone/>
            </a:pPr>
            <a:r>
              <a:rPr lang="en-US" sz="1000" dirty="0">
                <a:solidFill>
                  <a:srgbClr val="4A5B60"/>
                </a:solidFill>
                <a:latin typeface="Roboto Medium" pitchFamily="34" charset="0"/>
                <a:ea typeface="Roboto Medium" pitchFamily="34" charset="-122"/>
                <a:cs typeface="Roboto Medium" pitchFamily="34" charset="-120"/>
              </a:rPr>
              <a:t>forest</a:t>
            </a:r>
            <a:endParaRPr lang="en-US" sz="1000" dirty="0"/>
          </a:p>
        </p:txBody>
      </p:sp>
      <p:sp>
        <p:nvSpPr>
          <p:cNvPr id="13" name="Shape 11"/>
          <p:cNvSpPr/>
          <p:nvPr/>
        </p:nvSpPr>
        <p:spPr>
          <a:xfrm>
            <a:off x="3538728" y="2660904"/>
            <a:ext cx="438912" cy="0"/>
          </a:xfrm>
          <a:prstGeom prst="line">
            <a:avLst/>
          </a:prstGeom>
          <a:noFill/>
          <a:ln w="15875">
            <a:solidFill>
              <a:srgbClr val="4A5B60"/>
            </a:solidFill>
            <a:prstDash val="solid"/>
            <a:tailEnd type="triangle"/>
          </a:ln>
        </p:spPr>
      </p:sp>
      <p:sp>
        <p:nvSpPr>
          <p:cNvPr id="14" name="Text 12"/>
          <p:cNvSpPr/>
          <p:nvPr/>
        </p:nvSpPr>
        <p:spPr>
          <a:xfrm>
            <a:off x="4014216" y="2377440"/>
            <a:ext cx="566928" cy="566928"/>
          </a:xfrm>
          <a:prstGeom prst="rect">
            <a:avLst/>
          </a:prstGeom>
          <a:solidFill>
            <a:srgbClr val="9A5520"/>
          </a:solidFill>
          <a:ln w="9525">
            <a:solidFill>
              <a:srgbClr val="C9C1B4"/>
            </a:solidFill>
          </a:ln>
        </p:spPr>
        <p:txBody>
          <a:bodyPr wrap="square" lIns="25400" tIns="25400" rIns="25400" bIns="25400" rtlCol="0" anchor="ctr"/>
          <a:lstStyle/>
          <a:p>
            <a:pPr algn="ctr" indent="0" marL="0">
              <a:buNone/>
            </a:pPr>
            <a:r>
              <a:rPr lang="en-US" sz="1000" dirty="0">
                <a:solidFill>
                  <a:srgbClr val="FFFFFF"/>
                </a:solidFill>
                <a:latin typeface="Roboto Medium" pitchFamily="34" charset="0"/>
                <a:ea typeface="Roboto Medium" pitchFamily="34" charset="-122"/>
                <a:cs typeface="Roboto Medium" pitchFamily="34" charset="-120"/>
              </a:rPr>
              <a:t>mined</a:t>
            </a:r>
            <a:endParaRPr lang="en-US" sz="1000" dirty="0"/>
          </a:p>
        </p:txBody>
      </p:sp>
      <p:sp>
        <p:nvSpPr>
          <p:cNvPr id="15" name="Text 13"/>
          <p:cNvSpPr txBox="1"/>
          <p:nvPr/>
        </p:nvSpPr>
        <p:spPr>
          <a:xfrm>
            <a:off x="502920" y="3337560"/>
            <a:ext cx="365760" cy="566928"/>
          </a:xfrm>
          <a:prstGeom prst="rect">
            <a:avLst/>
          </a:prstGeom>
          <a:noFill/>
          <a:ln/>
        </p:spPr>
        <p:txBody>
          <a:bodyPr wrap="square" lIns="0" tIns="0" rIns="0" bIns="0" rtlCol="0" anchor="ctr"/>
          <a:lstStyle/>
          <a:p>
            <a:pPr indent="0" marL="0">
              <a:buNone/>
            </a:pPr>
            <a:r>
              <a:rPr lang="en-US" sz="3000" dirty="0">
                <a:solidFill>
                  <a:srgbClr val="D99A1E"/>
                </a:solidFill>
                <a:latin typeface="Roboto Light" pitchFamily="34" charset="0"/>
                <a:ea typeface="Roboto Light" pitchFamily="34" charset="-122"/>
                <a:cs typeface="Roboto Light" pitchFamily="34" charset="-120"/>
              </a:rPr>
              <a:t>+</a:t>
            </a:r>
            <a:endParaRPr lang="en-US" sz="3000" dirty="0"/>
          </a:p>
        </p:txBody>
      </p:sp>
      <p:sp>
        <p:nvSpPr>
          <p:cNvPr id="16" name="Text 14"/>
          <p:cNvSpPr txBox="1"/>
          <p:nvPr/>
        </p:nvSpPr>
        <p:spPr>
          <a:xfrm>
            <a:off x="868680" y="3291840"/>
            <a:ext cx="1920240" cy="658368"/>
          </a:xfrm>
          <a:prstGeom prst="rect">
            <a:avLst/>
          </a:prstGeom>
          <a:noFill/>
          <a:ln/>
        </p:spPr>
        <p:txBody>
          <a:bodyPr wrap="square" lIns="0" tIns="0" rIns="0" bIns="0" rtlCol="0" anchor="ctr"/>
          <a:lstStyle/>
          <a:p>
            <a:pPr indent="0" marL="0">
              <a:buNone/>
            </a:pPr>
            <a:r>
              <a:rPr lang="en-US" sz="1700" dirty="0">
                <a:solidFill>
                  <a:srgbClr val="22383F"/>
                </a:solidFill>
                <a:latin typeface="Roboto Medium" pitchFamily="34" charset="0"/>
                <a:ea typeface="Roboto Medium" pitchFamily="34" charset="-122"/>
                <a:cs typeface="Roboto Medium" pitchFamily="34" charset="-120"/>
              </a:rPr>
              <a:t>Re-mined</a:t>
            </a:r>
            <a:endParaRPr lang="en-US" sz="1700" dirty="0"/>
          </a:p>
          <a:p>
            <a:pPr indent="0" marL="0">
              <a:buNone/>
            </a:pPr>
            <a:r>
              <a:rPr lang="en-US" sz="1200" dirty="0">
                <a:solidFill>
                  <a:srgbClr val="4A5B60"/>
                </a:solidFill>
                <a:latin typeface="Roboto" pitchFamily="34" charset="0"/>
                <a:ea typeface="Roboto" pitchFamily="34" charset="-122"/>
                <a:cs typeface="Roboto" pitchFamily="34" charset="-120"/>
              </a:rPr>
              <a:t>out of use a year or more, mined again</a:t>
            </a:r>
            <a:endParaRPr lang="en-US" sz="1700" dirty="0"/>
          </a:p>
        </p:txBody>
      </p:sp>
      <p:sp>
        <p:nvSpPr>
          <p:cNvPr id="17" name="Text 15"/>
          <p:cNvSpPr/>
          <p:nvPr/>
        </p:nvSpPr>
        <p:spPr>
          <a:xfrm>
            <a:off x="2916936" y="3337560"/>
            <a:ext cx="566928" cy="566928"/>
          </a:xfrm>
          <a:prstGeom prst="rect">
            <a:avLst/>
          </a:prstGeom>
          <a:solidFill>
            <a:srgbClr val="E7E1D6"/>
          </a:solidFill>
          <a:ln w="9525">
            <a:solidFill>
              <a:srgbClr val="C9C1B4"/>
            </a:solidFill>
          </a:ln>
        </p:spPr>
        <p:txBody>
          <a:bodyPr wrap="square" lIns="25400" tIns="25400" rIns="25400" bIns="25400" rtlCol="0" anchor="ctr"/>
          <a:lstStyle/>
          <a:p>
            <a:pPr algn="ctr" indent="0" marL="0">
              <a:buNone/>
            </a:pPr>
            <a:r>
              <a:rPr lang="en-US" sz="1000" dirty="0">
                <a:solidFill>
                  <a:srgbClr val="4A5B60"/>
                </a:solidFill>
                <a:latin typeface="Roboto Medium" pitchFamily="34" charset="0"/>
                <a:ea typeface="Roboto Medium" pitchFamily="34" charset="-122"/>
                <a:cs typeface="Roboto Medium" pitchFamily="34" charset="-120"/>
              </a:rPr>
              <a:t>old pit</a:t>
            </a:r>
            <a:endParaRPr lang="en-US" sz="1000" dirty="0"/>
          </a:p>
        </p:txBody>
      </p:sp>
      <p:sp>
        <p:nvSpPr>
          <p:cNvPr id="18" name="Shape 16"/>
          <p:cNvSpPr/>
          <p:nvPr/>
        </p:nvSpPr>
        <p:spPr>
          <a:xfrm>
            <a:off x="3538728" y="3621024"/>
            <a:ext cx="438912" cy="0"/>
          </a:xfrm>
          <a:prstGeom prst="line">
            <a:avLst/>
          </a:prstGeom>
          <a:noFill/>
          <a:ln w="15875">
            <a:solidFill>
              <a:srgbClr val="4A5B60"/>
            </a:solidFill>
            <a:prstDash val="solid"/>
            <a:tailEnd type="triangle"/>
          </a:ln>
        </p:spPr>
      </p:sp>
      <p:sp>
        <p:nvSpPr>
          <p:cNvPr id="19" name="Text 17"/>
          <p:cNvSpPr/>
          <p:nvPr/>
        </p:nvSpPr>
        <p:spPr>
          <a:xfrm>
            <a:off x="4014216" y="3337560"/>
            <a:ext cx="566928" cy="566928"/>
          </a:xfrm>
          <a:prstGeom prst="rect">
            <a:avLst/>
          </a:prstGeom>
          <a:solidFill>
            <a:srgbClr val="D99A1E"/>
          </a:solidFill>
          <a:ln w="9525">
            <a:solidFill>
              <a:srgbClr val="C9C1B4"/>
            </a:solidFill>
          </a:ln>
        </p:spPr>
        <p:txBody>
          <a:bodyPr wrap="square" lIns="25400" tIns="25400" rIns="25400" bIns="25400" rtlCol="0" anchor="ctr"/>
          <a:lstStyle/>
          <a:p>
            <a:pPr algn="ctr" indent="0" marL="0">
              <a:buNone/>
            </a:pPr>
            <a:r>
              <a:rPr lang="en-US" sz="1000" dirty="0">
                <a:solidFill>
                  <a:srgbClr val="FFFFFF"/>
                </a:solidFill>
                <a:latin typeface="Roboto Medium" pitchFamily="34" charset="0"/>
                <a:ea typeface="Roboto Medium" pitchFamily="34" charset="-122"/>
                <a:cs typeface="Roboto Medium" pitchFamily="34" charset="-120"/>
              </a:rPr>
              <a:t>mined</a:t>
            </a:r>
            <a:endParaRPr lang="en-US" sz="1000" dirty="0"/>
          </a:p>
        </p:txBody>
      </p:sp>
      <p:sp>
        <p:nvSpPr>
          <p:cNvPr id="20" name="Text 18"/>
          <p:cNvSpPr txBox="1"/>
          <p:nvPr/>
        </p:nvSpPr>
        <p:spPr>
          <a:xfrm>
            <a:off x="502920" y="4297680"/>
            <a:ext cx="365760" cy="566928"/>
          </a:xfrm>
          <a:prstGeom prst="rect">
            <a:avLst/>
          </a:prstGeom>
          <a:noFill/>
          <a:ln/>
        </p:spPr>
        <p:txBody>
          <a:bodyPr wrap="square" lIns="0" tIns="0" rIns="0" bIns="0" rtlCol="0" anchor="ctr"/>
          <a:lstStyle/>
          <a:p>
            <a:pPr indent="0" marL="0">
              <a:buNone/>
            </a:pPr>
            <a:r>
              <a:rPr lang="en-US" sz="3000" dirty="0">
                <a:solidFill>
                  <a:srgbClr val="14998A"/>
                </a:solidFill>
                <a:latin typeface="Roboto Light" pitchFamily="34" charset="0"/>
                <a:ea typeface="Roboto Light" pitchFamily="34" charset="-122"/>
                <a:cs typeface="Roboto Light" pitchFamily="34" charset="-120"/>
              </a:rPr>
              <a:t>−</a:t>
            </a:r>
            <a:endParaRPr lang="en-US" sz="3000" dirty="0"/>
          </a:p>
        </p:txBody>
      </p:sp>
      <p:sp>
        <p:nvSpPr>
          <p:cNvPr id="21" name="Text 19"/>
          <p:cNvSpPr txBox="1"/>
          <p:nvPr/>
        </p:nvSpPr>
        <p:spPr>
          <a:xfrm>
            <a:off x="868680" y="4251960"/>
            <a:ext cx="1920240" cy="658368"/>
          </a:xfrm>
          <a:prstGeom prst="rect">
            <a:avLst/>
          </a:prstGeom>
          <a:noFill/>
          <a:ln/>
        </p:spPr>
        <p:txBody>
          <a:bodyPr wrap="square" lIns="0" tIns="0" rIns="0" bIns="0" rtlCol="0" anchor="ctr"/>
          <a:lstStyle/>
          <a:p>
            <a:pPr indent="0" marL="0">
              <a:buNone/>
            </a:pPr>
            <a:r>
              <a:rPr lang="en-US" sz="1700" dirty="0">
                <a:solidFill>
                  <a:srgbClr val="22383F"/>
                </a:solidFill>
                <a:latin typeface="Roboto Medium" pitchFamily="34" charset="0"/>
                <a:ea typeface="Roboto Medium" pitchFamily="34" charset="-122"/>
                <a:cs typeface="Roboto Medium" pitchFamily="34" charset="-120"/>
              </a:rPr>
              <a:t>Stopped</a:t>
            </a:r>
            <a:endParaRPr lang="en-US" sz="1700" dirty="0"/>
          </a:p>
          <a:p>
            <a:pPr indent="0" marL="0">
              <a:buNone/>
            </a:pPr>
            <a:r>
              <a:rPr lang="en-US" sz="1200" dirty="0">
                <a:solidFill>
                  <a:srgbClr val="4A5B60"/>
                </a:solidFill>
                <a:latin typeface="Roboto" pitchFamily="34" charset="0"/>
                <a:ea typeface="Roboto" pitchFamily="34" charset="-122"/>
                <a:cs typeface="Roboto" pitchFamily="34" charset="-120"/>
              </a:rPr>
              <a:t>mined last year, not this year</a:t>
            </a:r>
            <a:endParaRPr lang="en-US" sz="1700" dirty="0"/>
          </a:p>
        </p:txBody>
      </p:sp>
      <p:sp>
        <p:nvSpPr>
          <p:cNvPr id="22" name="Text 20"/>
          <p:cNvSpPr/>
          <p:nvPr/>
        </p:nvSpPr>
        <p:spPr>
          <a:xfrm>
            <a:off x="2916936" y="4297680"/>
            <a:ext cx="566928" cy="566928"/>
          </a:xfrm>
          <a:prstGeom prst="rect">
            <a:avLst/>
          </a:prstGeom>
          <a:solidFill>
            <a:srgbClr val="8A6B4E"/>
          </a:solidFill>
          <a:ln w="9525">
            <a:solidFill>
              <a:srgbClr val="C9C1B4"/>
            </a:solidFill>
          </a:ln>
        </p:spPr>
        <p:txBody>
          <a:bodyPr wrap="square" lIns="25400" tIns="25400" rIns="25400" bIns="25400" rtlCol="0" anchor="ctr"/>
          <a:lstStyle/>
          <a:p>
            <a:pPr algn="ctr" indent="0" marL="0">
              <a:buNone/>
            </a:pPr>
            <a:r>
              <a:rPr lang="en-US" sz="1000" dirty="0">
                <a:solidFill>
                  <a:srgbClr val="FFFFFF"/>
                </a:solidFill>
                <a:latin typeface="Roboto Medium" pitchFamily="34" charset="0"/>
                <a:ea typeface="Roboto Medium" pitchFamily="34" charset="-122"/>
                <a:cs typeface="Roboto Medium" pitchFamily="34" charset="-120"/>
              </a:rPr>
              <a:t>mined</a:t>
            </a:r>
            <a:endParaRPr lang="en-US" sz="1000" dirty="0"/>
          </a:p>
        </p:txBody>
      </p:sp>
      <p:sp>
        <p:nvSpPr>
          <p:cNvPr id="23" name="Shape 21"/>
          <p:cNvSpPr/>
          <p:nvPr/>
        </p:nvSpPr>
        <p:spPr>
          <a:xfrm>
            <a:off x="3538728" y="4581144"/>
            <a:ext cx="438912" cy="0"/>
          </a:xfrm>
          <a:prstGeom prst="line">
            <a:avLst/>
          </a:prstGeom>
          <a:noFill/>
          <a:ln w="15875">
            <a:solidFill>
              <a:srgbClr val="4A5B60"/>
            </a:solidFill>
            <a:prstDash val="solid"/>
            <a:tailEnd type="triangle"/>
          </a:ln>
        </p:spPr>
      </p:sp>
      <p:sp>
        <p:nvSpPr>
          <p:cNvPr id="24" name="Text 22"/>
          <p:cNvSpPr/>
          <p:nvPr/>
        </p:nvSpPr>
        <p:spPr>
          <a:xfrm>
            <a:off x="4014216" y="4297680"/>
            <a:ext cx="566928" cy="566928"/>
          </a:xfrm>
          <a:prstGeom prst="rect">
            <a:avLst/>
          </a:prstGeom>
          <a:solidFill>
            <a:srgbClr val="DDEFEC"/>
          </a:solidFill>
          <a:ln w="9525">
            <a:solidFill>
              <a:srgbClr val="C9C1B4"/>
            </a:solidFill>
          </a:ln>
        </p:spPr>
        <p:txBody>
          <a:bodyPr wrap="square" lIns="25400" tIns="25400" rIns="25400" bIns="25400" rtlCol="0" anchor="ctr"/>
          <a:lstStyle/>
          <a:p>
            <a:pPr algn="ctr" indent="0" marL="0">
              <a:buNone/>
            </a:pPr>
            <a:r>
              <a:rPr lang="en-US" sz="1000" dirty="0">
                <a:solidFill>
                  <a:srgbClr val="4A5B60"/>
                </a:solidFill>
                <a:latin typeface="Roboto Medium" pitchFamily="34" charset="0"/>
                <a:ea typeface="Roboto Medium" pitchFamily="34" charset="-122"/>
                <a:cs typeface="Roboto Medium" pitchFamily="34" charset="-120"/>
              </a:rPr>
              <a:t>water / regrowth</a:t>
            </a:r>
            <a:endParaRPr lang="en-US" sz="1000" dirty="0"/>
          </a:p>
        </p:txBody>
      </p:sp>
      <p:sp>
        <p:nvSpPr>
          <p:cNvPr id="25" name="Shape 23"/>
          <p:cNvSpPr/>
          <p:nvPr/>
        </p:nvSpPr>
        <p:spPr>
          <a:xfrm>
            <a:off x="502920" y="5349240"/>
            <a:ext cx="4663440" cy="868680"/>
          </a:xfrm>
          <a:prstGeom prst="rect">
            <a:avLst/>
          </a:prstGeom>
          <a:solidFill>
            <a:srgbClr val="FBFAF7"/>
          </a:solidFill>
          <a:ln w="9525">
            <a:solidFill>
              <a:srgbClr val="D9D2C7"/>
            </a:solidFill>
            <a:prstDash val="solid"/>
          </a:ln>
        </p:spPr>
      </p:sp>
      <p:sp>
        <p:nvSpPr>
          <p:cNvPr id="26" name="Text 24"/>
          <p:cNvSpPr txBox="1"/>
          <p:nvPr/>
        </p:nvSpPr>
        <p:spPr>
          <a:xfrm>
            <a:off x="685800" y="5422392"/>
            <a:ext cx="4389120" cy="457200"/>
          </a:xfrm>
          <a:prstGeom prst="rect">
            <a:avLst/>
          </a:prstGeom>
          <a:noFill/>
          <a:ln/>
        </p:spPr>
        <p:txBody>
          <a:bodyPr wrap="square" lIns="0" tIns="0" rIns="0" bIns="0" rtlCol="0" anchor="ctr"/>
          <a:lstStyle/>
          <a:p>
            <a:pPr indent="0" marL="0">
              <a:buNone/>
            </a:pPr>
            <a:r>
              <a:rPr lang="en-US" sz="2200" b="1" dirty="0">
                <a:solidFill>
                  <a:srgbClr val="22383F"/>
                </a:solidFill>
                <a:latin typeface="Roboto Medium" pitchFamily="34" charset="0"/>
                <a:ea typeface="Roboto Medium" pitchFamily="34" charset="-122"/>
                <a:cs typeface="Roboto Medium" pitchFamily="34" charset="-120"/>
              </a:rPr>
              <a:t>Net</a:t>
            </a:r>
            <a:pPr indent="0" marL="0">
              <a:buNone/>
            </a:pPr>
            <a:r>
              <a:rPr lang="en-US" sz="2200" dirty="0">
                <a:solidFill>
                  <a:srgbClr val="4A5B60"/>
                </a:solidFill>
                <a:latin typeface="Roboto Medium" pitchFamily="34" charset="0"/>
                <a:ea typeface="Roboto Medium" pitchFamily="34" charset="-122"/>
                <a:cs typeface="Roboto Medium" pitchFamily="34" charset="-120"/>
              </a:rPr>
              <a:t> = </a:t>
            </a:r>
            <a:pPr indent="0" marL="0">
              <a:buNone/>
            </a:pPr>
            <a:r>
              <a:rPr lang="en-US" sz="2200" b="1" dirty="0">
                <a:solidFill>
                  <a:srgbClr val="9A5520"/>
                </a:solidFill>
                <a:latin typeface="Roboto Medium" pitchFamily="34" charset="0"/>
                <a:ea typeface="Roboto Medium" pitchFamily="34" charset="-122"/>
                <a:cs typeface="Roboto Medium" pitchFamily="34" charset="-120"/>
              </a:rPr>
              <a:t>new</a:t>
            </a:r>
            <a:pPr indent="0" marL="0">
              <a:buNone/>
            </a:pPr>
            <a:r>
              <a:rPr lang="en-US" sz="2200" dirty="0">
                <a:solidFill>
                  <a:srgbClr val="4A5B60"/>
                </a:solidFill>
                <a:latin typeface="Roboto Medium" pitchFamily="34" charset="0"/>
                <a:ea typeface="Roboto Medium" pitchFamily="34" charset="-122"/>
                <a:cs typeface="Roboto Medium" pitchFamily="34" charset="-120"/>
              </a:rPr>
              <a:t> + </a:t>
            </a:r>
            <a:pPr indent="0" marL="0">
              <a:buNone/>
            </a:pPr>
            <a:r>
              <a:rPr lang="en-US" sz="2200" b="1" dirty="0">
                <a:solidFill>
                  <a:srgbClr val="D99A1E"/>
                </a:solidFill>
                <a:latin typeface="Roboto Medium" pitchFamily="34" charset="0"/>
                <a:ea typeface="Roboto Medium" pitchFamily="34" charset="-122"/>
                <a:cs typeface="Roboto Medium" pitchFamily="34" charset="-120"/>
              </a:rPr>
              <a:t>re-mined</a:t>
            </a:r>
            <a:pPr indent="0" marL="0">
              <a:buNone/>
            </a:pPr>
            <a:r>
              <a:rPr lang="en-US" sz="2200" dirty="0">
                <a:solidFill>
                  <a:srgbClr val="4A5B60"/>
                </a:solidFill>
                <a:latin typeface="Roboto Medium" pitchFamily="34" charset="0"/>
                <a:ea typeface="Roboto Medium" pitchFamily="34" charset="-122"/>
                <a:cs typeface="Roboto Medium" pitchFamily="34" charset="-120"/>
              </a:rPr>
              <a:t> − </a:t>
            </a:r>
            <a:pPr indent="0" marL="0">
              <a:buNone/>
            </a:pPr>
            <a:r>
              <a:rPr lang="en-US" sz="2200" b="1" dirty="0">
                <a:solidFill>
                  <a:srgbClr val="14998A"/>
                </a:solidFill>
                <a:latin typeface="Roboto Medium" pitchFamily="34" charset="0"/>
                <a:ea typeface="Roboto Medium" pitchFamily="34" charset="-122"/>
                <a:cs typeface="Roboto Medium" pitchFamily="34" charset="-120"/>
              </a:rPr>
              <a:t>stopped</a:t>
            </a:r>
            <a:endParaRPr lang="en-US" sz="2200" dirty="0"/>
          </a:p>
        </p:txBody>
      </p:sp>
      <p:sp>
        <p:nvSpPr>
          <p:cNvPr id="27" name="Text 25"/>
          <p:cNvSpPr txBox="1"/>
          <p:nvPr/>
        </p:nvSpPr>
        <p:spPr>
          <a:xfrm>
            <a:off x="685800" y="5852160"/>
            <a:ext cx="4389120" cy="320040"/>
          </a:xfrm>
          <a:prstGeom prst="rect">
            <a:avLst/>
          </a:prstGeom>
          <a:noFill/>
          <a:ln/>
        </p:spPr>
        <p:txBody>
          <a:bodyPr wrap="square" lIns="0" tIns="0" rIns="0" bIns="0" rtlCol="0" anchor="ctr"/>
          <a:lstStyle/>
          <a:p>
            <a:pPr indent="0" marL="0">
              <a:buNone/>
            </a:pPr>
            <a:r>
              <a:rPr lang="en-US" sz="1100" dirty="0">
                <a:solidFill>
                  <a:srgbClr val="4A5B60"/>
                </a:solidFill>
                <a:latin typeface="Roboto" pitchFamily="34" charset="0"/>
                <a:ea typeface="Roboto" pitchFamily="34" charset="-122"/>
                <a:cs typeface="Roboto" pitchFamily="34" charset="-120"/>
              </a:rPr>
              <a:t>= mining area this year − last year. Hectares are a proxy for mining activity, not for miners.</a:t>
            </a:r>
            <a:endParaRPr lang="en-US" sz="1100" dirty="0"/>
          </a:p>
        </p:txBody>
      </p:sp>
      <p:pic>
        <p:nvPicPr>
          <p:cNvPr id="28" name="Image 0" descr="zone map">    </p:cNvPr>
          <p:cNvPicPr>
            <a:picLocks noChangeAspect="1"/>
          </p:cNvPicPr>
          <p:nvPr/>
        </p:nvPicPr>
        <p:blipFill>
          <a:blip r:embed="rId1"/>
          <a:stretch>
            <a:fillRect/>
          </a:stretch>
        </p:blipFill>
        <p:spPr>
          <a:xfrm>
            <a:off x="5532120" y="1737360"/>
            <a:ext cx="6156655" cy="3463119"/>
          </a:xfrm>
          <a:prstGeom prst="rect">
            <a:avLst/>
          </a:prstGeom>
        </p:spPr>
      </p:pic>
      <p:sp>
        <p:nvSpPr>
          <p:cNvPr id="29" name="Text 26"/>
          <p:cNvSpPr txBox="1"/>
          <p:nvPr/>
        </p:nvSpPr>
        <p:spPr>
          <a:xfrm>
            <a:off x="5532120" y="5310207"/>
            <a:ext cx="6156655" cy="777240"/>
          </a:xfrm>
          <a:prstGeom prst="rect">
            <a:avLst/>
          </a:prstGeom>
          <a:noFill/>
          <a:ln/>
        </p:spPr>
        <p:txBody>
          <a:bodyPr wrap="square" lIns="0" tIns="0" rIns="0" bIns="0" rtlCol="0" anchor="t"/>
          <a:lstStyle/>
          <a:p>
            <a:pPr indent="0" marL="0">
              <a:buNone/>
            </a:pPr>
            <a:r>
              <a:rPr lang="en-US" sz="1200" dirty="0">
                <a:solidFill>
                  <a:srgbClr val="22383F"/>
                </a:solidFill>
                <a:latin typeface="Roboto Medium" pitchFamily="34" charset="0"/>
                <a:ea typeface="Roboto Medium" pitchFamily="34" charset="-122"/>
                <a:cs typeface="Roboto Medium" pitchFamily="34" charset="-120"/>
              </a:rPr>
              <a:t>Same zones everywhere: </a:t>
            </a:r>
            <a:pPr indent="0" marL="0">
              <a:buNone/>
            </a:pPr>
            <a:r>
              <a:rPr lang="en-US" sz="1200" dirty="0">
                <a:solidFill>
                  <a:srgbClr val="4A5B60"/>
                </a:solidFill>
                <a:latin typeface="Roboto" pitchFamily="34" charset="0"/>
                <a:ea typeface="Roboto" pitchFamily="34" charset="-122"/>
                <a:cs typeface="Roboto" pitchFamily="34" charset="-120"/>
              </a:rPr>
              <a:t>Tambopata buffer zone (whole, incl. Kotsimba) · La Pampa sector (its 70.15–69.80° W part) · corridor across the road (D.L. 1100, ≤ 10 km north of the highway) · Amarakaeri buffer zone (less treated) · Madre de Dios.</a:t>
            </a:r>
            <a:endParaRPr lang="en-US" sz="12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384048"/>
            <a:ext cx="3730752"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02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2010–2025 IN ONE MINUTE</a:t>
            </a:r>
            <a:endParaRPr lang="en-US" sz="1200" dirty="0"/>
          </a:p>
        </p:txBody>
      </p:sp>
      <p:sp>
        <p:nvSpPr>
          <p:cNvPr id="3" name="Shape 1"/>
          <p:cNvSpPr/>
          <p:nvPr/>
        </p:nvSpPr>
        <p:spPr>
          <a:xfrm>
            <a:off x="4343400" y="521208"/>
            <a:ext cx="4967935"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2010–2025: new pits, old pits re-mined, pits stopping</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mining additions as three flows on the map: new land (brown), re-mined (amber), stopped (teal) · counter: net ha per year, La Pampa sector and corridor across the road</a:t>
            </a:r>
            <a:endParaRPr lang="en-US" sz="125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991208" y="1737360"/>
            <a:ext cx="8209280" cy="461772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384048"/>
            <a:ext cx="4224528"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03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WHAT HAPPENED IN THE TARGET</a:t>
            </a:r>
            <a:endParaRPr lang="en-US" sz="1200" dirty="0"/>
          </a:p>
        </p:txBody>
      </p:sp>
      <p:sp>
        <p:nvSpPr>
          <p:cNvPr id="3" name="Shape 1"/>
          <p:cNvSpPr/>
          <p:nvPr/>
        </p:nvSpPr>
        <p:spPr>
          <a:xfrm>
            <a:off x="4837176" y="521208"/>
            <a:ext cx="4474159"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Net mining fell 90%, then came back</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mining additions, ha/yr · Tambopata buffer zone · 2014–2025 · thick bars and numbers: means for 2016–18, 2019–21 (shaded) and 2022–25</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slide_09_net.png">    </p:cNvPr>
          <p:cNvPicPr>
            <a:picLocks noChangeAspect="1"/>
          </p:cNvPicPr>
          <p:nvPr/>
        </p:nvPicPr>
        <p:blipFill>
          <a:blip r:embed="rId1"/>
          <a:stretch>
            <a:fillRect/>
          </a:stretch>
        </p:blipFill>
        <p:spPr>
          <a:xfrm>
            <a:off x="573786" y="1783080"/>
            <a:ext cx="11044123" cy="452628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384048"/>
            <a:ext cx="3113532"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03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2019, YEAR BY YEAR</a:t>
            </a:r>
            <a:endParaRPr lang="en-US" sz="1200" dirty="0"/>
          </a:p>
        </p:txBody>
      </p:sp>
      <p:sp>
        <p:nvSpPr>
          <p:cNvPr id="3" name="Shape 1"/>
          <p:cNvSpPr/>
          <p:nvPr/>
        </p:nvSpPr>
        <p:spPr>
          <a:xfrm>
            <a:off x="3726180" y="521208"/>
            <a:ext cx="5585155"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2019: new pits kept opening, old ones went quiet</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mining additions and parts, ha/yr · Tambopata buffer zone · 2016–2022 · more stopping explains 25%–47% of the 2016–18 → 2019–21 fall; in Amarakaeri stopped land stayed flat (542 → 584 ha/yr)</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slide_10_2019_parts.png">    </p:cNvPr>
          <p:cNvPicPr>
            <a:picLocks noChangeAspect="1"/>
          </p:cNvPicPr>
          <p:nvPr/>
        </p:nvPicPr>
        <p:blipFill>
          <a:blip r:embed="rId1"/>
          <a:stretch>
            <a:fillRect/>
          </a:stretch>
        </p:blipFill>
        <p:spPr>
          <a:xfrm>
            <a:off x="573786" y="1783080"/>
            <a:ext cx="11044123" cy="452628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384048"/>
            <a:ext cx="2496312"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04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WHERE IT WENT</a:t>
            </a:r>
            <a:endParaRPr lang="en-US" sz="1200" dirty="0"/>
          </a:p>
        </p:txBody>
      </p:sp>
      <p:sp>
        <p:nvSpPr>
          <p:cNvPr id="3" name="Shape 1"/>
          <p:cNvSpPr/>
          <p:nvPr/>
        </p:nvSpPr>
        <p:spPr>
          <a:xfrm>
            <a:off x="3108960" y="521208"/>
            <a:ext cx="6202375"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The region kept growing, mostly in the legal corridor</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mining additions, ha/yr, period means · Madre de Dios · % = the legal corridor's share of the department's net additions (period sums) · legal corridor = all D.L. 1100 land, not only the strip across the road</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slide_11_region.png">    </p:cNvPr>
          <p:cNvPicPr>
            <a:picLocks noChangeAspect="1"/>
          </p:cNvPicPr>
          <p:nvPr/>
        </p:nvPicPr>
        <p:blipFill>
          <a:blip r:embed="rId1"/>
          <a:stretch>
            <a:fillRect/>
          </a:stretch>
        </p:blipFill>
        <p:spPr>
          <a:xfrm>
            <a:off x="573786" y="1783080"/>
            <a:ext cx="11044123" cy="452628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384048"/>
            <a:ext cx="2743200"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05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ACROSS THE ROAD</a:t>
            </a:r>
            <a:endParaRPr lang="en-US" sz="1200" dirty="0"/>
          </a:p>
        </p:txBody>
      </p:sp>
      <p:sp>
        <p:nvSpPr>
          <p:cNvPr id="3" name="Shape 1"/>
          <p:cNvSpPr/>
          <p:nvPr/>
        </p:nvSpPr>
        <p:spPr>
          <a:xfrm>
            <a:off x="3355848" y="521208"/>
            <a:ext cx="5955487"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Across the road, net mining rose more than six-fold</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mining additions, ha/yr · corridor across the road (legal strip ≤ 10 km north of the highway) vs La Pampa sector (1,209 → 85 ha/yr) · 2014–2025 · thick bars: means</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slide_12_across.png">    </p:cNvPr>
          <p:cNvPicPr>
            <a:picLocks noChangeAspect="1"/>
          </p:cNvPicPr>
          <p:nvPr/>
        </p:nvPicPr>
        <p:blipFill>
          <a:blip r:embed="rId1"/>
          <a:stretch>
            <a:fillRect/>
          </a:stretch>
        </p:blipFill>
        <p:spPr>
          <a:xfrm>
            <a:off x="573786" y="1783080"/>
            <a:ext cx="11044123" cy="452628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384048"/>
            <a:ext cx="2743200"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05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ACROSS THE ROAD</a:t>
            </a:r>
            <a:endParaRPr lang="en-US" sz="1200" dirty="0"/>
          </a:p>
        </p:txBody>
      </p:sp>
      <p:sp>
        <p:nvSpPr>
          <p:cNvPr id="3" name="Shape 1"/>
          <p:cNvSpPr/>
          <p:nvPr/>
        </p:nvSpPr>
        <p:spPr>
          <a:xfrm>
            <a:off x="3355848" y="521208"/>
            <a:ext cx="5955487"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2019–21: mining fell south of the highway, rose north</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mining additions per 1-km band, ha/yr · La Pampa's longitudes, 30 km either side of the Interoceanic Highway · means for 2016–18, 2019–21, 2022–25 · shaded: more than 10 km north</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slide_12b_bands.png">    </p:cNvPr>
          <p:cNvPicPr>
            <a:picLocks noChangeAspect="1"/>
          </p:cNvPicPr>
          <p:nvPr/>
        </p:nvPicPr>
        <p:blipFill>
          <a:blip r:embed="rId1"/>
          <a:stretch>
            <a:fillRect/>
          </a:stretch>
        </p:blipFill>
        <p:spPr>
          <a:xfrm>
            <a:off x="573786" y="1783080"/>
            <a:ext cx="11044123" cy="452628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384048"/>
            <a:ext cx="2866644"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06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WHY IT CAME BACK</a:t>
            </a:r>
            <a:endParaRPr lang="en-US" sz="1200" dirty="0"/>
          </a:p>
        </p:txBody>
      </p:sp>
      <p:sp>
        <p:nvSpPr>
          <p:cNvPr id="3" name="Shape 1"/>
          <p:cNvSpPr/>
          <p:nvPr/>
        </p:nvSpPr>
        <p:spPr>
          <a:xfrm>
            <a:off x="3479292" y="521208"/>
            <a:ext cx="5832043"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Money faded after 2019, while gold rose 2.7-fold</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Same years in each panel, 2014–2025 · PP 0128 executed spending booked in Madre de Dios (a lower bound) · gold price, nominal · net mining additions, Tambopata buffer zone · shaded: 2019–21 · context, not a test</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slide_13_money.png">    </p:cNvPr>
          <p:cNvPicPr>
            <a:picLocks noChangeAspect="1"/>
          </p:cNvPicPr>
          <p:nvPr/>
        </p:nvPicPr>
        <p:blipFill>
          <a:blip r:embed="rId1"/>
          <a:stretch>
            <a:fillRect/>
          </a:stretch>
        </p:blipFill>
        <p:spPr>
          <a:xfrm>
            <a:off x="573786" y="1783080"/>
            <a:ext cx="11044123" cy="452628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384048"/>
            <a:ext cx="2866644"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07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HOW IT CAME BACK</a:t>
            </a:r>
            <a:endParaRPr lang="en-US" sz="1200" dirty="0"/>
          </a:p>
        </p:txBody>
      </p:sp>
      <p:sp>
        <p:nvSpPr>
          <p:cNvPr id="3" name="Shape 1"/>
          <p:cNvSpPr/>
          <p:nvPr/>
        </p:nvSpPr>
        <p:spPr>
          <a:xfrm>
            <a:off x="3479292" y="521208"/>
            <a:ext cx="5832043"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It came back, partly on old pits (33–46%)</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mining additions and parts, ha/yr · Tambopata buffer zone · 2014–2025 · shaded: later years (2022–25) · share = re-mined ÷ (new + re-mined)</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slide_14_came_back.png">    </p:cNvPr>
          <p:cNvPicPr>
            <a:picLocks noChangeAspect="1"/>
          </p:cNvPicPr>
          <p:nvPr/>
        </p:nvPicPr>
        <p:blipFill>
          <a:blip r:embed="rId1"/>
          <a:stretch>
            <a:fillRect/>
          </a:stretch>
        </p:blipFill>
        <p:spPr>
          <a:xfrm>
            <a:off x="573786" y="1783080"/>
            <a:ext cx="11044123" cy="452628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384048"/>
            <a:ext cx="3113532"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08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INSIDE THE RESERVE</a:t>
            </a:r>
            <a:endParaRPr lang="en-US" sz="1200" dirty="0"/>
          </a:p>
        </p:txBody>
      </p:sp>
      <p:sp>
        <p:nvSpPr>
          <p:cNvPr id="3" name="Shape 1"/>
          <p:cNvSpPr/>
          <p:nvPr/>
        </p:nvSpPr>
        <p:spPr>
          <a:xfrm>
            <a:off x="3726180" y="521208"/>
            <a:ext cx="5585155"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In 2025, mining inside the reserve jumped 241 ha</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mining additions, ha/yr · Tambopata National Reserve (inside the reserve, not the buffer zone) · 2014–2025</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slide_15_reserve.png">    </p:cNvPr>
          <p:cNvPicPr>
            <a:picLocks noChangeAspect="1"/>
          </p:cNvPicPr>
          <p:nvPr/>
        </p:nvPicPr>
        <p:blipFill>
          <a:blip r:embed="rId1"/>
          <a:stretch>
            <a:fillRect/>
          </a:stretch>
        </p:blipFill>
        <p:spPr>
          <a:xfrm>
            <a:off x="573786" y="1783080"/>
            <a:ext cx="11044123" cy="452628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384048"/>
            <a:ext cx="2496312"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09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IS IT CAUSAL?</a:t>
            </a:r>
            <a:endParaRPr lang="en-US" sz="1200" dirty="0"/>
          </a:p>
        </p:txBody>
      </p:sp>
      <p:sp>
        <p:nvSpPr>
          <p:cNvPr id="3" name="Shape 1"/>
          <p:cNvSpPr/>
          <p:nvPr/>
        </p:nvSpPr>
        <p:spPr>
          <a:xfrm>
            <a:off x="3108960" y="521208"/>
            <a:ext cx="6202375" cy="0"/>
          </a:xfrm>
          <a:prstGeom prst="line">
            <a:avLst/>
          </a:prstGeom>
          <a:noFill/>
          <a:ln w="9525">
            <a:solidFill>
              <a:srgbClr val="3C7D2C">
                <a:alpha val="55000"/>
              </a:srgbClr>
            </a:solidFill>
            <a:prstDash val="solid"/>
          </a:ln>
        </p:spPr>
      </p:sp>
      <p:sp>
        <p:nvSpPr>
          <p:cNvPr id="4" name="claim-C"/>
          <p:cNvSpPr/>
          <p:nvPr/>
        </p:nvSpPr>
        <p:spPr>
          <a:xfrm>
            <a:off x="9539935" y="347472"/>
            <a:ext cx="2148840" cy="310896"/>
          </a:xfrm>
          <a:prstGeom prst="roundRect">
            <a:avLst>
              <a:gd name="adj" fmla="val 50000"/>
            </a:avLst>
          </a:prstGeom>
          <a:solidFill>
            <a:srgbClr val="F3E3E9"/>
          </a:solidFill>
          <a:ln w="12700">
            <a:solidFill>
              <a:srgbClr val="A42C58"/>
            </a:solidFill>
          </a:ln>
        </p:spPr>
        <p:txBody>
          <a:bodyPr wrap="square" lIns="0" tIns="0" rIns="0" bIns="0" rtlCol="0" anchor="ctr"/>
          <a:lstStyle/>
          <a:p>
            <a:pPr algn="ctr" indent="0" marL="0">
              <a:buNone/>
            </a:pPr>
            <a:r>
              <a:rPr lang="en-US" sz="1050" spc="150" kern="0" dirty="0">
                <a:solidFill>
                  <a:srgbClr val="A42C58"/>
                </a:solidFill>
                <a:latin typeface="Roboto Medium" pitchFamily="34" charset="0"/>
                <a:ea typeface="Roboto Medium" pitchFamily="34" charset="-122"/>
                <a:cs typeface="Roboto Medium" pitchFamily="34" charset="-120"/>
              </a:rPr>
              <a:t>CAUSAL · CONDITIONAL</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Six methods: two hold up, none is clean</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Each builds a stand-in for the Tambopata buffer zone without Mercurio · all six point down · green = holds up, in net additions, in hectares only</a:t>
            </a:r>
            <a:endParaRPr lang="en-US" sz="1250" dirty="0"/>
          </a:p>
        </p:txBody>
      </p:sp>
      <p:sp>
        <p:nvSpPr>
          <p:cNvPr id="7" name="Shape 5"/>
          <p:cNvSpPr/>
          <p:nvPr/>
        </p:nvSpPr>
        <p:spPr>
          <a:xfrm>
            <a:off x="502920" y="1737360"/>
            <a:ext cx="3576218" cy="2194560"/>
          </a:xfrm>
          <a:prstGeom prst="rect">
            <a:avLst/>
          </a:prstGeom>
          <a:solidFill>
            <a:srgbClr val="EAF2E4"/>
          </a:solidFill>
          <a:ln w="19050">
            <a:solidFill>
              <a:srgbClr val="3C7D2C"/>
            </a:solidFill>
            <a:prstDash val="solid"/>
          </a:ln>
        </p:spPr>
      </p:sp>
      <p:pic>
        <p:nvPicPr>
          <p:cNvPr id="8" name="Image 0" descr="preencoded.png">    </p:cNvPr>
          <p:cNvPicPr>
            <a:picLocks noChangeAspect="1"/>
          </p:cNvPicPr>
          <p:nvPr/>
        </p:nvPicPr>
        <p:blipFill>
          <a:blip r:embed="rId1"/>
          <a:stretch>
            <a:fillRect/>
          </a:stretch>
        </p:blipFill>
        <p:spPr>
          <a:xfrm>
            <a:off x="777240" y="1993392"/>
            <a:ext cx="457200" cy="457200"/>
          </a:xfrm>
          <a:prstGeom prst="rect">
            <a:avLst/>
          </a:prstGeom>
        </p:spPr>
      </p:pic>
      <p:sp>
        <p:nvSpPr>
          <p:cNvPr id="9" name="Text 6"/>
          <p:cNvSpPr txBox="1"/>
          <p:nvPr/>
        </p:nvSpPr>
        <p:spPr>
          <a:xfrm>
            <a:off x="777240" y="2560320"/>
            <a:ext cx="3027578" cy="411480"/>
          </a:xfrm>
          <a:prstGeom prst="rect">
            <a:avLst/>
          </a:prstGeom>
          <a:noFill/>
          <a:ln/>
        </p:spPr>
        <p:txBody>
          <a:bodyPr wrap="square" lIns="0" tIns="0" rIns="0" bIns="0" rtlCol="0" anchor="ctr"/>
          <a:lstStyle/>
          <a:p>
            <a:pPr indent="0" marL="0">
              <a:buNone/>
            </a:pPr>
            <a:r>
              <a:rPr lang="en-US" sz="1900" dirty="0">
                <a:solidFill>
                  <a:srgbClr val="22383F"/>
                </a:solidFill>
                <a:latin typeface="Roboto Medium" pitchFamily="34" charset="0"/>
                <a:ea typeface="Roboto Medium" pitchFamily="34" charset="-122"/>
                <a:cs typeface="Roboto Medium" pitchFamily="34" charset="-120"/>
              </a:rPr>
              <a:t>Compare with other zones</a:t>
            </a:r>
            <a:endParaRPr lang="en-US" sz="1900" dirty="0"/>
          </a:p>
        </p:txBody>
      </p:sp>
      <p:sp>
        <p:nvSpPr>
          <p:cNvPr id="10" name="Text 7"/>
          <p:cNvSpPr txBox="1"/>
          <p:nvPr/>
        </p:nvSpPr>
        <p:spPr>
          <a:xfrm>
            <a:off x="777240" y="2980944"/>
            <a:ext cx="3027578" cy="548640"/>
          </a:xfrm>
          <a:prstGeom prst="rect">
            <a:avLst/>
          </a:prstGeom>
          <a:noFill/>
          <a:ln/>
        </p:spPr>
        <p:txBody>
          <a:bodyPr wrap="square" lIns="0" tIns="0" rIns="0" bIns="0" rtlCol="0" anchor="t"/>
          <a:lstStyle/>
          <a:p>
            <a:pPr indent="0" marL="0">
              <a:buNone/>
            </a:pPr>
            <a:r>
              <a:rPr lang="en-US" sz="1400" dirty="0">
                <a:solidFill>
                  <a:srgbClr val="4A5B60"/>
                </a:solidFill>
                <a:latin typeface="Roboto" pitchFamily="34" charset="0"/>
                <a:ea typeface="Roboto" pitchFamily="34" charset="-122"/>
                <a:cs typeface="Roboto" pitchFamily="34" charset="-120"/>
              </a:rPr>
              <a:t>Tambopata vs 14 other Peruvian buffer zones, before and after</a:t>
            </a:r>
            <a:endParaRPr lang="en-US" sz="1400" dirty="0"/>
          </a:p>
        </p:txBody>
      </p:sp>
      <p:sp>
        <p:nvSpPr>
          <p:cNvPr id="11" name="Text 8"/>
          <p:cNvSpPr txBox="1"/>
          <p:nvPr/>
        </p:nvSpPr>
        <p:spPr>
          <a:xfrm>
            <a:off x="777240" y="3520440"/>
            <a:ext cx="3027578" cy="274320"/>
          </a:xfrm>
          <a:prstGeom prst="rect">
            <a:avLst/>
          </a:prstGeom>
          <a:noFill/>
          <a:ln/>
        </p:spPr>
        <p:txBody>
          <a:bodyPr wrap="square" lIns="0" tIns="0" rIns="0" bIns="0" rtlCol="0" anchor="ctr"/>
          <a:lstStyle/>
          <a:p>
            <a:pPr indent="0" marL="0">
              <a:buNone/>
            </a:pPr>
            <a:r>
              <a:rPr lang="en-US" sz="1150" spc="150" kern="0" dirty="0">
                <a:solidFill>
                  <a:srgbClr val="3C7D2C"/>
                </a:solidFill>
                <a:latin typeface="Roboto Medium" pitchFamily="34" charset="0"/>
                <a:ea typeface="Roboto Medium" pitchFamily="34" charset="-122"/>
                <a:cs typeface="Roboto Medium" pitchFamily="34" charset="-120"/>
              </a:rPr>
              <a:t>HOLDS UP · IN HECTARES ONLY</a:t>
            </a:r>
            <a:endParaRPr lang="en-US" sz="1150" dirty="0"/>
          </a:p>
        </p:txBody>
      </p:sp>
      <p:sp>
        <p:nvSpPr>
          <p:cNvPr id="12" name="Shape 9"/>
          <p:cNvSpPr/>
          <p:nvPr/>
        </p:nvSpPr>
        <p:spPr>
          <a:xfrm>
            <a:off x="4307738" y="1737360"/>
            <a:ext cx="3576218" cy="2194560"/>
          </a:xfrm>
          <a:prstGeom prst="rect">
            <a:avLst/>
          </a:prstGeom>
          <a:solidFill>
            <a:srgbClr val="FBFAF7"/>
          </a:solidFill>
          <a:ln w="9525">
            <a:solidFill>
              <a:srgbClr val="D9D2C7"/>
            </a:solidFill>
            <a:prstDash val="solid"/>
          </a:ln>
        </p:spPr>
      </p:sp>
      <p:pic>
        <p:nvPicPr>
          <p:cNvPr id="13" name="Image 1" descr="preencoded.png">    </p:cNvPr>
          <p:cNvPicPr>
            <a:picLocks noChangeAspect="1"/>
          </p:cNvPicPr>
          <p:nvPr/>
        </p:nvPicPr>
        <p:blipFill>
          <a:blip r:embed="rId2"/>
          <a:stretch>
            <a:fillRect/>
          </a:stretch>
        </p:blipFill>
        <p:spPr>
          <a:xfrm>
            <a:off x="4582058" y="1993392"/>
            <a:ext cx="457200" cy="457200"/>
          </a:xfrm>
          <a:prstGeom prst="rect">
            <a:avLst/>
          </a:prstGeom>
        </p:spPr>
      </p:pic>
      <p:sp>
        <p:nvSpPr>
          <p:cNvPr id="14" name="Text 10"/>
          <p:cNvSpPr txBox="1"/>
          <p:nvPr/>
        </p:nvSpPr>
        <p:spPr>
          <a:xfrm>
            <a:off x="4582058" y="2560320"/>
            <a:ext cx="3027578" cy="411480"/>
          </a:xfrm>
          <a:prstGeom prst="rect">
            <a:avLst/>
          </a:prstGeom>
          <a:noFill/>
          <a:ln/>
        </p:spPr>
        <p:txBody>
          <a:bodyPr wrap="square" lIns="0" tIns="0" rIns="0" bIns="0" rtlCol="0" anchor="ctr"/>
          <a:lstStyle/>
          <a:p>
            <a:pPr indent="0" marL="0">
              <a:buNone/>
            </a:pPr>
            <a:r>
              <a:rPr lang="en-US" sz="1900" dirty="0">
                <a:solidFill>
                  <a:srgbClr val="4A5B60"/>
                </a:solidFill>
                <a:latin typeface="Roboto Medium" pitchFamily="34" charset="0"/>
                <a:ea typeface="Roboto Medium" pitchFamily="34" charset="-122"/>
                <a:cs typeface="Roboto Medium" pitchFamily="34" charset="-120"/>
              </a:rPr>
              <a:t>A weighted copy</a:t>
            </a:r>
            <a:endParaRPr lang="en-US" sz="1900" dirty="0"/>
          </a:p>
        </p:txBody>
      </p:sp>
      <p:sp>
        <p:nvSpPr>
          <p:cNvPr id="15" name="Text 11"/>
          <p:cNvSpPr txBox="1"/>
          <p:nvPr/>
        </p:nvSpPr>
        <p:spPr>
          <a:xfrm>
            <a:off x="4582058" y="2980944"/>
            <a:ext cx="3027578" cy="548640"/>
          </a:xfrm>
          <a:prstGeom prst="rect">
            <a:avLst/>
          </a:prstGeom>
          <a:noFill/>
          <a:ln/>
        </p:spPr>
        <p:txBody>
          <a:bodyPr wrap="square" lIns="0" tIns="0" rIns="0" bIns="0" rtlCol="0" anchor="t"/>
          <a:lstStyle/>
          <a:p>
            <a:pPr indent="0" marL="0">
              <a:buNone/>
            </a:pPr>
            <a:r>
              <a:rPr lang="en-US" sz="1400" dirty="0">
                <a:solidFill>
                  <a:srgbClr val="4A5B60"/>
                </a:solidFill>
                <a:latin typeface="Roboto" pitchFamily="34" charset="0"/>
                <a:ea typeface="Roboto" pitchFamily="34" charset="-122"/>
                <a:cs typeface="Roboto" pitchFamily="34" charset="-120"/>
              </a:rPr>
              <a:t>a mix of zones built to track Tambopata before 2019</a:t>
            </a:r>
            <a:endParaRPr lang="en-US" sz="1400" dirty="0"/>
          </a:p>
        </p:txBody>
      </p:sp>
      <p:sp>
        <p:nvSpPr>
          <p:cNvPr id="16" name="Text 12"/>
          <p:cNvSpPr txBox="1"/>
          <p:nvPr/>
        </p:nvSpPr>
        <p:spPr>
          <a:xfrm>
            <a:off x="4582058" y="3520440"/>
            <a:ext cx="3027578" cy="274320"/>
          </a:xfrm>
          <a:prstGeom prst="rect">
            <a:avLst/>
          </a:prstGeom>
          <a:noFill/>
          <a:ln/>
        </p:spPr>
        <p:txBody>
          <a:bodyPr wrap="square" lIns="0" tIns="0" rIns="0" bIns="0" rtlCol="0" anchor="ctr"/>
          <a:lstStyle/>
          <a:p>
            <a:pPr indent="0" marL="0">
              <a:buNone/>
            </a:pPr>
            <a:r>
              <a:rPr lang="en-US" sz="1150" spc="150" kern="0" dirty="0">
                <a:solidFill>
                  <a:srgbClr val="6C7B80"/>
                </a:solidFill>
                <a:latin typeface="Roboto Medium" pitchFamily="34" charset="0"/>
                <a:ea typeface="Roboto Medium" pitchFamily="34" charset="-122"/>
                <a:cs typeface="Roboto Medium" pitchFamily="34" charset="-120"/>
              </a:rPr>
              <a:t>NO GOOD COPY BEFORE 2019</a:t>
            </a:r>
            <a:endParaRPr lang="en-US" sz="1150" dirty="0"/>
          </a:p>
        </p:txBody>
      </p:sp>
      <p:sp>
        <p:nvSpPr>
          <p:cNvPr id="17" name="Shape 13"/>
          <p:cNvSpPr/>
          <p:nvPr/>
        </p:nvSpPr>
        <p:spPr>
          <a:xfrm>
            <a:off x="8112557" y="1737360"/>
            <a:ext cx="3576218" cy="2194560"/>
          </a:xfrm>
          <a:prstGeom prst="rect">
            <a:avLst/>
          </a:prstGeom>
          <a:solidFill>
            <a:srgbClr val="FBFAF7"/>
          </a:solidFill>
          <a:ln w="9525">
            <a:solidFill>
              <a:srgbClr val="D9D2C7"/>
            </a:solidFill>
            <a:prstDash val="solid"/>
          </a:ln>
        </p:spPr>
      </p:sp>
      <p:pic>
        <p:nvPicPr>
          <p:cNvPr id="18" name="Image 2" descr="preencoded.png">    </p:cNvPr>
          <p:cNvPicPr>
            <a:picLocks noChangeAspect="1"/>
          </p:cNvPicPr>
          <p:nvPr/>
        </p:nvPicPr>
        <p:blipFill>
          <a:blip r:embed="rId3"/>
          <a:stretch>
            <a:fillRect/>
          </a:stretch>
        </p:blipFill>
        <p:spPr>
          <a:xfrm>
            <a:off x="8386877" y="1993392"/>
            <a:ext cx="457200" cy="457200"/>
          </a:xfrm>
          <a:prstGeom prst="rect">
            <a:avLst/>
          </a:prstGeom>
        </p:spPr>
      </p:pic>
      <p:sp>
        <p:nvSpPr>
          <p:cNvPr id="19" name="Text 14"/>
          <p:cNvSpPr txBox="1"/>
          <p:nvPr/>
        </p:nvSpPr>
        <p:spPr>
          <a:xfrm>
            <a:off x="8386877" y="2560320"/>
            <a:ext cx="3027578" cy="411480"/>
          </a:xfrm>
          <a:prstGeom prst="rect">
            <a:avLst/>
          </a:prstGeom>
          <a:noFill/>
          <a:ln/>
        </p:spPr>
        <p:txBody>
          <a:bodyPr wrap="square" lIns="0" tIns="0" rIns="0" bIns="0" rtlCol="0" anchor="ctr"/>
          <a:lstStyle/>
          <a:p>
            <a:pPr indent="0" marL="0">
              <a:buNone/>
            </a:pPr>
            <a:r>
              <a:rPr lang="en-US" sz="1900" dirty="0">
                <a:solidFill>
                  <a:srgbClr val="4A5B60"/>
                </a:solidFill>
                <a:latin typeface="Roboto Medium" pitchFamily="34" charset="0"/>
                <a:ea typeface="Roboto Medium" pitchFamily="34" charset="-122"/>
                <a:cs typeface="Roboto Medium" pitchFamily="34" charset="-120"/>
              </a:rPr>
              <a:t>Twins in Brazil</a:t>
            </a:r>
            <a:endParaRPr lang="en-US" sz="1900" dirty="0"/>
          </a:p>
        </p:txBody>
      </p:sp>
      <p:sp>
        <p:nvSpPr>
          <p:cNvPr id="20" name="Text 15"/>
          <p:cNvSpPr txBox="1"/>
          <p:nvPr/>
        </p:nvSpPr>
        <p:spPr>
          <a:xfrm>
            <a:off x="8386877" y="2980944"/>
            <a:ext cx="3027578" cy="548640"/>
          </a:xfrm>
          <a:prstGeom prst="rect">
            <a:avLst/>
          </a:prstGeom>
          <a:noFill/>
          <a:ln/>
        </p:spPr>
        <p:txBody>
          <a:bodyPr wrap="square" lIns="0" tIns="0" rIns="0" bIns="0" rtlCol="0" anchor="t"/>
          <a:lstStyle/>
          <a:p>
            <a:pPr indent="0" marL="0">
              <a:buNone/>
            </a:pPr>
            <a:r>
              <a:rPr lang="en-US" sz="1400" dirty="0">
                <a:solidFill>
                  <a:srgbClr val="4A5B60"/>
                </a:solidFill>
                <a:latin typeface="Roboto" pitchFamily="34" charset="0"/>
                <a:ea typeface="Roboto" pitchFamily="34" charset="-122"/>
                <a:cs typeface="Roboto" pitchFamily="34" charset="-120"/>
              </a:rPr>
              <a:t>look-alike mining areas picked by fixed rules</a:t>
            </a:r>
            <a:endParaRPr lang="en-US" sz="1400" dirty="0"/>
          </a:p>
        </p:txBody>
      </p:sp>
      <p:sp>
        <p:nvSpPr>
          <p:cNvPr id="21" name="Text 16"/>
          <p:cNvSpPr txBox="1"/>
          <p:nvPr/>
        </p:nvSpPr>
        <p:spPr>
          <a:xfrm>
            <a:off x="8386877" y="3520440"/>
            <a:ext cx="3027578" cy="274320"/>
          </a:xfrm>
          <a:prstGeom prst="rect">
            <a:avLst/>
          </a:prstGeom>
          <a:noFill/>
          <a:ln/>
        </p:spPr>
        <p:txBody>
          <a:bodyPr wrap="square" lIns="0" tIns="0" rIns="0" bIns="0" rtlCol="0" anchor="ctr"/>
          <a:lstStyle/>
          <a:p>
            <a:pPr indent="0" marL="0">
              <a:buNone/>
            </a:pPr>
            <a:r>
              <a:rPr lang="en-US" sz="1150" spc="150" kern="0" dirty="0">
                <a:solidFill>
                  <a:srgbClr val="6C7B80"/>
                </a:solidFill>
                <a:latin typeface="Roboto Medium" pitchFamily="34" charset="0"/>
                <a:ea typeface="Roboto Medium" pitchFamily="34" charset="-122"/>
                <a:cs typeface="Roboto Medium" pitchFamily="34" charset="-120"/>
              </a:rPr>
              <a:t>DIFFERENT TRENDS BEFORE 2019</a:t>
            </a:r>
            <a:endParaRPr lang="en-US" sz="1150" dirty="0"/>
          </a:p>
        </p:txBody>
      </p:sp>
      <p:sp>
        <p:nvSpPr>
          <p:cNvPr id="22" name="Shape 17"/>
          <p:cNvSpPr/>
          <p:nvPr/>
        </p:nvSpPr>
        <p:spPr>
          <a:xfrm>
            <a:off x="502920" y="4160520"/>
            <a:ext cx="3576218" cy="2194560"/>
          </a:xfrm>
          <a:prstGeom prst="rect">
            <a:avLst/>
          </a:prstGeom>
          <a:solidFill>
            <a:srgbClr val="FBFAF7"/>
          </a:solidFill>
          <a:ln w="9525">
            <a:solidFill>
              <a:srgbClr val="D9D2C7"/>
            </a:solidFill>
            <a:prstDash val="solid"/>
          </a:ln>
        </p:spPr>
      </p:sp>
      <p:pic>
        <p:nvPicPr>
          <p:cNvPr id="23" name="Image 3" descr="preencoded.png">    </p:cNvPr>
          <p:cNvPicPr>
            <a:picLocks noChangeAspect="1"/>
          </p:cNvPicPr>
          <p:nvPr/>
        </p:nvPicPr>
        <p:blipFill>
          <a:blip r:embed="rId4"/>
          <a:stretch>
            <a:fillRect/>
          </a:stretch>
        </p:blipFill>
        <p:spPr>
          <a:xfrm>
            <a:off x="777240" y="4416552"/>
            <a:ext cx="457200" cy="457200"/>
          </a:xfrm>
          <a:prstGeom prst="rect">
            <a:avLst/>
          </a:prstGeom>
        </p:spPr>
      </p:pic>
      <p:sp>
        <p:nvSpPr>
          <p:cNvPr id="24" name="Text 18"/>
          <p:cNvSpPr txBox="1"/>
          <p:nvPr/>
        </p:nvSpPr>
        <p:spPr>
          <a:xfrm>
            <a:off x="777240" y="4983480"/>
            <a:ext cx="3027578" cy="411480"/>
          </a:xfrm>
          <a:prstGeom prst="rect">
            <a:avLst/>
          </a:prstGeom>
          <a:noFill/>
          <a:ln/>
        </p:spPr>
        <p:txBody>
          <a:bodyPr wrap="square" lIns="0" tIns="0" rIns="0" bIns="0" rtlCol="0" anchor="ctr"/>
          <a:lstStyle/>
          <a:p>
            <a:pPr indent="0" marL="0">
              <a:buNone/>
            </a:pPr>
            <a:r>
              <a:rPr lang="en-US" sz="1900" dirty="0">
                <a:solidFill>
                  <a:srgbClr val="4A5B60"/>
                </a:solidFill>
                <a:latin typeface="Roboto Medium" pitchFamily="34" charset="0"/>
                <a:ea typeface="Roboto Medium" pitchFamily="34" charset="-122"/>
                <a:cs typeface="Roboto Medium" pitchFamily="34" charset="-120"/>
              </a:rPr>
              <a:t>Either side of the road</a:t>
            </a:r>
            <a:endParaRPr lang="en-US" sz="1900" dirty="0"/>
          </a:p>
        </p:txBody>
      </p:sp>
      <p:sp>
        <p:nvSpPr>
          <p:cNvPr id="25" name="Text 19"/>
          <p:cNvSpPr txBox="1"/>
          <p:nvPr/>
        </p:nvSpPr>
        <p:spPr>
          <a:xfrm>
            <a:off x="777240" y="5404104"/>
            <a:ext cx="3027578" cy="548640"/>
          </a:xfrm>
          <a:prstGeom prst="rect">
            <a:avLst/>
          </a:prstGeom>
          <a:noFill/>
          <a:ln/>
        </p:spPr>
        <p:txBody>
          <a:bodyPr wrap="square" lIns="0" tIns="0" rIns="0" bIns="0" rtlCol="0" anchor="t"/>
          <a:lstStyle/>
          <a:p>
            <a:pPr indent="0" marL="0">
              <a:buNone/>
            </a:pPr>
            <a:r>
              <a:rPr lang="en-US" sz="1400" dirty="0">
                <a:solidFill>
                  <a:srgbClr val="4A5B60"/>
                </a:solidFill>
                <a:latin typeface="Roboto" pitchFamily="34" charset="0"/>
                <a:ea typeface="Roboto" pitchFamily="34" charset="-122"/>
                <a:cs typeface="Roboto" pitchFamily="34" charset="-120"/>
              </a:rPr>
              <a:t>land just north vs just south of the highway</a:t>
            </a:r>
            <a:endParaRPr lang="en-US" sz="1400" dirty="0"/>
          </a:p>
        </p:txBody>
      </p:sp>
      <p:sp>
        <p:nvSpPr>
          <p:cNvPr id="26" name="Text 20"/>
          <p:cNvSpPr txBox="1"/>
          <p:nvPr/>
        </p:nvSpPr>
        <p:spPr>
          <a:xfrm>
            <a:off x="777240" y="5943600"/>
            <a:ext cx="3027578" cy="274320"/>
          </a:xfrm>
          <a:prstGeom prst="rect">
            <a:avLst/>
          </a:prstGeom>
          <a:noFill/>
          <a:ln/>
        </p:spPr>
        <p:txBody>
          <a:bodyPr wrap="square" lIns="0" tIns="0" rIns="0" bIns="0" rtlCol="0" anchor="ctr"/>
          <a:lstStyle/>
          <a:p>
            <a:pPr indent="0" marL="0">
              <a:buNone/>
            </a:pPr>
            <a:r>
              <a:rPr lang="en-US" sz="1150" spc="150" kern="0" dirty="0">
                <a:solidFill>
                  <a:srgbClr val="6C7B80"/>
                </a:solidFill>
                <a:latin typeface="Roboto Medium" pitchFamily="34" charset="0"/>
                <a:ea typeface="Roboto Medium" pitchFamily="34" charset="-122"/>
                <a:cs typeface="Roboto Medium" pitchFamily="34" charset="-120"/>
              </a:rPr>
              <a:t>TOO NOISY TO TELL</a:t>
            </a:r>
            <a:endParaRPr lang="en-US" sz="1150" dirty="0"/>
          </a:p>
        </p:txBody>
      </p:sp>
      <p:sp>
        <p:nvSpPr>
          <p:cNvPr id="27" name="Shape 21"/>
          <p:cNvSpPr/>
          <p:nvPr/>
        </p:nvSpPr>
        <p:spPr>
          <a:xfrm>
            <a:off x="4307738" y="4160520"/>
            <a:ext cx="3576218" cy="2194560"/>
          </a:xfrm>
          <a:prstGeom prst="rect">
            <a:avLst/>
          </a:prstGeom>
          <a:solidFill>
            <a:srgbClr val="FBFAF7"/>
          </a:solidFill>
          <a:ln w="9525">
            <a:solidFill>
              <a:srgbClr val="D9D2C7"/>
            </a:solidFill>
            <a:prstDash val="solid"/>
          </a:ln>
        </p:spPr>
      </p:sp>
      <p:pic>
        <p:nvPicPr>
          <p:cNvPr id="28" name="Image 4" descr="preencoded.png">    </p:cNvPr>
          <p:cNvPicPr>
            <a:picLocks noChangeAspect="1"/>
          </p:cNvPicPr>
          <p:nvPr/>
        </p:nvPicPr>
        <p:blipFill>
          <a:blip r:embed="rId5"/>
          <a:stretch>
            <a:fillRect/>
          </a:stretch>
        </p:blipFill>
        <p:spPr>
          <a:xfrm>
            <a:off x="4582058" y="4416552"/>
            <a:ext cx="457200" cy="457200"/>
          </a:xfrm>
          <a:prstGeom prst="rect">
            <a:avLst/>
          </a:prstGeom>
        </p:spPr>
      </p:pic>
      <p:sp>
        <p:nvSpPr>
          <p:cNvPr id="29" name="Text 22"/>
          <p:cNvSpPr txBox="1"/>
          <p:nvPr/>
        </p:nvSpPr>
        <p:spPr>
          <a:xfrm>
            <a:off x="4582058" y="4983480"/>
            <a:ext cx="3027578" cy="411480"/>
          </a:xfrm>
          <a:prstGeom prst="rect">
            <a:avLst/>
          </a:prstGeom>
          <a:noFill/>
          <a:ln/>
        </p:spPr>
        <p:txBody>
          <a:bodyPr wrap="square" lIns="0" tIns="0" rIns="0" bIns="0" rtlCol="0" anchor="ctr"/>
          <a:lstStyle/>
          <a:p>
            <a:pPr indent="0" marL="0">
              <a:buNone/>
            </a:pPr>
            <a:r>
              <a:rPr lang="en-US" sz="1900" dirty="0">
                <a:solidFill>
                  <a:srgbClr val="4A5B60"/>
                </a:solidFill>
                <a:latin typeface="Roboto Medium" pitchFamily="34" charset="0"/>
                <a:ea typeface="Roboto Medium" pitchFamily="34" charset="-122"/>
                <a:cs typeface="Roboto Medium" pitchFamily="34" charset="-120"/>
              </a:rPr>
              <a:t>Matching, 5 ways</a:t>
            </a:r>
            <a:endParaRPr lang="en-US" sz="1900" dirty="0"/>
          </a:p>
        </p:txBody>
      </p:sp>
      <p:sp>
        <p:nvSpPr>
          <p:cNvPr id="30" name="Text 23"/>
          <p:cNvSpPr txBox="1"/>
          <p:nvPr/>
        </p:nvSpPr>
        <p:spPr>
          <a:xfrm>
            <a:off x="4582058" y="5404104"/>
            <a:ext cx="3027578" cy="548640"/>
          </a:xfrm>
          <a:prstGeom prst="rect">
            <a:avLst/>
          </a:prstGeom>
          <a:noFill/>
          <a:ln/>
        </p:spPr>
        <p:txBody>
          <a:bodyPr wrap="square" lIns="0" tIns="0" rIns="0" bIns="0" rtlCol="0" anchor="t"/>
          <a:lstStyle/>
          <a:p>
            <a:pPr indent="0" marL="0">
              <a:buNone/>
            </a:pPr>
            <a:r>
              <a:rPr lang="en-US" sz="1400" dirty="0">
                <a:solidFill>
                  <a:srgbClr val="4A5B60"/>
                </a:solidFill>
                <a:latin typeface="Roboto" pitchFamily="34" charset="0"/>
                <a:ea typeface="Roboto" pitchFamily="34" charset="-122"/>
                <a:cs typeface="Roboto" pitchFamily="34" charset="-120"/>
              </a:rPr>
              <a:t>look-alike areas picked by algorithm</a:t>
            </a:r>
            <a:endParaRPr lang="en-US" sz="1400" dirty="0"/>
          </a:p>
        </p:txBody>
      </p:sp>
      <p:sp>
        <p:nvSpPr>
          <p:cNvPr id="31" name="Text 24"/>
          <p:cNvSpPr txBox="1"/>
          <p:nvPr/>
        </p:nvSpPr>
        <p:spPr>
          <a:xfrm>
            <a:off x="4582058" y="5943600"/>
            <a:ext cx="3027578" cy="274320"/>
          </a:xfrm>
          <a:prstGeom prst="rect">
            <a:avLst/>
          </a:prstGeom>
          <a:noFill/>
          <a:ln/>
        </p:spPr>
        <p:txBody>
          <a:bodyPr wrap="square" lIns="0" tIns="0" rIns="0" bIns="0" rtlCol="0" anchor="ctr"/>
          <a:lstStyle/>
          <a:p>
            <a:pPr indent="0" marL="0">
              <a:buNone/>
            </a:pPr>
            <a:r>
              <a:rPr lang="en-US" sz="1150" spc="150" kern="0" dirty="0">
                <a:solidFill>
                  <a:srgbClr val="6C7B80"/>
                </a:solidFill>
                <a:latin typeface="Roboto Medium" pitchFamily="34" charset="0"/>
                <a:ea typeface="Roboto Medium" pitchFamily="34" charset="-122"/>
                <a:cs typeface="Roboto Medium" pitchFamily="34" charset="-120"/>
              </a:rPr>
              <a:t>CAN'T BEAT CHANCE</a:t>
            </a:r>
            <a:endParaRPr lang="en-US" sz="1150" dirty="0"/>
          </a:p>
        </p:txBody>
      </p:sp>
      <p:sp>
        <p:nvSpPr>
          <p:cNvPr id="32" name="Shape 25"/>
          <p:cNvSpPr/>
          <p:nvPr/>
        </p:nvSpPr>
        <p:spPr>
          <a:xfrm>
            <a:off x="8112557" y="4160520"/>
            <a:ext cx="3576218" cy="2194560"/>
          </a:xfrm>
          <a:prstGeom prst="rect">
            <a:avLst/>
          </a:prstGeom>
          <a:solidFill>
            <a:srgbClr val="EAF2E4"/>
          </a:solidFill>
          <a:ln w="19050">
            <a:solidFill>
              <a:srgbClr val="3C7D2C"/>
            </a:solidFill>
            <a:prstDash val="solid"/>
          </a:ln>
        </p:spPr>
      </p:sp>
      <p:pic>
        <p:nvPicPr>
          <p:cNvPr id="33" name="Image 5" descr="preencoded.png">    </p:cNvPr>
          <p:cNvPicPr>
            <a:picLocks noChangeAspect="1"/>
          </p:cNvPicPr>
          <p:nvPr/>
        </p:nvPicPr>
        <p:blipFill>
          <a:blip r:embed="rId6"/>
          <a:stretch>
            <a:fillRect/>
          </a:stretch>
        </p:blipFill>
        <p:spPr>
          <a:xfrm>
            <a:off x="8386877" y="4416552"/>
            <a:ext cx="457200" cy="457200"/>
          </a:xfrm>
          <a:prstGeom prst="rect">
            <a:avLst/>
          </a:prstGeom>
        </p:spPr>
      </p:pic>
      <p:sp>
        <p:nvSpPr>
          <p:cNvPr id="34" name="Text 26"/>
          <p:cNvSpPr txBox="1"/>
          <p:nvPr/>
        </p:nvSpPr>
        <p:spPr>
          <a:xfrm>
            <a:off x="8386877" y="4983480"/>
            <a:ext cx="3027578" cy="411480"/>
          </a:xfrm>
          <a:prstGeom prst="rect">
            <a:avLst/>
          </a:prstGeom>
          <a:noFill/>
          <a:ln/>
        </p:spPr>
        <p:txBody>
          <a:bodyPr wrap="square" lIns="0" tIns="0" rIns="0" bIns="0" rtlCol="0" anchor="ctr"/>
          <a:lstStyle/>
          <a:p>
            <a:pPr indent="0" marL="0">
              <a:buNone/>
            </a:pPr>
            <a:r>
              <a:rPr lang="en-US" sz="1900" dirty="0">
                <a:solidFill>
                  <a:srgbClr val="22383F"/>
                </a:solidFill>
                <a:latin typeface="Roboto Medium" pitchFamily="34" charset="0"/>
                <a:ea typeface="Roboto Medium" pitchFamily="34" charset="-122"/>
                <a:cs typeface="Roboto Medium" pitchFamily="34" charset="-120"/>
              </a:rPr>
              <a:t>Weighted zones and years</a:t>
            </a:r>
            <a:endParaRPr lang="en-US" sz="1900" dirty="0"/>
          </a:p>
        </p:txBody>
      </p:sp>
      <p:sp>
        <p:nvSpPr>
          <p:cNvPr id="35" name="Text 27"/>
          <p:cNvSpPr txBox="1"/>
          <p:nvPr/>
        </p:nvSpPr>
        <p:spPr>
          <a:xfrm>
            <a:off x="8386877" y="5404104"/>
            <a:ext cx="3027578" cy="548640"/>
          </a:xfrm>
          <a:prstGeom prst="rect">
            <a:avLst/>
          </a:prstGeom>
          <a:noFill/>
          <a:ln/>
        </p:spPr>
        <p:txBody>
          <a:bodyPr wrap="square" lIns="0" tIns="0" rIns="0" bIns="0" rtlCol="0" anchor="t"/>
          <a:lstStyle/>
          <a:p>
            <a:pPr indent="0" marL="0">
              <a:buNone/>
            </a:pPr>
            <a:r>
              <a:rPr lang="en-US" sz="1400" dirty="0">
                <a:solidFill>
                  <a:srgbClr val="4A5B60"/>
                </a:solidFill>
                <a:latin typeface="Roboto" pitchFamily="34" charset="0"/>
                <a:ea typeface="Roboto" pitchFamily="34" charset="-122"/>
                <a:cs typeface="Roboto" pitchFamily="34" charset="-120"/>
              </a:rPr>
              <a:t>zones and years weighted to match Tambopata's past</a:t>
            </a:r>
            <a:endParaRPr lang="en-US" sz="1400" dirty="0"/>
          </a:p>
        </p:txBody>
      </p:sp>
      <p:sp>
        <p:nvSpPr>
          <p:cNvPr id="36" name="Text 28"/>
          <p:cNvSpPr txBox="1"/>
          <p:nvPr/>
        </p:nvSpPr>
        <p:spPr>
          <a:xfrm>
            <a:off x="8386877" y="5943600"/>
            <a:ext cx="3027578" cy="274320"/>
          </a:xfrm>
          <a:prstGeom prst="rect">
            <a:avLst/>
          </a:prstGeom>
          <a:noFill/>
          <a:ln/>
        </p:spPr>
        <p:txBody>
          <a:bodyPr wrap="square" lIns="0" tIns="0" rIns="0" bIns="0" rtlCol="0" anchor="ctr"/>
          <a:lstStyle/>
          <a:p>
            <a:pPr indent="0" marL="0">
              <a:buNone/>
            </a:pPr>
            <a:r>
              <a:rPr lang="en-US" sz="1150" spc="150" kern="0" dirty="0">
                <a:solidFill>
                  <a:srgbClr val="3C7D2C"/>
                </a:solidFill>
                <a:latin typeface="Roboto Medium" pitchFamily="34" charset="0"/>
                <a:ea typeface="Roboto Medium" pitchFamily="34" charset="-122"/>
                <a:cs typeface="Roboto Medium" pitchFamily="34" charset="-120"/>
              </a:rPr>
              <a:t>HOLDS UP · IN HECTARES ONLY</a:t>
            </a:r>
            <a:endParaRPr lang="en-US" sz="115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384048"/>
            <a:ext cx="2866644" cy="274320"/>
          </a:xfrm>
          <a:prstGeom prst="rect">
            <a:avLst/>
          </a:prstGeom>
          <a:noFill/>
          <a:ln/>
        </p:spPr>
        <p:txBody>
          <a:bodyPr wrap="square" lIns="0" tIns="0" rIns="0" bIns="0" rtlCol="0" anchor="ctr"/>
          <a:lstStyle/>
          <a:p>
            <a:pPr indent="0" marL="0">
              <a:buNone/>
            </a:pPr>
            <a:r>
              <a:rPr lang="en-US" sz="1200" spc="220" kern="0" dirty="0">
                <a:solidFill>
                  <a:srgbClr val="B9C94F"/>
                </a:solidFill>
                <a:latin typeface="Roboto Medium" pitchFamily="34" charset="0"/>
                <a:ea typeface="Roboto Medium" pitchFamily="34" charset="-122"/>
                <a:cs typeface="Roboto Medium" pitchFamily="34" charset="-120"/>
              </a:rPr>
              <a:t>10   </a:t>
            </a:r>
            <a:pPr indent="0" marL="0">
              <a:buNone/>
            </a:pPr>
            <a:r>
              <a:rPr lang="en-US" sz="1200" spc="220" kern="0" dirty="0">
                <a:solidFill>
                  <a:srgbClr val="B9C94F"/>
                </a:solidFill>
                <a:latin typeface="Roboto Medium" pitchFamily="34" charset="0"/>
                <a:ea typeface="Roboto Medium" pitchFamily="34" charset="-122"/>
                <a:cs typeface="Roboto Medium" pitchFamily="34" charset="-120"/>
              </a:rPr>
              <a:t>THE CAUSAL CLAIM</a:t>
            </a:r>
            <a:endParaRPr lang="en-US" sz="1200" dirty="0"/>
          </a:p>
        </p:txBody>
      </p:sp>
      <p:sp>
        <p:nvSpPr>
          <p:cNvPr id="3" name="Shape 1"/>
          <p:cNvSpPr/>
          <p:nvPr/>
        </p:nvSpPr>
        <p:spPr>
          <a:xfrm>
            <a:off x="3479292" y="521208"/>
            <a:ext cx="5832043" cy="0"/>
          </a:xfrm>
          <a:prstGeom prst="line">
            <a:avLst/>
          </a:prstGeom>
          <a:noFill/>
          <a:ln w="9525">
            <a:solidFill>
              <a:srgbClr val="B9C94F">
                <a:alpha val="70000"/>
              </a:srgbClr>
            </a:solidFill>
            <a:prstDash val="solid"/>
          </a:ln>
        </p:spPr>
      </p:sp>
      <p:sp>
        <p:nvSpPr>
          <p:cNvPr id="4" name="claim-C"/>
          <p:cNvSpPr/>
          <p:nvPr/>
        </p:nvSpPr>
        <p:spPr>
          <a:xfrm>
            <a:off x="9539935" y="347472"/>
            <a:ext cx="2148840" cy="310896"/>
          </a:xfrm>
          <a:prstGeom prst="roundRect">
            <a:avLst>
              <a:gd name="adj" fmla="val 50000"/>
            </a:avLst>
          </a:prstGeom>
          <a:solidFill>
            <a:srgbClr val="A42C58"/>
          </a:solidFill>
          <a:ln w="12700">
            <a:solidFill>
              <a:srgbClr val="A42C58"/>
            </a:solidFill>
          </a:ln>
        </p:spPr>
        <p:txBody>
          <a:bodyPr wrap="square" lIns="0" tIns="0" rIns="0" bIns="0" rtlCol="0" anchor="ctr"/>
          <a:lstStyle/>
          <a:p>
            <a:pPr algn="ctr" indent="0" marL="0">
              <a:buNone/>
            </a:pPr>
            <a:r>
              <a:rPr lang="en-US" sz="1050" spc="150" kern="0" dirty="0">
                <a:solidFill>
                  <a:srgbClr val="FFFFFF"/>
                </a:solidFill>
                <a:latin typeface="Roboto Medium" pitchFamily="34" charset="0"/>
                <a:ea typeface="Roboto Medium" pitchFamily="34" charset="-122"/>
                <a:cs typeface="Roboto Medium" pitchFamily="34" charset="-120"/>
              </a:rPr>
              <a:t>CAUSAL · CONDITIONAL</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F3F5F2"/>
                </a:solidFill>
                <a:latin typeface="Roboto Light" pitchFamily="34" charset="0"/>
                <a:ea typeface="Roboto Light" pitchFamily="34" charset="-122"/>
                <a:cs typeface="Roboto Light" pitchFamily="34" charset="-120"/>
              </a:rPr>
              <a:t>What we can say about cause</a:t>
            </a:r>
            <a:endParaRPr lang="en-US" sz="2800" dirty="0"/>
          </a:p>
        </p:txBody>
      </p:sp>
      <p:sp>
        <p:nvSpPr>
          <p:cNvPr id="6" name="Text 4"/>
          <p:cNvSpPr txBox="1"/>
          <p:nvPr/>
        </p:nvSpPr>
        <p:spPr>
          <a:xfrm>
            <a:off x="502920" y="1737360"/>
            <a:ext cx="10789920" cy="1828800"/>
          </a:xfrm>
          <a:prstGeom prst="rect">
            <a:avLst/>
          </a:prstGeom>
          <a:noFill/>
          <a:ln/>
        </p:spPr>
        <p:txBody>
          <a:bodyPr wrap="square" lIns="0" tIns="0" rIns="0" bIns="0" rtlCol="0" anchor="t"/>
          <a:lstStyle/>
          <a:p>
            <a:pPr indent="0" marL="0">
              <a:buNone/>
            </a:pPr>
            <a:r>
              <a:rPr lang="en-US" sz="3000" i="1" dirty="0">
                <a:solidFill>
                  <a:srgbClr val="C3D0CF"/>
                </a:solidFill>
                <a:latin typeface="Roboto Light" pitchFamily="34" charset="0"/>
                <a:ea typeface="Roboto Light" pitchFamily="34" charset="-122"/>
                <a:cs typeface="Roboto Light" pitchFamily="34" charset="-120"/>
              </a:rPr>
              <a:t>If the other zones show what Tambopata would have done, </a:t>
            </a:r>
            <a:pPr indent="0" marL="0">
              <a:buNone/>
            </a:pPr>
            <a:r>
              <a:rPr lang="en-US" sz="3000" dirty="0">
                <a:solidFill>
                  <a:srgbClr val="F3F5F2"/>
                </a:solidFill>
                <a:latin typeface="Roboto Light" pitchFamily="34" charset="0"/>
                <a:ea typeface="Roboto Light" pitchFamily="34" charset="-122"/>
                <a:cs typeface="Roboto Light" pitchFamily="34" charset="-120"/>
              </a:rPr>
              <a:t>Mercurio and the operations that followed lowered net mining additions by </a:t>
            </a:r>
            <a:pPr indent="0" marL="0">
              <a:buNone/>
            </a:pPr>
            <a:r>
              <a:rPr lang="en-US" sz="3000" dirty="0">
                <a:solidFill>
                  <a:srgbClr val="B9C94F"/>
                </a:solidFill>
                <a:latin typeface="Roboto Light" pitchFamily="34" charset="0"/>
                <a:ea typeface="Roboto Light" pitchFamily="34" charset="-122"/>
                <a:cs typeface="Roboto Light" pitchFamily="34" charset="-120"/>
              </a:rPr>
              <a:t>1,453 to 1,663 ha a year</a:t>
            </a:r>
            <a:pPr indent="0" marL="0">
              <a:buNone/>
            </a:pPr>
            <a:r>
              <a:rPr lang="en-US" sz="3000" dirty="0">
                <a:solidFill>
                  <a:srgbClr val="F3F5F2"/>
                </a:solidFill>
                <a:latin typeface="Roboto Light" pitchFamily="34" charset="0"/>
                <a:ea typeface="Roboto Light" pitchFamily="34" charset="-122"/>
                <a:cs typeface="Roboto Light" pitchFamily="34" charset="-120"/>
              </a:rPr>
              <a:t> in 2019–21.</a:t>
            </a:r>
            <a:endParaRPr lang="en-US" sz="3000" dirty="0"/>
          </a:p>
        </p:txBody>
      </p:sp>
      <p:sp>
        <p:nvSpPr>
          <p:cNvPr id="7" name="Shape 5"/>
          <p:cNvSpPr/>
          <p:nvPr/>
        </p:nvSpPr>
        <p:spPr>
          <a:xfrm>
            <a:off x="502920" y="3794760"/>
            <a:ext cx="11185855" cy="0"/>
          </a:xfrm>
          <a:prstGeom prst="line">
            <a:avLst/>
          </a:prstGeom>
          <a:noFill/>
          <a:ln w="9525">
            <a:solidFill>
              <a:srgbClr val="FFFFFF">
                <a:alpha val="18000"/>
              </a:srgbClr>
            </a:solidFill>
            <a:prstDash val="solid"/>
          </a:ln>
        </p:spPr>
      </p:sp>
      <p:sp>
        <p:nvSpPr>
          <p:cNvPr id="8" name="Text 6"/>
          <p:cNvSpPr txBox="1"/>
          <p:nvPr/>
        </p:nvSpPr>
        <p:spPr>
          <a:xfrm>
            <a:off x="502920" y="4023360"/>
            <a:ext cx="3474720" cy="868680"/>
          </a:xfrm>
          <a:prstGeom prst="rect">
            <a:avLst/>
          </a:prstGeom>
          <a:noFill/>
          <a:ln/>
        </p:spPr>
        <p:txBody>
          <a:bodyPr wrap="square" lIns="0" tIns="0" rIns="0" bIns="0" rtlCol="0" anchor="t"/>
          <a:lstStyle/>
          <a:p>
            <a:pPr indent="0" marL="0">
              <a:buNone/>
            </a:pPr>
            <a:r>
              <a:rPr lang="en-US" sz="2600" dirty="0">
                <a:solidFill>
                  <a:srgbClr val="B9C94F"/>
                </a:solidFill>
                <a:latin typeface="Roboto Light" pitchFamily="34" charset="0"/>
                <a:ea typeface="Roboto Light" pitchFamily="34" charset="-122"/>
                <a:cs typeface="Roboto Light" pitchFamily="34" charset="-120"/>
              </a:rPr>
              <a:t>Hectares only</a:t>
            </a:r>
            <a:endParaRPr lang="en-US" sz="2600" dirty="0"/>
          </a:p>
        </p:txBody>
      </p:sp>
      <p:sp>
        <p:nvSpPr>
          <p:cNvPr id="9" name="Text 7"/>
          <p:cNvSpPr txBox="1"/>
          <p:nvPr/>
        </p:nvSpPr>
        <p:spPr>
          <a:xfrm>
            <a:off x="502920" y="4937760"/>
            <a:ext cx="3383280" cy="914400"/>
          </a:xfrm>
          <a:prstGeom prst="rect">
            <a:avLst/>
          </a:prstGeom>
          <a:noFill/>
          <a:ln/>
        </p:spPr>
        <p:txBody>
          <a:bodyPr wrap="square" lIns="0" tIns="0" rIns="0" bIns="0" rtlCol="0" anchor="t"/>
          <a:lstStyle/>
          <a:p>
            <a:pPr indent="0" marL="0">
              <a:buNone/>
            </a:pPr>
            <a:r>
              <a:rPr lang="en-US" sz="1500" dirty="0">
                <a:solidFill>
                  <a:srgbClr val="C3D0CF"/>
                </a:solidFill>
                <a:latin typeface="Roboto" pitchFamily="34" charset="0"/>
                <a:ea typeface="Roboto" pitchFamily="34" charset="-122"/>
                <a:cs typeface="Roboto" pitchFamily="34" charset="-120"/>
              </a:rPr>
              <a:t>Largest fall of 15 zones; for its size, 3rd–6th of 7, depending on the scaling.</a:t>
            </a:r>
            <a:endParaRPr lang="en-US" sz="1500" dirty="0"/>
          </a:p>
        </p:txBody>
      </p:sp>
      <p:sp>
        <p:nvSpPr>
          <p:cNvPr id="10" name="Shape 8"/>
          <p:cNvSpPr/>
          <p:nvPr/>
        </p:nvSpPr>
        <p:spPr>
          <a:xfrm>
            <a:off x="4096512" y="4023360"/>
            <a:ext cx="0" cy="1920240"/>
          </a:xfrm>
          <a:prstGeom prst="line">
            <a:avLst/>
          </a:prstGeom>
          <a:noFill/>
          <a:ln w="9525">
            <a:solidFill>
              <a:srgbClr val="FFFFFF">
                <a:alpha val="18000"/>
              </a:srgbClr>
            </a:solidFill>
            <a:prstDash val="solid"/>
          </a:ln>
        </p:spPr>
      </p:sp>
      <p:sp>
        <p:nvSpPr>
          <p:cNvPr id="11" name="Text 9"/>
          <p:cNvSpPr txBox="1"/>
          <p:nvPr/>
        </p:nvSpPr>
        <p:spPr>
          <a:xfrm>
            <a:off x="4279392" y="4023360"/>
            <a:ext cx="3474720" cy="868680"/>
          </a:xfrm>
          <a:prstGeom prst="rect">
            <a:avLst/>
          </a:prstGeom>
          <a:noFill/>
          <a:ln/>
        </p:spPr>
        <p:txBody>
          <a:bodyPr wrap="square" lIns="0" tIns="0" rIns="0" bIns="0" rtlCol="0" anchor="t"/>
          <a:lstStyle/>
          <a:p>
            <a:pPr indent="0" marL="0">
              <a:buNone/>
            </a:pPr>
            <a:r>
              <a:rPr lang="en-US" sz="2600" dirty="0">
                <a:solidFill>
                  <a:srgbClr val="B9C94F"/>
                </a:solidFill>
                <a:latin typeface="Roboto Light" pitchFamily="34" charset="0"/>
                <a:ea typeface="Roboto Light" pitchFamily="34" charset="-122"/>
                <a:cs typeface="Roboto Light" pitchFamily="34" charset="-120"/>
              </a:rPr>
              <a:t>A quarter to a half is pits stopping</a:t>
            </a:r>
            <a:endParaRPr lang="en-US" sz="2600" dirty="0"/>
          </a:p>
        </p:txBody>
      </p:sp>
      <p:sp>
        <p:nvSpPr>
          <p:cNvPr id="12" name="Text 10"/>
          <p:cNvSpPr txBox="1"/>
          <p:nvPr/>
        </p:nvSpPr>
        <p:spPr>
          <a:xfrm>
            <a:off x="4279392" y="4937760"/>
            <a:ext cx="3383280" cy="914400"/>
          </a:xfrm>
          <a:prstGeom prst="rect">
            <a:avLst/>
          </a:prstGeom>
          <a:noFill/>
          <a:ln/>
        </p:spPr>
        <p:txBody>
          <a:bodyPr wrap="square" lIns="0" tIns="0" rIns="0" bIns="0" rtlCol="0" anchor="t"/>
          <a:lstStyle/>
          <a:p>
            <a:pPr indent="0" marL="0">
              <a:buNone/>
            </a:pPr>
            <a:r>
              <a:rPr lang="en-US" sz="1500" dirty="0">
                <a:solidFill>
                  <a:srgbClr val="C3D0CF"/>
                </a:solidFill>
                <a:latin typeface="Roboto" pitchFamily="34" charset="0"/>
                <a:ea typeface="Roboto" pitchFamily="34" charset="-122"/>
                <a:cs typeface="Roboto" pitchFamily="34" charset="-120"/>
              </a:rPr>
              <a:t>25%–47% of the fall is more land going out of use, most of it in 2019.</a:t>
            </a:r>
            <a:endParaRPr lang="en-US" sz="1500" dirty="0"/>
          </a:p>
        </p:txBody>
      </p:sp>
      <p:sp>
        <p:nvSpPr>
          <p:cNvPr id="13" name="Shape 11"/>
          <p:cNvSpPr/>
          <p:nvPr/>
        </p:nvSpPr>
        <p:spPr>
          <a:xfrm>
            <a:off x="7872984" y="4023360"/>
            <a:ext cx="0" cy="1920240"/>
          </a:xfrm>
          <a:prstGeom prst="line">
            <a:avLst/>
          </a:prstGeom>
          <a:noFill/>
          <a:ln w="9525">
            <a:solidFill>
              <a:srgbClr val="FFFFFF">
                <a:alpha val="18000"/>
              </a:srgbClr>
            </a:solidFill>
            <a:prstDash val="solid"/>
          </a:ln>
        </p:spPr>
      </p:sp>
      <p:sp>
        <p:nvSpPr>
          <p:cNvPr id="14" name="Text 12"/>
          <p:cNvSpPr txBox="1"/>
          <p:nvPr/>
        </p:nvSpPr>
        <p:spPr>
          <a:xfrm>
            <a:off x="8055864" y="4023360"/>
            <a:ext cx="3474720" cy="868680"/>
          </a:xfrm>
          <a:prstGeom prst="rect">
            <a:avLst/>
          </a:prstGeom>
          <a:noFill/>
          <a:ln/>
        </p:spPr>
        <p:txBody>
          <a:bodyPr wrap="square" lIns="0" tIns="0" rIns="0" bIns="0" rtlCol="0" anchor="t"/>
          <a:lstStyle/>
          <a:p>
            <a:pPr indent="0" marL="0">
              <a:buNone/>
            </a:pPr>
            <a:r>
              <a:rPr lang="en-US" sz="2600" dirty="0">
                <a:solidFill>
                  <a:srgbClr val="B9C94F"/>
                </a:solidFill>
                <a:latin typeface="Roboto Light" pitchFamily="34" charset="0"/>
                <a:ea typeface="Roboto Light" pitchFamily="34" charset="-122"/>
                <a:cs typeface="Roboto Light" pitchFamily="34" charset="-120"/>
              </a:rPr>
              <a:t>COVID overlaps</a:t>
            </a:r>
            <a:endParaRPr lang="en-US" sz="2600" dirty="0"/>
          </a:p>
        </p:txBody>
      </p:sp>
      <p:sp>
        <p:nvSpPr>
          <p:cNvPr id="15" name="Text 13"/>
          <p:cNvSpPr txBox="1"/>
          <p:nvPr/>
        </p:nvSpPr>
        <p:spPr>
          <a:xfrm>
            <a:off x="8055864" y="4937760"/>
            <a:ext cx="3383280" cy="914400"/>
          </a:xfrm>
          <a:prstGeom prst="rect">
            <a:avLst/>
          </a:prstGeom>
          <a:noFill/>
          <a:ln/>
        </p:spPr>
        <p:txBody>
          <a:bodyPr wrap="square" lIns="0" tIns="0" rIns="0" bIns="0" rtlCol="0" anchor="t"/>
          <a:lstStyle/>
          <a:p>
            <a:pPr indent="0" marL="0">
              <a:buNone/>
            </a:pPr>
            <a:r>
              <a:rPr lang="en-US" sz="1500" dirty="0">
                <a:solidFill>
                  <a:srgbClr val="C3D0CF"/>
                </a:solidFill>
                <a:latin typeface="Roboto" pitchFamily="34" charset="0"/>
                <a:ea typeface="Roboto" pitchFamily="34" charset="-122"/>
                <a:cs typeface="Roboto" pitchFamily="34" charset="-120"/>
              </a:rPr>
              <a:t>New land fell only from 2020, the first COVID year.</a:t>
            </a:r>
            <a:endParaRPr lang="en-US" sz="15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C3D0CF"/>
                </a:solidFill>
                <a:latin typeface="Roboto"/>
                <a:ea typeface="Roboto"/>
                <a:cs typeface="Robo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384048"/>
            <a:ext cx="2372868"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10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THE EVIDENCE</a:t>
            </a:r>
            <a:endParaRPr lang="en-US" sz="1200" dirty="0"/>
          </a:p>
        </p:txBody>
      </p:sp>
      <p:sp>
        <p:nvSpPr>
          <p:cNvPr id="3" name="Shape 1"/>
          <p:cNvSpPr/>
          <p:nvPr/>
        </p:nvSpPr>
        <p:spPr>
          <a:xfrm>
            <a:off x="2985516" y="521208"/>
            <a:ext cx="6325819" cy="0"/>
          </a:xfrm>
          <a:prstGeom prst="line">
            <a:avLst/>
          </a:prstGeom>
          <a:noFill/>
          <a:ln w="9525">
            <a:solidFill>
              <a:srgbClr val="3C7D2C">
                <a:alpha val="55000"/>
              </a:srgbClr>
            </a:solidFill>
            <a:prstDash val="solid"/>
          </a:ln>
        </p:spPr>
      </p:sp>
      <p:sp>
        <p:nvSpPr>
          <p:cNvPr id="4" name="claim-C"/>
          <p:cNvSpPr/>
          <p:nvPr/>
        </p:nvSpPr>
        <p:spPr>
          <a:xfrm>
            <a:off x="9539935" y="347472"/>
            <a:ext cx="2148840" cy="310896"/>
          </a:xfrm>
          <a:prstGeom prst="roundRect">
            <a:avLst>
              <a:gd name="adj" fmla="val 50000"/>
            </a:avLst>
          </a:prstGeom>
          <a:solidFill>
            <a:srgbClr val="F3E3E9"/>
          </a:solidFill>
          <a:ln w="12700">
            <a:solidFill>
              <a:srgbClr val="A42C58"/>
            </a:solidFill>
          </a:ln>
        </p:spPr>
        <p:txBody>
          <a:bodyPr wrap="square" lIns="0" tIns="0" rIns="0" bIns="0" rtlCol="0" anchor="ctr"/>
          <a:lstStyle/>
          <a:p>
            <a:pPr algn="ctr" indent="0" marL="0">
              <a:buNone/>
            </a:pPr>
            <a:r>
              <a:rPr lang="en-US" sz="1050" spc="150" kern="0" dirty="0">
                <a:solidFill>
                  <a:srgbClr val="A42C58"/>
                </a:solidFill>
                <a:latin typeface="Roboto Medium" pitchFamily="34" charset="0"/>
                <a:ea typeface="Roboto Medium" pitchFamily="34" charset="-122"/>
                <a:cs typeface="Roboto Medium" pitchFamily="34" charset="-120"/>
              </a:rPr>
              <a:t>CAUSAL · CONDITIONAL</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The fall stands out in hectares, not for its size</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Each grey dot: one Peruvian buffer zone given a fake operation in 2019 · orange: the Tambopata buffer zone's real 2019–21 change · net mining additions, after each zone's level and each year's shared change</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slide_18_placebo.png">    </p:cNvPr>
          <p:cNvPicPr>
            <a:picLocks noChangeAspect="1"/>
          </p:cNvPicPr>
          <p:nvPr/>
        </p:nvPicPr>
        <p:blipFill>
          <a:blip r:embed="rId1"/>
          <a:stretch>
            <a:fillRect/>
          </a:stretch>
        </p:blipFill>
        <p:spPr>
          <a:xfrm>
            <a:off x="573786" y="1783080"/>
            <a:ext cx="11044123" cy="452628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384048"/>
            <a:ext cx="1632204"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11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LIMITS</a:t>
            </a:r>
            <a:endParaRPr lang="en-US" sz="1200" dirty="0"/>
          </a:p>
        </p:txBody>
      </p:sp>
      <p:sp>
        <p:nvSpPr>
          <p:cNvPr id="3" name="Shape 1"/>
          <p:cNvSpPr/>
          <p:nvPr/>
        </p:nvSpPr>
        <p:spPr>
          <a:xfrm>
            <a:off x="2244852" y="521208"/>
            <a:ext cx="7066483"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Most biases make the fall look bigger</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mining additions measure land, not people, rivers or mercury · direction of each bias for the 2019–21 fall, Tambopata buffer zone</a:t>
            </a:r>
            <a:endParaRPr lang="en-US" sz="1250" dirty="0"/>
          </a:p>
        </p:txBody>
      </p:sp>
      <p:sp>
        <p:nvSpPr>
          <p:cNvPr id="7" name="Text 5"/>
          <p:cNvSpPr txBox="1"/>
          <p:nvPr/>
        </p:nvSpPr>
        <p:spPr>
          <a:xfrm>
            <a:off x="502920" y="1737360"/>
            <a:ext cx="5120640" cy="274320"/>
          </a:xfrm>
          <a:prstGeom prst="rect">
            <a:avLst/>
          </a:prstGeom>
          <a:noFill/>
          <a:ln/>
        </p:spPr>
        <p:txBody>
          <a:bodyPr wrap="square" lIns="0" tIns="0" rIns="0" bIns="0" rtlCol="0" anchor="ctr"/>
          <a:lstStyle/>
          <a:p>
            <a:pPr indent="0" marL="0">
              <a:buNone/>
            </a:pPr>
            <a:r>
              <a:rPr lang="en-US" sz="1100" spc="200" kern="0" dirty="0">
                <a:solidFill>
                  <a:srgbClr val="A42C58"/>
                </a:solidFill>
                <a:latin typeface="Roboto Medium" pitchFamily="34" charset="0"/>
                <a:ea typeface="Roboto Medium" pitchFamily="34" charset="-122"/>
                <a:cs typeface="Roboto Medium" pitchFamily="34" charset="-120"/>
              </a:rPr>
              <a:t>SATELLITES CAN'T SEE</a:t>
            </a:r>
            <a:endParaRPr lang="en-US" sz="1100" dirty="0"/>
          </a:p>
        </p:txBody>
      </p:sp>
      <p:sp>
        <p:nvSpPr>
          <p:cNvPr id="8" name="plate"/>
          <p:cNvSpPr/>
          <p:nvPr/>
        </p:nvSpPr>
        <p:spPr>
          <a:xfrm>
            <a:off x="502920" y="2103120"/>
            <a:ext cx="2487168" cy="2011680"/>
          </a:xfrm>
          <a:prstGeom prst="rect">
            <a:avLst/>
          </a:prstGeom>
          <a:solidFill>
            <a:srgbClr val="FBFAF7"/>
          </a:solidFill>
          <a:ln w="9525">
            <a:solidFill>
              <a:srgbClr val="D9D2C7"/>
            </a:solidFill>
            <a:prstDash val="solid"/>
          </a:ln>
        </p:spPr>
      </p:sp>
      <p:pic>
        <p:nvPicPr>
          <p:cNvPr id="9" name="Image 0" descr="preencoded.png">    </p:cNvPr>
          <p:cNvPicPr>
            <a:picLocks noChangeAspect="1"/>
          </p:cNvPicPr>
          <p:nvPr/>
        </p:nvPicPr>
        <p:blipFill>
          <a:blip r:embed="rId1"/>
          <a:stretch>
            <a:fillRect/>
          </a:stretch>
        </p:blipFill>
        <p:spPr>
          <a:xfrm>
            <a:off x="731520" y="2331720"/>
            <a:ext cx="457200" cy="457200"/>
          </a:xfrm>
          <a:prstGeom prst="rect">
            <a:avLst/>
          </a:prstGeom>
        </p:spPr>
      </p:pic>
      <p:sp>
        <p:nvSpPr>
          <p:cNvPr id="10" name="Text 7"/>
          <p:cNvSpPr txBox="1"/>
          <p:nvPr/>
        </p:nvSpPr>
        <p:spPr>
          <a:xfrm>
            <a:off x="731520" y="2926080"/>
            <a:ext cx="2075688" cy="365760"/>
          </a:xfrm>
          <a:prstGeom prst="rect">
            <a:avLst/>
          </a:prstGeom>
          <a:noFill/>
          <a:ln/>
        </p:spPr>
        <p:txBody>
          <a:bodyPr wrap="square" lIns="0" tIns="0" rIns="0" bIns="0" rtlCol="0" anchor="ctr"/>
          <a:lstStyle/>
          <a:p>
            <a:pPr indent="0" marL="0">
              <a:buNone/>
            </a:pPr>
            <a:r>
              <a:rPr lang="en-US" sz="1800" dirty="0">
                <a:solidFill>
                  <a:srgbClr val="22383F"/>
                </a:solidFill>
                <a:latin typeface="Roboto Medium" pitchFamily="34" charset="0"/>
                <a:ea typeface="Roboto Medium" pitchFamily="34" charset="-122"/>
                <a:cs typeface="Roboto Medium" pitchFamily="34" charset="-120"/>
              </a:rPr>
              <a:t>River dredges</a:t>
            </a:r>
            <a:endParaRPr lang="en-US" sz="1800" dirty="0"/>
          </a:p>
        </p:txBody>
      </p:sp>
      <p:sp>
        <p:nvSpPr>
          <p:cNvPr id="11" name="Text 8"/>
          <p:cNvSpPr txBox="1"/>
          <p:nvPr/>
        </p:nvSpPr>
        <p:spPr>
          <a:xfrm>
            <a:off x="731520" y="3310128"/>
            <a:ext cx="2075688" cy="731520"/>
          </a:xfrm>
          <a:prstGeom prst="rect">
            <a:avLst/>
          </a:prstGeom>
          <a:noFill/>
          <a:ln/>
        </p:spPr>
        <p:txBody>
          <a:bodyPr wrap="square" lIns="0" tIns="0" rIns="0" bIns="0" rtlCol="0" anchor="t"/>
          <a:lstStyle/>
          <a:p>
            <a:pPr indent="0" marL="0">
              <a:buNone/>
            </a:pPr>
            <a:r>
              <a:rPr lang="en-US" sz="1300" dirty="0">
                <a:solidFill>
                  <a:srgbClr val="4A5B60"/>
                </a:solidFill>
                <a:latin typeface="Roboto" pitchFamily="34" charset="0"/>
                <a:ea typeface="Roboto" pitchFamily="34" charset="-122"/>
                <a:cs typeface="Roboto" pitchFamily="34" charset="-120"/>
              </a:rPr>
              <a:t>148 → 598 in La Pampa, 2021–23 (MAAP #193)</a:t>
            </a:r>
            <a:endParaRPr lang="en-US" sz="1300" dirty="0"/>
          </a:p>
        </p:txBody>
      </p:sp>
      <p:sp>
        <p:nvSpPr>
          <p:cNvPr id="12" name="plate"/>
          <p:cNvSpPr/>
          <p:nvPr/>
        </p:nvSpPr>
        <p:spPr>
          <a:xfrm>
            <a:off x="3136392" y="2103120"/>
            <a:ext cx="2487168" cy="2011680"/>
          </a:xfrm>
          <a:prstGeom prst="rect">
            <a:avLst/>
          </a:prstGeom>
          <a:solidFill>
            <a:srgbClr val="FBFAF7"/>
          </a:solidFill>
          <a:ln w="9525">
            <a:solidFill>
              <a:srgbClr val="D9D2C7"/>
            </a:solidFill>
            <a:prstDash val="solid"/>
          </a:ln>
        </p:spPr>
      </p:sp>
      <p:pic>
        <p:nvPicPr>
          <p:cNvPr id="13" name="Image 1" descr="preencoded.png">    </p:cNvPr>
          <p:cNvPicPr>
            <a:picLocks noChangeAspect="1"/>
          </p:cNvPicPr>
          <p:nvPr/>
        </p:nvPicPr>
        <p:blipFill>
          <a:blip r:embed="rId2"/>
          <a:stretch>
            <a:fillRect/>
          </a:stretch>
        </p:blipFill>
        <p:spPr>
          <a:xfrm>
            <a:off x="3364992" y="2331720"/>
            <a:ext cx="457200" cy="457200"/>
          </a:xfrm>
          <a:prstGeom prst="rect">
            <a:avLst/>
          </a:prstGeom>
        </p:spPr>
      </p:pic>
      <p:sp>
        <p:nvSpPr>
          <p:cNvPr id="14" name="Text 10"/>
          <p:cNvSpPr txBox="1"/>
          <p:nvPr/>
        </p:nvSpPr>
        <p:spPr>
          <a:xfrm>
            <a:off x="3364992" y="2926080"/>
            <a:ext cx="2075688" cy="365760"/>
          </a:xfrm>
          <a:prstGeom prst="rect">
            <a:avLst/>
          </a:prstGeom>
          <a:noFill/>
          <a:ln/>
        </p:spPr>
        <p:txBody>
          <a:bodyPr wrap="square" lIns="0" tIns="0" rIns="0" bIns="0" rtlCol="0" anchor="ctr"/>
          <a:lstStyle/>
          <a:p>
            <a:pPr indent="0" marL="0">
              <a:buNone/>
            </a:pPr>
            <a:r>
              <a:rPr lang="en-US" sz="1800" dirty="0">
                <a:solidFill>
                  <a:srgbClr val="22383F"/>
                </a:solidFill>
                <a:latin typeface="Roboto Medium" pitchFamily="34" charset="0"/>
                <a:ea typeface="Roboto Medium" pitchFamily="34" charset="-122"/>
                <a:cs typeface="Roboto Medium" pitchFamily="34" charset="-120"/>
              </a:rPr>
              <a:t>Mercury</a:t>
            </a:r>
            <a:endParaRPr lang="en-US" sz="1800" dirty="0"/>
          </a:p>
        </p:txBody>
      </p:sp>
      <p:sp>
        <p:nvSpPr>
          <p:cNvPr id="15" name="Text 11"/>
          <p:cNvSpPr txBox="1"/>
          <p:nvPr/>
        </p:nvSpPr>
        <p:spPr>
          <a:xfrm>
            <a:off x="3364992" y="3310128"/>
            <a:ext cx="2075688" cy="731520"/>
          </a:xfrm>
          <a:prstGeom prst="rect">
            <a:avLst/>
          </a:prstGeom>
          <a:noFill/>
          <a:ln/>
        </p:spPr>
        <p:txBody>
          <a:bodyPr wrap="square" lIns="0" tIns="0" rIns="0" bIns="0" rtlCol="0" anchor="t"/>
          <a:lstStyle/>
          <a:p>
            <a:pPr indent="0" marL="0">
              <a:buNone/>
            </a:pPr>
            <a:r>
              <a:rPr lang="en-US" sz="1300" dirty="0">
                <a:solidFill>
                  <a:srgbClr val="4A5B60"/>
                </a:solidFill>
                <a:latin typeface="Roboto" pitchFamily="34" charset="0"/>
                <a:ea typeface="Roboto" pitchFamily="34" charset="-122"/>
                <a:cs typeface="Roboto" pitchFamily="34" charset="-120"/>
              </a:rPr>
              <a:t>in rivers and fish</a:t>
            </a:r>
            <a:endParaRPr lang="en-US" sz="1300" dirty="0"/>
          </a:p>
        </p:txBody>
      </p:sp>
      <p:sp>
        <p:nvSpPr>
          <p:cNvPr id="16" name="plate"/>
          <p:cNvSpPr/>
          <p:nvPr/>
        </p:nvSpPr>
        <p:spPr>
          <a:xfrm>
            <a:off x="502920" y="4261104"/>
            <a:ext cx="2487168" cy="2011680"/>
          </a:xfrm>
          <a:prstGeom prst="rect">
            <a:avLst/>
          </a:prstGeom>
          <a:solidFill>
            <a:srgbClr val="FBFAF7"/>
          </a:solidFill>
          <a:ln w="9525">
            <a:solidFill>
              <a:srgbClr val="D9D2C7"/>
            </a:solidFill>
            <a:prstDash val="solid"/>
          </a:ln>
        </p:spPr>
      </p:sp>
      <p:pic>
        <p:nvPicPr>
          <p:cNvPr id="17" name="Image 2" descr="preencoded.png">    </p:cNvPr>
          <p:cNvPicPr>
            <a:picLocks noChangeAspect="1"/>
          </p:cNvPicPr>
          <p:nvPr/>
        </p:nvPicPr>
        <p:blipFill>
          <a:blip r:embed="rId3"/>
          <a:stretch>
            <a:fillRect/>
          </a:stretch>
        </p:blipFill>
        <p:spPr>
          <a:xfrm>
            <a:off x="731520" y="4489704"/>
            <a:ext cx="457200" cy="457200"/>
          </a:xfrm>
          <a:prstGeom prst="rect">
            <a:avLst/>
          </a:prstGeom>
        </p:spPr>
      </p:pic>
      <p:sp>
        <p:nvSpPr>
          <p:cNvPr id="18" name="Text 13"/>
          <p:cNvSpPr txBox="1"/>
          <p:nvPr/>
        </p:nvSpPr>
        <p:spPr>
          <a:xfrm>
            <a:off x="731520" y="5084064"/>
            <a:ext cx="2075688" cy="365760"/>
          </a:xfrm>
          <a:prstGeom prst="rect">
            <a:avLst/>
          </a:prstGeom>
          <a:noFill/>
          <a:ln/>
        </p:spPr>
        <p:txBody>
          <a:bodyPr wrap="square" lIns="0" tIns="0" rIns="0" bIns="0" rtlCol="0" anchor="ctr"/>
          <a:lstStyle/>
          <a:p>
            <a:pPr indent="0" marL="0">
              <a:buNone/>
            </a:pPr>
            <a:r>
              <a:rPr lang="en-US" sz="1800" dirty="0">
                <a:solidFill>
                  <a:srgbClr val="22383F"/>
                </a:solidFill>
                <a:latin typeface="Roboto Medium" pitchFamily="34" charset="0"/>
                <a:ea typeface="Roboto Medium" pitchFamily="34" charset="-122"/>
                <a:cs typeface="Roboto Medium" pitchFamily="34" charset="-120"/>
              </a:rPr>
              <a:t>People</a:t>
            </a:r>
            <a:endParaRPr lang="en-US" sz="1800" dirty="0"/>
          </a:p>
        </p:txBody>
      </p:sp>
      <p:sp>
        <p:nvSpPr>
          <p:cNvPr id="19" name="Text 14"/>
          <p:cNvSpPr txBox="1"/>
          <p:nvPr/>
        </p:nvSpPr>
        <p:spPr>
          <a:xfrm>
            <a:off x="731520" y="5468112"/>
            <a:ext cx="2075688" cy="731520"/>
          </a:xfrm>
          <a:prstGeom prst="rect">
            <a:avLst/>
          </a:prstGeom>
          <a:noFill/>
          <a:ln/>
        </p:spPr>
        <p:txBody>
          <a:bodyPr wrap="square" lIns="0" tIns="0" rIns="0" bIns="0" rtlCol="0" anchor="t"/>
          <a:lstStyle/>
          <a:p>
            <a:pPr indent="0" marL="0">
              <a:buNone/>
            </a:pPr>
            <a:r>
              <a:rPr lang="en-US" sz="1300" dirty="0">
                <a:solidFill>
                  <a:srgbClr val="4A5B60"/>
                </a:solidFill>
                <a:latin typeface="Roboto" pitchFamily="34" charset="0"/>
                <a:ea typeface="Roboto" pitchFamily="34" charset="-122"/>
                <a:cs typeface="Roboto" pitchFamily="34" charset="-120"/>
              </a:rPr>
              <a:t>hectares, not miners</a:t>
            </a:r>
            <a:endParaRPr lang="en-US" sz="1300" dirty="0"/>
          </a:p>
        </p:txBody>
      </p:sp>
      <p:sp>
        <p:nvSpPr>
          <p:cNvPr id="20" name="plate"/>
          <p:cNvSpPr/>
          <p:nvPr/>
        </p:nvSpPr>
        <p:spPr>
          <a:xfrm>
            <a:off x="3136392" y="4261104"/>
            <a:ext cx="2487168" cy="2011680"/>
          </a:xfrm>
          <a:prstGeom prst="rect">
            <a:avLst/>
          </a:prstGeom>
          <a:solidFill>
            <a:srgbClr val="FBFAF7"/>
          </a:solidFill>
          <a:ln w="9525">
            <a:solidFill>
              <a:srgbClr val="D9D2C7"/>
            </a:solidFill>
            <a:prstDash val="solid"/>
          </a:ln>
        </p:spPr>
      </p:sp>
      <p:pic>
        <p:nvPicPr>
          <p:cNvPr id="21" name="Image 3" descr="preencoded.png">    </p:cNvPr>
          <p:cNvPicPr>
            <a:picLocks noChangeAspect="1"/>
          </p:cNvPicPr>
          <p:nvPr/>
        </p:nvPicPr>
        <p:blipFill>
          <a:blip r:embed="rId4"/>
          <a:stretch>
            <a:fillRect/>
          </a:stretch>
        </p:blipFill>
        <p:spPr>
          <a:xfrm>
            <a:off x="3364992" y="4489704"/>
            <a:ext cx="457200" cy="457200"/>
          </a:xfrm>
          <a:prstGeom prst="rect">
            <a:avLst/>
          </a:prstGeom>
        </p:spPr>
      </p:pic>
      <p:sp>
        <p:nvSpPr>
          <p:cNvPr id="22" name="Text 16"/>
          <p:cNvSpPr txBox="1"/>
          <p:nvPr/>
        </p:nvSpPr>
        <p:spPr>
          <a:xfrm>
            <a:off x="3364992" y="5084064"/>
            <a:ext cx="2075688" cy="365760"/>
          </a:xfrm>
          <a:prstGeom prst="rect">
            <a:avLst/>
          </a:prstGeom>
          <a:noFill/>
          <a:ln/>
        </p:spPr>
        <p:txBody>
          <a:bodyPr wrap="square" lIns="0" tIns="0" rIns="0" bIns="0" rtlCol="0" anchor="ctr"/>
          <a:lstStyle/>
          <a:p>
            <a:pPr indent="0" marL="0">
              <a:buNone/>
            </a:pPr>
            <a:r>
              <a:rPr lang="en-US" sz="1800" dirty="0">
                <a:solidFill>
                  <a:srgbClr val="22383F"/>
                </a:solidFill>
                <a:latin typeface="Roboto Medium" pitchFamily="34" charset="0"/>
                <a:ea typeface="Roboto Medium" pitchFamily="34" charset="-122"/>
                <a:cs typeface="Roboto Medium" pitchFamily="34" charset="-120"/>
              </a:rPr>
              <a:t>Map flicker</a:t>
            </a:r>
            <a:endParaRPr lang="en-US" sz="1800" dirty="0"/>
          </a:p>
        </p:txBody>
      </p:sp>
      <p:sp>
        <p:nvSpPr>
          <p:cNvPr id="23" name="Text 17"/>
          <p:cNvSpPr txBox="1"/>
          <p:nvPr/>
        </p:nvSpPr>
        <p:spPr>
          <a:xfrm>
            <a:off x="3364992" y="5468112"/>
            <a:ext cx="2075688" cy="731520"/>
          </a:xfrm>
          <a:prstGeom prst="rect">
            <a:avLst/>
          </a:prstGeom>
          <a:noFill/>
          <a:ln/>
        </p:spPr>
        <p:txBody>
          <a:bodyPr wrap="square" lIns="0" tIns="0" rIns="0" bIns="0" rtlCol="0" anchor="t"/>
          <a:lstStyle/>
          <a:p>
            <a:pPr indent="0" marL="0">
              <a:buNone/>
            </a:pPr>
            <a:r>
              <a:rPr lang="en-US" sz="1300" dirty="0">
                <a:solidFill>
                  <a:srgbClr val="4A5B60"/>
                </a:solidFill>
                <a:latin typeface="Roboto" pitchFamily="34" charset="0"/>
                <a:ea typeface="Roboto" pitchFamily="34" charset="-122"/>
                <a:cs typeface="Roboto" pitchFamily="34" charset="-120"/>
              </a:rPr>
              <a:t>37% of land that stopped in 2019–21 was mined again within 2 years</a:t>
            </a:r>
            <a:endParaRPr lang="en-US" sz="1300" dirty="0"/>
          </a:p>
        </p:txBody>
      </p:sp>
      <p:sp>
        <p:nvSpPr>
          <p:cNvPr id="24" name="Text 18"/>
          <p:cNvSpPr txBox="1"/>
          <p:nvPr/>
        </p:nvSpPr>
        <p:spPr>
          <a:xfrm>
            <a:off x="6126480" y="1737360"/>
            <a:ext cx="5562295" cy="274320"/>
          </a:xfrm>
          <a:prstGeom prst="rect">
            <a:avLst/>
          </a:prstGeom>
          <a:noFill/>
          <a:ln/>
        </p:spPr>
        <p:txBody>
          <a:bodyPr wrap="square" lIns="0" tIns="0" rIns="0" bIns="0" rtlCol="0" anchor="ctr"/>
          <a:lstStyle/>
          <a:p>
            <a:pPr indent="0" marL="0">
              <a:buNone/>
            </a:pPr>
            <a:r>
              <a:rPr lang="en-US" sz="1100" spc="200" kern="0" dirty="0">
                <a:solidFill>
                  <a:srgbClr val="2B6A8A"/>
                </a:solidFill>
                <a:latin typeface="Roboto Medium" pitchFamily="34" charset="0"/>
                <a:ea typeface="Roboto Medium" pitchFamily="34" charset="-122"/>
                <a:cs typeface="Roboto Medium" pitchFamily="34" charset="-120"/>
              </a:rPr>
              <a:t>EACH BIAS MAKES THE 2019–21 FALL LOOK…</a:t>
            </a:r>
            <a:endParaRPr lang="en-US" sz="1100" dirty="0"/>
          </a:p>
        </p:txBody>
      </p:sp>
      <p:sp>
        <p:nvSpPr>
          <p:cNvPr id="25" name="Text 19"/>
          <p:cNvSpPr txBox="1"/>
          <p:nvPr/>
        </p:nvSpPr>
        <p:spPr>
          <a:xfrm>
            <a:off x="6126480" y="2121408"/>
            <a:ext cx="2671420" cy="274320"/>
          </a:xfrm>
          <a:prstGeom prst="rect">
            <a:avLst/>
          </a:prstGeom>
          <a:noFill/>
          <a:ln/>
        </p:spPr>
        <p:txBody>
          <a:bodyPr wrap="square" lIns="0" tIns="0" rIns="0" bIns="0" rtlCol="0" anchor="ctr"/>
          <a:lstStyle/>
          <a:p>
            <a:pPr algn="r" indent="0" marL="0">
              <a:buNone/>
            </a:pPr>
            <a:r>
              <a:rPr lang="en-US" sz="1400" dirty="0">
                <a:solidFill>
                  <a:srgbClr val="2B74A6"/>
                </a:solidFill>
                <a:latin typeface="Roboto Medium" pitchFamily="34" charset="0"/>
                <a:ea typeface="Roboto Medium" pitchFamily="34" charset="-122"/>
                <a:cs typeface="Roboto Medium" pitchFamily="34" charset="-120"/>
              </a:rPr>
              <a:t>smaller</a:t>
            </a:r>
            <a:endParaRPr lang="en-US" sz="1400" dirty="0"/>
          </a:p>
        </p:txBody>
      </p:sp>
      <p:sp>
        <p:nvSpPr>
          <p:cNvPr id="26" name="Text 20"/>
          <p:cNvSpPr txBox="1"/>
          <p:nvPr/>
        </p:nvSpPr>
        <p:spPr>
          <a:xfrm>
            <a:off x="9017356" y="2121408"/>
            <a:ext cx="2671420" cy="274320"/>
          </a:xfrm>
          <a:prstGeom prst="rect">
            <a:avLst/>
          </a:prstGeom>
          <a:noFill/>
          <a:ln/>
        </p:spPr>
        <p:txBody>
          <a:bodyPr wrap="square" lIns="0" tIns="0" rIns="0" bIns="0" rtlCol="0" anchor="ctr"/>
          <a:lstStyle/>
          <a:p>
            <a:pPr indent="0" marL="0">
              <a:buNone/>
            </a:pPr>
            <a:r>
              <a:rPr lang="en-US" sz="1400" dirty="0">
                <a:solidFill>
                  <a:srgbClr val="D0692F"/>
                </a:solidFill>
                <a:latin typeface="Roboto Medium" pitchFamily="34" charset="0"/>
                <a:ea typeface="Roboto Medium" pitchFamily="34" charset="-122"/>
                <a:cs typeface="Roboto Medium" pitchFamily="34" charset="-120"/>
              </a:rPr>
              <a:t>bigger</a:t>
            </a:r>
            <a:endParaRPr lang="en-US" sz="1400" dirty="0"/>
          </a:p>
        </p:txBody>
      </p:sp>
      <p:sp>
        <p:nvSpPr>
          <p:cNvPr id="27" name="Shape 21"/>
          <p:cNvSpPr/>
          <p:nvPr/>
        </p:nvSpPr>
        <p:spPr>
          <a:xfrm>
            <a:off x="8907628" y="2514600"/>
            <a:ext cx="0" cy="3291840"/>
          </a:xfrm>
          <a:prstGeom prst="line">
            <a:avLst/>
          </a:prstGeom>
          <a:noFill/>
          <a:ln w="15875">
            <a:solidFill>
              <a:srgbClr val="4A5B60"/>
            </a:solidFill>
            <a:prstDash val="solid"/>
          </a:ln>
        </p:spPr>
      </p:sp>
      <p:sp>
        <p:nvSpPr>
          <p:cNvPr id="28" name="Shape 22"/>
          <p:cNvSpPr/>
          <p:nvPr/>
        </p:nvSpPr>
        <p:spPr>
          <a:xfrm>
            <a:off x="8907628" y="2624328"/>
            <a:ext cx="2669902" cy="402336"/>
          </a:xfrm>
          <a:prstGeom prst="rect">
            <a:avLst/>
          </a:prstGeom>
          <a:solidFill>
            <a:srgbClr val="F6E1D3"/>
          </a:solidFill>
          <a:ln/>
        </p:spPr>
      </p:sp>
      <p:sp>
        <p:nvSpPr>
          <p:cNvPr id="29" name="Text 23"/>
          <p:cNvSpPr txBox="1"/>
          <p:nvPr/>
        </p:nvSpPr>
        <p:spPr>
          <a:xfrm>
            <a:off x="9017356" y="2624328"/>
            <a:ext cx="2468734" cy="402336"/>
          </a:xfrm>
          <a:prstGeom prst="rect">
            <a:avLst/>
          </a:prstGeom>
          <a:noFill/>
          <a:ln/>
        </p:spPr>
        <p:txBody>
          <a:bodyPr wrap="square" lIns="0" tIns="0" rIns="0" bIns="0" rtlCol="0" anchor="ctr"/>
          <a:lstStyle/>
          <a:p>
            <a:pPr algn="l" indent="0" marL="0">
              <a:buNone/>
            </a:pPr>
            <a:r>
              <a:rPr lang="en-US" sz="1300" dirty="0">
                <a:solidFill>
                  <a:srgbClr val="22383F"/>
                </a:solidFill>
                <a:latin typeface="Roboto" pitchFamily="34" charset="0"/>
                <a:ea typeface="Roboto" pitchFamily="34" charset="-122"/>
                <a:cs typeface="Roboto" pitchFamily="34" charset="-120"/>
              </a:rPr>
              <a:t>Targeted at its peak</a:t>
            </a:r>
            <a:endParaRPr lang="en-US" sz="1300" dirty="0"/>
          </a:p>
        </p:txBody>
      </p:sp>
      <p:sp>
        <p:nvSpPr>
          <p:cNvPr id="30" name="Shape 24"/>
          <p:cNvSpPr/>
          <p:nvPr/>
        </p:nvSpPr>
        <p:spPr>
          <a:xfrm>
            <a:off x="8907628" y="3172968"/>
            <a:ext cx="2669902" cy="402336"/>
          </a:xfrm>
          <a:prstGeom prst="rect">
            <a:avLst/>
          </a:prstGeom>
          <a:solidFill>
            <a:srgbClr val="F6E1D3"/>
          </a:solidFill>
          <a:ln/>
        </p:spPr>
      </p:sp>
      <p:sp>
        <p:nvSpPr>
          <p:cNvPr id="31" name="Text 25"/>
          <p:cNvSpPr txBox="1"/>
          <p:nvPr/>
        </p:nvSpPr>
        <p:spPr>
          <a:xfrm>
            <a:off x="9017356" y="3172968"/>
            <a:ext cx="2468734" cy="402336"/>
          </a:xfrm>
          <a:prstGeom prst="rect">
            <a:avLst/>
          </a:prstGeom>
          <a:noFill/>
          <a:ln/>
        </p:spPr>
        <p:txBody>
          <a:bodyPr wrap="square" lIns="0" tIns="0" rIns="0" bIns="0" rtlCol="0" anchor="ctr"/>
          <a:lstStyle/>
          <a:p>
            <a:pPr algn="l" indent="0" marL="0">
              <a:buNone/>
            </a:pPr>
            <a:r>
              <a:rPr lang="en-US" sz="1300" dirty="0">
                <a:solidFill>
                  <a:srgbClr val="22383F"/>
                </a:solidFill>
                <a:latin typeface="Roboto" pitchFamily="34" charset="0"/>
                <a:ea typeface="Roboto" pitchFamily="34" charset="-122"/>
                <a:cs typeface="Roboto" pitchFamily="34" charset="-120"/>
              </a:rPr>
              <a:t>Miners moved into comparison zones</a:t>
            </a:r>
            <a:endParaRPr lang="en-US" sz="1300" dirty="0"/>
          </a:p>
        </p:txBody>
      </p:sp>
      <p:sp>
        <p:nvSpPr>
          <p:cNvPr id="32" name="Shape 26"/>
          <p:cNvSpPr/>
          <p:nvPr/>
        </p:nvSpPr>
        <p:spPr>
          <a:xfrm>
            <a:off x="8907628" y="3721608"/>
            <a:ext cx="2669902" cy="402336"/>
          </a:xfrm>
          <a:prstGeom prst="rect">
            <a:avLst/>
          </a:prstGeom>
          <a:solidFill>
            <a:srgbClr val="F6E1D3"/>
          </a:solidFill>
          <a:ln/>
        </p:spPr>
      </p:sp>
      <p:sp>
        <p:nvSpPr>
          <p:cNvPr id="33" name="Text 27"/>
          <p:cNvSpPr txBox="1"/>
          <p:nvPr/>
        </p:nvSpPr>
        <p:spPr>
          <a:xfrm>
            <a:off x="9017356" y="3721608"/>
            <a:ext cx="2468734" cy="402336"/>
          </a:xfrm>
          <a:prstGeom prst="rect">
            <a:avLst/>
          </a:prstGeom>
          <a:noFill/>
          <a:ln/>
        </p:spPr>
        <p:txBody>
          <a:bodyPr wrap="square" lIns="0" tIns="0" rIns="0" bIns="0" rtlCol="0" anchor="ctr"/>
          <a:lstStyle/>
          <a:p>
            <a:pPr algn="l" indent="0" marL="0">
              <a:buNone/>
            </a:pPr>
            <a:r>
              <a:rPr lang="en-US" sz="1300" dirty="0">
                <a:solidFill>
                  <a:srgbClr val="22383F"/>
                </a:solidFill>
                <a:latin typeface="Roboto" pitchFamily="34" charset="0"/>
                <a:ea typeface="Roboto" pitchFamily="34" charset="-122"/>
                <a:cs typeface="Roboto" pitchFamily="34" charset="-120"/>
              </a:rPr>
              <a:t>Big zones fall more in hectares</a:t>
            </a:r>
            <a:endParaRPr lang="en-US" sz="1300" dirty="0"/>
          </a:p>
        </p:txBody>
      </p:sp>
      <p:sp>
        <p:nvSpPr>
          <p:cNvPr id="34" name="Shape 28"/>
          <p:cNvSpPr/>
          <p:nvPr/>
        </p:nvSpPr>
        <p:spPr>
          <a:xfrm>
            <a:off x="8907628" y="4270248"/>
            <a:ext cx="2669902" cy="402336"/>
          </a:xfrm>
          <a:prstGeom prst="rect">
            <a:avLst/>
          </a:prstGeom>
          <a:solidFill>
            <a:srgbClr val="F6E1D3"/>
          </a:solidFill>
          <a:ln/>
        </p:spPr>
      </p:sp>
      <p:sp>
        <p:nvSpPr>
          <p:cNvPr id="35" name="Text 29"/>
          <p:cNvSpPr txBox="1"/>
          <p:nvPr/>
        </p:nvSpPr>
        <p:spPr>
          <a:xfrm>
            <a:off x="9017356" y="4270248"/>
            <a:ext cx="2468734" cy="402336"/>
          </a:xfrm>
          <a:prstGeom prst="rect">
            <a:avLst/>
          </a:prstGeom>
          <a:noFill/>
          <a:ln/>
        </p:spPr>
        <p:txBody>
          <a:bodyPr wrap="square" lIns="0" tIns="0" rIns="0" bIns="0" rtlCol="0" anchor="ctr"/>
          <a:lstStyle/>
          <a:p>
            <a:pPr algn="l" indent="0" marL="0">
              <a:buNone/>
            </a:pPr>
            <a:r>
              <a:rPr lang="en-US" sz="1300" dirty="0">
                <a:solidFill>
                  <a:srgbClr val="22383F"/>
                </a:solidFill>
                <a:latin typeface="Roboto" pitchFamily="34" charset="0"/>
                <a:ea typeface="Roboto" pitchFamily="34" charset="-122"/>
                <a:cs typeface="Roboto" pitchFamily="34" charset="-120"/>
              </a:rPr>
              <a:t>Pits stopping counted as less mining</a:t>
            </a:r>
            <a:endParaRPr lang="en-US" sz="1300" dirty="0"/>
          </a:p>
        </p:txBody>
      </p:sp>
      <p:sp>
        <p:nvSpPr>
          <p:cNvPr id="36" name="Shape 30"/>
          <p:cNvSpPr/>
          <p:nvPr/>
        </p:nvSpPr>
        <p:spPr>
          <a:xfrm>
            <a:off x="6237726" y="4818888"/>
            <a:ext cx="2669902" cy="402336"/>
          </a:xfrm>
          <a:prstGeom prst="rect">
            <a:avLst/>
          </a:prstGeom>
          <a:solidFill>
            <a:srgbClr val="DCE9F3"/>
          </a:solidFill>
          <a:ln/>
        </p:spPr>
      </p:sp>
      <p:sp>
        <p:nvSpPr>
          <p:cNvPr id="37" name="Text 31"/>
          <p:cNvSpPr txBox="1"/>
          <p:nvPr/>
        </p:nvSpPr>
        <p:spPr>
          <a:xfrm>
            <a:off x="6329166" y="4818888"/>
            <a:ext cx="2468734" cy="402336"/>
          </a:xfrm>
          <a:prstGeom prst="rect">
            <a:avLst/>
          </a:prstGeom>
          <a:noFill/>
          <a:ln/>
        </p:spPr>
        <p:txBody>
          <a:bodyPr wrap="square" lIns="0" tIns="0" rIns="0" bIns="0" rtlCol="0" anchor="ctr"/>
          <a:lstStyle/>
          <a:p>
            <a:pPr algn="r" indent="0" marL="0">
              <a:buNone/>
            </a:pPr>
            <a:r>
              <a:rPr lang="en-US" sz="1300" dirty="0">
                <a:solidFill>
                  <a:srgbClr val="22383F"/>
                </a:solidFill>
                <a:latin typeface="Roboto" pitchFamily="34" charset="0"/>
                <a:ea typeface="Roboto" pitchFamily="34" charset="-122"/>
                <a:cs typeface="Roboto" pitchFamily="34" charset="-120"/>
              </a:rPr>
              <a:t>Comparison zones had operations too</a:t>
            </a:r>
            <a:endParaRPr lang="en-US" sz="1300" dirty="0"/>
          </a:p>
        </p:txBody>
      </p:sp>
      <p:sp>
        <p:nvSpPr>
          <p:cNvPr id="38" name="Shape 32"/>
          <p:cNvSpPr/>
          <p:nvPr/>
        </p:nvSpPr>
        <p:spPr>
          <a:xfrm>
            <a:off x="6237726" y="5367528"/>
            <a:ext cx="2669902" cy="402336"/>
          </a:xfrm>
          <a:prstGeom prst="rect">
            <a:avLst/>
          </a:prstGeom>
          <a:solidFill>
            <a:srgbClr val="DCE9F3"/>
          </a:solidFill>
          <a:ln/>
        </p:spPr>
      </p:sp>
      <p:sp>
        <p:nvSpPr>
          <p:cNvPr id="39" name="Text 33"/>
          <p:cNvSpPr txBox="1"/>
          <p:nvPr/>
        </p:nvSpPr>
        <p:spPr>
          <a:xfrm>
            <a:off x="6329166" y="5367528"/>
            <a:ext cx="2468734" cy="402336"/>
          </a:xfrm>
          <a:prstGeom prst="rect">
            <a:avLst/>
          </a:prstGeom>
          <a:noFill/>
          <a:ln/>
        </p:spPr>
        <p:txBody>
          <a:bodyPr wrap="square" lIns="0" tIns="0" rIns="0" bIns="0" rtlCol="0" anchor="ctr"/>
          <a:lstStyle/>
          <a:p>
            <a:pPr algn="r" indent="0" marL="0">
              <a:buNone/>
            </a:pPr>
            <a:r>
              <a:rPr lang="en-US" sz="1300" dirty="0">
                <a:solidFill>
                  <a:srgbClr val="22383F"/>
                </a:solidFill>
                <a:latin typeface="Roboto" pitchFamily="34" charset="0"/>
                <a:ea typeface="Roboto" pitchFamily="34" charset="-122"/>
                <a:cs typeface="Roboto" pitchFamily="34" charset="-120"/>
              </a:rPr>
              <a:t>Yearly maps blur Feb 2019</a:t>
            </a:r>
            <a:endParaRPr lang="en-US" sz="1300" dirty="0"/>
          </a:p>
        </p:txBody>
      </p:sp>
      <p:sp>
        <p:nvSpPr>
          <p:cNvPr id="40" name="Text 34"/>
          <p:cNvSpPr txBox="1"/>
          <p:nvPr/>
        </p:nvSpPr>
        <p:spPr>
          <a:xfrm>
            <a:off x="6126480" y="6035040"/>
            <a:ext cx="5562295" cy="457200"/>
          </a:xfrm>
          <a:prstGeom prst="rect">
            <a:avLst/>
          </a:prstGeom>
          <a:noFill/>
          <a:ln/>
        </p:spPr>
        <p:txBody>
          <a:bodyPr wrap="square" lIns="0" tIns="0" rIns="0" bIns="0" rtlCol="0" anchor="t"/>
          <a:lstStyle/>
          <a:p>
            <a:pPr indent="0" marL="0">
              <a:buNone/>
            </a:pPr>
            <a:r>
              <a:rPr lang="en-US" sz="1500" dirty="0">
                <a:solidFill>
                  <a:srgbClr val="22383F"/>
                </a:solidFill>
                <a:latin typeface="Roboto Medium" pitchFamily="34" charset="0"/>
                <a:ea typeface="Roboto Medium" pitchFamily="34" charset="-122"/>
                <a:cs typeface="Roboto Medium" pitchFamily="34" charset="-120"/>
              </a:rPr>
              <a:t>Read the fall as an upper bound, the return as a lower bound.</a:t>
            </a:r>
            <a:endParaRPr lang="en-US" sz="15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384048"/>
            <a:ext cx="1755648" cy="274320"/>
          </a:xfrm>
          <a:prstGeom prst="rect">
            <a:avLst/>
          </a:prstGeom>
          <a:noFill/>
          <a:ln/>
        </p:spPr>
        <p:txBody>
          <a:bodyPr wrap="square" lIns="0" tIns="0" rIns="0" bIns="0" rtlCol="0" anchor="ctr"/>
          <a:lstStyle/>
          <a:p>
            <a:pPr indent="0" marL="0">
              <a:buNone/>
            </a:pPr>
            <a:r>
              <a:rPr lang="en-US" sz="1200" spc="220" kern="0" dirty="0">
                <a:solidFill>
                  <a:srgbClr val="B9C94F"/>
                </a:solidFill>
                <a:latin typeface="Roboto Medium" pitchFamily="34" charset="0"/>
                <a:ea typeface="Roboto Medium" pitchFamily="34" charset="-122"/>
                <a:cs typeface="Roboto Medium" pitchFamily="34" charset="-120"/>
              </a:rPr>
              <a:t>12   </a:t>
            </a:r>
            <a:pPr indent="0" marL="0">
              <a:buNone/>
            </a:pPr>
            <a:r>
              <a:rPr lang="en-US" sz="1200" spc="220" kern="0" dirty="0">
                <a:solidFill>
                  <a:srgbClr val="B9C94F"/>
                </a:solidFill>
                <a:latin typeface="Roboto Medium" pitchFamily="34" charset="0"/>
                <a:ea typeface="Roboto Medium" pitchFamily="34" charset="-122"/>
                <a:cs typeface="Roboto Medium" pitchFamily="34" charset="-120"/>
              </a:rPr>
              <a:t>FOR FZS</a:t>
            </a:r>
            <a:endParaRPr lang="en-US" sz="1200" dirty="0"/>
          </a:p>
        </p:txBody>
      </p:sp>
      <p:sp>
        <p:nvSpPr>
          <p:cNvPr id="3" name="Shape 1"/>
          <p:cNvSpPr/>
          <p:nvPr/>
        </p:nvSpPr>
        <p:spPr>
          <a:xfrm>
            <a:off x="2368296" y="521208"/>
            <a:ext cx="6943039" cy="0"/>
          </a:xfrm>
          <a:prstGeom prst="line">
            <a:avLst/>
          </a:prstGeom>
          <a:noFill/>
          <a:ln w="9525">
            <a:solidFill>
              <a:srgbClr val="B9C94F">
                <a:alpha val="70000"/>
              </a:srgbClr>
            </a:solidFill>
            <a:prstDash val="solid"/>
          </a:ln>
        </p:spPr>
      </p:sp>
      <p:sp>
        <p:nvSpPr>
          <p:cNvPr id="4" name="claim-P"/>
          <p:cNvSpPr/>
          <p:nvPr/>
        </p:nvSpPr>
        <p:spPr>
          <a:xfrm>
            <a:off x="9539935" y="347472"/>
            <a:ext cx="2148840" cy="310896"/>
          </a:xfrm>
          <a:prstGeom prst="roundRect">
            <a:avLst>
              <a:gd name="adj" fmla="val 50000"/>
            </a:avLst>
          </a:prstGeom>
          <a:ln w="12700">
            <a:solidFill>
              <a:srgbClr val="B9C94F"/>
            </a:solidFill>
          </a:ln>
        </p:spPr>
        <p:txBody>
          <a:bodyPr wrap="square" lIns="0" tIns="0" rIns="0" bIns="0" rtlCol="0" anchor="ctr"/>
          <a:lstStyle/>
          <a:p>
            <a:pPr algn="ctr" indent="0" marL="0">
              <a:buNone/>
            </a:pPr>
            <a:r>
              <a:rPr lang="en-US" sz="1050" spc="150" kern="0" dirty="0">
                <a:solidFill>
                  <a:srgbClr val="B9C94F"/>
                </a:solidFill>
                <a:latin typeface="Roboto Medium" pitchFamily="34" charset="0"/>
                <a:ea typeface="Roboto Medium" pitchFamily="34" charset="-122"/>
                <a:cs typeface="Roboto Medium" pitchFamily="34" charset="-120"/>
              </a:rPr>
              <a:t>PREDICTION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F3F5F2"/>
                </a:solidFill>
                <a:latin typeface="Roboto Light" pitchFamily="34" charset="0"/>
                <a:ea typeface="Roboto Light" pitchFamily="34" charset="-122"/>
                <a:cs typeface="Roboto Light" pitchFamily="34" charset="-120"/>
              </a:rPr>
              <a:t>Plan for the months after the operation ends</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C3D0CF"/>
                </a:solidFill>
                <a:latin typeface="Roboto" pitchFamily="34" charset="0"/>
                <a:ea typeface="Roboto" pitchFamily="34" charset="-122"/>
                <a:cs typeface="Roboto" pitchFamily="34" charset="-120"/>
              </a:rPr>
              <a:t>Informed expectations from one case, not proven rules · net mining additions, Tambopata buffer zone, corridor across the road, reserve</a:t>
            </a:r>
            <a:endParaRPr lang="en-US" sz="1250" dirty="0"/>
          </a:p>
        </p:txBody>
      </p:sp>
      <p:sp>
        <p:nvSpPr>
          <p:cNvPr id="7" name="Shape 5"/>
          <p:cNvSpPr/>
          <p:nvPr/>
        </p:nvSpPr>
        <p:spPr>
          <a:xfrm>
            <a:off x="502920" y="1874520"/>
            <a:ext cx="731520" cy="731520"/>
          </a:xfrm>
          <a:prstGeom prst="ellipse">
            <a:avLst/>
          </a:prstGeom>
          <a:solidFill>
            <a:srgbClr val="2E4850"/>
          </a:solidFill>
          <a:ln w="12700">
            <a:solidFill>
              <a:srgbClr val="B9C94F"/>
            </a:solidFill>
            <a:prstDash val="solid"/>
          </a:ln>
        </p:spPr>
      </p:sp>
      <p:pic>
        <p:nvPicPr>
          <p:cNvPr id="8" name="Image 0" descr="preencoded.png">    </p:cNvPr>
          <p:cNvPicPr>
            <a:picLocks noChangeAspect="1"/>
          </p:cNvPicPr>
          <p:nvPr/>
        </p:nvPicPr>
        <p:blipFill>
          <a:blip r:embed="rId1"/>
          <a:stretch>
            <a:fillRect/>
          </a:stretch>
        </p:blipFill>
        <p:spPr>
          <a:xfrm>
            <a:off x="667512" y="2039112"/>
            <a:ext cx="402336" cy="402336"/>
          </a:xfrm>
          <a:prstGeom prst="rect">
            <a:avLst/>
          </a:prstGeom>
        </p:spPr>
      </p:pic>
      <p:sp>
        <p:nvSpPr>
          <p:cNvPr id="9" name="Text 6"/>
          <p:cNvSpPr txBox="1"/>
          <p:nvPr/>
        </p:nvSpPr>
        <p:spPr>
          <a:xfrm>
            <a:off x="502920" y="2834640"/>
            <a:ext cx="3474720" cy="731520"/>
          </a:xfrm>
          <a:prstGeom prst="rect">
            <a:avLst/>
          </a:prstGeom>
          <a:noFill/>
          <a:ln/>
        </p:spPr>
        <p:txBody>
          <a:bodyPr wrap="square" lIns="0" tIns="0" rIns="0" bIns="0" rtlCol="0" anchor="t"/>
          <a:lstStyle/>
          <a:p>
            <a:pPr indent="0" marL="0">
              <a:buNone/>
            </a:pPr>
            <a:r>
              <a:rPr lang="en-US" sz="2000" dirty="0">
                <a:solidFill>
                  <a:srgbClr val="F3F5F2"/>
                </a:solidFill>
                <a:latin typeface="Roboto Medium" pitchFamily="34" charset="0"/>
                <a:ea typeface="Roboto Medium" pitchFamily="34" charset="-122"/>
                <a:cs typeface="Roboto Medium" pitchFamily="34" charset="-120"/>
              </a:rPr>
              <a:t>Stay after the sweep</a:t>
            </a:r>
            <a:endParaRPr lang="en-US" sz="2000" dirty="0"/>
          </a:p>
        </p:txBody>
      </p:sp>
      <p:sp>
        <p:nvSpPr>
          <p:cNvPr id="10" name="Text 7"/>
          <p:cNvSpPr txBox="1"/>
          <p:nvPr/>
        </p:nvSpPr>
        <p:spPr>
          <a:xfrm>
            <a:off x="502920" y="3611880"/>
            <a:ext cx="3474720" cy="731520"/>
          </a:xfrm>
          <a:prstGeom prst="rect">
            <a:avLst/>
          </a:prstGeom>
          <a:noFill/>
          <a:ln/>
        </p:spPr>
        <p:txBody>
          <a:bodyPr wrap="square" lIns="0" tIns="0" rIns="0" bIns="0" rtlCol="0" anchor="ctr"/>
          <a:lstStyle/>
          <a:p>
            <a:pPr indent="0" marL="0">
              <a:buNone/>
            </a:pPr>
            <a:r>
              <a:rPr lang="en-US" sz="4000" dirty="0">
                <a:solidFill>
                  <a:srgbClr val="B9C94F"/>
                </a:solidFill>
                <a:latin typeface="Roboto Light" pitchFamily="34" charset="0"/>
                <a:ea typeface="Roboto Light" pitchFamily="34" charset="-122"/>
                <a:cs typeface="Roboto Light" pitchFamily="34" charset="-120"/>
              </a:rPr>
              <a:t>163 → 1,829</a:t>
            </a:r>
            <a:endParaRPr lang="en-US" sz="4000" dirty="0"/>
          </a:p>
        </p:txBody>
      </p:sp>
      <p:sp>
        <p:nvSpPr>
          <p:cNvPr id="11" name="Text 8"/>
          <p:cNvSpPr txBox="1"/>
          <p:nvPr/>
        </p:nvSpPr>
        <p:spPr>
          <a:xfrm>
            <a:off x="502920" y="4434840"/>
            <a:ext cx="3291840" cy="1280160"/>
          </a:xfrm>
          <a:prstGeom prst="rect">
            <a:avLst/>
          </a:prstGeom>
          <a:noFill/>
          <a:ln/>
        </p:spPr>
        <p:txBody>
          <a:bodyPr wrap="square" lIns="0" tIns="0" rIns="0" bIns="0" rtlCol="0" anchor="t"/>
          <a:lstStyle/>
          <a:p>
            <a:pPr indent="0" marL="0">
              <a:buNone/>
            </a:pPr>
            <a:r>
              <a:rPr lang="en-US" sz="1500" dirty="0">
                <a:solidFill>
                  <a:srgbClr val="C3D0CF"/>
                </a:solidFill>
                <a:latin typeface="Roboto" pitchFamily="34" charset="0"/>
                <a:ea typeface="Roboto" pitchFamily="34" charset="-122"/>
                <a:cs typeface="Roboto" pitchFamily="34" charset="-120"/>
              </a:rPr>
              <a:t>ha/yr, 2019–21 → later years, Tambopata buffer zone. Fund presence, not one-off sweeps.</a:t>
            </a:r>
            <a:endParaRPr lang="en-US" sz="1500" dirty="0"/>
          </a:p>
        </p:txBody>
      </p:sp>
      <p:sp>
        <p:nvSpPr>
          <p:cNvPr id="12" name="Shape 9"/>
          <p:cNvSpPr/>
          <p:nvPr/>
        </p:nvSpPr>
        <p:spPr>
          <a:xfrm>
            <a:off x="4096512" y="1874520"/>
            <a:ext cx="0" cy="4206240"/>
          </a:xfrm>
          <a:prstGeom prst="line">
            <a:avLst/>
          </a:prstGeom>
          <a:noFill/>
          <a:ln w="9525">
            <a:solidFill>
              <a:srgbClr val="FFFFFF">
                <a:alpha val="18000"/>
              </a:srgbClr>
            </a:solidFill>
            <a:prstDash val="solid"/>
          </a:ln>
        </p:spPr>
      </p:sp>
      <p:sp>
        <p:nvSpPr>
          <p:cNvPr id="13" name="Shape 10"/>
          <p:cNvSpPr/>
          <p:nvPr/>
        </p:nvSpPr>
        <p:spPr>
          <a:xfrm>
            <a:off x="4279392" y="1874520"/>
            <a:ext cx="731520" cy="731520"/>
          </a:xfrm>
          <a:prstGeom prst="ellipse">
            <a:avLst/>
          </a:prstGeom>
          <a:solidFill>
            <a:srgbClr val="2E4850"/>
          </a:solidFill>
          <a:ln w="12700">
            <a:solidFill>
              <a:srgbClr val="B9C94F"/>
            </a:solidFill>
            <a:prstDash val="solid"/>
          </a:ln>
        </p:spPr>
      </p:sp>
      <p:pic>
        <p:nvPicPr>
          <p:cNvPr id="14" name="Image 1" descr="preencoded.png">    </p:cNvPr>
          <p:cNvPicPr>
            <a:picLocks noChangeAspect="1"/>
          </p:cNvPicPr>
          <p:nvPr/>
        </p:nvPicPr>
        <p:blipFill>
          <a:blip r:embed="rId2"/>
          <a:stretch>
            <a:fillRect/>
          </a:stretch>
        </p:blipFill>
        <p:spPr>
          <a:xfrm>
            <a:off x="4443984" y="2039112"/>
            <a:ext cx="402336" cy="402336"/>
          </a:xfrm>
          <a:prstGeom prst="rect">
            <a:avLst/>
          </a:prstGeom>
        </p:spPr>
      </p:pic>
      <p:sp>
        <p:nvSpPr>
          <p:cNvPr id="15" name="Text 11"/>
          <p:cNvSpPr txBox="1"/>
          <p:nvPr/>
        </p:nvSpPr>
        <p:spPr>
          <a:xfrm>
            <a:off x="4279392" y="2834640"/>
            <a:ext cx="3474720" cy="731520"/>
          </a:xfrm>
          <a:prstGeom prst="rect">
            <a:avLst/>
          </a:prstGeom>
          <a:noFill/>
          <a:ln/>
        </p:spPr>
        <p:txBody>
          <a:bodyPr wrap="square" lIns="0" tIns="0" rIns="0" bIns="0" rtlCol="0" anchor="t"/>
          <a:lstStyle/>
          <a:p>
            <a:pPr indent="0" marL="0">
              <a:buNone/>
            </a:pPr>
            <a:r>
              <a:rPr lang="en-US" sz="2000" dirty="0">
                <a:solidFill>
                  <a:srgbClr val="F3F5F2"/>
                </a:solidFill>
                <a:latin typeface="Roboto Medium" pitchFamily="34" charset="0"/>
                <a:ea typeface="Roboto Medium" pitchFamily="34" charset="-122"/>
                <a:cs typeface="Roboto Medium" pitchFamily="34" charset="-120"/>
              </a:rPr>
              <a:t>Watch the ring around it</a:t>
            </a:r>
            <a:endParaRPr lang="en-US" sz="2000" dirty="0"/>
          </a:p>
        </p:txBody>
      </p:sp>
      <p:sp>
        <p:nvSpPr>
          <p:cNvPr id="16" name="Text 12"/>
          <p:cNvSpPr txBox="1"/>
          <p:nvPr/>
        </p:nvSpPr>
        <p:spPr>
          <a:xfrm>
            <a:off x="4279392" y="3611880"/>
            <a:ext cx="3474720" cy="731520"/>
          </a:xfrm>
          <a:prstGeom prst="rect">
            <a:avLst/>
          </a:prstGeom>
          <a:noFill/>
          <a:ln/>
        </p:spPr>
        <p:txBody>
          <a:bodyPr wrap="square" lIns="0" tIns="0" rIns="0" bIns="0" rtlCol="0" anchor="ctr"/>
          <a:lstStyle/>
          <a:p>
            <a:pPr indent="0" marL="0">
              <a:buNone/>
            </a:pPr>
            <a:r>
              <a:rPr lang="en-US" sz="4000" dirty="0">
                <a:solidFill>
                  <a:srgbClr val="B9C94F"/>
                </a:solidFill>
                <a:latin typeface="Roboto Light" pitchFamily="34" charset="0"/>
                <a:ea typeface="Roboto Light" pitchFamily="34" charset="-122"/>
                <a:cs typeface="Roboto Light" pitchFamily="34" charset="-120"/>
              </a:rPr>
              <a:t>60 → 395</a:t>
            </a:r>
            <a:endParaRPr lang="en-US" sz="4000" dirty="0"/>
          </a:p>
        </p:txBody>
      </p:sp>
      <p:sp>
        <p:nvSpPr>
          <p:cNvPr id="17" name="Text 13"/>
          <p:cNvSpPr txBox="1"/>
          <p:nvPr/>
        </p:nvSpPr>
        <p:spPr>
          <a:xfrm>
            <a:off x="4279392" y="4434840"/>
            <a:ext cx="3291840" cy="1280160"/>
          </a:xfrm>
          <a:prstGeom prst="rect">
            <a:avLst/>
          </a:prstGeom>
          <a:noFill/>
          <a:ln/>
        </p:spPr>
        <p:txBody>
          <a:bodyPr wrap="square" lIns="0" tIns="0" rIns="0" bIns="0" rtlCol="0" anchor="t"/>
          <a:lstStyle/>
          <a:p>
            <a:pPr indent="0" marL="0">
              <a:buNone/>
            </a:pPr>
            <a:r>
              <a:rPr lang="en-US" sz="1500" dirty="0">
                <a:solidFill>
                  <a:srgbClr val="C3D0CF"/>
                </a:solidFill>
                <a:latin typeface="Roboto" pitchFamily="34" charset="0"/>
                <a:ea typeface="Roboto" pitchFamily="34" charset="-122"/>
                <a:cs typeface="Roboto" pitchFamily="34" charset="-120"/>
              </a:rPr>
              <a:t>ha/yr just across the road. Near-real-time forest-loss alerts on a ring of a few km; add old pits.</a:t>
            </a:r>
            <a:endParaRPr lang="en-US" sz="1500" dirty="0"/>
          </a:p>
        </p:txBody>
      </p:sp>
      <p:sp>
        <p:nvSpPr>
          <p:cNvPr id="18" name="Shape 14"/>
          <p:cNvSpPr/>
          <p:nvPr/>
        </p:nvSpPr>
        <p:spPr>
          <a:xfrm>
            <a:off x="7872984" y="1874520"/>
            <a:ext cx="0" cy="4206240"/>
          </a:xfrm>
          <a:prstGeom prst="line">
            <a:avLst/>
          </a:prstGeom>
          <a:noFill/>
          <a:ln w="9525">
            <a:solidFill>
              <a:srgbClr val="FFFFFF">
                <a:alpha val="18000"/>
              </a:srgbClr>
            </a:solidFill>
            <a:prstDash val="solid"/>
          </a:ln>
        </p:spPr>
      </p:sp>
      <p:sp>
        <p:nvSpPr>
          <p:cNvPr id="19" name="Shape 15"/>
          <p:cNvSpPr/>
          <p:nvPr/>
        </p:nvSpPr>
        <p:spPr>
          <a:xfrm>
            <a:off x="8055864" y="1874520"/>
            <a:ext cx="731520" cy="731520"/>
          </a:xfrm>
          <a:prstGeom prst="ellipse">
            <a:avLst/>
          </a:prstGeom>
          <a:solidFill>
            <a:srgbClr val="2E4850"/>
          </a:solidFill>
          <a:ln w="12700">
            <a:solidFill>
              <a:srgbClr val="B9C94F"/>
            </a:solidFill>
            <a:prstDash val="solid"/>
          </a:ln>
        </p:spPr>
      </p:sp>
      <p:pic>
        <p:nvPicPr>
          <p:cNvPr id="20" name="Image 2" descr="preencoded.png">    </p:cNvPr>
          <p:cNvPicPr>
            <a:picLocks noChangeAspect="1"/>
          </p:cNvPicPr>
          <p:nvPr/>
        </p:nvPicPr>
        <p:blipFill>
          <a:blip r:embed="rId3"/>
          <a:stretch>
            <a:fillRect/>
          </a:stretch>
        </p:blipFill>
        <p:spPr>
          <a:xfrm>
            <a:off x="8220456" y="2039112"/>
            <a:ext cx="402336" cy="402336"/>
          </a:xfrm>
          <a:prstGeom prst="rect">
            <a:avLst/>
          </a:prstGeom>
        </p:spPr>
      </p:pic>
      <p:sp>
        <p:nvSpPr>
          <p:cNvPr id="21" name="Text 16"/>
          <p:cNvSpPr txBox="1"/>
          <p:nvPr/>
        </p:nvSpPr>
        <p:spPr>
          <a:xfrm>
            <a:off x="8055864" y="2834640"/>
            <a:ext cx="3474720" cy="731520"/>
          </a:xfrm>
          <a:prstGeom prst="rect">
            <a:avLst/>
          </a:prstGeom>
          <a:noFill/>
          <a:ln/>
        </p:spPr>
        <p:txBody>
          <a:bodyPr wrap="square" lIns="0" tIns="0" rIns="0" bIns="0" rtlCol="0" anchor="t"/>
          <a:lstStyle/>
          <a:p>
            <a:pPr indent="0" marL="0">
              <a:buNone/>
            </a:pPr>
            <a:r>
              <a:rPr lang="en-US" sz="2000" dirty="0">
                <a:solidFill>
                  <a:srgbClr val="F3F5F2"/>
                </a:solidFill>
                <a:latin typeface="Roboto Medium" pitchFamily="34" charset="0"/>
                <a:ea typeface="Roboto Medium" pitchFamily="34" charset="-122"/>
                <a:cs typeface="Roboto Medium" pitchFamily="34" charset="-120"/>
              </a:rPr>
              <a:t>Guard the reserve's edge and river</a:t>
            </a:r>
            <a:endParaRPr lang="en-US" sz="2000" dirty="0"/>
          </a:p>
        </p:txBody>
      </p:sp>
      <p:sp>
        <p:nvSpPr>
          <p:cNvPr id="22" name="Text 17"/>
          <p:cNvSpPr txBox="1"/>
          <p:nvPr/>
        </p:nvSpPr>
        <p:spPr>
          <a:xfrm>
            <a:off x="8055864" y="3611880"/>
            <a:ext cx="3474720" cy="731520"/>
          </a:xfrm>
          <a:prstGeom prst="rect">
            <a:avLst/>
          </a:prstGeom>
          <a:noFill/>
          <a:ln/>
        </p:spPr>
        <p:txBody>
          <a:bodyPr wrap="square" lIns="0" tIns="0" rIns="0" bIns="0" rtlCol="0" anchor="ctr"/>
          <a:lstStyle/>
          <a:p>
            <a:pPr indent="0" marL="0">
              <a:buNone/>
            </a:pPr>
            <a:r>
              <a:rPr lang="en-US" sz="4000" dirty="0">
                <a:solidFill>
                  <a:srgbClr val="B9C94F"/>
                </a:solidFill>
                <a:latin typeface="Roboto Light" pitchFamily="34" charset="0"/>
                <a:ea typeface="Roboto Light" pitchFamily="34" charset="-122"/>
                <a:cs typeface="Roboto Light" pitchFamily="34" charset="-120"/>
              </a:rPr>
              <a:t>91%</a:t>
            </a:r>
            <a:endParaRPr lang="en-US" sz="4000" dirty="0"/>
          </a:p>
        </p:txBody>
      </p:sp>
      <p:sp>
        <p:nvSpPr>
          <p:cNvPr id="23" name="Text 18"/>
          <p:cNvSpPr txBox="1"/>
          <p:nvPr/>
        </p:nvSpPr>
        <p:spPr>
          <a:xfrm>
            <a:off x="8055864" y="4434840"/>
            <a:ext cx="3291840" cy="1280160"/>
          </a:xfrm>
          <a:prstGeom prst="rect">
            <a:avLst/>
          </a:prstGeom>
          <a:noFill/>
          <a:ln/>
        </p:spPr>
        <p:txBody>
          <a:bodyPr wrap="square" lIns="0" tIns="0" rIns="0" bIns="0" rtlCol="0" anchor="t"/>
          <a:lstStyle/>
          <a:p>
            <a:pPr indent="0" marL="0">
              <a:buNone/>
            </a:pPr>
            <a:r>
              <a:rPr lang="en-US" sz="1500" dirty="0">
                <a:solidFill>
                  <a:srgbClr val="C3D0CF"/>
                </a:solidFill>
                <a:latin typeface="Roboto" pitchFamily="34" charset="0"/>
                <a:ea typeface="Roboto" pitchFamily="34" charset="-122"/>
                <a:cs typeface="Roboto" pitchFamily="34" charset="-120"/>
              </a:rPr>
              <a:t>of first-time mining inside the reserve along its buffer-zone border (2000–25) lies within 1 km of the edge.</a:t>
            </a:r>
            <a:endParaRPr lang="en-US" sz="15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C3D0CF"/>
                </a:solidFill>
                <a:latin typeface="Roboto"/>
                <a:ea typeface="Roboto"/>
                <a:cs typeface="Robo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02920" y="384048"/>
            <a:ext cx="1385316" cy="274320"/>
          </a:xfrm>
          <a:prstGeom prst="rect">
            <a:avLst/>
          </a:prstGeom>
          <a:noFill/>
          <a:ln/>
        </p:spPr>
        <p:txBody>
          <a:bodyPr wrap="square" lIns="0" tIns="0" rIns="0" bIns="0" rtlCol="0" anchor="ctr"/>
          <a:lstStyle/>
          <a:p>
            <a:pPr indent="0" marL="0">
              <a:buNone/>
            </a:pPr>
            <a:r>
              <a:rPr lang="en-US" sz="1200" spc="220" kern="0" dirty="0">
                <a:solidFill>
                  <a:srgbClr val="B9C94F"/>
                </a:solidFill>
                <a:latin typeface="Roboto Medium" pitchFamily="34" charset="0"/>
                <a:ea typeface="Roboto Medium" pitchFamily="34" charset="-122"/>
                <a:cs typeface="Roboto Medium" pitchFamily="34" charset="-120"/>
              </a:rPr>
              <a:t>THANK YOU</a:t>
            </a:r>
            <a:endParaRPr lang="en-US" sz="1200" dirty="0"/>
          </a:p>
        </p:txBody>
      </p:sp>
      <p:sp>
        <p:nvSpPr>
          <p:cNvPr id="3" name="Shape 1"/>
          <p:cNvSpPr/>
          <p:nvPr/>
        </p:nvSpPr>
        <p:spPr>
          <a:xfrm>
            <a:off x="1997964" y="521208"/>
            <a:ext cx="9690811" cy="0"/>
          </a:xfrm>
          <a:prstGeom prst="line">
            <a:avLst/>
          </a:prstGeom>
          <a:noFill/>
          <a:ln w="9525">
            <a:solidFill>
              <a:srgbClr val="B9C94F">
                <a:alpha val="70000"/>
              </a:srgbClr>
            </a:solidFill>
            <a:prstDash val="solid"/>
          </a:ln>
        </p:spPr>
      </p:sp>
      <p:sp>
        <p:nvSpPr>
          <p:cNvPr id="4" name="Text 2"/>
          <p:cNvSpPr txBox="1"/>
          <p:nvPr/>
        </p:nvSpPr>
        <p:spPr>
          <a:xfrm>
            <a:off x="502920" y="1097280"/>
            <a:ext cx="4937760" cy="2194560"/>
          </a:xfrm>
          <a:prstGeom prst="rect">
            <a:avLst/>
          </a:prstGeom>
          <a:noFill/>
          <a:ln/>
        </p:spPr>
        <p:txBody>
          <a:bodyPr wrap="square" lIns="0" tIns="0" rIns="0" bIns="0" rtlCol="0" anchor="t"/>
          <a:lstStyle/>
          <a:p>
            <a:pPr indent="0" marL="0">
              <a:buNone/>
            </a:pPr>
            <a:r>
              <a:rPr lang="en-US" sz="5400" dirty="0">
                <a:solidFill>
                  <a:srgbClr val="F3F5F2"/>
                </a:solidFill>
                <a:latin typeface="Roboto Light" pitchFamily="34" charset="0"/>
                <a:ea typeface="Roboto Light" pitchFamily="34" charset="-122"/>
                <a:cs typeface="Roboto Light" pitchFamily="34" charset="-120"/>
              </a:rPr>
              <a:t>Questions?</a:t>
            </a:r>
            <a:endParaRPr lang="en-US" sz="5400" dirty="0"/>
          </a:p>
          <a:p>
            <a:pPr indent="0" marL="0">
              <a:buNone/>
            </a:pPr>
            <a:r>
              <a:rPr lang="en-US" sz="2200" dirty="0">
                <a:solidFill>
                  <a:srgbClr val="B9C94F"/>
                </a:solidFill>
                <a:latin typeface="Roboto Light" pitchFamily="34" charset="0"/>
                <a:ea typeface="Roboto Light" pitchFamily="34" charset="-122"/>
                <a:cs typeface="Roboto Light" pitchFamily="34" charset="-120"/>
              </a:rPr>
              <a:t>Like the anteater: a pause, not an end.</a:t>
            </a:r>
            <a:endParaRPr lang="en-US" sz="5400" dirty="0"/>
          </a:p>
        </p:txBody>
      </p:sp>
      <p:pic>
        <p:nvPicPr>
          <p:cNvPr id="5" name="Image 0" descr="preencoded.png">    </p:cNvPr>
          <p:cNvPicPr>
            <a:picLocks noChangeAspect="1"/>
          </p:cNvPicPr>
          <p:nvPr/>
        </p:nvPicPr>
        <p:blipFill>
          <a:blip r:embed="rId1"/>
          <a:stretch>
            <a:fillRect/>
          </a:stretch>
        </p:blipFill>
        <p:spPr>
          <a:xfrm>
            <a:off x="502920" y="3566160"/>
            <a:ext cx="1188720" cy="1188720"/>
          </a:xfrm>
          <a:prstGeom prst="rect">
            <a:avLst/>
          </a:prstGeom>
        </p:spPr>
      </p:pic>
      <p:pic>
        <p:nvPicPr>
          <p:cNvPr id="6" name="Image 1" descr="map: La Pampa and the corridor across the road">    </p:cNvPr>
          <p:cNvPicPr>
            <a:picLocks noChangeAspect="1"/>
          </p:cNvPicPr>
          <p:nvPr/>
        </p:nvPicPr>
        <p:blipFill>
          <a:blip r:embed="rId2"/>
          <a:stretch>
            <a:fillRect/>
          </a:stretch>
        </p:blipFill>
        <p:spPr>
          <a:xfrm>
            <a:off x="5653735" y="1640205"/>
            <a:ext cx="6035040" cy="3394710"/>
          </a:xfrm>
          <a:prstGeom prst="rect">
            <a:avLst/>
          </a:prstGeom>
        </p:spPr>
      </p:pic>
      <p:sp>
        <p:nvSpPr>
          <p:cNvPr id="7" name="Text 3"/>
          <p:cNvSpPr txBox="1"/>
          <p:nvPr/>
        </p:nvSpPr>
        <p:spPr>
          <a:xfrm>
            <a:off x="502920" y="5029200"/>
            <a:ext cx="4937760" cy="457200"/>
          </a:xfrm>
          <a:prstGeom prst="rect">
            <a:avLst/>
          </a:prstGeom>
          <a:noFill/>
          <a:ln/>
        </p:spPr>
        <p:txBody>
          <a:bodyPr wrap="square" lIns="0" tIns="0" rIns="0" bIns="0" rtlCol="0" anchor="t"/>
          <a:lstStyle/>
          <a:p>
            <a:pPr indent="0" marL="0">
              <a:buNone/>
            </a:pPr>
            <a:r>
              <a:rPr lang="en-US" sz="1200" dirty="0">
                <a:solidFill>
                  <a:srgbClr val="C3D0CF"/>
                </a:solidFill>
                <a:latin typeface="Roboto" pitchFamily="34" charset="0"/>
                <a:ea typeface="Roboto" pitchFamily="34" charset="-122"/>
                <a:cs typeface="Roboto" pitchFamily="34" charset="-120"/>
              </a:rPr>
              <a:t>Group Giant Anteater · Ruby Ann Grambauer, Sebastian Schmid, Laurens van der Lely, Omkar Mate, Dhruv Chaudhari</a:t>
            </a:r>
            <a:endParaRPr lang="en-US" sz="12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C3D0CF"/>
                </a:solidFill>
                <a:latin typeface="Roboto"/>
                <a:ea typeface="Roboto"/>
                <a:cs typeface="Robot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02920" y="384048"/>
            <a:ext cx="1014984" cy="274320"/>
          </a:xfrm>
          <a:prstGeom prst="rect">
            <a:avLst/>
          </a:prstGeom>
          <a:noFill/>
          <a:ln/>
        </p:spPr>
        <p:txBody>
          <a:bodyPr wrap="square" lIns="0" tIns="0" rIns="0" bIns="0" rtlCol="0" anchor="ctr"/>
          <a:lstStyle/>
          <a:p>
            <a:pPr indent="0" marL="0">
              <a:buNone/>
            </a:pPr>
            <a:r>
              <a:rPr lang="en-US" sz="1200" spc="220" kern="0" dirty="0">
                <a:solidFill>
                  <a:srgbClr val="B9C94F"/>
                </a:solidFill>
                <a:latin typeface="Roboto Medium" pitchFamily="34" charset="0"/>
                <a:ea typeface="Roboto Medium" pitchFamily="34" charset="-122"/>
                <a:cs typeface="Roboto Medium" pitchFamily="34" charset="-120"/>
              </a:rPr>
              <a:t>BACKUP</a:t>
            </a:r>
            <a:endParaRPr lang="en-US" sz="1200" dirty="0"/>
          </a:p>
        </p:txBody>
      </p:sp>
      <p:sp>
        <p:nvSpPr>
          <p:cNvPr id="3" name="Shape 1"/>
          <p:cNvSpPr/>
          <p:nvPr/>
        </p:nvSpPr>
        <p:spPr>
          <a:xfrm>
            <a:off x="1627632" y="521208"/>
            <a:ext cx="10061143" cy="0"/>
          </a:xfrm>
          <a:prstGeom prst="line">
            <a:avLst/>
          </a:prstGeom>
          <a:noFill/>
          <a:ln w="9525">
            <a:solidFill>
              <a:srgbClr val="B9C94F">
                <a:alpha val="70000"/>
              </a:srgbClr>
            </a:solidFill>
            <a:prstDash val="solid"/>
          </a:ln>
        </p:spPr>
      </p:sp>
      <p:sp>
        <p:nvSpPr>
          <p:cNvPr id="4"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F3F5F2"/>
                </a:solidFill>
                <a:latin typeface="Roboto Light" pitchFamily="34" charset="0"/>
                <a:ea typeface="Roboto Light" pitchFamily="34" charset="-122"/>
                <a:cs typeface="Roboto Light" pitchFamily="34" charset="-120"/>
              </a:rPr>
              <a:t>For questions</a:t>
            </a:r>
            <a:endParaRPr lang="en-US" sz="2800" dirty="0"/>
          </a:p>
        </p:txBody>
      </p:sp>
      <p:sp>
        <p:nvSpPr>
          <p:cNvPr id="5"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C3D0CF"/>
                </a:solidFill>
                <a:latin typeface="Roboto" pitchFamily="34" charset="0"/>
                <a:ea typeface="Roboto" pitchFamily="34" charset="-122"/>
                <a:cs typeface="Roboto" pitchFamily="34" charset="-120"/>
              </a:rPr>
              <a:t>Six methods · one causal range · stopped land · road and cells · legality · declared gold · money · risk map · twins · Brazil · map video · one measure · definitions</a:t>
            </a:r>
            <a:endParaRPr lang="en-US" sz="125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C3D0CF"/>
                </a:solidFill>
                <a:latin typeface="Roboto"/>
                <a:ea typeface="Roboto"/>
                <a:cs typeface="Robot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02920" y="384048"/>
            <a:ext cx="2743200" cy="274320"/>
          </a:xfrm>
          <a:prstGeom prst="rect">
            <a:avLst/>
          </a:prstGeom>
          <a:noFill/>
          <a:ln/>
        </p:spPr>
        <p:txBody>
          <a:bodyPr wrap="square" lIns="0" tIns="0" rIns="0" bIns="0" rtlCol="0" anchor="ctr"/>
          <a:lstStyle/>
          <a:p>
            <a:pPr indent="0" marL="0">
              <a:buNone/>
            </a:pPr>
            <a:r>
              <a:rPr lang="en-US" sz="1200" spc="220" kern="0" dirty="0">
                <a:solidFill>
                  <a:srgbClr val="3C7D2C"/>
                </a:solidFill>
                <a:latin typeface="Roboto Medium" pitchFamily="34" charset="0"/>
                <a:ea typeface="Roboto Medium" pitchFamily="34" charset="-122"/>
                <a:cs typeface="Roboto Medium" pitchFamily="34" charset="-120"/>
              </a:rPr>
              <a:t>BACKUP · SIX METHODS</a:t>
            </a:r>
            <a:endParaRPr lang="en-US" sz="1200" dirty="0"/>
          </a:p>
        </p:txBody>
      </p:sp>
      <p:sp>
        <p:nvSpPr>
          <p:cNvPr id="3" name="Shape 1"/>
          <p:cNvSpPr/>
          <p:nvPr/>
        </p:nvSpPr>
        <p:spPr>
          <a:xfrm>
            <a:off x="3355848" y="521208"/>
            <a:ext cx="5955487" cy="0"/>
          </a:xfrm>
          <a:prstGeom prst="line">
            <a:avLst/>
          </a:prstGeom>
          <a:noFill/>
          <a:ln w="9525">
            <a:solidFill>
              <a:srgbClr val="3C7D2C">
                <a:alpha val="55000"/>
              </a:srgbClr>
            </a:solidFill>
            <a:prstDash val="solid"/>
          </a:ln>
        </p:spPr>
      </p:sp>
      <p:sp>
        <p:nvSpPr>
          <p:cNvPr id="4" name="claim-C"/>
          <p:cNvSpPr/>
          <p:nvPr/>
        </p:nvSpPr>
        <p:spPr>
          <a:xfrm>
            <a:off x="9539935" y="347472"/>
            <a:ext cx="2148840" cy="310896"/>
          </a:xfrm>
          <a:prstGeom prst="roundRect">
            <a:avLst>
              <a:gd name="adj" fmla="val 50000"/>
            </a:avLst>
          </a:prstGeom>
          <a:solidFill>
            <a:srgbClr val="F3E3E9"/>
          </a:solidFill>
          <a:ln w="12700">
            <a:solidFill>
              <a:srgbClr val="A42C58"/>
            </a:solidFill>
          </a:ln>
        </p:spPr>
        <p:txBody>
          <a:bodyPr wrap="square" lIns="0" tIns="0" rIns="0" bIns="0" rtlCol="0" anchor="ctr"/>
          <a:lstStyle/>
          <a:p>
            <a:pPr algn="ctr" indent="0" marL="0">
              <a:buNone/>
            </a:pPr>
            <a:r>
              <a:rPr lang="en-US" sz="1050" spc="150" kern="0" dirty="0">
                <a:solidFill>
                  <a:srgbClr val="A42C58"/>
                </a:solidFill>
                <a:latin typeface="Roboto Medium" pitchFamily="34" charset="0"/>
                <a:ea typeface="Roboto Medium" pitchFamily="34" charset="-122"/>
                <a:cs typeface="Roboto Medium" pitchFamily="34" charset="-120"/>
              </a:rPr>
              <a:t>CAUSAL · CONDITIONAL</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Six methods in detail</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mining additions, Tambopata buffer zone, 2019–21 vs before, ha/yr unless stated · all conditional on the comparison</a:t>
            </a:r>
            <a:endParaRPr lang="en-US" sz="12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11185855" cy="914400"/>
        </p:xfrm>
        <a:graphic>
          <a:graphicData uri="http://schemas.openxmlformats.org/drawingml/2006/table">
            <a:tbl>
              <a:tblPr/>
              <a:tblGrid>
                <a:gridCol w="5120640"/>
                <a:gridCol w="4416552"/>
                <a:gridCol w="1645920"/>
              </a:tblGrid>
              <a:tr h="365760">
                <a:tc>
                  <a:txBody>
                    <a:bodyPr/>
                    <a:lstStyle/>
                    <a:p>
                      <a:pPr indent="0" marL="0">
                        <a:buNone/>
                      </a:pPr>
                      <a:r>
                        <a:rPr lang="en-US" sz="1050" spc="150" kern="0" dirty="0">
                          <a:solidFill>
                            <a:srgbClr val="4A5B60"/>
                          </a:solidFill>
                          <a:latin typeface="Roboto Medium" pitchFamily="34" charset="0"/>
                          <a:ea typeface="Roboto Medium" pitchFamily="34" charset="-122"/>
                          <a:cs typeface="Roboto Medium" pitchFamily="34" charset="-120"/>
                        </a:rPr>
                        <a:t>METHOD: WHAT IT DOES</a:t>
                      </a:r>
                      <a:endParaRPr lang="en-US" sz="1050" dirty="0">
                        <a:latin typeface="Roboto Medium" charset="0"/>
                        <a:ea typeface="Roboto Medium" charset="0"/>
                        <a:cs typeface="Roboto Medium"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E9E4DC"/>
                    </a:solidFill>
                  </a:tcPr>
                </a:tc>
                <a:tc>
                  <a:txBody>
                    <a:bodyPr/>
                    <a:lstStyle/>
                    <a:p>
                      <a:pPr indent="0" marL="0">
                        <a:buNone/>
                      </a:pPr>
                      <a:r>
                        <a:rPr lang="en-US" sz="1050" spc="150" kern="0" dirty="0">
                          <a:solidFill>
                            <a:srgbClr val="4A5B60"/>
                          </a:solidFill>
                          <a:latin typeface="Roboto Medium" pitchFamily="34" charset="0"/>
                          <a:ea typeface="Roboto Medium" pitchFamily="34" charset="-122"/>
                          <a:cs typeface="Roboto Medium" pitchFamily="34" charset="-120"/>
                        </a:rPr>
                        <a:t>RESULT</a:t>
                      </a:r>
                      <a:endParaRPr lang="en-US" sz="1050" dirty="0">
                        <a:latin typeface="Roboto Medium" charset="0"/>
                        <a:ea typeface="Roboto Medium" charset="0"/>
                        <a:cs typeface="Roboto Medium"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E9E4DC"/>
                    </a:solidFill>
                  </a:tcPr>
                </a:tc>
                <a:tc>
                  <a:txBody>
                    <a:bodyPr/>
                    <a:lstStyle/>
                    <a:p>
                      <a:pPr indent="0" marL="0">
                        <a:buNone/>
                      </a:pPr>
                      <a:r>
                        <a:rPr lang="en-US" sz="1050" spc="150" kern="0" dirty="0">
                          <a:solidFill>
                            <a:srgbClr val="4A5B60"/>
                          </a:solidFill>
                          <a:latin typeface="Roboto Medium" pitchFamily="34" charset="0"/>
                          <a:ea typeface="Roboto Medium" pitchFamily="34" charset="-122"/>
                          <a:cs typeface="Roboto Medium" pitchFamily="34" charset="-120"/>
                        </a:rPr>
                        <a:t>VERDICT</a:t>
                      </a:r>
                      <a:endParaRPr lang="en-US" sz="1050" dirty="0">
                        <a:latin typeface="Roboto Medium" charset="0"/>
                        <a:ea typeface="Roboto Medium" charset="0"/>
                        <a:cs typeface="Roboto Medium"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E9E4DC"/>
                    </a:solidFill>
                  </a:tcPr>
                </a:tc>
              </a:tr>
              <a:tr h="676656">
                <a:tc>
                  <a:txBody>
                    <a:bodyPr/>
                    <a:lstStyle/>
                    <a:p>
                      <a:pPr indent="0" marL="0">
                        <a:buNone/>
                      </a:pPr>
                      <a:r>
                        <a:rPr lang="en-US" sz="1350" dirty="0">
                          <a:solidFill>
                            <a:srgbClr val="22383F"/>
                          </a:solidFill>
                          <a:latin typeface="Roboto" pitchFamily="34" charset="0"/>
                          <a:ea typeface="Roboto" pitchFamily="34" charset="-122"/>
                          <a:cs typeface="Roboto" pitchFamily="34" charset="-120"/>
                        </a:rPr>
                        <a:t>1  Difference-in-differences: Tambopata's change minus the comparison zones' change</a:t>
                      </a:r>
                      <a:endParaRPr lang="en-US" sz="135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50" dirty="0">
                          <a:solidFill>
                            <a:srgbClr val="22383F"/>
                          </a:solidFill>
                          <a:latin typeface="Roboto" pitchFamily="34" charset="0"/>
                          <a:ea typeface="Roboto" pitchFamily="34" charset="-122"/>
                          <a:cs typeface="Roboto" pitchFamily="34" charset="-120"/>
                        </a:rPr>
                        <a:t>−1,453 (vs 14 zones) to −1,663 (vs Amarakaeri), 2014–18 base; size rank 3rd–6th of 7</a:t>
                      </a:r>
                      <a:endParaRPr lang="en-US" sz="135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50" dirty="0">
                          <a:solidFill>
                            <a:srgbClr val="3C7D2C"/>
                          </a:solidFill>
                          <a:latin typeface="Roboto Medium" pitchFamily="34" charset="0"/>
                          <a:ea typeface="Roboto Medium" pitchFamily="34" charset="-122"/>
                          <a:cs typeface="Roboto Medium" pitchFamily="34" charset="-120"/>
                        </a:rPr>
                        <a:t>Holds up in ha</a:t>
                      </a:r>
                      <a:endParaRPr lang="en-US" sz="1350" dirty="0">
                        <a:latin typeface="Roboto Medium" charset="0"/>
                        <a:ea typeface="Roboto Medium" charset="0"/>
                        <a:cs typeface="Roboto Medium"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r h="676656">
                <a:tc>
                  <a:txBody>
                    <a:bodyPr/>
                    <a:lstStyle/>
                    <a:p>
                      <a:pPr indent="0" marL="0">
                        <a:buNone/>
                      </a:pPr>
                      <a:r>
                        <a:rPr lang="en-US" sz="1350" dirty="0">
                          <a:solidFill>
                            <a:srgbClr val="22383F"/>
                          </a:solidFill>
                          <a:latin typeface="Roboto" pitchFamily="34" charset="0"/>
                          <a:ea typeface="Roboto" pitchFamily="34" charset="-122"/>
                          <a:cs typeface="Roboto" pitchFamily="34" charset="-120"/>
                        </a:rPr>
                        <a:t>2  Synthetic control: a weighted mix of zones that tracks Tambopata before 2019</a:t>
                      </a:r>
                      <a:endParaRPr lang="en-US" sz="135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50" dirty="0">
                          <a:solidFill>
                            <a:srgbClr val="22383F"/>
                          </a:solidFill>
                          <a:latin typeface="Roboto" pitchFamily="34" charset="0"/>
                          <a:ea typeface="Roboto" pitchFamily="34" charset="-122"/>
                          <a:cs typeface="Roboto" pitchFamily="34" charset="-120"/>
                        </a:rPr>
                        <a:t>−411; all weight on Amarakaeri, no pre-2019 fit</a:t>
                      </a:r>
                      <a:endParaRPr lang="en-US" sz="135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50" dirty="0">
                          <a:solidFill>
                            <a:srgbClr val="8A5F00"/>
                          </a:solidFill>
                          <a:latin typeface="Roboto Medium" pitchFamily="34" charset="0"/>
                          <a:ea typeface="Roboto Medium" pitchFamily="34" charset="-122"/>
                          <a:cs typeface="Roboto Medium" pitchFamily="34" charset="-120"/>
                        </a:rPr>
                        <a:t>No good copy</a:t>
                      </a:r>
                      <a:endParaRPr lang="en-US" sz="1350" dirty="0">
                        <a:latin typeface="Roboto Medium" charset="0"/>
                        <a:ea typeface="Roboto Medium" charset="0"/>
                        <a:cs typeface="Roboto Medium"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r h="676656">
                <a:tc>
                  <a:txBody>
                    <a:bodyPr/>
                    <a:lstStyle/>
                    <a:p>
                      <a:pPr indent="0" marL="0">
                        <a:buNone/>
                      </a:pPr>
                      <a:r>
                        <a:rPr lang="en-US" sz="1350" dirty="0">
                          <a:solidFill>
                            <a:srgbClr val="22383F"/>
                          </a:solidFill>
                          <a:latin typeface="Roboto" pitchFamily="34" charset="0"/>
                          <a:ea typeface="Roboto" pitchFamily="34" charset="-122"/>
                          <a:cs typeface="Roboto" pitchFamily="34" charset="-120"/>
                        </a:rPr>
                        <a:t>3  Rule-based twins: Brazilian areas picked by Ruby's four rules</a:t>
                      </a:r>
                      <a:endParaRPr lang="en-US" sz="135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50" dirty="0">
                          <a:solidFill>
                            <a:srgbClr val="22383F"/>
                          </a:solidFill>
                          <a:latin typeface="Roboto" pitchFamily="34" charset="0"/>
                          <a:ea typeface="Roboto" pitchFamily="34" charset="-122"/>
                          <a:cs typeface="Roboto" pitchFamily="34" charset="-120"/>
                        </a:rPr>
                        <a:t>Tambopata at 16%–41% of their pace (Amazon Mining Watch, another product)</a:t>
                      </a:r>
                      <a:endParaRPr lang="en-US" sz="135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50" dirty="0">
                          <a:solidFill>
                            <a:srgbClr val="8A5F00"/>
                          </a:solidFill>
                          <a:latin typeface="Roboto Medium" pitchFamily="34" charset="0"/>
                          <a:ea typeface="Roboto Medium" pitchFamily="34" charset="-122"/>
                          <a:cs typeface="Roboto Medium" pitchFamily="34" charset="-120"/>
                        </a:rPr>
                        <a:t>Different trends</a:t>
                      </a:r>
                      <a:endParaRPr lang="en-US" sz="1350" dirty="0">
                        <a:latin typeface="Roboto Medium" charset="0"/>
                        <a:ea typeface="Roboto Medium" charset="0"/>
                        <a:cs typeface="Roboto Medium"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r h="676656">
                <a:tc>
                  <a:txBody>
                    <a:bodyPr/>
                    <a:lstStyle/>
                    <a:p>
                      <a:pPr indent="0" marL="0">
                        <a:buNone/>
                      </a:pPr>
                      <a:r>
                        <a:rPr lang="en-US" sz="1350" dirty="0">
                          <a:solidFill>
                            <a:srgbClr val="22383F"/>
                          </a:solidFill>
                          <a:latin typeface="Roboto" pitchFamily="34" charset="0"/>
                          <a:ea typeface="Roboto" pitchFamily="34" charset="-122"/>
                          <a:cs typeface="Roboto" pitchFamily="34" charset="-120"/>
                        </a:rPr>
                        <a:t>4  Spatial discontinuity: land just north vs just south of the road</a:t>
                      </a:r>
                      <a:endParaRPr lang="en-US" sz="135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50" dirty="0">
                          <a:solidFill>
                            <a:srgbClr val="22383F"/>
                          </a:solidFill>
                          <a:latin typeface="Roboto" pitchFamily="34" charset="0"/>
                          <a:ea typeface="Roboto" pitchFamily="34" charset="-122"/>
                          <a:cs typeface="Roboto" pitchFamily="34" charset="-120"/>
                        </a:rPr>
                        <a:t>+2.2 pts of land/yr (p = 0.25)</a:t>
                      </a:r>
                      <a:endParaRPr lang="en-US" sz="135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50" dirty="0">
                          <a:solidFill>
                            <a:srgbClr val="8A5F00"/>
                          </a:solidFill>
                          <a:latin typeface="Roboto Medium" pitchFamily="34" charset="0"/>
                          <a:ea typeface="Roboto Medium" pitchFamily="34" charset="-122"/>
                          <a:cs typeface="Roboto Medium" pitchFamily="34" charset="-120"/>
                        </a:rPr>
                        <a:t>Too noisy</a:t>
                      </a:r>
                      <a:endParaRPr lang="en-US" sz="1350" dirty="0">
                        <a:latin typeface="Roboto Medium" charset="0"/>
                        <a:ea typeface="Roboto Medium" charset="0"/>
                        <a:cs typeface="Roboto Medium"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r h="676656">
                <a:tc>
                  <a:txBody>
                    <a:bodyPr/>
                    <a:lstStyle/>
                    <a:p>
                      <a:pPr indent="0" marL="0">
                        <a:buNone/>
                      </a:pPr>
                      <a:r>
                        <a:rPr lang="en-US" sz="1350" dirty="0">
                          <a:solidFill>
                            <a:srgbClr val="22383F"/>
                          </a:solidFill>
                          <a:latin typeface="Roboto" pitchFamily="34" charset="0"/>
                          <a:ea typeface="Roboto" pitchFamily="34" charset="-122"/>
                          <a:cs typeface="Roboto" pitchFamily="34" charset="-120"/>
                        </a:rPr>
                        <a:t>5  Matching, 5 ways: look-alike areas picked by algorithm</a:t>
                      </a:r>
                      <a:endParaRPr lang="en-US" sz="135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50" dirty="0">
                          <a:solidFill>
                            <a:srgbClr val="22383F"/>
                          </a:solidFill>
                          <a:latin typeface="Roboto" pitchFamily="34" charset="0"/>
                          <a:ea typeface="Roboto" pitchFamily="34" charset="-122"/>
                          <a:cs typeface="Roboto" pitchFamily="34" charset="-120"/>
                        </a:rPr>
                        <a:t>All slower; fake-test p 0.15–0.60; no common support</a:t>
                      </a:r>
                      <a:endParaRPr lang="en-US" sz="135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50" dirty="0">
                          <a:solidFill>
                            <a:srgbClr val="6C7B80"/>
                          </a:solidFill>
                          <a:latin typeface="Roboto Medium" pitchFamily="34" charset="0"/>
                          <a:ea typeface="Roboto Medium" pitchFamily="34" charset="-122"/>
                          <a:cs typeface="Roboto Medium" pitchFamily="34" charset="-120"/>
                        </a:rPr>
                        <a:t>Can't decide</a:t>
                      </a:r>
                      <a:endParaRPr lang="en-US" sz="1350" dirty="0">
                        <a:latin typeface="Roboto Medium" charset="0"/>
                        <a:ea typeface="Roboto Medium" charset="0"/>
                        <a:cs typeface="Roboto Medium"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r h="676656">
                <a:tc>
                  <a:txBody>
                    <a:bodyPr/>
                    <a:lstStyle/>
                    <a:p>
                      <a:pPr indent="0" marL="0">
                        <a:buNone/>
                      </a:pPr>
                      <a:r>
                        <a:rPr lang="en-US" sz="1350" dirty="0">
                          <a:solidFill>
                            <a:srgbClr val="22383F"/>
                          </a:solidFill>
                          <a:latin typeface="Roboto" pitchFamily="34" charset="0"/>
                          <a:ea typeface="Roboto" pitchFamily="34" charset="-122"/>
                          <a:cs typeface="Roboto" pitchFamily="34" charset="-120"/>
                        </a:rPr>
                        <a:t>6  Synthetic DiD: zones and years weighted to match Tambopata's past</a:t>
                      </a:r>
                      <a:endParaRPr lang="en-US" sz="135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50" dirty="0">
                          <a:solidFill>
                            <a:srgbClr val="22383F"/>
                          </a:solidFill>
                          <a:latin typeface="Roboto" pitchFamily="34" charset="0"/>
                          <a:ea typeface="Roboto" pitchFamily="34" charset="-122"/>
                          <a:cs typeface="Roboto" pitchFamily="34" charset="-120"/>
                        </a:rPr>
                        <a:t>−1,544; size rank 3 of 7</a:t>
                      </a:r>
                      <a:endParaRPr lang="en-US" sz="135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50" dirty="0">
                          <a:solidFill>
                            <a:srgbClr val="3C7D2C"/>
                          </a:solidFill>
                          <a:latin typeface="Roboto Medium" pitchFamily="34" charset="0"/>
                          <a:ea typeface="Roboto Medium" pitchFamily="34" charset="-122"/>
                          <a:cs typeface="Roboto Medium" pitchFamily="34" charset="-120"/>
                        </a:rPr>
                        <a:t>Holds up in ha</a:t>
                      </a:r>
                      <a:endParaRPr lang="en-US" sz="1350" dirty="0">
                        <a:latin typeface="Roboto Medium" charset="0"/>
                        <a:ea typeface="Roboto Medium" charset="0"/>
                        <a:cs typeface="Roboto Medium"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bl>
          </a:graphicData>
        </a:graphic>
      </p:graphicFrame>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02920" y="384048"/>
            <a:ext cx="3360420" cy="274320"/>
          </a:xfrm>
          <a:prstGeom prst="rect">
            <a:avLst/>
          </a:prstGeom>
          <a:noFill/>
          <a:ln/>
        </p:spPr>
        <p:txBody>
          <a:bodyPr wrap="square" lIns="0" tIns="0" rIns="0" bIns="0" rtlCol="0" anchor="ctr"/>
          <a:lstStyle/>
          <a:p>
            <a:pPr indent="0" marL="0">
              <a:buNone/>
            </a:pPr>
            <a:r>
              <a:rPr lang="en-US" sz="1200" spc="220" kern="0" dirty="0">
                <a:solidFill>
                  <a:srgbClr val="3C7D2C"/>
                </a:solidFill>
                <a:latin typeface="Roboto Medium" pitchFamily="34" charset="0"/>
                <a:ea typeface="Roboto Medium" pitchFamily="34" charset="-122"/>
                <a:cs typeface="Roboto Medium" pitchFamily="34" charset="-120"/>
              </a:rPr>
              <a:t>BACKUP · ONE CAUSAL RANGE</a:t>
            </a:r>
            <a:endParaRPr lang="en-US" sz="1200" dirty="0"/>
          </a:p>
        </p:txBody>
      </p:sp>
      <p:sp>
        <p:nvSpPr>
          <p:cNvPr id="3" name="Shape 1"/>
          <p:cNvSpPr/>
          <p:nvPr/>
        </p:nvSpPr>
        <p:spPr>
          <a:xfrm>
            <a:off x="3973068" y="521208"/>
            <a:ext cx="5338267" cy="0"/>
          </a:xfrm>
          <a:prstGeom prst="line">
            <a:avLst/>
          </a:prstGeom>
          <a:noFill/>
          <a:ln w="9525">
            <a:solidFill>
              <a:srgbClr val="3C7D2C">
                <a:alpha val="55000"/>
              </a:srgbClr>
            </a:solidFill>
            <a:prstDash val="solid"/>
          </a:ln>
        </p:spPr>
      </p:sp>
      <p:sp>
        <p:nvSpPr>
          <p:cNvPr id="4" name="claim-C"/>
          <p:cNvSpPr/>
          <p:nvPr/>
        </p:nvSpPr>
        <p:spPr>
          <a:xfrm>
            <a:off x="9539935" y="347472"/>
            <a:ext cx="2148840" cy="310896"/>
          </a:xfrm>
          <a:prstGeom prst="roundRect">
            <a:avLst>
              <a:gd name="adj" fmla="val 50000"/>
            </a:avLst>
          </a:prstGeom>
          <a:solidFill>
            <a:srgbClr val="F3E3E9"/>
          </a:solidFill>
          <a:ln w="12700">
            <a:solidFill>
              <a:srgbClr val="A42C58"/>
            </a:solidFill>
          </a:ln>
        </p:spPr>
        <p:txBody>
          <a:bodyPr wrap="square" lIns="0" tIns="0" rIns="0" bIns="0" rtlCol="0" anchor="ctr"/>
          <a:lstStyle/>
          <a:p>
            <a:pPr algn="ctr" indent="0" marL="0">
              <a:buNone/>
            </a:pPr>
            <a:r>
              <a:rPr lang="en-US" sz="1050" spc="150" kern="0" dirty="0">
                <a:solidFill>
                  <a:srgbClr val="A42C58"/>
                </a:solidFill>
                <a:latin typeface="Roboto Medium" pitchFamily="34" charset="0"/>
                <a:ea typeface="Roboto Medium" pitchFamily="34" charset="-122"/>
                <a:cs typeface="Roboto Medium" pitchFamily="34" charset="-120"/>
              </a:rPr>
              <a:t>CAUSAL · CONDITIONAL</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One causal range: 1,453–1,663 ha a year</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Estimated change in net mining additions, ha/yr · Tambopata buffer zone · 2019–21 · causal only if the comparison zones show what Tambopata would have done; an upper bound; part of it is pits stopping</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slide_b0_estimates.png">    </p:cNvPr>
          <p:cNvPicPr>
            <a:picLocks noChangeAspect="1"/>
          </p:cNvPicPr>
          <p:nvPr/>
        </p:nvPicPr>
        <p:blipFill>
          <a:blip r:embed="rId1"/>
          <a:stretch>
            <a:fillRect/>
          </a:stretch>
        </p:blipFill>
        <p:spPr>
          <a:xfrm>
            <a:off x="573786" y="1783080"/>
            <a:ext cx="11044123" cy="452628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02920" y="384048"/>
            <a:ext cx="2866644" cy="274320"/>
          </a:xfrm>
          <a:prstGeom prst="rect">
            <a:avLst/>
          </a:prstGeom>
          <a:noFill/>
          <a:ln/>
        </p:spPr>
        <p:txBody>
          <a:bodyPr wrap="square" lIns="0" tIns="0" rIns="0" bIns="0" rtlCol="0" anchor="ctr"/>
          <a:lstStyle/>
          <a:p>
            <a:pPr indent="0" marL="0">
              <a:buNone/>
            </a:pPr>
            <a:r>
              <a:rPr lang="en-US" sz="1200" spc="220" kern="0" dirty="0">
                <a:solidFill>
                  <a:srgbClr val="3C7D2C"/>
                </a:solidFill>
                <a:latin typeface="Roboto Medium" pitchFamily="34" charset="0"/>
                <a:ea typeface="Roboto Medium" pitchFamily="34" charset="-122"/>
                <a:cs typeface="Roboto Medium" pitchFamily="34" charset="-120"/>
              </a:rPr>
              <a:t>BACKUP · STOPPED LAND</a:t>
            </a:r>
            <a:endParaRPr lang="en-US" sz="1200" dirty="0"/>
          </a:p>
        </p:txBody>
      </p:sp>
      <p:sp>
        <p:nvSpPr>
          <p:cNvPr id="3" name="Shape 1"/>
          <p:cNvSpPr/>
          <p:nvPr/>
        </p:nvSpPr>
        <p:spPr>
          <a:xfrm>
            <a:off x="3479292" y="521208"/>
            <a:ext cx="5832043"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Stopped land: often water, often mined again within 2 years</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Stopped land (left the mining class), share by what it became and share mining again within 2 years, period means · four zones · 2016–18, 2019–21, 2022–25 (small numbers under the bars: stopped ha/yr). Numbers on top: share mining again within 2 years.</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slide_b1_stopped_split.png">    </p:cNvPr>
          <p:cNvPicPr>
            <a:picLocks noChangeAspect="1"/>
          </p:cNvPicPr>
          <p:nvPr/>
        </p:nvPicPr>
        <p:blipFill>
          <a:blip r:embed="rId1"/>
          <a:stretch>
            <a:fillRect/>
          </a:stretch>
        </p:blipFill>
        <p:spPr>
          <a:xfrm>
            <a:off x="573786" y="1783080"/>
            <a:ext cx="11044123" cy="452628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02920" y="384048"/>
            <a:ext cx="3113532" cy="274320"/>
          </a:xfrm>
          <a:prstGeom prst="rect">
            <a:avLst/>
          </a:prstGeom>
          <a:noFill/>
          <a:ln/>
        </p:spPr>
        <p:txBody>
          <a:bodyPr wrap="square" lIns="0" tIns="0" rIns="0" bIns="0" rtlCol="0" anchor="ctr"/>
          <a:lstStyle/>
          <a:p>
            <a:pPr indent="0" marL="0">
              <a:buNone/>
            </a:pPr>
            <a:r>
              <a:rPr lang="en-US" sz="1200" spc="220" kern="0" dirty="0">
                <a:solidFill>
                  <a:srgbClr val="3C7D2C"/>
                </a:solidFill>
                <a:latin typeface="Roboto Medium" pitchFamily="34" charset="0"/>
                <a:ea typeface="Roboto Medium" pitchFamily="34" charset="-122"/>
                <a:cs typeface="Roboto Medium" pitchFamily="34" charset="-120"/>
              </a:rPr>
              <a:t>BACKUP · ROAD AND CELLS</a:t>
            </a:r>
            <a:endParaRPr lang="en-US" sz="1200" dirty="0"/>
          </a:p>
        </p:txBody>
      </p:sp>
      <p:sp>
        <p:nvSpPr>
          <p:cNvPr id="3" name="Shape 1"/>
          <p:cNvSpPr/>
          <p:nvPr/>
        </p:nvSpPr>
        <p:spPr>
          <a:xfrm>
            <a:off x="3726180" y="521208"/>
            <a:ext cx="5585155"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Road and 1-km cell designs: too noisy to tell</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mining additions · La Pampa longitudes · 2019–21 vs 2014–18 · finer-grained designs, described in one line each</a:t>
            </a:r>
            <a:endParaRPr lang="en-US" sz="1250" dirty="0"/>
          </a:p>
        </p:txBody>
      </p:sp>
      <p:sp>
        <p:nvSpPr>
          <p:cNvPr id="7" name="Text 5"/>
          <p:cNvSpPr txBox="1"/>
          <p:nvPr/>
        </p:nvSpPr>
        <p:spPr>
          <a:xfrm>
            <a:off x="502920" y="1737360"/>
            <a:ext cx="3474720" cy="256032"/>
          </a:xfrm>
          <a:prstGeom prst="rect">
            <a:avLst/>
          </a:prstGeom>
          <a:noFill/>
          <a:ln/>
        </p:spPr>
        <p:txBody>
          <a:bodyPr wrap="square" lIns="0" tIns="0" rIns="0" bIns="0" rtlCol="0" anchor="ctr"/>
          <a:lstStyle/>
          <a:p>
            <a:pPr indent="0" marL="0">
              <a:buNone/>
            </a:pPr>
            <a:r>
              <a:rPr lang="en-US" sz="1100" spc="200" kern="0" dirty="0">
                <a:solidFill>
                  <a:srgbClr val="4A5B60"/>
                </a:solidFill>
                <a:latin typeface="Roboto Medium" pitchFamily="34" charset="0"/>
                <a:ea typeface="Roboto Medium" pitchFamily="34" charset="-122"/>
                <a:cs typeface="Roboto Medium" pitchFamily="34" charset="-120"/>
              </a:rPr>
              <a:t>EITHER SIDE OF THE ROAD</a:t>
            </a:r>
            <a:endParaRPr lang="en-US" sz="1100" dirty="0"/>
          </a:p>
        </p:txBody>
      </p:sp>
      <p:sp>
        <p:nvSpPr>
          <p:cNvPr id="8" name="Text 6"/>
          <p:cNvSpPr txBox="1"/>
          <p:nvPr/>
        </p:nvSpPr>
        <p:spPr>
          <a:xfrm>
            <a:off x="502920" y="2103120"/>
            <a:ext cx="3474720" cy="731520"/>
          </a:xfrm>
          <a:prstGeom prst="rect">
            <a:avLst/>
          </a:prstGeom>
          <a:noFill/>
          <a:ln/>
        </p:spPr>
        <p:txBody>
          <a:bodyPr wrap="square" lIns="0" tIns="0" rIns="0" bIns="0" rtlCol="0" anchor="ctr"/>
          <a:lstStyle/>
          <a:p>
            <a:pPr indent="0" marL="0">
              <a:buNone/>
            </a:pPr>
            <a:r>
              <a:rPr lang="en-US" sz="3600" dirty="0">
                <a:solidFill>
                  <a:srgbClr val="22383F"/>
                </a:solidFill>
                <a:latin typeface="Roboto Light" pitchFamily="34" charset="0"/>
                <a:ea typeface="Roboto Light" pitchFamily="34" charset="-122"/>
                <a:cs typeface="Roboto Light" pitchFamily="34" charset="-120"/>
              </a:rPr>
              <a:t>+2.2 pts</a:t>
            </a:r>
            <a:endParaRPr lang="en-US" sz="3600" dirty="0"/>
          </a:p>
        </p:txBody>
      </p:sp>
      <p:sp>
        <p:nvSpPr>
          <p:cNvPr id="9" name="Text 7"/>
          <p:cNvSpPr txBox="1"/>
          <p:nvPr/>
        </p:nvSpPr>
        <p:spPr>
          <a:xfrm>
            <a:off x="502920" y="2971800"/>
            <a:ext cx="3429000" cy="2377440"/>
          </a:xfrm>
          <a:prstGeom prst="rect">
            <a:avLst/>
          </a:prstGeom>
          <a:noFill/>
          <a:ln/>
        </p:spPr>
        <p:txBody>
          <a:bodyPr wrap="square" lIns="0" tIns="0" rIns="0" bIns="0" rtlCol="0" anchor="t"/>
          <a:lstStyle/>
          <a:p>
            <a:pPr indent="0" marL="0">
              <a:buNone/>
            </a:pPr>
            <a:r>
              <a:rPr lang="en-US" sz="1500" dirty="0">
                <a:solidFill>
                  <a:srgbClr val="4A5B60"/>
                </a:solidFill>
                <a:latin typeface="Roboto" pitchFamily="34" charset="0"/>
                <a:ea typeface="Roboto" pitchFamily="34" charset="-122"/>
                <a:cs typeface="Roboto" pitchFamily="34" charset="-120"/>
              </a:rPr>
              <a:t>of land per year swung north of the road (p = 0.25; 0.18–0.86 across distances). Compares land just either side of the highway; miners moving across break it, so it is an upper bound.</a:t>
            </a:r>
            <a:endParaRPr lang="en-US" sz="1500" dirty="0"/>
          </a:p>
        </p:txBody>
      </p:sp>
      <p:sp>
        <p:nvSpPr>
          <p:cNvPr id="10" name="Shape 8"/>
          <p:cNvSpPr/>
          <p:nvPr/>
        </p:nvSpPr>
        <p:spPr>
          <a:xfrm>
            <a:off x="4096512" y="1737360"/>
            <a:ext cx="0" cy="3840480"/>
          </a:xfrm>
          <a:prstGeom prst="line">
            <a:avLst/>
          </a:prstGeom>
          <a:noFill/>
          <a:ln w="9525">
            <a:solidFill>
              <a:srgbClr val="D9D2C7"/>
            </a:solidFill>
            <a:prstDash val="solid"/>
          </a:ln>
        </p:spPr>
      </p:sp>
      <p:sp>
        <p:nvSpPr>
          <p:cNvPr id="11" name="Text 9"/>
          <p:cNvSpPr txBox="1"/>
          <p:nvPr/>
        </p:nvSpPr>
        <p:spPr>
          <a:xfrm>
            <a:off x="4279392" y="1737360"/>
            <a:ext cx="3474720" cy="256032"/>
          </a:xfrm>
          <a:prstGeom prst="rect">
            <a:avLst/>
          </a:prstGeom>
          <a:noFill/>
          <a:ln/>
        </p:spPr>
        <p:txBody>
          <a:bodyPr wrap="square" lIns="0" tIns="0" rIns="0" bIns="0" rtlCol="0" anchor="ctr"/>
          <a:lstStyle/>
          <a:p>
            <a:pPr indent="0" marL="0">
              <a:buNone/>
            </a:pPr>
            <a:r>
              <a:rPr lang="en-US" sz="1100" spc="200" kern="0" dirty="0">
                <a:solidFill>
                  <a:srgbClr val="4A5B60"/>
                </a:solidFill>
                <a:latin typeface="Roboto Medium" pitchFamily="34" charset="0"/>
                <a:ea typeface="Roboto Medium" pitchFamily="34" charset="-122"/>
                <a:cs typeface="Roboto Medium" pitchFamily="34" charset="-120"/>
              </a:rPr>
              <a:t>AT THE RESERVE EDGE</a:t>
            </a:r>
            <a:endParaRPr lang="en-US" sz="1100" dirty="0"/>
          </a:p>
        </p:txBody>
      </p:sp>
      <p:sp>
        <p:nvSpPr>
          <p:cNvPr id="12" name="Text 10"/>
          <p:cNvSpPr txBox="1"/>
          <p:nvPr/>
        </p:nvSpPr>
        <p:spPr>
          <a:xfrm>
            <a:off x="4279392" y="2103120"/>
            <a:ext cx="3474720" cy="731520"/>
          </a:xfrm>
          <a:prstGeom prst="rect">
            <a:avLst/>
          </a:prstGeom>
          <a:noFill/>
          <a:ln/>
        </p:spPr>
        <p:txBody>
          <a:bodyPr wrap="square" lIns="0" tIns="0" rIns="0" bIns="0" rtlCol="0" anchor="ctr"/>
          <a:lstStyle/>
          <a:p>
            <a:pPr indent="0" marL="0">
              <a:buNone/>
            </a:pPr>
            <a:r>
              <a:rPr lang="en-US" sz="3600" dirty="0">
                <a:solidFill>
                  <a:srgbClr val="22383F"/>
                </a:solidFill>
                <a:latin typeface="Roboto Light" pitchFamily="34" charset="0"/>
                <a:ea typeface="Roboto Light" pitchFamily="34" charset="-122"/>
                <a:cs typeface="Roboto Light" pitchFamily="34" charset="-120"/>
              </a:rPr>
              <a:t>−0.2 pts</a:t>
            </a:r>
            <a:endParaRPr lang="en-US" sz="3600" dirty="0"/>
          </a:p>
        </p:txBody>
      </p:sp>
      <p:sp>
        <p:nvSpPr>
          <p:cNvPr id="13" name="Text 11"/>
          <p:cNvSpPr txBox="1"/>
          <p:nvPr/>
        </p:nvSpPr>
        <p:spPr>
          <a:xfrm>
            <a:off x="4279392" y="2971800"/>
            <a:ext cx="3429000" cy="2377440"/>
          </a:xfrm>
          <a:prstGeom prst="rect">
            <a:avLst/>
          </a:prstGeom>
          <a:noFill/>
          <a:ln/>
        </p:spPr>
        <p:txBody>
          <a:bodyPr wrap="square" lIns="0" tIns="0" rIns="0" bIns="0" rtlCol="0" anchor="t"/>
          <a:lstStyle/>
          <a:p>
            <a:pPr indent="0" marL="0">
              <a:buNone/>
            </a:pPr>
            <a:r>
              <a:rPr lang="en-US" sz="1500" dirty="0">
                <a:solidFill>
                  <a:srgbClr val="4A5B60"/>
                </a:solidFill>
                <a:latin typeface="Roboto" pitchFamily="34" charset="0"/>
                <a:ea typeface="Roboto" pitchFamily="34" charset="-122"/>
                <a:cs typeface="Roboto" pitchFamily="34" charset="-120"/>
              </a:rPr>
              <a:t>no measurable change (p = 0.63). Same comparison, inside vs outside the reserve's border.</a:t>
            </a:r>
            <a:endParaRPr lang="en-US" sz="1500" dirty="0"/>
          </a:p>
        </p:txBody>
      </p:sp>
      <p:sp>
        <p:nvSpPr>
          <p:cNvPr id="14" name="Shape 12"/>
          <p:cNvSpPr/>
          <p:nvPr/>
        </p:nvSpPr>
        <p:spPr>
          <a:xfrm>
            <a:off x="7872984" y="1737360"/>
            <a:ext cx="0" cy="3840480"/>
          </a:xfrm>
          <a:prstGeom prst="line">
            <a:avLst/>
          </a:prstGeom>
          <a:noFill/>
          <a:ln w="9525">
            <a:solidFill>
              <a:srgbClr val="D9D2C7"/>
            </a:solidFill>
            <a:prstDash val="solid"/>
          </a:ln>
        </p:spPr>
      </p:sp>
      <p:sp>
        <p:nvSpPr>
          <p:cNvPr id="15" name="Text 13"/>
          <p:cNvSpPr txBox="1"/>
          <p:nvPr/>
        </p:nvSpPr>
        <p:spPr>
          <a:xfrm>
            <a:off x="8055864" y="1737360"/>
            <a:ext cx="3474720" cy="256032"/>
          </a:xfrm>
          <a:prstGeom prst="rect">
            <a:avLst/>
          </a:prstGeom>
          <a:noFill/>
          <a:ln/>
        </p:spPr>
        <p:txBody>
          <a:bodyPr wrap="square" lIns="0" tIns="0" rIns="0" bIns="0" rtlCol="0" anchor="ctr"/>
          <a:lstStyle/>
          <a:p>
            <a:pPr indent="0" marL="0">
              <a:buNone/>
            </a:pPr>
            <a:r>
              <a:rPr lang="en-US" sz="1100" spc="200" kern="0" dirty="0">
                <a:solidFill>
                  <a:srgbClr val="4A5B60"/>
                </a:solidFill>
                <a:latin typeface="Roboto Medium" pitchFamily="34" charset="0"/>
                <a:ea typeface="Roboto Medium" pitchFamily="34" charset="-122"/>
                <a:cs typeface="Roboto Medium" pitchFamily="34" charset="-120"/>
              </a:rPr>
              <a:t>1-KM CELLS</a:t>
            </a:r>
            <a:endParaRPr lang="en-US" sz="1100" dirty="0"/>
          </a:p>
        </p:txBody>
      </p:sp>
      <p:sp>
        <p:nvSpPr>
          <p:cNvPr id="16" name="Text 14"/>
          <p:cNvSpPr txBox="1"/>
          <p:nvPr/>
        </p:nvSpPr>
        <p:spPr>
          <a:xfrm>
            <a:off x="8055864" y="2103120"/>
            <a:ext cx="3474720" cy="731520"/>
          </a:xfrm>
          <a:prstGeom prst="rect">
            <a:avLst/>
          </a:prstGeom>
          <a:noFill/>
          <a:ln/>
        </p:spPr>
        <p:txBody>
          <a:bodyPr wrap="square" lIns="0" tIns="0" rIns="0" bIns="0" rtlCol="0" anchor="ctr"/>
          <a:lstStyle/>
          <a:p>
            <a:pPr indent="0" marL="0">
              <a:buNone/>
            </a:pPr>
            <a:r>
              <a:rPr lang="en-US" sz="3600" dirty="0">
                <a:solidFill>
                  <a:srgbClr val="22383F"/>
                </a:solidFill>
                <a:latin typeface="Roboto Light" pitchFamily="34" charset="0"/>
                <a:ea typeface="Roboto Light" pitchFamily="34" charset="-122"/>
                <a:cs typeface="Roboto Light" pitchFamily="34" charset="-120"/>
              </a:rPr>
              <a:t>≈ before/after</a:t>
            </a:r>
            <a:endParaRPr lang="en-US" sz="3600" dirty="0"/>
          </a:p>
        </p:txBody>
      </p:sp>
      <p:sp>
        <p:nvSpPr>
          <p:cNvPr id="17" name="Text 15"/>
          <p:cNvSpPr txBox="1"/>
          <p:nvPr/>
        </p:nvSpPr>
        <p:spPr>
          <a:xfrm>
            <a:off x="8055864" y="2971800"/>
            <a:ext cx="3429000" cy="2377440"/>
          </a:xfrm>
          <a:prstGeom prst="rect">
            <a:avLst/>
          </a:prstGeom>
          <a:noFill/>
          <a:ln/>
        </p:spPr>
        <p:txBody>
          <a:bodyPr wrap="square" lIns="0" tIns="0" rIns="0" bIns="0" rtlCol="0" anchor="t"/>
          <a:lstStyle/>
          <a:p>
            <a:pPr indent="0" marL="0">
              <a:buNone/>
            </a:pPr>
            <a:r>
              <a:rPr lang="en-US" sz="1500" dirty="0">
                <a:solidFill>
                  <a:srgbClr val="4A5B60"/>
                </a:solidFill>
                <a:latin typeface="Roboto" pitchFamily="34" charset="0"/>
                <a:ea typeface="Roboto" pitchFamily="34" charset="-122"/>
                <a:cs typeface="Roboto" pitchFamily="34" charset="-120"/>
              </a:rPr>
              <a:t>Each 1-km cell compared with cells of the same year; the comparison cells hold almost no mining, so this is close to a simple before/after.</a:t>
            </a:r>
            <a:endParaRPr lang="en-US" sz="15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02920" y="384048"/>
            <a:ext cx="2372868" cy="274320"/>
          </a:xfrm>
          <a:prstGeom prst="rect">
            <a:avLst/>
          </a:prstGeom>
          <a:noFill/>
          <a:ln/>
        </p:spPr>
        <p:txBody>
          <a:bodyPr wrap="square" lIns="0" tIns="0" rIns="0" bIns="0" rtlCol="0" anchor="ctr"/>
          <a:lstStyle/>
          <a:p>
            <a:pPr indent="0" marL="0">
              <a:buNone/>
            </a:pPr>
            <a:r>
              <a:rPr lang="en-US" sz="1200" spc="220" kern="0" dirty="0">
                <a:solidFill>
                  <a:srgbClr val="3C7D2C"/>
                </a:solidFill>
                <a:latin typeface="Roboto Medium" pitchFamily="34" charset="0"/>
                <a:ea typeface="Roboto Medium" pitchFamily="34" charset="-122"/>
                <a:cs typeface="Roboto Medium" pitchFamily="34" charset="-120"/>
              </a:rPr>
              <a:t>BACKUP · LEGALITY</a:t>
            </a:r>
            <a:endParaRPr lang="en-US" sz="1200" dirty="0"/>
          </a:p>
        </p:txBody>
      </p:sp>
      <p:sp>
        <p:nvSpPr>
          <p:cNvPr id="3" name="Shape 1"/>
          <p:cNvSpPr/>
          <p:nvPr/>
        </p:nvSpPr>
        <p:spPr>
          <a:xfrm>
            <a:off x="2985516" y="521208"/>
            <a:ext cx="6325819"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Presumed-illegal new land fell; grey zones grew</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 </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fig_v2_legality.png">    </p:cNvPr>
          <p:cNvPicPr>
            <a:picLocks noChangeAspect="1"/>
          </p:cNvPicPr>
          <p:nvPr/>
        </p:nvPicPr>
        <p:blipFill>
          <a:blip r:embed="rId1"/>
          <a:stretch>
            <a:fillRect/>
          </a:stretch>
        </p:blipFill>
        <p:spPr>
          <a:xfrm>
            <a:off x="1667965" y="1783080"/>
            <a:ext cx="8855765" cy="452628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02920" y="384048"/>
            <a:ext cx="2990088" cy="274320"/>
          </a:xfrm>
          <a:prstGeom prst="rect">
            <a:avLst/>
          </a:prstGeom>
          <a:noFill/>
          <a:ln/>
        </p:spPr>
        <p:txBody>
          <a:bodyPr wrap="square" lIns="0" tIns="0" rIns="0" bIns="0" rtlCol="0" anchor="ctr"/>
          <a:lstStyle/>
          <a:p>
            <a:pPr indent="0" marL="0">
              <a:buNone/>
            </a:pPr>
            <a:r>
              <a:rPr lang="en-US" sz="1200" spc="220" kern="0" dirty="0">
                <a:solidFill>
                  <a:srgbClr val="3C7D2C"/>
                </a:solidFill>
                <a:latin typeface="Roboto Medium" pitchFamily="34" charset="0"/>
                <a:ea typeface="Roboto Medium" pitchFamily="34" charset="-122"/>
                <a:cs typeface="Roboto Medium" pitchFamily="34" charset="-120"/>
              </a:rPr>
              <a:t>BACKUP · DECLARED GOLD</a:t>
            </a:r>
            <a:endParaRPr lang="en-US" sz="1200" dirty="0"/>
          </a:p>
        </p:txBody>
      </p:sp>
      <p:sp>
        <p:nvSpPr>
          <p:cNvPr id="3" name="Shape 1"/>
          <p:cNvSpPr/>
          <p:nvPr/>
        </p:nvSpPr>
        <p:spPr>
          <a:xfrm>
            <a:off x="3602736" y="521208"/>
            <a:ext cx="5708599"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The official gold drop is a definition change</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 </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fig_peru_gold_definition.png">    </p:cNvPr>
          <p:cNvPicPr>
            <a:picLocks noChangeAspect="1"/>
          </p:cNvPicPr>
          <p:nvPr/>
        </p:nvPicPr>
        <p:blipFill>
          <a:blip r:embed="rId1"/>
          <a:stretch>
            <a:fillRect/>
          </a:stretch>
        </p:blipFill>
        <p:spPr>
          <a:xfrm>
            <a:off x="1667965" y="1783080"/>
            <a:ext cx="8855765" cy="452628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02920" y="384048"/>
            <a:ext cx="2002536" cy="274320"/>
          </a:xfrm>
          <a:prstGeom prst="rect">
            <a:avLst/>
          </a:prstGeom>
          <a:noFill/>
          <a:ln/>
        </p:spPr>
        <p:txBody>
          <a:bodyPr wrap="square" lIns="0" tIns="0" rIns="0" bIns="0" rtlCol="0" anchor="ctr"/>
          <a:lstStyle/>
          <a:p>
            <a:pPr indent="0" marL="0">
              <a:buNone/>
            </a:pPr>
            <a:r>
              <a:rPr lang="en-US" sz="1200" spc="220" kern="0" dirty="0">
                <a:solidFill>
                  <a:srgbClr val="3C7D2C"/>
                </a:solidFill>
                <a:latin typeface="Roboto Medium" pitchFamily="34" charset="0"/>
                <a:ea typeface="Roboto Medium" pitchFamily="34" charset="-122"/>
                <a:cs typeface="Roboto Medium" pitchFamily="34" charset="-120"/>
              </a:rPr>
              <a:t>BACKUP · MONEY</a:t>
            </a:r>
            <a:endParaRPr lang="en-US" sz="1200" dirty="0"/>
          </a:p>
        </p:txBody>
      </p:sp>
      <p:sp>
        <p:nvSpPr>
          <p:cNvPr id="3" name="Shape 1"/>
          <p:cNvSpPr/>
          <p:nvPr/>
        </p:nvSpPr>
        <p:spPr>
          <a:xfrm>
            <a:off x="2615184" y="521208"/>
            <a:ext cx="6696151" cy="0"/>
          </a:xfrm>
          <a:prstGeom prst="line">
            <a:avLst/>
          </a:prstGeom>
          <a:noFill/>
          <a:ln w="9525">
            <a:solidFill>
              <a:srgbClr val="3C7D2C">
                <a:alpha val="55000"/>
              </a:srgbClr>
            </a:solidFill>
            <a:prstDash val="solid"/>
          </a:ln>
        </p:spPr>
      </p:sp>
      <p:sp>
        <p:nvSpPr>
          <p:cNvPr id="4" name="claim-P"/>
          <p:cNvSpPr/>
          <p:nvPr/>
        </p:nvSpPr>
        <p:spPr>
          <a:xfrm>
            <a:off x="9539935" y="347472"/>
            <a:ext cx="2148840" cy="310896"/>
          </a:xfrm>
          <a:prstGeom prst="roundRect">
            <a:avLst>
              <a:gd name="adj" fmla="val 50000"/>
            </a:avLst>
          </a:prstGeom>
          <a:ln w="12700">
            <a:solidFill>
              <a:srgbClr val="8A5F00"/>
            </a:solidFill>
          </a:ln>
        </p:spPr>
        <p:txBody>
          <a:bodyPr wrap="square" lIns="0" tIns="0" rIns="0" bIns="0" rtlCol="0" anchor="ctr"/>
          <a:lstStyle/>
          <a:p>
            <a:pPr algn="ctr" indent="0" marL="0">
              <a:buNone/>
            </a:pPr>
            <a:r>
              <a:rPr lang="en-US" sz="1050" spc="150" kern="0" dirty="0">
                <a:solidFill>
                  <a:srgbClr val="8A5F00"/>
                </a:solidFill>
                <a:latin typeface="Roboto Medium" pitchFamily="34" charset="0"/>
                <a:ea typeface="Roboto Medium" pitchFamily="34" charset="-122"/>
                <a:cs typeface="Roboto Medium" pitchFamily="34" charset="-120"/>
              </a:rPr>
              <a:t>PREDICTION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Gold and its damage dwarf enforcement money</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 </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fig_v2_economics.png">    </p:cNvPr>
          <p:cNvPicPr>
            <a:picLocks noChangeAspect="1"/>
          </p:cNvPicPr>
          <p:nvPr/>
        </p:nvPicPr>
        <p:blipFill>
          <a:blip r:embed="rId1"/>
          <a:stretch>
            <a:fillRect/>
          </a:stretch>
        </p:blipFill>
        <p:spPr>
          <a:xfrm>
            <a:off x="1939060" y="1783080"/>
            <a:ext cx="8313576" cy="452628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02920" y="384048"/>
            <a:ext cx="2372868" cy="274320"/>
          </a:xfrm>
          <a:prstGeom prst="rect">
            <a:avLst/>
          </a:prstGeom>
          <a:noFill/>
          <a:ln/>
        </p:spPr>
        <p:txBody>
          <a:bodyPr wrap="square" lIns="0" tIns="0" rIns="0" bIns="0" rtlCol="0" anchor="ctr"/>
          <a:lstStyle/>
          <a:p>
            <a:pPr indent="0" marL="0">
              <a:buNone/>
            </a:pPr>
            <a:r>
              <a:rPr lang="en-US" sz="1200" spc="220" kern="0" dirty="0">
                <a:solidFill>
                  <a:srgbClr val="3C7D2C"/>
                </a:solidFill>
                <a:latin typeface="Roboto Medium" pitchFamily="34" charset="0"/>
                <a:ea typeface="Roboto Medium" pitchFamily="34" charset="-122"/>
                <a:cs typeface="Roboto Medium" pitchFamily="34" charset="-120"/>
              </a:rPr>
              <a:t>BACKUP · RISK MAP</a:t>
            </a:r>
            <a:endParaRPr lang="en-US" sz="1200" dirty="0"/>
          </a:p>
        </p:txBody>
      </p:sp>
      <p:sp>
        <p:nvSpPr>
          <p:cNvPr id="3" name="Shape 1"/>
          <p:cNvSpPr/>
          <p:nvPr/>
        </p:nvSpPr>
        <p:spPr>
          <a:xfrm>
            <a:off x="2985516" y="521208"/>
            <a:ext cx="6325819" cy="0"/>
          </a:xfrm>
          <a:prstGeom prst="line">
            <a:avLst/>
          </a:prstGeom>
          <a:noFill/>
          <a:ln w="9525">
            <a:solidFill>
              <a:srgbClr val="3C7D2C">
                <a:alpha val="55000"/>
              </a:srgbClr>
            </a:solidFill>
            <a:prstDash val="solid"/>
          </a:ln>
        </p:spPr>
      </p:sp>
      <p:sp>
        <p:nvSpPr>
          <p:cNvPr id="4" name="claim-P"/>
          <p:cNvSpPr/>
          <p:nvPr/>
        </p:nvSpPr>
        <p:spPr>
          <a:xfrm>
            <a:off x="9539935" y="347472"/>
            <a:ext cx="2148840" cy="310896"/>
          </a:xfrm>
          <a:prstGeom prst="roundRect">
            <a:avLst>
              <a:gd name="adj" fmla="val 50000"/>
            </a:avLst>
          </a:prstGeom>
          <a:ln w="12700">
            <a:solidFill>
              <a:srgbClr val="8A5F00"/>
            </a:solidFill>
          </a:ln>
        </p:spPr>
        <p:txBody>
          <a:bodyPr wrap="square" lIns="0" tIns="0" rIns="0" bIns="0" rtlCol="0" anchor="ctr"/>
          <a:lstStyle/>
          <a:p>
            <a:pPr algn="ctr" indent="0" marL="0">
              <a:buNone/>
            </a:pPr>
            <a:r>
              <a:rPr lang="en-US" sz="1050" spc="150" kern="0" dirty="0">
                <a:solidFill>
                  <a:srgbClr val="8A5F00"/>
                </a:solidFill>
                <a:latin typeface="Roboto Medium" pitchFamily="34" charset="0"/>
                <a:ea typeface="Roboto Medium" pitchFamily="34" charset="-122"/>
                <a:cs typeface="Roboto Medium" pitchFamily="34" charset="-120"/>
              </a:rPr>
              <a:t>PREDICTION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Next new mining is likely next to old mining</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 </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fig_v2_risk_map.png">    </p:cNvPr>
          <p:cNvPicPr>
            <a:picLocks noChangeAspect="1"/>
          </p:cNvPicPr>
          <p:nvPr/>
        </p:nvPicPr>
        <p:blipFill>
          <a:blip r:embed="rId1"/>
          <a:stretch>
            <a:fillRect/>
          </a:stretch>
        </p:blipFill>
        <p:spPr>
          <a:xfrm>
            <a:off x="3143926" y="1783080"/>
            <a:ext cx="5903843" cy="452628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02920" y="384048"/>
            <a:ext cx="2002536" cy="274320"/>
          </a:xfrm>
          <a:prstGeom prst="rect">
            <a:avLst/>
          </a:prstGeom>
          <a:noFill/>
          <a:ln/>
        </p:spPr>
        <p:txBody>
          <a:bodyPr wrap="square" lIns="0" tIns="0" rIns="0" bIns="0" rtlCol="0" anchor="ctr"/>
          <a:lstStyle/>
          <a:p>
            <a:pPr indent="0" marL="0">
              <a:buNone/>
            </a:pPr>
            <a:r>
              <a:rPr lang="en-US" sz="1200" spc="220" kern="0" dirty="0">
                <a:solidFill>
                  <a:srgbClr val="3C7D2C"/>
                </a:solidFill>
                <a:latin typeface="Roboto Medium" pitchFamily="34" charset="0"/>
                <a:ea typeface="Roboto Medium" pitchFamily="34" charset="-122"/>
                <a:cs typeface="Roboto Medium" pitchFamily="34" charset="-120"/>
              </a:rPr>
              <a:t>BACKUP · TWINS</a:t>
            </a:r>
            <a:endParaRPr lang="en-US" sz="1200" dirty="0"/>
          </a:p>
        </p:txBody>
      </p:sp>
      <p:sp>
        <p:nvSpPr>
          <p:cNvPr id="3" name="Shape 1"/>
          <p:cNvSpPr/>
          <p:nvPr/>
        </p:nvSpPr>
        <p:spPr>
          <a:xfrm>
            <a:off x="2615184" y="521208"/>
            <a:ext cx="6696151"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Twins: Tambopata at 16%–41% of their pace; trends differed before</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Left: mining area (stock), index 2018 = 100, 2010–18 (pre-trends rejected, p &lt; 0.001). Right: Amazon Mining Watch new area 2019–21 per year, % of own 2018 area: a different measure, not net additions.</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slide_b2_twins.png">    </p:cNvPr>
          <p:cNvPicPr>
            <a:picLocks noChangeAspect="1"/>
          </p:cNvPicPr>
          <p:nvPr/>
        </p:nvPicPr>
        <p:blipFill>
          <a:blip r:embed="rId1"/>
          <a:stretch>
            <a:fillRect/>
          </a:stretch>
        </p:blipFill>
        <p:spPr>
          <a:xfrm>
            <a:off x="573786" y="1783080"/>
            <a:ext cx="11044123" cy="452628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02920" y="384048"/>
            <a:ext cx="2125980" cy="274320"/>
          </a:xfrm>
          <a:prstGeom prst="rect">
            <a:avLst/>
          </a:prstGeom>
          <a:noFill/>
          <a:ln/>
        </p:spPr>
        <p:txBody>
          <a:bodyPr wrap="square" lIns="0" tIns="0" rIns="0" bIns="0" rtlCol="0" anchor="ctr"/>
          <a:lstStyle/>
          <a:p>
            <a:pPr indent="0" marL="0">
              <a:buNone/>
            </a:pPr>
            <a:r>
              <a:rPr lang="en-US" sz="1200" spc="220" kern="0" dirty="0">
                <a:solidFill>
                  <a:srgbClr val="3C7D2C"/>
                </a:solidFill>
                <a:latin typeface="Roboto Medium" pitchFamily="34" charset="0"/>
                <a:ea typeface="Roboto Medium" pitchFamily="34" charset="-122"/>
                <a:cs typeface="Roboto Medium" pitchFamily="34" charset="-120"/>
              </a:rPr>
              <a:t>BACKUP · BRAZIL</a:t>
            </a:r>
            <a:endParaRPr lang="en-US" sz="1200" dirty="0"/>
          </a:p>
        </p:txBody>
      </p:sp>
      <p:sp>
        <p:nvSpPr>
          <p:cNvPr id="3" name="Shape 1"/>
          <p:cNvSpPr/>
          <p:nvPr/>
        </p:nvSpPr>
        <p:spPr>
          <a:xfrm>
            <a:off x="2738628" y="521208"/>
            <a:ext cx="6572707"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Brazil: mining boomed and fell; operations arrived at the peak</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 </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fig_brazil_v2_pixels.png">    </p:cNvPr>
          <p:cNvPicPr>
            <a:picLocks noChangeAspect="1"/>
          </p:cNvPicPr>
          <p:nvPr/>
        </p:nvPicPr>
        <p:blipFill>
          <a:blip r:embed="rId1"/>
          <a:stretch>
            <a:fillRect/>
          </a:stretch>
        </p:blipFill>
        <p:spPr>
          <a:xfrm>
            <a:off x="2913307" y="1783080"/>
            <a:ext cx="6365081" cy="452628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02920" y="384048"/>
            <a:ext cx="2496312" cy="274320"/>
          </a:xfrm>
          <a:prstGeom prst="rect">
            <a:avLst/>
          </a:prstGeom>
          <a:noFill/>
          <a:ln/>
        </p:spPr>
        <p:txBody>
          <a:bodyPr wrap="square" lIns="0" tIns="0" rIns="0" bIns="0" rtlCol="0" anchor="ctr"/>
          <a:lstStyle/>
          <a:p>
            <a:pPr indent="0" marL="0">
              <a:buNone/>
            </a:pPr>
            <a:r>
              <a:rPr lang="en-US" sz="1200" spc="220" kern="0" dirty="0">
                <a:solidFill>
                  <a:srgbClr val="3C7D2C"/>
                </a:solidFill>
                <a:latin typeface="Roboto Medium" pitchFamily="34" charset="0"/>
                <a:ea typeface="Roboto Medium" pitchFamily="34" charset="-122"/>
                <a:cs typeface="Roboto Medium" pitchFamily="34" charset="-120"/>
              </a:rPr>
              <a:t>BACKUP · MAP VIDEO</a:t>
            </a:r>
            <a:endParaRPr lang="en-US" sz="1200" dirty="0"/>
          </a:p>
        </p:txBody>
      </p:sp>
      <p:sp>
        <p:nvSpPr>
          <p:cNvPr id="3" name="Shape 1"/>
          <p:cNvSpPr/>
          <p:nvPr/>
        </p:nvSpPr>
        <p:spPr>
          <a:xfrm>
            <a:off x="3108960" y="521208"/>
            <a:ext cx="6202375"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The map build as one animation</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Same four steps as the click-through map slides · protected areas → highway → corridor → La Pampa · click to play</a:t>
            </a:r>
            <a:endParaRPr lang="en-US" sz="125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991208" y="1737360"/>
            <a:ext cx="8209280" cy="461772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02920" y="384048"/>
            <a:ext cx="3854196" cy="274320"/>
          </a:xfrm>
          <a:prstGeom prst="rect">
            <a:avLst/>
          </a:prstGeom>
          <a:noFill/>
          <a:ln/>
        </p:spPr>
        <p:txBody>
          <a:bodyPr wrap="square" lIns="0" tIns="0" rIns="0" bIns="0" rtlCol="0" anchor="ctr"/>
          <a:lstStyle/>
          <a:p>
            <a:pPr indent="0" marL="0">
              <a:buNone/>
            </a:pPr>
            <a:r>
              <a:rPr lang="en-US" sz="1200" spc="220" kern="0" dirty="0">
                <a:solidFill>
                  <a:srgbClr val="3C7D2C"/>
                </a:solidFill>
                <a:latin typeface="Roboto Medium" pitchFamily="34" charset="0"/>
                <a:ea typeface="Roboto Medium" pitchFamily="34" charset="-122"/>
                <a:cs typeface="Roboto Medium" pitchFamily="34" charset="-120"/>
              </a:rPr>
              <a:t>BACKUP · DEFINITIONS AND DATA</a:t>
            </a:r>
            <a:endParaRPr lang="en-US" sz="1200" dirty="0"/>
          </a:p>
        </p:txBody>
      </p:sp>
      <p:sp>
        <p:nvSpPr>
          <p:cNvPr id="3" name="Shape 1"/>
          <p:cNvSpPr/>
          <p:nvPr/>
        </p:nvSpPr>
        <p:spPr>
          <a:xfrm>
            <a:off x="4466844" y="521208"/>
            <a:ext cx="4844491"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Definitions and data</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One outcome, one set of zones, one treatment · every number in this deck comes from our replication code</a:t>
            </a:r>
            <a:endParaRPr lang="en-US" sz="12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11185855" cy="914400"/>
        </p:xfrm>
        <a:graphic>
          <a:graphicData uri="http://schemas.openxmlformats.org/drawingml/2006/table">
            <a:tbl>
              <a:tblPr/>
              <a:tblGrid>
                <a:gridCol w="2651760"/>
                <a:gridCol w="6035040"/>
                <a:gridCol w="2496312"/>
              </a:tblGrid>
              <a:tr h="329184">
                <a:tc>
                  <a:txBody>
                    <a:bodyPr/>
                    <a:lstStyle/>
                    <a:p>
                      <a:pPr indent="0" marL="0">
                        <a:buNone/>
                      </a:pPr>
                      <a:r>
                        <a:rPr lang="en-US" sz="1050" spc="150" kern="0" dirty="0">
                          <a:solidFill>
                            <a:srgbClr val="4A5B60"/>
                          </a:solidFill>
                          <a:latin typeface="Roboto Medium" pitchFamily="34" charset="0"/>
                          <a:ea typeface="Roboto Medium" pitchFamily="34" charset="-122"/>
                          <a:cs typeface="Roboto Medium" pitchFamily="34" charset="-120"/>
                        </a:rPr>
                        <a:t>ITEM</a:t>
                      </a:r>
                      <a:endParaRPr lang="en-US" sz="1050" dirty="0">
                        <a:latin typeface="Roboto Medium" charset="0"/>
                        <a:ea typeface="Roboto Medium" charset="0"/>
                        <a:cs typeface="Roboto Medium"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E9E4DC"/>
                    </a:solidFill>
                  </a:tcPr>
                </a:tc>
                <a:tc>
                  <a:txBody>
                    <a:bodyPr/>
                    <a:lstStyle/>
                    <a:p>
                      <a:pPr indent="0" marL="0">
                        <a:buNone/>
                      </a:pPr>
                      <a:r>
                        <a:rPr lang="en-US" sz="1050" spc="150" kern="0" dirty="0">
                          <a:solidFill>
                            <a:srgbClr val="4A5B60"/>
                          </a:solidFill>
                          <a:latin typeface="Roboto Medium" pitchFamily="34" charset="0"/>
                          <a:ea typeface="Roboto Medium" pitchFamily="34" charset="-122"/>
                          <a:cs typeface="Roboto Medium" pitchFamily="34" charset="-120"/>
                        </a:rPr>
                        <a:t>DEFINITION</a:t>
                      </a:r>
                      <a:endParaRPr lang="en-US" sz="1050" dirty="0">
                        <a:latin typeface="Roboto Medium" charset="0"/>
                        <a:ea typeface="Roboto Medium" charset="0"/>
                        <a:cs typeface="Roboto Medium"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E9E4DC"/>
                    </a:solidFill>
                  </a:tcPr>
                </a:tc>
                <a:tc>
                  <a:txBody>
                    <a:bodyPr/>
                    <a:lstStyle/>
                    <a:p>
                      <a:pPr indent="0" marL="0">
                        <a:buNone/>
                      </a:pPr>
                      <a:r>
                        <a:rPr lang="en-US" sz="1050" spc="150" kern="0" dirty="0">
                          <a:solidFill>
                            <a:srgbClr val="4A5B60"/>
                          </a:solidFill>
                          <a:latin typeface="Roboto Medium" pitchFamily="34" charset="0"/>
                          <a:ea typeface="Roboto Medium" pitchFamily="34" charset="-122"/>
                          <a:cs typeface="Roboto Medium" pitchFamily="34" charset="-120"/>
                        </a:rPr>
                        <a:t>SOURCE</a:t>
                      </a:r>
                      <a:endParaRPr lang="en-US" sz="1050" dirty="0">
                        <a:latin typeface="Roboto Medium" charset="0"/>
                        <a:ea typeface="Roboto Medium" charset="0"/>
                        <a:cs typeface="Roboto Medium"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E9E4DC"/>
                    </a:solidFill>
                  </a:tcPr>
                </a:tc>
              </a:tr>
              <a:tr h="457200">
                <a:tc>
                  <a:txBody>
                    <a:bodyPr/>
                    <a:lstStyle/>
                    <a:p>
                      <a:pPr indent="0" marL="0">
                        <a:buNone/>
                      </a:pPr>
                      <a:r>
                        <a:rPr lang="en-US" sz="1300" dirty="0">
                          <a:solidFill>
                            <a:srgbClr val="22383F"/>
                          </a:solidFill>
                          <a:latin typeface="Roboto" pitchFamily="34" charset="0"/>
                          <a:ea typeface="Roboto" pitchFamily="34" charset="-122"/>
                          <a:cs typeface="Roboto" pitchFamily="34" charset="-120"/>
                        </a:rPr>
                        <a:t>Net mining additions</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Mining area in year t − year t−1, ha/yr = new land + re-mined − stopped</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MapBiomas Peru Collection 4 (30 m, class 4.2)</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r h="457200">
                <a:tc>
                  <a:txBody>
                    <a:bodyPr/>
                    <a:lstStyle/>
                    <a:p>
                      <a:pPr indent="0" marL="0">
                        <a:buNone/>
                      </a:pPr>
                      <a:r>
                        <a:rPr lang="en-US" sz="1300" dirty="0">
                          <a:solidFill>
                            <a:srgbClr val="22383F"/>
                          </a:solidFill>
                          <a:latin typeface="Roboto" pitchFamily="34" charset="0"/>
                          <a:ea typeface="Roboto" pitchFamily="34" charset="-122"/>
                          <a:cs typeface="Roboto" pitchFamily="34" charset="-120"/>
                        </a:rPr>
                        <a:t>New land / re-mined / stopped</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First time since 1985 / mined again after a gap / left the mining class</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Our pixel accounting</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r h="457200">
                <a:tc>
                  <a:txBody>
                    <a:bodyPr/>
                    <a:lstStyle/>
                    <a:p>
                      <a:pPr indent="0" marL="0">
                        <a:buNone/>
                      </a:pPr>
                      <a:r>
                        <a:rPr lang="en-US" sz="1300" dirty="0">
                          <a:solidFill>
                            <a:srgbClr val="22383F"/>
                          </a:solidFill>
                          <a:latin typeface="Roboto" pitchFamily="34" charset="0"/>
                          <a:ea typeface="Roboto" pitchFamily="34" charset="-122"/>
                          <a:cs typeface="Roboto" pitchFamily="34" charset="-120"/>
                        </a:rPr>
                        <a:t>Tambopata buffer zone</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Official SERNANP polygon, whole (incl. Kotsimba)</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SERNANP</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r h="457200">
                <a:tc>
                  <a:txBody>
                    <a:bodyPr/>
                    <a:lstStyle/>
                    <a:p>
                      <a:pPr indent="0" marL="0">
                        <a:buNone/>
                      </a:pPr>
                      <a:r>
                        <a:rPr lang="en-US" sz="1300" dirty="0">
                          <a:solidFill>
                            <a:srgbClr val="22383F"/>
                          </a:solidFill>
                          <a:latin typeface="Roboto" pitchFamily="34" charset="0"/>
                          <a:ea typeface="Roboto" pitchFamily="34" charset="-122"/>
                          <a:cs typeface="Roboto" pitchFamily="34" charset="-120"/>
                        </a:rPr>
                        <a:t>La Pampa sector</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Tambopata buffer zone between 70.15° and 69.80° W (no official line)</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Our boundary</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r h="457200">
                <a:tc>
                  <a:txBody>
                    <a:bodyPr/>
                    <a:lstStyle/>
                    <a:p>
                      <a:pPr indent="0" marL="0">
                        <a:buNone/>
                      </a:pPr>
                      <a:r>
                        <a:rPr lang="en-US" sz="1300" dirty="0">
                          <a:solidFill>
                            <a:srgbClr val="22383F"/>
                          </a:solidFill>
                          <a:latin typeface="Roboto" pitchFamily="34" charset="0"/>
                          <a:ea typeface="Roboto" pitchFamily="34" charset="-122"/>
                          <a:cs typeface="Roboto" pitchFamily="34" charset="-120"/>
                        </a:rPr>
                        <a:t>Corridor across the road</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D.L. 1100 land ≤ 10 km north of the highway, at La Pampa's longitudes</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INGEMMET, RAISG</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r h="713232">
                <a:tc>
                  <a:txBody>
                    <a:bodyPr/>
                    <a:lstStyle/>
                    <a:p>
                      <a:pPr indent="0" marL="0">
                        <a:buNone/>
                      </a:pPr>
                      <a:r>
                        <a:rPr lang="en-US" sz="1300" dirty="0">
                          <a:solidFill>
                            <a:srgbClr val="22383F"/>
                          </a:solidFill>
                          <a:latin typeface="Roboto" pitchFamily="34" charset="0"/>
                          <a:ea typeface="Roboto" pitchFamily="34" charset="-122"/>
                          <a:cs typeface="Roboto" pitchFamily="34" charset="-120"/>
                        </a:rPr>
                        <a:t>Legal mining corridor</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All D.L. 1100 land in Madre de Dios (native communities excluded); its share = its net additions ÷ the department's, summed over each period</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INGEMMET</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r h="713232">
                <a:tc>
                  <a:txBody>
                    <a:bodyPr/>
                    <a:lstStyle/>
                    <a:p>
                      <a:pPr indent="0" marL="0">
                        <a:buNone/>
                      </a:pPr>
                      <a:r>
                        <a:rPr lang="en-US" sz="1300" dirty="0">
                          <a:solidFill>
                            <a:srgbClr val="22383F"/>
                          </a:solidFill>
                          <a:latin typeface="Roboto" pitchFamily="34" charset="0"/>
                          <a:ea typeface="Roboto" pitchFamily="34" charset="-122"/>
                          <a:cs typeface="Roboto" pitchFamily="34" charset="-120"/>
                        </a:rPr>
                        <a:t>Treatment and periods</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Mercurio from Feb 2019 (first treated year 2019) · 2016–18 before · 2019–21 Mercurio and what followed · 2022–25 later years (± 2023)</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MAAP #130; course card</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bl>
          </a:graphicData>
        </a:graphic>
      </p:graphicFrame>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36</a:t>
            </a:fld>
            <a:endParaRPr lang="en-US"/>
          </a:p>
        </p:txBody>
      </p:sp>
    </p:spTree>
  </p:cSld>
  <p:clrMapOvr>
    <a:masterClrMapping/>
  </p:clrMapOvr>
</p:sld>
</file>

<file path=ppt/theme/theme1.xml><?xml version="1.0" encoding="utf-8"?>
<a:theme xmlns:a="http://schemas.openxmlformats.org/drawingml/2006/main" name="FZS student deck">
  <a:themeElements>
    <a:clrScheme name="FZS student deck">
      <a:dk1>
        <a:srgbClr val="22383F"/>
      </a:dk1>
      <a:lt1>
        <a:srgbClr val="FFFFFF"/>
      </a:lt1>
      <a:dk2>
        <a:srgbClr val="243B42"/>
      </a:dk2>
      <a:lt2>
        <a:srgbClr val="F2EFEA"/>
      </a:lt2>
      <a:accent1>
        <a:srgbClr val="3C7D2C"/>
      </a:accent1>
      <a:accent2>
        <a:srgbClr val="B9C94F"/>
      </a:accent2>
      <a:accent3>
        <a:srgbClr val="A42C58"/>
      </a:accent3>
      <a:accent4>
        <a:srgbClr val="D0692F"/>
      </a:accent4>
      <a:accent5>
        <a:srgbClr val="2B74A6"/>
      </a:accent5>
      <a:accent6>
        <a:srgbClr val="858D90"/>
      </a:accent6>
      <a:hlink>
        <a:srgbClr val="2B74A6"/>
      </a:hlink>
      <a:folHlink>
        <a:srgbClr val="6A5ACD"/>
      </a:folHlink>
    </a:clrScheme>
    <a:fontScheme name="FZS student deck">
      <a:majorFont>
        <a:latin typeface="Roboto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Data for Good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the patrols leave: Operation Mercurio and FZS</dc:title>
  <dc:subject>PptxGenJS Presentation</dc:subject>
  <dc:creator>Group Giant Anteater</dc:creator>
  <cp:lastModifiedBy>Group Giant Anteater</cp:lastModifiedBy>
  <cp:revision>1</cp:revision>
  <dcterms:created xsi:type="dcterms:W3CDTF">2026-10-15T20:41:05Z</dcterms:created>
  <dcterms:modified xsi:type="dcterms:W3CDTF">2026-10-15T20:41:05Z</dcterms:modified>
</cp:coreProperties>
</file>