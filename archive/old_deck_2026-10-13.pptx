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51F3F440-3A24-795A-44CD-BE3123473FDE}">
          <p14:sldIdLst>
            <p14:sldId id="256"/>
            <p14:sldId id="257"/>
          </p14:sldIdLst>
        </p14:section>
        <p14:section name="Question" id="{CF98BA86-7A99-93D7-869F-60CDA4481A51}">
          <p14:sldIdLst>
            <p14:sldId id="258"/>
          </p14:sldIdLst>
        </p14:section>
        <p14:section name="Context" id="{E03B1C10-1D94-C6B9-70C8-1D63F5A22E3A}">
          <p14:sldIdLst>
            <p14:sldId id="259"/>
            <p14:sldId id="260"/>
            <p14:sldId id="261"/>
            <p14:sldId id="262"/>
            <p14:sldId id="263"/>
            <p14:sldId id="264"/>
          </p14:sldIdLst>
        </p14:section>
        <p14:section name="What happened" id="{E53D0158-2A96-4FB8-9428-04128848BF0C}">
          <p14:sldIdLst>
            <p14:sldId id="265"/>
            <p14:sldId id="266"/>
            <p14:sldId id="267"/>
            <p14:sldId id="268"/>
            <p14:sldId id="269"/>
            <p14:sldId id="270"/>
            <p14:sldId id="271"/>
            <p14:sldId id="272"/>
          </p14:sldIdLst>
        </p14:section>
        <p14:section name="Is it causal?" id="{5C8C8CD6-524B-26F7-1CC9-A5385E761BA3}">
          <p14:sldIdLst>
            <p14:sldId id="273"/>
            <p14:sldId id="274"/>
            <p14:sldId id="275"/>
          </p14:sldIdLst>
        </p14:section>
        <p14:section name="Limits" id="{04C13014-F1B3-1539-521F-68ED537919BE}">
          <p14:sldIdLst>
            <p14:sldId id="276"/>
          </p14:sldIdLst>
        </p14:section>
        <p14:section name="For FZS" id="{46F87499-8BD0-25D5-B591-4BE23F6CB818}">
          <p14:sldIdLst>
            <p14:sldId id="277"/>
          </p14:sldIdLst>
        </p14:section>
        <p14:section name="Closing" id="{8A72EACE-A758-BE16-13AE-B49C0EFD050F}">
          <p14:sldIdLst>
            <p14:sldId id="278"/>
          </p14:sldIdLst>
        </p14:section>
        <p14:section name="Backup" id="{BEB22AAC-31AE-3B8A-AB8F-872DDA774667}">
          <p14:sldIdLst>
            <p14:sldId id="279"/>
            <p14:sldId id="280"/>
            <p14:sldId id="281"/>
            <p14:sldId id="282"/>
            <p14:sldId id="283"/>
            <p14:sldId id="284"/>
            <p14:sldId id="285"/>
            <p14:sldId id="286"/>
            <p14:sldId id="287"/>
            <p14:sldId id="288"/>
            <p14:sldId id="289"/>
            <p14:sldId id="290"/>
            <p14:sldId id="29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47979F5-2408-6A7B-CC23-F6CC16F4415F}" v="42" dt="2026-10-14T22:58:39.34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71" d="100"/>
          <a:sy n="71" d="100"/>
        </p:scale>
        <p:origin x="2312" y="13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chmid, Sebastian" userId="3d67ceda-87d6-4917-a07a-a21474ad321d" providerId="ADAL" clId="{28C720B5-148D-5376-920E-6062DBD2BEE9}"/>
    <pc:docChg chg="undo custSel modSld">
      <pc:chgData name="Schmid, Sebastian" userId="3d67ceda-87d6-4917-a07a-a21474ad321d" providerId="ADAL" clId="{28C720B5-148D-5376-920E-6062DBD2BEE9}" dt="2026-10-15T18:24:14.834" v="6" actId="732"/>
      <pc:docMkLst>
        <pc:docMk/>
      </pc:docMkLst>
      <pc:sldChg chg="addSp delSp modSp mod addAnim delAnim">
        <pc:chgData name="Schmid, Sebastian" userId="3d67ceda-87d6-4917-a07a-a21474ad321d" providerId="ADAL" clId="{28C720B5-148D-5376-920E-6062DBD2BEE9}" dt="2026-10-15T18:24:14.834" v="6" actId="732"/>
        <pc:sldMkLst>
          <pc:docMk/>
          <pc:sldMk cId="0" sldId="257"/>
        </pc:sldMkLst>
        <pc:spChg chg="add del mod">
          <ac:chgData name="Schmid, Sebastian" userId="3d67ceda-87d6-4917-a07a-a21474ad321d" providerId="ADAL" clId="{28C720B5-148D-5376-920E-6062DBD2BEE9}" dt="2026-10-15T18:23:56.716" v="4" actId="478"/>
          <ac:spMkLst>
            <pc:docMk/>
            <pc:sldMk cId="0" sldId="257"/>
            <ac:spMk id="15" creationId="{00000000-0000-0000-0000-000000000000}"/>
          </ac:spMkLst>
        </pc:spChg>
        <pc:picChg chg="mod modCrop">
          <ac:chgData name="Schmid, Sebastian" userId="3d67ceda-87d6-4917-a07a-a21474ad321d" providerId="ADAL" clId="{28C720B5-148D-5376-920E-6062DBD2BEE9}" dt="2026-10-15T18:24:14.834" v="6" actId="732"/>
          <ac:picMkLst>
            <pc:docMk/>
            <pc:sldMk cId="0" sldId="257"/>
            <ac:picMk id="22" creationId="{2448494E-34E0-4E35-99A3-166C0190C496}"/>
          </ac:picMkLst>
        </pc:picChg>
      </pc:sldChg>
    </pc:docChg>
  </pc:docChgLst>
  <pc:docChgLst>
    <pc:chgData name="CHAUDHARI, DHRUV VISHESH" userId="S::dhruv.chaudhari@esmt.berlin::66156c38-38d2-4ceb-bf00-92932e670c93" providerId="AD" clId="Web-{647979F5-2408-6A7B-CC23-F6CC16F4415F}"/>
    <pc:docChg chg="modSld">
      <pc:chgData name="CHAUDHARI, DHRUV VISHESH" userId="S::dhruv.chaudhari@esmt.berlin::66156c38-38d2-4ceb-bf00-92932e670c93" providerId="AD" clId="Web-{647979F5-2408-6A7B-CC23-F6CC16F4415F}" dt="2026-10-14T22:58:39.342" v="41"/>
      <pc:docMkLst>
        <pc:docMk/>
      </pc:docMkLst>
      <pc:sldChg chg="addSp delSp modSp">
        <pc:chgData name="CHAUDHARI, DHRUV VISHESH" userId="S::dhruv.chaudhari@esmt.berlin::66156c38-38d2-4ceb-bf00-92932e670c93" providerId="AD" clId="Web-{647979F5-2408-6A7B-CC23-F6CC16F4415F}" dt="2026-10-14T22:58:39.342" v="41"/>
        <pc:sldMkLst>
          <pc:docMk/>
          <pc:sldMk cId="0" sldId="256"/>
        </pc:sldMkLst>
        <pc:spChg chg="mod">
          <ac:chgData name="CHAUDHARI, DHRUV VISHESH" userId="S::dhruv.chaudhari@esmt.berlin::66156c38-38d2-4ceb-bf00-92932e670c93" providerId="AD" clId="Web-{647979F5-2408-6A7B-CC23-F6CC16F4415F}" dt="2026-10-14T22:57:57.997" v="38" actId="1076"/>
          <ac:spMkLst>
            <pc:docMk/>
            <pc:sldMk cId="0" sldId="256"/>
            <ac:spMk id="15" creationId="{00000000-0000-0000-0000-000000000000}"/>
          </ac:spMkLst>
        </pc:spChg>
        <pc:picChg chg="add del mod">
          <ac:chgData name="CHAUDHARI, DHRUV VISHESH" userId="S::dhruv.chaudhari@esmt.berlin::66156c38-38d2-4ceb-bf00-92932e670c93" providerId="AD" clId="Web-{647979F5-2408-6A7B-CC23-F6CC16F4415F}" dt="2026-10-14T22:58:39.342" v="41"/>
          <ac:picMkLst>
            <pc:docMk/>
            <pc:sldMk cId="0" sldId="256"/>
            <ac:picMk id="17" creationId="{03545E7D-27A3-7D69-120E-5E72F7DA55D2}"/>
          </ac:picMkLst>
        </pc:picChg>
      </pc:sldChg>
      <pc:sldChg chg="addSp delSp modSp addAnim">
        <pc:chgData name="CHAUDHARI, DHRUV VISHESH" userId="S::dhruv.chaudhari@esmt.berlin::66156c38-38d2-4ceb-bf00-92932e670c93" providerId="AD" clId="Web-{647979F5-2408-6A7B-CC23-F6CC16F4415F}" dt="2026-10-14T22:57:41.090" v="37" actId="1076"/>
        <pc:sldMkLst>
          <pc:docMk/>
          <pc:sldMk cId="0" sldId="257"/>
        </pc:sldMkLst>
        <pc:spChg chg="mod">
          <ac:chgData name="CHAUDHARI, DHRUV VISHESH" userId="S::dhruv.chaudhari@esmt.berlin::66156c38-38d2-4ceb-bf00-92932e670c93" providerId="AD" clId="Web-{647979F5-2408-6A7B-CC23-F6CC16F4415F}" dt="2026-10-14T22:32:30.102" v="0" actId="20577"/>
          <ac:spMkLst>
            <pc:docMk/>
            <pc:sldMk cId="0" sldId="257"/>
            <ac:spMk id="13" creationId="{00000000-0000-0000-0000-000000000000}"/>
          </ac:spMkLst>
        </pc:spChg>
        <pc:spChg chg="mod">
          <ac:chgData name="CHAUDHARI, DHRUV VISHESH" userId="S::dhruv.chaudhari@esmt.berlin::66156c38-38d2-4ceb-bf00-92932e670c93" providerId="AD" clId="Web-{647979F5-2408-6A7B-CC23-F6CC16F4415F}" dt="2026-10-14T22:57:41.090" v="37" actId="1076"/>
          <ac:spMkLst>
            <pc:docMk/>
            <pc:sldMk cId="0" sldId="257"/>
            <ac:spMk id="16" creationId="{00000000-0000-0000-0000-000000000000}"/>
          </ac:spMkLst>
        </pc:spChg>
        <pc:picChg chg="add del mod">
          <ac:chgData name="CHAUDHARI, DHRUV VISHESH" userId="S::dhruv.chaudhari@esmt.berlin::66156c38-38d2-4ceb-bf00-92932e670c93" providerId="AD" clId="Web-{647979F5-2408-6A7B-CC23-F6CC16F4415F}" dt="2026-10-14T22:52:48.190" v="3"/>
          <ac:picMkLst>
            <pc:docMk/>
            <pc:sldMk cId="0" sldId="257"/>
            <ac:picMk id="19" creationId="{C742DD91-7637-92F1-7711-5613A7FC20BF}"/>
          </ac:picMkLst>
        </pc:picChg>
        <pc:picChg chg="add del mod">
          <ac:chgData name="CHAUDHARI, DHRUV VISHESH" userId="S::dhruv.chaudhari@esmt.berlin::66156c38-38d2-4ceb-bf00-92932e670c93" providerId="AD" clId="Web-{647979F5-2408-6A7B-CC23-F6CC16F4415F}" dt="2026-10-14T22:53:26.082" v="9"/>
          <ac:picMkLst>
            <pc:docMk/>
            <pc:sldMk cId="0" sldId="257"/>
            <ac:picMk id="20" creationId="{BAE09832-0256-8093-6490-5FBDEE17AE6D}"/>
          </ac:picMkLst>
        </pc:picChg>
        <pc:picChg chg="add del mod">
          <ac:chgData name="CHAUDHARI, DHRUV VISHESH" userId="S::dhruv.chaudhari@esmt.berlin::66156c38-38d2-4ceb-bf00-92932e670c93" providerId="AD" clId="Web-{647979F5-2408-6A7B-CC23-F6CC16F4415F}" dt="2026-10-14T22:55:22.820" v="13"/>
          <ac:picMkLst>
            <pc:docMk/>
            <pc:sldMk cId="0" sldId="257"/>
            <ac:picMk id="21" creationId="{BB6E6348-2AF7-6EB5-7EBE-0702AC5CBE30}"/>
          </ac:picMkLst>
        </pc:picChg>
        <pc:picChg chg="add mod modCrop">
          <ac:chgData name="CHAUDHARI, DHRUV VISHESH" userId="S::dhruv.chaudhari@esmt.berlin::66156c38-38d2-4ceb-bf00-92932e670c93" providerId="AD" clId="Web-{647979F5-2408-6A7B-CC23-F6CC16F4415F}" dt="2026-10-14T22:57:33.356" v="36" actId="14100"/>
          <ac:picMkLst>
            <pc:docMk/>
            <pc:sldMk cId="0" sldId="257"/>
            <ac:picMk id="22" creationId="{2448494E-34E0-4E35-99A3-166C0190C496}"/>
          </ac:picMkLst>
        </pc:picChg>
      </pc:sldChg>
      <pc:sldChg chg="modSp">
        <pc:chgData name="CHAUDHARI, DHRUV VISHESH" userId="S::dhruv.chaudhari@esmt.berlin::66156c38-38d2-4ceb-bf00-92932e670c93" providerId="AD" clId="Web-{647979F5-2408-6A7B-CC23-F6CC16F4415F}" dt="2026-10-14T22:48:16.056" v="1" actId="1076"/>
        <pc:sldMkLst>
          <pc:docMk/>
          <pc:sldMk cId="0" sldId="278"/>
        </pc:sldMkLst>
        <pc:spChg chg="mod">
          <ac:chgData name="CHAUDHARI, DHRUV VISHESH" userId="S::dhruv.chaudhari@esmt.berlin::66156c38-38d2-4ceb-bf00-92932e670c93" providerId="AD" clId="Web-{647979F5-2408-6A7B-CC23-F6CC16F4415F}" dt="2026-10-14T22:48:16.056" v="1" actId="1076"/>
          <ac:spMkLst>
            <pc:docMk/>
            <pc:sldMk cId="0" sldId="278"/>
            <ac:spMk id="6"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B9569DB9-F6D7-45E9-A0C6-954D9CC830DB}" type="datetimeFigureOut">
              <a:t>10/15/26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302A8618-CAD1-40AD-8102-7DBBB576B18B}" type="slidenum">
              <a:t>‹#›</a:t>
            </a:fld>
            <a:endParaRPr lang="en-US"/>
          </a:p>
        </p:txBody>
      </p:sp>
    </p:spTree>
    <p:extLst>
      <p:ext uri="{BB962C8B-B14F-4D97-AF65-F5344CB8AC3E}">
        <p14:creationId xmlns:p14="http://schemas.microsoft.com/office/powerpoint/2010/main" val="13458866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30 seconds. Good morning, we are Group Giant Anteater. [Names.]
Our title is a small pun you'll understand in a minute: when enforcement leaves, mining comes back for seconds, the way our animal comes back to the same termite mound.
We looked at one question FZS faces every year: what do you get for the money you put into enforcement? Our case is Operation Mercurio, Peru's biggest operation against illegal gold mining, which started in February 2019 in La Pampa, right next to the Tambopata reserve where FZS works. We used 30-metre satellite maps for every year since 1985 and tested in six ways whether the operation caused what we see.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30 seconds. Two facts about the giant anteater.
One: its tongue is about 60 centimetres long and flicks in and out up to 150 times a minute. That's how it eats up to 35,000 ants and termites a day (Smithsonian's National Zoo; National Geographic).
Two, and this is the one to remember: it spends only about a minute at each mound, because the ants fight back. It never destroys the nest. It moves on and comes back later to feed again (National Geographic).
Hold on to that habit. It is a good description of what we found for gold mining in La Pampa.</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FZS supports SERNANP's operations against illegal mining around Tambopata. Operations are expensive and they end. So the practical question is: what should FZS expect in the targeted area, and around it, once an operation is over?
There are three possibilities. Mining stops for good: deterrence. It moves next door: displacement. Or it waits and comes back: delay. Inside the target alone these look the same, which is why we compare areas.
The answer up front, all three are descriptions, not yet causes. One: net new mining in the buffer zone fell from about 1,640 to about 160 hectares a year. Two: new mining moved north of the highway, from about a quarter to two thirds. Three: it came back, to over 1,800 hectares a year in 2022 to 2025.</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of 5, about 12 seconds. This is Madre de Dios, in the south-east of the Peruvian Amazon. In green, the protected areas: Tambopata National Reserve in the south, the core area FZS helps protect, with its buffer zone around it. West of it the Amarakaeri buffer zone, east the Bahuaja-Sonene park. Pink outlines are native communities.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of 5, about 12 seconds. The white line is the Interoceanic Highway, paved road from Brazil to the Pacific. It runs right along the edge of the buffer zone. Remember this road: it becomes the border in our story.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of 5, about 12 seconds. The blue lines are rivers. Gold here is alluvial: it sits in the sediments of river floodplains, so mining follows the rivers. The grey patches are land already mapped as mining by 2018: that is La Pampa, Peru's largest illegal mining area.</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of 5, about 12 seconds. The blue area is the mining corridor created by decree in 2012, D.L. 1100. Inside it small-scale mining can be permitted. South of the road, in the buffer zone, the same work is a crime. Important for later: legality is about location. The satellite maps themselves cannot tell legal from illegal mining.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of 5, about 12 seconds. And this orange box is La Pampa, the target of Operation Mercurio from February 2019: over a thousand police and soldiers, with rotating commanders against corruption. The box is our boundary; there is no official one. The blue box just across the road is the part of the legal corridor directly opposite. Watch these two boxes.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75 seconds. Click to play. Each year, yellow pixels are land mapped as mining for the first time; they then fade to grey.
Before 2019 the yellow concentrates in La Pampa, south of the road. Watch the Mercurio pin in February 2019. In 2019 itself La Pampa is still busy; clearing went on that year. From 2020 La Pampa goes quiet and the yellow appears north of the road, in the corridor box. 2020 is also COVID: police and soldiers were pulled away.
From 2022 new mining returns in La Pampa, much of it on old, grey pits. 2023 brings a state of emergency; in 2025 the navy leaves its river posts.
The video ends with the caveat we'll repeat: satellites can't see river dredges or mercury.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This is the course's measure: the mapped mining area this year minus last year, in the Tambopata buffer zone.
Before the operation, 2016 to 2018, it added about 1,640 hectares a year. In 2019 to 2021 only about 163: a 90 percent drop. In 2022 to 2025 it was back at about 1,829.
Two things to note. The timing: the fall shows from 2020, the first COVID year, not straight away in 2019. And 2023 spikes everywhere in the region, which may partly be a map artefact, so don't read too much into that single year.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20 seconds. From here we switch to a sharper measure from the pixel maps: land mined for the very first time. Net additions can hide miners returning to old pits; this measure can't.
In La Pampa, first-time mining went from about 1,395 to 722 hectares a year: it halved, not the 90 percent of the net measure. The grey is everything else in Madre de Dios. Next click: we colour it in.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40 seconds. Same bars, now coloured by zone. Blue is the legal mining corridor; dark blue at the bottom is the part directly across the road from La Pampa.
The department as a whole did not fall at all: 5,317 hectares a year before, 6,571 during, 11,373 after. The legal corridor's share went from about half to almost three quarters.
Careful: the corridor grew by far more than La Pampa lost. So this is not just the same miners moving; new entrants and the gold price play a part. MAAP finds the same: 74 percent of mining deforestation in 2021 to 2024 was inside the corridor.</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40 seconds. Now zoom in to La Pampa's stretch of the highway. The line is the share of new mining north of the road, on the legal side.
Before the operation, about 23%. During, 65%. No other start year gives a bigger jump north.
Honest history: the road was crossed before. In 2008, during the Guacamayo boom, 93% of new mining was north of it. Independent evidence agrees: Dethier and colleagues (2023) found that after Mercurio pond colour, a sign of active mining, faded across La Pampa except in its northwest, where it rose 43 percent. We can't show it was the same people who moved.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30 seconds. The same story as a picture. Each bar is a one-kilometre strip parallel to the highway; the thick line is the road.
Before the operation the mass sits south, in the buffer zone. In 2019 to 2021 it sits in the first few kilometres north of the road. By 2022 to 2025 it has spread deeper into the corridor, and the south has partly come back.</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Why did it come back? Three things line up.
Left: the anti-illegal-mining budget booked in Madre de Dios jumped in 2019 and then shrank year after year; it's a lower bound because national units book in Lima. Middle: the gold price, up 2.7-fold from 2018 to 2025. Right: La Pampa's first-time mining, which came back as the money faded and the price rose.
And La Pampa had not run out of gold: by 2018 only 21% of its gold-bearing land had been mined.
If asked about a correlation: the yearly gap and spending correlate at r = -0.31 over 11 years. That is weak, and money also follows mining, so it is not a causal test.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30 seconds. How it came back matters for monitoring. Dark orange is land mined for the first time; light orange is old pits that were abandoned and mined again.
In 2023, two thirds of La Pampa's new mining was on old pits. Forest-loss alerts never see this, because there is no forest left to lose. MAAP #193 reports the same return to degraded land. Small old-pit counts include some map flicker, so trust the 2023 jump, not small changes.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40 seconds. This is FZS's core area. The course data stop at the buffer zone, so we downloaded the protected-area statistics ourselves.
Inside Tambopata National Reserve, mining stayed small for years. In 2025 it jumped by 241 hectares, to 777 in total. MAAP #241 reports about 500 hectares from late 2025 to February 2026, after the navy left its river posts on the Malinowski for lack of funds.
The 2017 bar is partly a map reclassification, not real mining.</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Only one area was targeted, so to ask 'did Mercurio cause the fall?' we need a stand-in: what would Tambopata have done without it? We built that stand-in six ways.
Two held up: difference-in-differences against the other 14 Peruvian buffer zones, and synthetic difference-in-differences, which weights zones and years to match Tambopata's past. Both find a fall far bigger than chance, but only in hectares.
The other four are weaker. A synthetic copy can't match a zone this big. The Brazilian twins grew at a different pace before 2019, so they fail the basic test. The road comparison is borderline. And seven matching methods all find Tambopata slower, but never beyond chance. Details are in the backup.</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40 seconds. This is the one causal sentence we are willing to make, and it has an 'if'. If the other buffer zones show what Tambopata would have done without the operation, then Mercurio and the operations that followed cut net new mining by roughly 400 to 1,900 hectares a year in 2019 to 2021. The low end comes from the synthetic control, the high end from the model with each zone's own trend.
Three limits. It holds in hectares, not relative to the zone's size: scaled, Tambopata is third of seven, nothing special. With one target among fifteen zones, 0.07 is the smallest p-value this test can produce. And the fall coincides with COVID: nothing fell in 2019 itself.</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40 seconds. How the test works: we pretend each of the other zones was the one targeted, and compute the same number. If Mercurio mattered, Tambopata's real change should stand out from all the fake ones.
Top row, in hectares: Tambopata, the orange dot, is far to the left of every grey dot. First of 15.
Bottom row, the same thing scaled to each zone's normal year: Tambopata sits among the others, 3rd of 7. A big zone falls a lot in hectares just by being big. That is why our claim is in hectares only.</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40 seconds. Every brief must say what satellites can't see. On the left: river dredges, which MAAP counted rising from 148 to 598 in La Pampa between 2021 and 2023; mercury in rivers and fish; people, because we count hectares, not miners; and legality, because legal and illegal mining look the same from space.
More useful for FZS is the direction of each bias, on the right. La Pampa was targeted at its record peak, so part of the fall may be a return to normal. Hectares understate activity on old pits and rivers. Miners moving into comparison zones widen the gap. A big zone falls more in hectares. All of these make the fall look bigger. Two push the other way: the comparison zones had their own operations, and yearly maps blur a February start.
So: read our fall as an upper bound, and the return as a lower bound.</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60 seconds. Three recommendations. They build on one case, so treat them as informed expectations, not proven rules.
One, stay after the sweep. The fall lasted only through 2021, and the 2025 incursion into the reserve came right after the navy left its river posts. A permanent presence protects more than another one-off operation.
Two, guard the reserve's edge and its river. 91% of all first-time mining inside the reserve lies within one kilometre of its edge. Staffed posts on the Malinowski river are a direct shield.
Three, watch the legal side of the boundary and the old pits. New mining just across the road jumped from about 70 to over 460 hectares a year. Old pits don't show up in forest-loss alerts. And push for proof of gold origin in the corridor; Brazil's 2023 reforms are a model.
What would let us say more: dated patrol records per zone from SERNANP or FZS, dredge counts, and mercury sampling.</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Happy to take questions. Backup slides: methods table, range of estimates, placebo tests, timing, depth, legality, declared gold, money, risk map, Brazil, and the map as one video.</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the zone-level designs clear their placebo floor, and only in hectares. Synthetic control can't fit Tambopata's size before 2019; the Brazilian twins fail the pre-trend test (p &lt; 0.001); the road discontinuity is borderline across bandwidths; matching never beats chance and has no common support.</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conditional range runs from the synthetic control (low end) to the model with each zone's own trend (high end). All estimates are conditional on the comparison zones being a fair stand-in.</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row runs one analysis many times. Grey dots: the fakes (another zone gets the "operation", or the operation "starts" in another year). Orange: the real result. The real result's rank among all of them is the p-value. In hectares, Tambopata's fall is far outside every fake. Scaled to size, two fake zones fall as much. At the road, the 2019 jump north beats every fake start year, but there are only a few.</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Forest-loss alerts per quarter (University of Maryland GLAD, Landsat, each pixel dated to the day), counted only on land MapBiomas maps as mining. La Pampa's alerts stayed high through 2019 and nearly stopped in 2021–23; across the road they rose from mid-2019.</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Mean distance north of the highway of each year's first-time mining, with the 0–10, 10–20 and 20–30 km bands. Right after Mercurio new mining hugged the road; then it spread deeper into the corridor.</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First-time mining in Madre de Dios split by MAAP's legality grade: Low = active concession, Medium = concession not verified as active, High = outside any concession, Very high = strict protected area. The presumed-illegal share fell, and the grey zone of unverified concessions grew.</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Madre de Dios gold in the ministry's yearly files, split into what producers declared and the artisanal estimate the ministry added. The "collapse" is the estimate disappearing in 2020; declared output rose.</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yearly amounts for Madre de Dios, 2022–25, on a log scale (each tick = 10×). Bars span the low–high range our cited parameters allow; a dot means one value. The gold mined and its social cost are hundreds of times the enforcement money booked in the region; the tax at stake is small next to both. Informed expectation from cited parameters, not a finding.</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Predicted chance that a 1-km cell gets first-time mining in 2026–28, from a model trained on 2019–21 and tested out of sample on 2022–25. Risk clusters next to old mining; the model adds little beyond "is there mining nearby?" and misses river-borne incursions. Informed expectation from cited parameters, not a finding.</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Rule-based twins (Ruby's design): Amanã and Tapajós. Tambopata grew faster than both before 2019 (pre-trend p &lt; 0.001), so they can't show what Tambopata would have done. Description only.</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if asked. MapBiomas Brazil Collection 11, same pixel method as Peru. A national change in January 2023 (new government, end of the gold 'good faith' rule, electronic gold invoices) hit all territories at once, which a territory-level design can't separate.</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five layers as the 'Where we are' slides, as one 26-second video.</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243B42"/>
        </a:solidFill>
        <a:effectLst/>
      </p:bgPr>
    </p:bg>
    <p:spTree>
      <p:nvGrpSpPr>
        <p:cNvPr id="1" name=""/>
        <p:cNvGrpSpPr/>
        <p:nvPr/>
      </p:nvGrpSpPr>
      <p:grpSpPr>
        <a:xfrm>
          <a:off x="0" y="0"/>
          <a:ext cx="0" cy="0"/>
          <a:chOff x="0" y="0"/>
          <a:chExt cx="0" cy="0"/>
        </a:xfrm>
      </p:grpSpPr>
      <p:sp>
        <p:nvSpPr>
          <p:cNvPr id="2" name="Text 0"/>
          <p:cNvSpPr/>
          <p:nvPr/>
        </p:nvSpPr>
        <p:spPr>
          <a:xfrm>
            <a:off x="502920" y="6510528"/>
            <a:ext cx="8229600" cy="219456"/>
          </a:xfrm>
          <a:prstGeom prst="rect">
            <a:avLst/>
          </a:prstGeom>
          <a:noFill/>
          <a:ln/>
        </p:spPr>
        <p:txBody>
          <a:bodyPr wrap="square" lIns="0" tIns="0" rIns="0" bIns="0" rtlCol="0" anchor="ctr"/>
          <a:lstStyle/>
          <a:p>
            <a:pPr marL="0" indent="0">
              <a:buNone/>
            </a:pPr>
            <a:r>
              <a:rPr lang="en-US" sz="900" kern="0" spc="150" dirty="0">
                <a:solidFill>
                  <a:srgbClr val="C3D0CF"/>
                </a:solidFill>
                <a:latin typeface="Roboto Medium" pitchFamily="34" charset="0"/>
                <a:ea typeface="Roboto Medium" pitchFamily="34" charset="-122"/>
                <a:cs typeface="Roboto Medium" pitchFamily="34" charset="-120"/>
              </a:rPr>
              <a:t>WHEN THE PATROLS LEAVE  ·  GROUP GIANT ANTEATER  ·  DATA FOR GOOD</a:t>
            </a:r>
            <a:endParaRPr lang="en-US" sz="900" dirty="0"/>
          </a:p>
        </p:txBody>
      </p:sp>
      <p:sp>
        <p:nvSpPr>
          <p:cNvPr id="25" name="Slide Number Placeholder 0"/>
          <p:cNvSpPr>
            <a:spLocks noGrp="1"/>
          </p:cNvSpPr>
          <p:nvPr>
            <p:ph type="sldNum" sz="quarter" idx="4294967295"/>
          </p:nvPr>
        </p:nvSpPr>
        <p:spPr>
          <a:xfrm>
            <a:off x="11140135" y="6510528"/>
            <a:ext cx="548640" cy="219456"/>
          </a:xfrm>
          <a:prstGeom prst="rect">
            <a:avLst/>
          </a:prstGeom>
          <a:extLst>
            <a:ext uri="{C572A759-6A51-4108-AA02-DFA0A04FC94B}">
              <ma14:wrappingTextBoxFlag xmlns="" xmlns:ma14="http://schemas.microsoft.com/office/mac/drawingml/2011/main" val="0"/>
            </a:ext>
          </a:extLst>
        </p:spPr>
        <p:txBody>
          <a:bodyPr/>
          <a:lstStyle>
            <a:lvl1pPr>
              <a:defRPr sz="900">
                <a:solidFill>
                  <a:srgbClr val="C3D0CF"/>
                </a:solidFill>
                <a:latin typeface="Roboto"/>
                <a:ea typeface="Roboto"/>
                <a:cs typeface="Roboto"/>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rgbClr val="F2EFEA"/>
        </a:solidFill>
        <a:effectLst/>
      </p:bgPr>
    </p:bg>
    <p:spTree>
      <p:nvGrpSpPr>
        <p:cNvPr id="1" name=""/>
        <p:cNvGrpSpPr/>
        <p:nvPr/>
      </p:nvGrpSpPr>
      <p:grpSpPr>
        <a:xfrm>
          <a:off x="0" y="0"/>
          <a:ext cx="0" cy="0"/>
          <a:chOff x="0" y="0"/>
          <a:chExt cx="0" cy="0"/>
        </a:xfrm>
      </p:grpSpPr>
      <p:sp>
        <p:nvSpPr>
          <p:cNvPr id="2" name="Text 0"/>
          <p:cNvSpPr/>
          <p:nvPr/>
        </p:nvSpPr>
        <p:spPr>
          <a:xfrm>
            <a:off x="502920" y="6510528"/>
            <a:ext cx="8229600" cy="219456"/>
          </a:xfrm>
          <a:prstGeom prst="rect">
            <a:avLst/>
          </a:prstGeom>
          <a:noFill/>
          <a:ln/>
        </p:spPr>
        <p:txBody>
          <a:bodyPr wrap="square" lIns="0" tIns="0" rIns="0" bIns="0" rtlCol="0" anchor="ctr"/>
          <a:lstStyle/>
          <a:p>
            <a:pPr marL="0" indent="0">
              <a:buNone/>
            </a:pPr>
            <a:r>
              <a:rPr lang="en-US" sz="900" kern="0" spc="150" dirty="0">
                <a:solidFill>
                  <a:srgbClr val="6C7B80"/>
                </a:solidFill>
                <a:latin typeface="Roboto Medium" pitchFamily="34" charset="0"/>
                <a:ea typeface="Roboto Medium" pitchFamily="34" charset="-122"/>
                <a:cs typeface="Roboto Medium" pitchFamily="34" charset="-120"/>
              </a:rPr>
              <a:t>WHEN THE PATROLS LEAVE  ·  GROUP GIANT ANTEATER  ·  DATA FOR GOOD</a:t>
            </a:r>
            <a:endParaRPr lang="en-US" sz="900" dirty="0"/>
          </a:p>
        </p:txBody>
      </p:sp>
      <p:sp>
        <p:nvSpPr>
          <p:cNvPr id="25" name="Slide Number Placeholder 0"/>
          <p:cNvSpPr>
            <a:spLocks noGrp="1"/>
          </p:cNvSpPr>
          <p:nvPr>
            <p:ph type="sldNum" sz="quarter" idx="4294967295"/>
          </p:nvPr>
        </p:nvSpPr>
        <p:spPr>
          <a:xfrm>
            <a:off x="11140135" y="6510528"/>
            <a:ext cx="548640" cy="219456"/>
          </a:xfrm>
          <a:prstGeom prst="rect">
            <a:avLst/>
          </a:prstGeom>
          <a:extLst>
            <a:ext uri="{C572A759-6A51-4108-AA02-DFA0A04FC94B}">
              <ma14:wrappingTextBoxFlag xmlns="" xmlns:ma14="http://schemas.microsoft.com/office/mac/drawingml/2011/main" val="0"/>
            </a:ext>
          </a:extLst>
        </p:spPr>
        <p:txBody>
          <a:bodyPr/>
          <a:lstStyle>
            <a:lvl1pPr>
              <a:defRPr sz="900">
                <a:solidFill>
                  <a:srgbClr val="6C7B80"/>
                </a:solidFill>
                <a:latin typeface="Roboto"/>
                <a:ea typeface="Roboto"/>
                <a:cs typeface="Roboto"/>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40135" y="6510528"/>
            <a:ext cx="548640" cy="219456"/>
          </a:xfrm>
          <a:prstGeom prst="rect">
            <a:avLst/>
          </a:prstGeom>
          <a:extLst>
            <a:ext uri="{C572A759-6A51-4108-AA02-DFA0A04FC94B}">
              <ma14:wrappingTextBoxFlag xmlns="" xmlns:ma14="http://schemas.microsoft.com/office/mac/drawingml/2011/main" val="0"/>
            </a:ext>
          </a:extLst>
        </p:spPr>
        <p:txBody>
          <a:bodyPr/>
          <a:lstStyle>
            <a:lvl1pPr>
              <a:defRPr sz="900">
                <a:solidFill>
                  <a:srgbClr val="C3D0CF"/>
                </a:solidFill>
                <a:latin typeface="Roboto"/>
                <a:ea typeface="Roboto"/>
                <a:cs typeface="Roboto"/>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8.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18.xml"/><Relationship Id="rId1" Type="http://schemas.openxmlformats.org/officeDocument/2006/relationships/slideLayout" Target="../slideLayouts/slideLayout3.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1.xml"/><Relationship Id="rId1" Type="http://schemas.openxmlformats.org/officeDocument/2006/relationships/slideLayout" Target="../slideLayouts/slideLayout3.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2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29.png"/></Relationships>
</file>

<file path=ppt/slides/_rels/slide2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video" Target="../media/media2.mp4"/><Relationship Id="rId1" Type="http://schemas.microsoft.com/office/2007/relationships/media" Target="../media/media2.mp4"/><Relationship Id="rId5" Type="http://schemas.openxmlformats.org/officeDocument/2006/relationships/image" Target="../media/image41.png"/><Relationship Id="rId4"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02920" y="384048"/>
            <a:ext cx="3483864" cy="274320"/>
          </a:xfrm>
          <a:prstGeom prst="rect">
            <a:avLst/>
          </a:prstGeom>
          <a:noFill/>
          <a:ln/>
        </p:spPr>
        <p:txBody>
          <a:bodyPr wrap="square" lIns="0" tIns="0" rIns="0" bIns="0" rtlCol="0" anchor="ctr"/>
          <a:lstStyle/>
          <a:p>
            <a:pPr marL="0" indent="0">
              <a:buNone/>
            </a:pPr>
            <a:r>
              <a:rPr lang="en-US" sz="1200" kern="0" spc="220" dirty="0">
                <a:solidFill>
                  <a:srgbClr val="B9C94F"/>
                </a:solidFill>
                <a:latin typeface="Roboto Medium" pitchFamily="34" charset="0"/>
                <a:ea typeface="Roboto Medium" pitchFamily="34" charset="-122"/>
                <a:cs typeface="Roboto Medium" pitchFamily="34" charset="-120"/>
              </a:rPr>
              <a:t>DATA FOR GOOD · QUESTION 2</a:t>
            </a:r>
            <a:endParaRPr lang="en-US" sz="1200" dirty="0"/>
          </a:p>
        </p:txBody>
      </p:sp>
      <p:sp>
        <p:nvSpPr>
          <p:cNvPr id="3" name="Shape 1"/>
          <p:cNvSpPr/>
          <p:nvPr/>
        </p:nvSpPr>
        <p:spPr>
          <a:xfrm>
            <a:off x="4096512" y="521208"/>
            <a:ext cx="7592263" cy="0"/>
          </a:xfrm>
          <a:prstGeom prst="line">
            <a:avLst/>
          </a:prstGeom>
          <a:noFill/>
          <a:ln w="9525">
            <a:solidFill>
              <a:srgbClr val="B9C94F">
                <a:alpha val="70000"/>
              </a:srgbClr>
            </a:solidFill>
            <a:prstDash val="solid"/>
          </a:ln>
        </p:spPr>
        <p:txBody>
          <a:bodyPr/>
          <a:lstStyle/>
          <a:p>
            <a:endParaRPr lang="en-US"/>
          </a:p>
        </p:txBody>
      </p:sp>
      <p:sp>
        <p:nvSpPr>
          <p:cNvPr id="4" name="title"/>
          <p:cNvSpPr txBox="1"/>
          <p:nvPr/>
        </p:nvSpPr>
        <p:spPr>
          <a:xfrm>
            <a:off x="502920" y="1097280"/>
            <a:ext cx="6309360" cy="2194560"/>
          </a:xfrm>
          <a:prstGeom prst="rect">
            <a:avLst/>
          </a:prstGeom>
          <a:noFill/>
          <a:ln/>
        </p:spPr>
        <p:txBody>
          <a:bodyPr wrap="square" lIns="0" tIns="0" rIns="0" bIns="0" rtlCol="0" anchor="t"/>
          <a:lstStyle/>
          <a:p>
            <a:pPr marL="0" indent="0">
              <a:buNone/>
            </a:pPr>
            <a:r>
              <a:rPr lang="en-US" sz="4600" dirty="0">
                <a:solidFill>
                  <a:srgbClr val="F3F5F2"/>
                </a:solidFill>
                <a:latin typeface="Roboto Light" pitchFamily="34" charset="0"/>
                <a:ea typeface="Roboto Light" pitchFamily="34" charset="-122"/>
                <a:cs typeface="Roboto Light" pitchFamily="34" charset="-120"/>
              </a:rPr>
              <a:t>When the patrols leave,</a:t>
            </a:r>
            <a:endParaRPr lang="en-US" sz="4600" dirty="0"/>
          </a:p>
          <a:p>
            <a:pPr marL="0" indent="0">
              <a:buNone/>
            </a:pPr>
            <a:r>
              <a:rPr lang="en-US" sz="4600" dirty="0">
                <a:solidFill>
                  <a:srgbClr val="B9C94F"/>
                </a:solidFill>
                <a:latin typeface="Roboto Light" pitchFamily="34" charset="0"/>
                <a:ea typeface="Roboto Light" pitchFamily="34" charset="-122"/>
                <a:cs typeface="Roboto Light" pitchFamily="34" charset="-120"/>
              </a:rPr>
              <a:t>mining comes back for seconds.</a:t>
            </a:r>
            <a:endParaRPr lang="en-US" sz="4600" dirty="0"/>
          </a:p>
        </p:txBody>
      </p:sp>
      <p:sp>
        <p:nvSpPr>
          <p:cNvPr id="5" name="Text 3"/>
          <p:cNvSpPr txBox="1"/>
          <p:nvPr/>
        </p:nvSpPr>
        <p:spPr>
          <a:xfrm>
            <a:off x="502920" y="3337560"/>
            <a:ext cx="5760720" cy="548640"/>
          </a:xfrm>
          <a:prstGeom prst="rect">
            <a:avLst/>
          </a:prstGeom>
          <a:noFill/>
          <a:ln/>
        </p:spPr>
        <p:txBody>
          <a:bodyPr wrap="square" lIns="0" tIns="0" rIns="0" bIns="0" rtlCol="0" anchor="t"/>
          <a:lstStyle/>
          <a:p>
            <a:pPr marL="0" indent="0">
              <a:buNone/>
            </a:pPr>
            <a:r>
              <a:rPr lang="en-US" sz="1700" dirty="0">
                <a:solidFill>
                  <a:srgbClr val="C3D0CF"/>
                </a:solidFill>
                <a:latin typeface="Roboto" pitchFamily="34" charset="0"/>
                <a:ea typeface="Roboto" pitchFamily="34" charset="-122"/>
                <a:cs typeface="Roboto" pitchFamily="34" charset="-120"/>
              </a:rPr>
              <a:t>What Operation Mercurio means for FZS's work in Tambopata.</a:t>
            </a:r>
            <a:endParaRPr lang="en-US" sz="1700" dirty="0"/>
          </a:p>
        </p:txBody>
      </p:sp>
      <p:sp>
        <p:nvSpPr>
          <p:cNvPr id="6" name="Shape 4"/>
          <p:cNvSpPr/>
          <p:nvPr/>
        </p:nvSpPr>
        <p:spPr>
          <a:xfrm>
            <a:off x="502920" y="4526280"/>
            <a:ext cx="6126480" cy="0"/>
          </a:xfrm>
          <a:prstGeom prst="line">
            <a:avLst/>
          </a:prstGeom>
          <a:noFill/>
          <a:ln w="9525">
            <a:solidFill>
              <a:srgbClr val="FFFFFF">
                <a:alpha val="18000"/>
              </a:srgbClr>
            </a:solidFill>
            <a:prstDash val="solid"/>
          </a:ln>
        </p:spPr>
        <p:txBody>
          <a:bodyPr/>
          <a:lstStyle/>
          <a:p>
            <a:endParaRPr lang="en-US"/>
          </a:p>
        </p:txBody>
      </p:sp>
      <p:sp>
        <p:nvSpPr>
          <p:cNvPr id="7" name="Text 5"/>
          <p:cNvSpPr txBox="1"/>
          <p:nvPr/>
        </p:nvSpPr>
        <p:spPr>
          <a:xfrm>
            <a:off x="502920" y="4645152"/>
            <a:ext cx="1874520" cy="548640"/>
          </a:xfrm>
          <a:prstGeom prst="rect">
            <a:avLst/>
          </a:prstGeom>
          <a:noFill/>
          <a:ln/>
        </p:spPr>
        <p:txBody>
          <a:bodyPr wrap="square" lIns="0" tIns="0" rIns="0" bIns="0" rtlCol="0" anchor="ctr"/>
          <a:lstStyle/>
          <a:p>
            <a:pPr marL="0" indent="0">
              <a:buNone/>
            </a:pPr>
            <a:r>
              <a:rPr lang="en-US" sz="2800" dirty="0">
                <a:solidFill>
                  <a:srgbClr val="B9C94F"/>
                </a:solidFill>
                <a:latin typeface="Roboto Light" pitchFamily="34" charset="0"/>
                <a:ea typeface="Roboto Light" pitchFamily="34" charset="-122"/>
                <a:cs typeface="Roboto Light" pitchFamily="34" charset="-120"/>
              </a:rPr>
              <a:t>Feb 2019</a:t>
            </a:r>
            <a:endParaRPr lang="en-US" sz="2800" dirty="0"/>
          </a:p>
        </p:txBody>
      </p:sp>
      <p:sp>
        <p:nvSpPr>
          <p:cNvPr id="8" name="Text 6"/>
          <p:cNvSpPr txBox="1"/>
          <p:nvPr/>
        </p:nvSpPr>
        <p:spPr>
          <a:xfrm>
            <a:off x="502920" y="5193792"/>
            <a:ext cx="1828800" cy="365760"/>
          </a:xfrm>
          <a:prstGeom prst="rect">
            <a:avLst/>
          </a:prstGeom>
          <a:noFill/>
          <a:ln/>
        </p:spPr>
        <p:txBody>
          <a:bodyPr wrap="square" lIns="0" tIns="0" rIns="0" bIns="0" rtlCol="0" anchor="t"/>
          <a:lstStyle/>
          <a:p>
            <a:pPr marL="0" indent="0">
              <a:buNone/>
            </a:pPr>
            <a:r>
              <a:rPr lang="en-US" sz="1200" dirty="0">
                <a:solidFill>
                  <a:srgbClr val="C3D0CF"/>
                </a:solidFill>
                <a:latin typeface="Roboto" pitchFamily="34" charset="0"/>
                <a:ea typeface="Roboto" pitchFamily="34" charset="-122"/>
                <a:cs typeface="Roboto" pitchFamily="34" charset="-120"/>
              </a:rPr>
              <a:t>Operation Mercurio starts</a:t>
            </a:r>
            <a:endParaRPr lang="en-US" sz="1200" dirty="0"/>
          </a:p>
        </p:txBody>
      </p:sp>
      <p:sp>
        <p:nvSpPr>
          <p:cNvPr id="9" name="Shape 7"/>
          <p:cNvSpPr/>
          <p:nvPr/>
        </p:nvSpPr>
        <p:spPr>
          <a:xfrm>
            <a:off x="2450592" y="4617720"/>
            <a:ext cx="0" cy="914400"/>
          </a:xfrm>
          <a:prstGeom prst="line">
            <a:avLst/>
          </a:prstGeom>
          <a:noFill/>
          <a:ln w="9525">
            <a:solidFill>
              <a:srgbClr val="FFFFFF">
                <a:alpha val="18000"/>
              </a:srgbClr>
            </a:solidFill>
            <a:prstDash val="solid"/>
          </a:ln>
        </p:spPr>
        <p:txBody>
          <a:bodyPr/>
          <a:lstStyle/>
          <a:p>
            <a:endParaRPr lang="en-US"/>
          </a:p>
        </p:txBody>
      </p:sp>
      <p:sp>
        <p:nvSpPr>
          <p:cNvPr id="10" name="Text 8"/>
          <p:cNvSpPr txBox="1"/>
          <p:nvPr/>
        </p:nvSpPr>
        <p:spPr>
          <a:xfrm>
            <a:off x="2578608" y="4645152"/>
            <a:ext cx="1874520" cy="548640"/>
          </a:xfrm>
          <a:prstGeom prst="rect">
            <a:avLst/>
          </a:prstGeom>
          <a:noFill/>
          <a:ln/>
        </p:spPr>
        <p:txBody>
          <a:bodyPr wrap="square" lIns="0" tIns="0" rIns="0" bIns="0" rtlCol="0" anchor="ctr"/>
          <a:lstStyle/>
          <a:p>
            <a:pPr marL="0" indent="0">
              <a:buNone/>
            </a:pPr>
            <a:r>
              <a:rPr lang="en-US" sz="2800" dirty="0">
                <a:solidFill>
                  <a:srgbClr val="B9C94F"/>
                </a:solidFill>
                <a:latin typeface="Roboto Light" pitchFamily="34" charset="0"/>
                <a:ea typeface="Roboto Light" pitchFamily="34" charset="-122"/>
                <a:cs typeface="Roboto Light" pitchFamily="34" charset="-120"/>
              </a:rPr>
              <a:t>30 m</a:t>
            </a:r>
            <a:endParaRPr lang="en-US" sz="2800" dirty="0"/>
          </a:p>
        </p:txBody>
      </p:sp>
      <p:sp>
        <p:nvSpPr>
          <p:cNvPr id="11" name="Text 9"/>
          <p:cNvSpPr txBox="1"/>
          <p:nvPr/>
        </p:nvSpPr>
        <p:spPr>
          <a:xfrm>
            <a:off x="2578608" y="5193792"/>
            <a:ext cx="1828800" cy="365760"/>
          </a:xfrm>
          <a:prstGeom prst="rect">
            <a:avLst/>
          </a:prstGeom>
          <a:noFill/>
          <a:ln/>
        </p:spPr>
        <p:txBody>
          <a:bodyPr wrap="square" lIns="0" tIns="0" rIns="0" bIns="0" rtlCol="0" anchor="t"/>
          <a:lstStyle/>
          <a:p>
            <a:pPr marL="0" indent="0">
              <a:buNone/>
            </a:pPr>
            <a:r>
              <a:rPr lang="en-US" sz="1200" dirty="0">
                <a:solidFill>
                  <a:srgbClr val="C3D0CF"/>
                </a:solidFill>
                <a:latin typeface="Roboto" pitchFamily="34" charset="0"/>
                <a:ea typeface="Roboto" pitchFamily="34" charset="-122"/>
                <a:cs typeface="Roboto" pitchFamily="34" charset="-120"/>
              </a:rPr>
              <a:t>satellite pixels since 1985</a:t>
            </a:r>
            <a:endParaRPr lang="en-US" sz="1200" dirty="0"/>
          </a:p>
        </p:txBody>
      </p:sp>
      <p:sp>
        <p:nvSpPr>
          <p:cNvPr id="12" name="Shape 10"/>
          <p:cNvSpPr/>
          <p:nvPr/>
        </p:nvSpPr>
        <p:spPr>
          <a:xfrm>
            <a:off x="4526280" y="4617720"/>
            <a:ext cx="0" cy="914400"/>
          </a:xfrm>
          <a:prstGeom prst="line">
            <a:avLst/>
          </a:prstGeom>
          <a:noFill/>
          <a:ln w="9525">
            <a:solidFill>
              <a:srgbClr val="FFFFFF">
                <a:alpha val="18000"/>
              </a:srgbClr>
            </a:solidFill>
            <a:prstDash val="solid"/>
          </a:ln>
        </p:spPr>
        <p:txBody>
          <a:bodyPr/>
          <a:lstStyle/>
          <a:p>
            <a:endParaRPr lang="en-US"/>
          </a:p>
        </p:txBody>
      </p:sp>
      <p:sp>
        <p:nvSpPr>
          <p:cNvPr id="13" name="Text 11"/>
          <p:cNvSpPr txBox="1"/>
          <p:nvPr/>
        </p:nvSpPr>
        <p:spPr>
          <a:xfrm>
            <a:off x="4654296" y="4645152"/>
            <a:ext cx="1874520" cy="548640"/>
          </a:xfrm>
          <a:prstGeom prst="rect">
            <a:avLst/>
          </a:prstGeom>
          <a:noFill/>
          <a:ln/>
        </p:spPr>
        <p:txBody>
          <a:bodyPr wrap="square" lIns="0" tIns="0" rIns="0" bIns="0" rtlCol="0" anchor="ctr"/>
          <a:lstStyle/>
          <a:p>
            <a:pPr marL="0" indent="0">
              <a:buNone/>
            </a:pPr>
            <a:r>
              <a:rPr lang="en-US" sz="2800" dirty="0">
                <a:solidFill>
                  <a:srgbClr val="B9C94F"/>
                </a:solidFill>
                <a:latin typeface="Roboto Light" pitchFamily="34" charset="0"/>
                <a:ea typeface="Roboto Light" pitchFamily="34" charset="-122"/>
                <a:cs typeface="Roboto Light" pitchFamily="34" charset="-120"/>
              </a:rPr>
              <a:t>6</a:t>
            </a:r>
            <a:endParaRPr lang="en-US" sz="2800" dirty="0"/>
          </a:p>
        </p:txBody>
      </p:sp>
      <p:sp>
        <p:nvSpPr>
          <p:cNvPr id="14" name="Text 12"/>
          <p:cNvSpPr txBox="1"/>
          <p:nvPr/>
        </p:nvSpPr>
        <p:spPr>
          <a:xfrm>
            <a:off x="4654296" y="5193792"/>
            <a:ext cx="1828800" cy="365760"/>
          </a:xfrm>
          <a:prstGeom prst="rect">
            <a:avLst/>
          </a:prstGeom>
          <a:noFill/>
          <a:ln/>
        </p:spPr>
        <p:txBody>
          <a:bodyPr wrap="square" lIns="0" tIns="0" rIns="0" bIns="0" rtlCol="0" anchor="t"/>
          <a:lstStyle/>
          <a:p>
            <a:pPr marL="0" indent="0">
              <a:buNone/>
            </a:pPr>
            <a:r>
              <a:rPr lang="en-US" sz="1200" dirty="0">
                <a:solidFill>
                  <a:srgbClr val="C3D0CF"/>
                </a:solidFill>
                <a:latin typeface="Roboto" pitchFamily="34" charset="0"/>
                <a:ea typeface="Roboto" pitchFamily="34" charset="-122"/>
                <a:cs typeface="Roboto" pitchFamily="34" charset="-120"/>
              </a:rPr>
              <a:t>tests for cause</a:t>
            </a:r>
            <a:endParaRPr lang="en-US" sz="1200" dirty="0"/>
          </a:p>
        </p:txBody>
      </p:sp>
      <p:sp>
        <p:nvSpPr>
          <p:cNvPr id="15" name="photo-placeholder"/>
          <p:cNvSpPr/>
          <p:nvPr/>
        </p:nvSpPr>
        <p:spPr>
          <a:xfrm>
            <a:off x="7086600" y="577572"/>
            <a:ext cx="4602175" cy="5943600"/>
          </a:xfrm>
          <a:prstGeom prst="rect">
            <a:avLst/>
          </a:prstGeom>
          <a:solidFill>
            <a:srgbClr val="2E4850"/>
          </a:solidFill>
          <a:ln w="12700">
            <a:solidFill>
              <a:srgbClr val="3D555D"/>
            </a:solidFill>
            <a:prstDash val="dash"/>
          </a:ln>
        </p:spPr>
        <p:txBody>
          <a:bodyPr/>
          <a:lstStyle/>
          <a:p>
            <a:endParaRPr lang="en-US"/>
          </a:p>
        </p:txBody>
      </p:sp>
      <p:sp>
        <p:nvSpPr>
          <p:cNvPr id="16" name="Text 14"/>
          <p:cNvSpPr txBox="1"/>
          <p:nvPr/>
        </p:nvSpPr>
        <p:spPr>
          <a:xfrm>
            <a:off x="7086600" y="3081528"/>
            <a:ext cx="4602175" cy="548640"/>
          </a:xfrm>
          <a:prstGeom prst="rect">
            <a:avLst/>
          </a:prstGeom>
          <a:noFill/>
          <a:ln/>
        </p:spPr>
        <p:txBody>
          <a:bodyPr wrap="square" rtlCol="0" anchor="ctr"/>
          <a:lstStyle/>
          <a:p>
            <a:pPr marL="0" indent="0" algn="ctr">
              <a:buNone/>
            </a:pPr>
            <a:r>
              <a:rPr lang="en-US" sz="1300" i="1" dirty="0">
                <a:solidFill>
                  <a:srgbClr val="C3D0CF"/>
                </a:solidFill>
                <a:latin typeface="Roboto" pitchFamily="34" charset="0"/>
                <a:ea typeface="Roboto" pitchFamily="34" charset="-122"/>
                <a:cs typeface="Roboto" pitchFamily="34" charset="-120"/>
              </a:rPr>
              <a:t>Photo: giant anteater</a:t>
            </a:r>
            <a:endParaRPr lang="en-US" sz="1300" dirty="0"/>
          </a:p>
        </p:txBody>
      </p:sp>
      <p:sp>
        <p:nvSpPr>
          <p:cNvPr id="25" name="Slide Number Placeholder 0"/>
          <p:cNvSpPr>
            <a:spLocks noGrp="1"/>
          </p:cNvSpPr>
          <p:nvPr>
            <p:ph type="sldNum" sz="quarter" idx="4294967295"/>
          </p:nvPr>
        </p:nvSpPr>
        <p:spPr>
          <a:xfrm>
            <a:off x="11140135" y="6510528"/>
            <a:ext cx="548640" cy="219456"/>
          </a:xfrm>
          <a:prstGeom prst="rect">
            <a:avLst/>
          </a:prstGeom>
          <a:extLst>
            <a:ext uri="{C572A759-6A51-4108-AA02-DFA0A04FC94B}">
              <ma14:wrappingTextBoxFlag xmlns="" xmlns:ma14="http://schemas.microsoft.com/office/mac/drawingml/2011/main" val="0"/>
            </a:ext>
          </a:extLst>
        </p:spPr>
        <p:txBody>
          <a:bodyPr/>
          <a:lstStyle>
            <a:lvl1pPr>
              <a:defRPr sz="900">
                <a:solidFill>
                  <a:srgbClr val="C3D0CF"/>
                </a:solidFill>
                <a:latin typeface="Roboto"/>
                <a:ea typeface="Roboto"/>
                <a:cs typeface="Roboto"/>
              </a:defRPr>
            </a:lvl1pPr>
          </a:lstStyle>
          <a:p>
            <a:pPr algn="r"/>
            <a:fld id="{F7021451-1387-4CA6-816F-3879F97B5CBC}" type="slidenum">
              <a:rPr lang="en-US" b="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02920" y="384048"/>
            <a:ext cx="4101084" cy="274320"/>
          </a:xfrm>
          <a:prstGeom prst="rect">
            <a:avLst/>
          </a:prstGeom>
          <a:noFill/>
          <a:ln/>
        </p:spPr>
        <p:txBody>
          <a:bodyPr wrap="square" lIns="0" tIns="0" rIns="0" bIns="0" rtlCol="0" anchor="ctr"/>
          <a:lstStyle/>
          <a:p>
            <a:pPr marL="0" indent="0">
              <a:buNone/>
            </a:pPr>
            <a:r>
              <a:rPr lang="en-US" sz="1200" kern="0" spc="220" dirty="0">
                <a:solidFill>
                  <a:srgbClr val="A42C58"/>
                </a:solidFill>
                <a:latin typeface="Roboto Medium" pitchFamily="34" charset="0"/>
                <a:ea typeface="Roboto Medium" pitchFamily="34" charset="-122"/>
                <a:cs typeface="Roboto Medium" pitchFamily="34" charset="-120"/>
              </a:rPr>
              <a:t>00   </a:t>
            </a:r>
            <a:r>
              <a:rPr lang="en-US" sz="1200" kern="0" spc="220" dirty="0">
                <a:solidFill>
                  <a:srgbClr val="3C7D2C"/>
                </a:solidFill>
                <a:latin typeface="Roboto Medium" pitchFamily="34" charset="0"/>
                <a:ea typeface="Roboto Medium" pitchFamily="34" charset="-122"/>
                <a:cs typeface="Roboto Medium" pitchFamily="34" charset="-120"/>
              </a:rPr>
              <a:t>TWO FACTS ABOUT OUR ANIMAL</a:t>
            </a:r>
            <a:endParaRPr lang="en-US" sz="1200" dirty="0"/>
          </a:p>
        </p:txBody>
      </p:sp>
      <p:sp>
        <p:nvSpPr>
          <p:cNvPr id="3" name="Shape 1"/>
          <p:cNvSpPr/>
          <p:nvPr/>
        </p:nvSpPr>
        <p:spPr>
          <a:xfrm>
            <a:off x="4713732" y="521208"/>
            <a:ext cx="6975043" cy="0"/>
          </a:xfrm>
          <a:prstGeom prst="line">
            <a:avLst/>
          </a:prstGeom>
          <a:noFill/>
          <a:ln w="9525">
            <a:solidFill>
              <a:srgbClr val="3C7D2C">
                <a:alpha val="55000"/>
              </a:srgbClr>
            </a:solidFill>
            <a:prstDash val="solid"/>
          </a:ln>
        </p:spPr>
        <p:txBody>
          <a:bodyPr/>
          <a:lstStyle/>
          <a:p>
            <a:endParaRPr lang="en-US"/>
          </a:p>
        </p:txBody>
      </p:sp>
      <p:sp>
        <p:nvSpPr>
          <p:cNvPr id="4" name="title"/>
          <p:cNvSpPr txBox="1"/>
          <p:nvPr/>
        </p:nvSpPr>
        <p:spPr>
          <a:xfrm>
            <a:off x="502920" y="731520"/>
            <a:ext cx="11185855" cy="475488"/>
          </a:xfrm>
          <a:prstGeom prst="rect">
            <a:avLst/>
          </a:prstGeom>
          <a:noFill/>
          <a:ln/>
        </p:spPr>
        <p:txBody>
          <a:bodyPr wrap="square" lIns="0" tIns="0" rIns="0" bIns="0" rtlCol="0" anchor="t"/>
          <a:lstStyle/>
          <a:p>
            <a:pPr marL="0" indent="0">
              <a:buNone/>
            </a:pPr>
            <a:r>
              <a:rPr lang="en-US" sz="2800" dirty="0">
                <a:solidFill>
                  <a:srgbClr val="22383F"/>
                </a:solidFill>
                <a:latin typeface="Roboto Light" pitchFamily="34" charset="0"/>
                <a:ea typeface="Roboto Light" pitchFamily="34" charset="-122"/>
                <a:cs typeface="Roboto Light" pitchFamily="34" charset="-120"/>
              </a:rPr>
              <a:t>Anteaters eat 35,000 ants a day, and never destroy a nest</a:t>
            </a:r>
            <a:endParaRPr lang="en-US" sz="2800" dirty="0"/>
          </a:p>
        </p:txBody>
      </p:sp>
      <p:sp>
        <p:nvSpPr>
          <p:cNvPr id="5" name="plate"/>
          <p:cNvSpPr/>
          <p:nvPr/>
        </p:nvSpPr>
        <p:spPr>
          <a:xfrm>
            <a:off x="502920" y="1691640"/>
            <a:ext cx="3566160" cy="3749040"/>
          </a:xfrm>
          <a:prstGeom prst="rect">
            <a:avLst/>
          </a:prstGeom>
          <a:solidFill>
            <a:srgbClr val="FBFAF7"/>
          </a:solidFill>
          <a:ln w="9525">
            <a:solidFill>
              <a:srgbClr val="D9D2C7"/>
            </a:solidFill>
            <a:prstDash val="solid"/>
          </a:ln>
        </p:spPr>
        <p:txBody>
          <a:bodyPr/>
          <a:lstStyle/>
          <a:p>
            <a:endParaRPr lang="en-US"/>
          </a:p>
        </p:txBody>
      </p:sp>
      <p:sp>
        <p:nvSpPr>
          <p:cNvPr id="6" name="Text 4"/>
          <p:cNvSpPr txBox="1"/>
          <p:nvPr/>
        </p:nvSpPr>
        <p:spPr>
          <a:xfrm>
            <a:off x="822960" y="2011680"/>
            <a:ext cx="2926080" cy="914400"/>
          </a:xfrm>
          <a:prstGeom prst="rect">
            <a:avLst/>
          </a:prstGeom>
          <a:noFill/>
          <a:ln/>
        </p:spPr>
        <p:txBody>
          <a:bodyPr wrap="square" lIns="0" tIns="0" rIns="0" bIns="0" rtlCol="0" anchor="ctr"/>
          <a:lstStyle/>
          <a:p>
            <a:pPr marL="0" indent="0">
              <a:buNone/>
            </a:pPr>
            <a:r>
              <a:rPr lang="en-US" sz="5000" dirty="0">
                <a:solidFill>
                  <a:srgbClr val="3C7D2C"/>
                </a:solidFill>
                <a:latin typeface="Roboto Light" pitchFamily="34" charset="0"/>
                <a:ea typeface="Roboto Light" pitchFamily="34" charset="-122"/>
                <a:cs typeface="Roboto Light" pitchFamily="34" charset="-120"/>
              </a:rPr>
              <a:t>60 cm</a:t>
            </a:r>
            <a:endParaRPr lang="en-US" sz="5000" dirty="0"/>
          </a:p>
        </p:txBody>
      </p:sp>
      <p:sp>
        <p:nvSpPr>
          <p:cNvPr id="7" name="Text 5"/>
          <p:cNvSpPr txBox="1"/>
          <p:nvPr/>
        </p:nvSpPr>
        <p:spPr>
          <a:xfrm>
            <a:off x="822960" y="2971800"/>
            <a:ext cx="2926080" cy="274320"/>
          </a:xfrm>
          <a:prstGeom prst="rect">
            <a:avLst/>
          </a:prstGeom>
          <a:noFill/>
          <a:ln/>
        </p:spPr>
        <p:txBody>
          <a:bodyPr wrap="square" lIns="0" tIns="0" rIns="0" bIns="0" rtlCol="0" anchor="ctr"/>
          <a:lstStyle/>
          <a:p>
            <a:pPr marL="0" indent="0">
              <a:buNone/>
            </a:pPr>
            <a:r>
              <a:rPr lang="en-US" sz="1200" kern="0" spc="200" dirty="0">
                <a:solidFill>
                  <a:srgbClr val="4A5B60"/>
                </a:solidFill>
                <a:latin typeface="Roboto Medium" pitchFamily="34" charset="0"/>
                <a:ea typeface="Roboto Medium" pitchFamily="34" charset="-122"/>
                <a:cs typeface="Roboto Medium" pitchFamily="34" charset="-120"/>
              </a:rPr>
              <a:t>OF TONGUE</a:t>
            </a:r>
            <a:endParaRPr lang="en-US" sz="1200" dirty="0"/>
          </a:p>
        </p:txBody>
      </p:sp>
      <p:sp>
        <p:nvSpPr>
          <p:cNvPr id="8" name="Text 6"/>
          <p:cNvSpPr txBox="1"/>
          <p:nvPr/>
        </p:nvSpPr>
        <p:spPr>
          <a:xfrm>
            <a:off x="822960" y="3383280"/>
            <a:ext cx="2926080" cy="1097280"/>
          </a:xfrm>
          <a:prstGeom prst="rect">
            <a:avLst/>
          </a:prstGeom>
          <a:noFill/>
          <a:ln/>
        </p:spPr>
        <p:txBody>
          <a:bodyPr wrap="square" lIns="0" tIns="0" rIns="0" bIns="0" rtlCol="0" anchor="t"/>
          <a:lstStyle/>
          <a:p>
            <a:pPr marL="0" indent="0">
              <a:buNone/>
            </a:pPr>
            <a:r>
              <a:rPr lang="en-US" sz="1800" dirty="0">
                <a:solidFill>
                  <a:srgbClr val="22383F"/>
                </a:solidFill>
                <a:latin typeface="Roboto" pitchFamily="34" charset="0"/>
                <a:ea typeface="Roboto" pitchFamily="34" charset="-122"/>
                <a:cs typeface="Roboto" pitchFamily="34" charset="-120"/>
              </a:rPr>
              <a:t>Flicks up to 150 times a minute.</a:t>
            </a:r>
            <a:endParaRPr lang="en-US" sz="1800" dirty="0"/>
          </a:p>
        </p:txBody>
      </p:sp>
      <p:sp>
        <p:nvSpPr>
          <p:cNvPr id="9" name="Text 7"/>
          <p:cNvSpPr txBox="1"/>
          <p:nvPr/>
        </p:nvSpPr>
        <p:spPr>
          <a:xfrm>
            <a:off x="822960" y="4983480"/>
            <a:ext cx="2926080" cy="274320"/>
          </a:xfrm>
          <a:prstGeom prst="rect">
            <a:avLst/>
          </a:prstGeom>
          <a:noFill/>
          <a:ln/>
        </p:spPr>
        <p:txBody>
          <a:bodyPr wrap="square" lIns="0" tIns="0" rIns="0" bIns="0" rtlCol="0" anchor="ctr"/>
          <a:lstStyle/>
          <a:p>
            <a:pPr marL="0" indent="0">
              <a:buNone/>
            </a:pPr>
            <a:r>
              <a:rPr lang="en-US" sz="1000" dirty="0">
                <a:solidFill>
                  <a:srgbClr val="6C7B80"/>
                </a:solidFill>
                <a:latin typeface="Roboto" pitchFamily="34" charset="0"/>
                <a:ea typeface="Roboto" pitchFamily="34" charset="-122"/>
                <a:cs typeface="Roboto" pitchFamily="34" charset="-120"/>
              </a:rPr>
              <a:t>Smithsonian's National Zoo; National Geographic</a:t>
            </a:r>
            <a:endParaRPr lang="en-US" sz="1000" dirty="0"/>
          </a:p>
        </p:txBody>
      </p:sp>
      <p:sp>
        <p:nvSpPr>
          <p:cNvPr id="10" name="plate"/>
          <p:cNvSpPr/>
          <p:nvPr/>
        </p:nvSpPr>
        <p:spPr>
          <a:xfrm>
            <a:off x="4297680" y="1691640"/>
            <a:ext cx="3566160" cy="3749040"/>
          </a:xfrm>
          <a:prstGeom prst="rect">
            <a:avLst/>
          </a:prstGeom>
          <a:solidFill>
            <a:srgbClr val="FBFAF7"/>
          </a:solidFill>
          <a:ln w="9525">
            <a:solidFill>
              <a:srgbClr val="D9D2C7"/>
            </a:solidFill>
            <a:prstDash val="solid"/>
          </a:ln>
        </p:spPr>
        <p:txBody>
          <a:bodyPr/>
          <a:lstStyle/>
          <a:p>
            <a:endParaRPr lang="en-US"/>
          </a:p>
        </p:txBody>
      </p:sp>
      <p:sp>
        <p:nvSpPr>
          <p:cNvPr id="11" name="Text 9"/>
          <p:cNvSpPr txBox="1"/>
          <p:nvPr/>
        </p:nvSpPr>
        <p:spPr>
          <a:xfrm>
            <a:off x="4617720" y="2011680"/>
            <a:ext cx="2926080" cy="914400"/>
          </a:xfrm>
          <a:prstGeom prst="rect">
            <a:avLst/>
          </a:prstGeom>
          <a:noFill/>
          <a:ln/>
        </p:spPr>
        <p:txBody>
          <a:bodyPr wrap="square" lIns="0" tIns="0" rIns="0" bIns="0" rtlCol="0" anchor="ctr"/>
          <a:lstStyle/>
          <a:p>
            <a:pPr marL="0" indent="0">
              <a:buNone/>
            </a:pPr>
            <a:r>
              <a:rPr lang="en-US" sz="5000" dirty="0">
                <a:solidFill>
                  <a:srgbClr val="3C7D2C"/>
                </a:solidFill>
                <a:latin typeface="Roboto Light" pitchFamily="34" charset="0"/>
                <a:ea typeface="Roboto Light" pitchFamily="34" charset="-122"/>
                <a:cs typeface="Roboto Light" pitchFamily="34" charset="-120"/>
              </a:rPr>
              <a:t>1 minute</a:t>
            </a:r>
            <a:endParaRPr lang="en-US" sz="5000" dirty="0"/>
          </a:p>
        </p:txBody>
      </p:sp>
      <p:sp>
        <p:nvSpPr>
          <p:cNvPr id="12" name="Text 10"/>
          <p:cNvSpPr txBox="1"/>
          <p:nvPr/>
        </p:nvSpPr>
        <p:spPr>
          <a:xfrm>
            <a:off x="4617720" y="2971800"/>
            <a:ext cx="2926080" cy="274320"/>
          </a:xfrm>
          <a:prstGeom prst="rect">
            <a:avLst/>
          </a:prstGeom>
          <a:noFill/>
          <a:ln/>
        </p:spPr>
        <p:txBody>
          <a:bodyPr wrap="square" lIns="0" tIns="0" rIns="0" bIns="0" rtlCol="0" anchor="ctr"/>
          <a:lstStyle/>
          <a:p>
            <a:pPr marL="0" indent="0">
              <a:buNone/>
            </a:pPr>
            <a:r>
              <a:rPr lang="en-US" sz="1200" kern="0" spc="200" dirty="0">
                <a:solidFill>
                  <a:srgbClr val="4A5B60"/>
                </a:solidFill>
                <a:latin typeface="Roboto Medium" pitchFamily="34" charset="0"/>
                <a:ea typeface="Roboto Medium" pitchFamily="34" charset="-122"/>
                <a:cs typeface="Roboto Medium" pitchFamily="34" charset="-120"/>
              </a:rPr>
              <a:t>PER MOUND</a:t>
            </a:r>
            <a:endParaRPr lang="en-US" sz="1200" dirty="0"/>
          </a:p>
        </p:txBody>
      </p:sp>
      <p:sp>
        <p:nvSpPr>
          <p:cNvPr id="13" name="Text 11"/>
          <p:cNvSpPr txBox="1"/>
          <p:nvPr/>
        </p:nvSpPr>
        <p:spPr>
          <a:xfrm>
            <a:off x="4617720" y="3383280"/>
            <a:ext cx="2926080" cy="1097280"/>
          </a:xfrm>
          <a:prstGeom prst="rect">
            <a:avLst/>
          </a:prstGeom>
          <a:noFill/>
          <a:ln/>
        </p:spPr>
        <p:txBody>
          <a:bodyPr wrap="square" lIns="0" tIns="0" rIns="0" bIns="0" rtlCol="0" anchor="t"/>
          <a:lstStyle/>
          <a:p>
            <a:pPr marL="0" indent="0">
              <a:buNone/>
            </a:pPr>
            <a:r>
              <a:rPr lang="en-US" sz="1800" dirty="0">
                <a:solidFill>
                  <a:srgbClr val="22383F"/>
                </a:solidFill>
                <a:latin typeface="Roboto"/>
                <a:ea typeface="Roboto"/>
                <a:cs typeface="Roboto"/>
              </a:rPr>
              <a:t>Then it moves </a:t>
            </a:r>
            <a:r>
              <a:rPr lang="en-US" sz="1800">
                <a:solidFill>
                  <a:srgbClr val="22383F"/>
                </a:solidFill>
                <a:latin typeface="Roboto"/>
                <a:ea typeface="Roboto"/>
                <a:cs typeface="Roboto"/>
              </a:rPr>
              <a:t>on and</a:t>
            </a:r>
            <a:r>
              <a:rPr lang="en-US" sz="1800" dirty="0">
                <a:solidFill>
                  <a:srgbClr val="22383F"/>
                </a:solidFill>
                <a:latin typeface="Roboto"/>
                <a:ea typeface="Roboto"/>
                <a:cs typeface="Roboto"/>
              </a:rPr>
              <a:t> comes back later.</a:t>
            </a:r>
            <a:endParaRPr lang="en-US" sz="1800" dirty="0">
              <a:latin typeface="Roboto"/>
              <a:ea typeface="Roboto"/>
              <a:cs typeface="Roboto"/>
            </a:endParaRPr>
          </a:p>
        </p:txBody>
      </p:sp>
      <p:sp>
        <p:nvSpPr>
          <p:cNvPr id="14" name="Text 12"/>
          <p:cNvSpPr txBox="1"/>
          <p:nvPr/>
        </p:nvSpPr>
        <p:spPr>
          <a:xfrm>
            <a:off x="4617720" y="4983480"/>
            <a:ext cx="2926080" cy="274320"/>
          </a:xfrm>
          <a:prstGeom prst="rect">
            <a:avLst/>
          </a:prstGeom>
          <a:noFill/>
          <a:ln/>
        </p:spPr>
        <p:txBody>
          <a:bodyPr wrap="square" lIns="0" tIns="0" rIns="0" bIns="0" rtlCol="0" anchor="ctr"/>
          <a:lstStyle/>
          <a:p>
            <a:pPr marL="0" indent="0">
              <a:buNone/>
            </a:pPr>
            <a:r>
              <a:rPr lang="en-US" sz="1000" dirty="0">
                <a:solidFill>
                  <a:srgbClr val="6C7B80"/>
                </a:solidFill>
                <a:latin typeface="Roboto" pitchFamily="34" charset="0"/>
                <a:ea typeface="Roboto" pitchFamily="34" charset="-122"/>
                <a:cs typeface="Roboto" pitchFamily="34" charset="-120"/>
              </a:rPr>
              <a:t>National Geographic</a:t>
            </a:r>
            <a:endParaRPr lang="en-US" sz="1000" dirty="0"/>
          </a:p>
        </p:txBody>
      </p:sp>
      <p:sp>
        <p:nvSpPr>
          <p:cNvPr id="16" name="Text 14"/>
          <p:cNvSpPr txBox="1"/>
          <p:nvPr/>
        </p:nvSpPr>
        <p:spPr>
          <a:xfrm>
            <a:off x="8104535" y="4888412"/>
            <a:ext cx="3596335" cy="548640"/>
          </a:xfrm>
          <a:prstGeom prst="rect">
            <a:avLst/>
          </a:prstGeom>
          <a:noFill/>
          <a:ln/>
        </p:spPr>
        <p:txBody>
          <a:bodyPr wrap="square" rtlCol="0" anchor="ctr"/>
          <a:lstStyle/>
          <a:p>
            <a:pPr marL="0" indent="0" algn="ctr">
              <a:buNone/>
            </a:pPr>
            <a:r>
              <a:rPr lang="en-US" sz="1300" i="1" dirty="0">
                <a:solidFill>
                  <a:srgbClr val="6C7B80"/>
                </a:solidFill>
                <a:latin typeface="Roboto" pitchFamily="34" charset="0"/>
                <a:ea typeface="Roboto" pitchFamily="34" charset="-122"/>
                <a:cs typeface="Roboto" pitchFamily="34" charset="-120"/>
              </a:rPr>
              <a:t>Photo: anteater at a termite mound</a:t>
            </a:r>
            <a:endParaRPr lang="en-US" sz="1300" dirty="0"/>
          </a:p>
        </p:txBody>
      </p:sp>
      <p:pic>
        <p:nvPicPr>
          <p:cNvPr id="17" name="Image 0" descr="preencoded.png"/>
          <p:cNvPicPr>
            <a:picLocks noChangeAspect="1"/>
          </p:cNvPicPr>
          <p:nvPr/>
        </p:nvPicPr>
        <p:blipFill>
          <a:blip r:embed="rId3"/>
          <a:stretch>
            <a:fillRect/>
          </a:stretch>
        </p:blipFill>
        <p:spPr>
          <a:xfrm>
            <a:off x="502920" y="5715000"/>
            <a:ext cx="502920" cy="502920"/>
          </a:xfrm>
          <a:prstGeom prst="rect">
            <a:avLst/>
          </a:prstGeom>
        </p:spPr>
      </p:pic>
      <p:sp>
        <p:nvSpPr>
          <p:cNvPr id="18" name="Text 15"/>
          <p:cNvSpPr txBox="1"/>
          <p:nvPr/>
        </p:nvSpPr>
        <p:spPr>
          <a:xfrm>
            <a:off x="1143000" y="5733288"/>
            <a:ext cx="10545775" cy="457200"/>
          </a:xfrm>
          <a:prstGeom prst="rect">
            <a:avLst/>
          </a:prstGeom>
          <a:noFill/>
          <a:ln/>
        </p:spPr>
        <p:txBody>
          <a:bodyPr wrap="square" lIns="0" tIns="0" rIns="0" bIns="0" rtlCol="0" anchor="ctr"/>
          <a:lstStyle/>
          <a:p>
            <a:pPr marL="0" indent="0">
              <a:buNone/>
            </a:pPr>
            <a:r>
              <a:rPr lang="en-US" sz="2000" dirty="0">
                <a:solidFill>
                  <a:srgbClr val="22383F"/>
                </a:solidFill>
                <a:latin typeface="Roboto Light" pitchFamily="34" charset="0"/>
                <a:ea typeface="Roboto Light" pitchFamily="34" charset="-122"/>
                <a:cs typeface="Roboto Light" pitchFamily="34" charset="-120"/>
              </a:rPr>
              <a:t>Mining in La Pampa did the same: it moved on, then came back.</a:t>
            </a:r>
            <a:endParaRPr lang="en-US" sz="2000" dirty="0"/>
          </a:p>
        </p:txBody>
      </p:sp>
      <p:sp>
        <p:nvSpPr>
          <p:cNvPr id="25" name="Slide Number Placeholder 0"/>
          <p:cNvSpPr>
            <a:spLocks noGrp="1"/>
          </p:cNvSpPr>
          <p:nvPr>
            <p:ph type="sldNum" sz="quarter" idx="4294967295"/>
          </p:nvPr>
        </p:nvSpPr>
        <p:spPr>
          <a:xfrm>
            <a:off x="11140135" y="6510528"/>
            <a:ext cx="548640" cy="219456"/>
          </a:xfrm>
          <a:prstGeom prst="rect">
            <a:avLst/>
          </a:prstGeom>
          <a:extLst>
            <a:ext uri="{C572A759-6A51-4108-AA02-DFA0A04FC94B}">
              <ma14:wrappingTextBoxFlag xmlns="" xmlns:ma14="http://schemas.microsoft.com/office/mac/drawingml/2011/main" val="0"/>
            </a:ext>
          </a:extLst>
        </p:spPr>
        <p:txBody>
          <a:bodyPr/>
          <a:lstStyle>
            <a:lvl1pPr>
              <a:defRPr sz="900">
                <a:solidFill>
                  <a:srgbClr val="6C7B80"/>
                </a:solidFill>
                <a:latin typeface="Roboto"/>
                <a:ea typeface="Roboto"/>
                <a:cs typeface="Roboto"/>
              </a:defRPr>
            </a:lvl1pPr>
          </a:lstStyle>
          <a:p>
            <a:pPr algn="r"/>
            <a:fld id="{F7021451-1387-4CA6-816F-3879F97B5CBC}" type="slidenum">
              <a:rPr lang="en-US" b="0"/>
              <a:t>2</a:t>
            </a:fld>
            <a:endParaRPr lang="en-US"/>
          </a:p>
        </p:txBody>
      </p:sp>
      <p:pic>
        <p:nvPicPr>
          <p:cNvPr id="22" name="Picture 21">
            <a:extLst>
              <a:ext uri="{FF2B5EF4-FFF2-40B4-BE49-F238E27FC236}">
                <a16:creationId xmlns:a16="http://schemas.microsoft.com/office/drawing/2014/main" id="{2448494E-34E0-4E35-99A3-166C0190C496}"/>
              </a:ext>
            </a:extLst>
          </p:cNvPr>
          <p:cNvPicPr>
            <a:picLocks noChangeAspect="1"/>
          </p:cNvPicPr>
          <p:nvPr/>
        </p:nvPicPr>
        <p:blipFill>
          <a:blip r:embed="rId4"/>
          <a:srcRect l="2057" r="35352" b="14799"/>
          <a:stretch>
            <a:fillRect/>
          </a:stretch>
        </p:blipFill>
        <p:spPr>
          <a:xfrm>
            <a:off x="8104241" y="1691640"/>
            <a:ext cx="3583086" cy="319677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02920" y="384048"/>
            <a:ext cx="1755648" cy="274320"/>
          </a:xfrm>
          <a:prstGeom prst="rect">
            <a:avLst/>
          </a:prstGeom>
          <a:noFill/>
          <a:ln/>
        </p:spPr>
        <p:txBody>
          <a:bodyPr wrap="square" lIns="0" tIns="0" rIns="0" bIns="0" rtlCol="0" anchor="ctr"/>
          <a:lstStyle/>
          <a:p>
            <a:pPr marL="0" indent="0">
              <a:buNone/>
            </a:pPr>
            <a:r>
              <a:rPr lang="en-US" sz="1200" kern="0" spc="220" dirty="0">
                <a:solidFill>
                  <a:srgbClr val="B9C94F"/>
                </a:solidFill>
                <a:latin typeface="Roboto Medium" pitchFamily="34" charset="0"/>
                <a:ea typeface="Roboto Medium" pitchFamily="34" charset="-122"/>
                <a:cs typeface="Roboto Medium" pitchFamily="34" charset="-120"/>
              </a:rPr>
              <a:t>THE QUESTION</a:t>
            </a:r>
            <a:endParaRPr lang="en-US" sz="1200" dirty="0"/>
          </a:p>
        </p:txBody>
      </p:sp>
      <p:sp>
        <p:nvSpPr>
          <p:cNvPr id="3" name="Shape 1"/>
          <p:cNvSpPr/>
          <p:nvPr/>
        </p:nvSpPr>
        <p:spPr>
          <a:xfrm>
            <a:off x="2368296" y="521208"/>
            <a:ext cx="9320479" cy="0"/>
          </a:xfrm>
          <a:prstGeom prst="line">
            <a:avLst/>
          </a:prstGeom>
          <a:noFill/>
          <a:ln w="9525">
            <a:solidFill>
              <a:srgbClr val="B9C94F">
                <a:alpha val="70000"/>
              </a:srgbClr>
            </a:solidFill>
            <a:prstDash val="solid"/>
          </a:ln>
        </p:spPr>
        <p:txBody>
          <a:bodyPr/>
          <a:lstStyle/>
          <a:p>
            <a:endParaRPr lang="en-US"/>
          </a:p>
        </p:txBody>
      </p:sp>
      <p:sp>
        <p:nvSpPr>
          <p:cNvPr id="4" name="title"/>
          <p:cNvSpPr txBox="1"/>
          <p:nvPr/>
        </p:nvSpPr>
        <p:spPr>
          <a:xfrm>
            <a:off x="502920" y="731520"/>
            <a:ext cx="11185855" cy="475488"/>
          </a:xfrm>
          <a:prstGeom prst="rect">
            <a:avLst/>
          </a:prstGeom>
          <a:noFill/>
          <a:ln/>
        </p:spPr>
        <p:txBody>
          <a:bodyPr wrap="square" lIns="0" tIns="0" rIns="0" bIns="0" rtlCol="0" anchor="t"/>
          <a:lstStyle/>
          <a:p>
            <a:pPr marL="0" indent="0">
              <a:buNone/>
            </a:pPr>
            <a:r>
              <a:rPr lang="en-US" sz="2800" dirty="0">
                <a:solidFill>
                  <a:srgbClr val="F3F5F2"/>
                </a:solidFill>
                <a:latin typeface="Roboto Light" pitchFamily="34" charset="0"/>
                <a:ea typeface="Roboto Light" pitchFamily="34" charset="-122"/>
                <a:cs typeface="Roboto Light" pitchFamily="34" charset="-120"/>
              </a:rPr>
              <a:t>What happens when an enforcement operation ends?</a:t>
            </a:r>
            <a:endParaRPr lang="en-US" sz="2800" dirty="0"/>
          </a:p>
        </p:txBody>
      </p:sp>
      <p:sp>
        <p:nvSpPr>
          <p:cNvPr id="5" name="subtitle"/>
          <p:cNvSpPr txBox="1"/>
          <p:nvPr/>
        </p:nvSpPr>
        <p:spPr>
          <a:xfrm>
            <a:off x="502920" y="1261872"/>
            <a:ext cx="11185855" cy="274320"/>
          </a:xfrm>
          <a:prstGeom prst="rect">
            <a:avLst/>
          </a:prstGeom>
          <a:noFill/>
          <a:ln/>
        </p:spPr>
        <p:txBody>
          <a:bodyPr wrap="square" lIns="0" tIns="0" rIns="0" bIns="0" rtlCol="0" anchor="ctr"/>
          <a:lstStyle/>
          <a:p>
            <a:pPr marL="0" indent="0">
              <a:buNone/>
            </a:pPr>
            <a:r>
              <a:rPr lang="en-US" sz="1400" dirty="0">
                <a:solidFill>
                  <a:srgbClr val="C3D0CF"/>
                </a:solidFill>
                <a:latin typeface="Roboto" pitchFamily="34" charset="0"/>
                <a:ea typeface="Roboto" pitchFamily="34" charset="-122"/>
                <a:cs typeface="Roboto" pitchFamily="34" charset="-120"/>
              </a:rPr>
              <a:t>Operation Mercurio, La Pampa, Madre de Dios · from February 2019</a:t>
            </a:r>
            <a:endParaRPr lang="en-US" sz="1400" dirty="0"/>
          </a:p>
        </p:txBody>
      </p:sp>
      <p:sp>
        <p:nvSpPr>
          <p:cNvPr id="6" name="Shape 4"/>
          <p:cNvSpPr/>
          <p:nvPr/>
        </p:nvSpPr>
        <p:spPr>
          <a:xfrm>
            <a:off x="502920" y="2148840"/>
            <a:ext cx="11185855" cy="0"/>
          </a:xfrm>
          <a:prstGeom prst="line">
            <a:avLst/>
          </a:prstGeom>
          <a:noFill/>
          <a:ln w="9525">
            <a:solidFill>
              <a:srgbClr val="FFFFFF">
                <a:alpha val="18000"/>
              </a:srgbClr>
            </a:solidFill>
            <a:prstDash val="solid"/>
          </a:ln>
        </p:spPr>
        <p:txBody>
          <a:bodyPr/>
          <a:lstStyle/>
          <a:p>
            <a:endParaRPr lang="en-US"/>
          </a:p>
        </p:txBody>
      </p:sp>
      <p:sp>
        <p:nvSpPr>
          <p:cNvPr id="7" name="Text 5"/>
          <p:cNvSpPr txBox="1"/>
          <p:nvPr/>
        </p:nvSpPr>
        <p:spPr>
          <a:xfrm>
            <a:off x="502920" y="2331720"/>
            <a:ext cx="3657600" cy="274320"/>
          </a:xfrm>
          <a:prstGeom prst="rect">
            <a:avLst/>
          </a:prstGeom>
          <a:noFill/>
          <a:ln/>
        </p:spPr>
        <p:txBody>
          <a:bodyPr wrap="square" lIns="0" tIns="0" rIns="0" bIns="0" rtlCol="0" anchor="ctr"/>
          <a:lstStyle/>
          <a:p>
            <a:pPr marL="0" indent="0">
              <a:buNone/>
            </a:pPr>
            <a:r>
              <a:rPr lang="en-US" sz="1200" kern="0" spc="220" dirty="0">
                <a:solidFill>
                  <a:srgbClr val="B9C94F"/>
                </a:solidFill>
                <a:latin typeface="Roboto Medium" pitchFamily="34" charset="0"/>
                <a:ea typeface="Roboto Medium" pitchFamily="34" charset="-122"/>
                <a:cs typeface="Roboto Medium" pitchFamily="34" charset="-120"/>
              </a:rPr>
              <a:t>WHAT WE FOUND</a:t>
            </a:r>
            <a:endParaRPr lang="en-US" sz="1200" dirty="0"/>
          </a:p>
        </p:txBody>
      </p:sp>
      <p:sp>
        <p:nvSpPr>
          <p:cNvPr id="8" name="Text 6"/>
          <p:cNvSpPr txBox="1"/>
          <p:nvPr/>
        </p:nvSpPr>
        <p:spPr>
          <a:xfrm>
            <a:off x="502920" y="2880360"/>
            <a:ext cx="3429000" cy="256032"/>
          </a:xfrm>
          <a:prstGeom prst="rect">
            <a:avLst/>
          </a:prstGeom>
          <a:noFill/>
          <a:ln/>
        </p:spPr>
        <p:txBody>
          <a:bodyPr wrap="square" lIns="0" tIns="0" rIns="0" bIns="0" rtlCol="0" anchor="ctr"/>
          <a:lstStyle/>
          <a:p>
            <a:pPr marL="0" indent="0">
              <a:buNone/>
            </a:pPr>
            <a:r>
              <a:rPr lang="en-US" sz="1100" kern="0" spc="200" dirty="0">
                <a:solidFill>
                  <a:srgbClr val="C3D0CF"/>
                </a:solidFill>
                <a:latin typeface="Roboto Medium" pitchFamily="34" charset="0"/>
                <a:ea typeface="Roboto Medium" pitchFamily="34" charset="-122"/>
                <a:cs typeface="Roboto Medium" pitchFamily="34" charset="-120"/>
              </a:rPr>
              <a:t>1 · IT FELL</a:t>
            </a:r>
            <a:endParaRPr lang="en-US" sz="1100" dirty="0"/>
          </a:p>
        </p:txBody>
      </p:sp>
      <p:sp>
        <p:nvSpPr>
          <p:cNvPr id="9" name="Text 7"/>
          <p:cNvSpPr txBox="1"/>
          <p:nvPr/>
        </p:nvSpPr>
        <p:spPr>
          <a:xfrm>
            <a:off x="502920" y="3191256"/>
            <a:ext cx="3429000" cy="777240"/>
          </a:xfrm>
          <a:prstGeom prst="rect">
            <a:avLst/>
          </a:prstGeom>
          <a:noFill/>
          <a:ln/>
        </p:spPr>
        <p:txBody>
          <a:bodyPr wrap="square" lIns="0" tIns="0" rIns="0" bIns="0" rtlCol="0" anchor="t"/>
          <a:lstStyle/>
          <a:p>
            <a:pPr marL="0" indent="0">
              <a:buNone/>
            </a:pPr>
            <a:r>
              <a:rPr lang="en-US" sz="4800" dirty="0">
                <a:solidFill>
                  <a:srgbClr val="B9C94F"/>
                </a:solidFill>
                <a:latin typeface="Roboto Light" pitchFamily="34" charset="0"/>
                <a:ea typeface="Roboto Light" pitchFamily="34" charset="-122"/>
                <a:cs typeface="Roboto Light" pitchFamily="34" charset="-120"/>
              </a:rPr>
              <a:t>1,640 → 163</a:t>
            </a:r>
            <a:endParaRPr lang="en-US" sz="4800" dirty="0"/>
          </a:p>
        </p:txBody>
      </p:sp>
      <p:sp>
        <p:nvSpPr>
          <p:cNvPr id="10" name="Text 8"/>
          <p:cNvSpPr txBox="1"/>
          <p:nvPr/>
        </p:nvSpPr>
        <p:spPr>
          <a:xfrm>
            <a:off x="502920" y="3995928"/>
            <a:ext cx="3429000" cy="822960"/>
          </a:xfrm>
          <a:prstGeom prst="rect">
            <a:avLst/>
          </a:prstGeom>
          <a:noFill/>
          <a:ln/>
        </p:spPr>
        <p:txBody>
          <a:bodyPr wrap="square" lIns="0" tIns="0" rIns="0" bIns="0" rtlCol="0" anchor="t"/>
          <a:lstStyle/>
          <a:p>
            <a:pPr marL="0" indent="0">
              <a:buNone/>
            </a:pPr>
            <a:r>
              <a:rPr lang="en-US" sz="1400" dirty="0">
                <a:solidFill>
                  <a:srgbClr val="C3D0CF"/>
                </a:solidFill>
                <a:latin typeface="Roboto" pitchFamily="34" charset="0"/>
                <a:ea typeface="Roboto" pitchFamily="34" charset="-122"/>
                <a:cs typeface="Roboto" pitchFamily="34" charset="-120"/>
              </a:rPr>
              <a:t>ha/yr net new mining, Tambopata buffer zone</a:t>
            </a:r>
            <a:endParaRPr lang="en-US" sz="1400" dirty="0"/>
          </a:p>
        </p:txBody>
      </p:sp>
      <p:sp>
        <p:nvSpPr>
          <p:cNvPr id="11" name="Shape 9"/>
          <p:cNvSpPr/>
          <p:nvPr/>
        </p:nvSpPr>
        <p:spPr>
          <a:xfrm>
            <a:off x="4096512" y="2880360"/>
            <a:ext cx="0" cy="2377440"/>
          </a:xfrm>
          <a:prstGeom prst="line">
            <a:avLst/>
          </a:prstGeom>
          <a:noFill/>
          <a:ln w="9525">
            <a:solidFill>
              <a:srgbClr val="FFFFFF">
                <a:alpha val="18000"/>
              </a:srgbClr>
            </a:solidFill>
            <a:prstDash val="solid"/>
          </a:ln>
        </p:spPr>
        <p:txBody>
          <a:bodyPr/>
          <a:lstStyle/>
          <a:p>
            <a:endParaRPr lang="en-US"/>
          </a:p>
        </p:txBody>
      </p:sp>
      <p:sp>
        <p:nvSpPr>
          <p:cNvPr id="12" name="Text 10"/>
          <p:cNvSpPr txBox="1"/>
          <p:nvPr/>
        </p:nvSpPr>
        <p:spPr>
          <a:xfrm>
            <a:off x="4279392" y="2880360"/>
            <a:ext cx="3429000" cy="256032"/>
          </a:xfrm>
          <a:prstGeom prst="rect">
            <a:avLst/>
          </a:prstGeom>
          <a:noFill/>
          <a:ln/>
        </p:spPr>
        <p:txBody>
          <a:bodyPr wrap="square" lIns="0" tIns="0" rIns="0" bIns="0" rtlCol="0" anchor="ctr"/>
          <a:lstStyle/>
          <a:p>
            <a:pPr marL="0" indent="0">
              <a:buNone/>
            </a:pPr>
            <a:r>
              <a:rPr lang="en-US" sz="1100" kern="0" spc="200" dirty="0">
                <a:solidFill>
                  <a:srgbClr val="C3D0CF"/>
                </a:solidFill>
                <a:latin typeface="Roboto Medium" pitchFamily="34" charset="0"/>
                <a:ea typeface="Roboto Medium" pitchFamily="34" charset="-122"/>
                <a:cs typeface="Roboto Medium" pitchFamily="34" charset="-120"/>
              </a:rPr>
              <a:t>2 · IT MOVED</a:t>
            </a:r>
            <a:endParaRPr lang="en-US" sz="1100" dirty="0"/>
          </a:p>
        </p:txBody>
      </p:sp>
      <p:sp>
        <p:nvSpPr>
          <p:cNvPr id="13" name="Text 11"/>
          <p:cNvSpPr txBox="1"/>
          <p:nvPr/>
        </p:nvSpPr>
        <p:spPr>
          <a:xfrm>
            <a:off x="4279392" y="3191256"/>
            <a:ext cx="3429000" cy="777240"/>
          </a:xfrm>
          <a:prstGeom prst="rect">
            <a:avLst/>
          </a:prstGeom>
          <a:noFill/>
          <a:ln/>
        </p:spPr>
        <p:txBody>
          <a:bodyPr wrap="square" lIns="0" tIns="0" rIns="0" bIns="0" rtlCol="0" anchor="t"/>
          <a:lstStyle/>
          <a:p>
            <a:pPr marL="0" indent="0">
              <a:buNone/>
            </a:pPr>
            <a:r>
              <a:rPr lang="en-US" sz="4800" dirty="0">
                <a:solidFill>
                  <a:srgbClr val="B9C94F"/>
                </a:solidFill>
                <a:latin typeface="Roboto Light" pitchFamily="34" charset="0"/>
                <a:ea typeface="Roboto Light" pitchFamily="34" charset="-122"/>
                <a:cs typeface="Roboto Light" pitchFamily="34" charset="-120"/>
              </a:rPr>
              <a:t>23% → 65%</a:t>
            </a:r>
            <a:endParaRPr lang="en-US" sz="4800" dirty="0"/>
          </a:p>
        </p:txBody>
      </p:sp>
      <p:sp>
        <p:nvSpPr>
          <p:cNvPr id="14" name="Text 12"/>
          <p:cNvSpPr txBox="1"/>
          <p:nvPr/>
        </p:nvSpPr>
        <p:spPr>
          <a:xfrm>
            <a:off x="4279392" y="3995928"/>
            <a:ext cx="3429000" cy="822960"/>
          </a:xfrm>
          <a:prstGeom prst="rect">
            <a:avLst/>
          </a:prstGeom>
          <a:noFill/>
          <a:ln/>
        </p:spPr>
        <p:txBody>
          <a:bodyPr wrap="square" lIns="0" tIns="0" rIns="0" bIns="0" rtlCol="0" anchor="t"/>
          <a:lstStyle/>
          <a:p>
            <a:pPr marL="0" indent="0">
              <a:buNone/>
            </a:pPr>
            <a:r>
              <a:rPr lang="en-US" sz="1400" dirty="0">
                <a:solidFill>
                  <a:srgbClr val="C3D0CF"/>
                </a:solidFill>
                <a:latin typeface="Roboto" pitchFamily="34" charset="0"/>
                <a:ea typeface="Roboto" pitchFamily="34" charset="-122"/>
                <a:cs typeface="Roboto" pitchFamily="34" charset="-120"/>
              </a:rPr>
              <a:t>of new mining near La Pampa north of the road</a:t>
            </a:r>
            <a:endParaRPr lang="en-US" sz="1400" dirty="0"/>
          </a:p>
        </p:txBody>
      </p:sp>
      <p:sp>
        <p:nvSpPr>
          <p:cNvPr id="15" name="Shape 13"/>
          <p:cNvSpPr/>
          <p:nvPr/>
        </p:nvSpPr>
        <p:spPr>
          <a:xfrm>
            <a:off x="7872984" y="2880360"/>
            <a:ext cx="0" cy="2377440"/>
          </a:xfrm>
          <a:prstGeom prst="line">
            <a:avLst/>
          </a:prstGeom>
          <a:noFill/>
          <a:ln w="9525">
            <a:solidFill>
              <a:srgbClr val="FFFFFF">
                <a:alpha val="18000"/>
              </a:srgbClr>
            </a:solidFill>
            <a:prstDash val="solid"/>
          </a:ln>
        </p:spPr>
        <p:txBody>
          <a:bodyPr/>
          <a:lstStyle/>
          <a:p>
            <a:endParaRPr lang="en-US"/>
          </a:p>
        </p:txBody>
      </p:sp>
      <p:sp>
        <p:nvSpPr>
          <p:cNvPr id="16" name="Text 14"/>
          <p:cNvSpPr txBox="1"/>
          <p:nvPr/>
        </p:nvSpPr>
        <p:spPr>
          <a:xfrm>
            <a:off x="8055864" y="2880360"/>
            <a:ext cx="3429000" cy="256032"/>
          </a:xfrm>
          <a:prstGeom prst="rect">
            <a:avLst/>
          </a:prstGeom>
          <a:noFill/>
          <a:ln/>
        </p:spPr>
        <p:txBody>
          <a:bodyPr wrap="square" lIns="0" tIns="0" rIns="0" bIns="0" rtlCol="0" anchor="ctr"/>
          <a:lstStyle/>
          <a:p>
            <a:pPr marL="0" indent="0">
              <a:buNone/>
            </a:pPr>
            <a:r>
              <a:rPr lang="en-US" sz="1100" kern="0" spc="200" dirty="0">
                <a:solidFill>
                  <a:srgbClr val="C3D0CF"/>
                </a:solidFill>
                <a:latin typeface="Roboto Medium" pitchFamily="34" charset="0"/>
                <a:ea typeface="Roboto Medium" pitchFamily="34" charset="-122"/>
                <a:cs typeface="Roboto Medium" pitchFamily="34" charset="-120"/>
              </a:rPr>
              <a:t>3 · IT CAME BACK</a:t>
            </a:r>
            <a:endParaRPr lang="en-US" sz="1100" dirty="0"/>
          </a:p>
        </p:txBody>
      </p:sp>
      <p:sp>
        <p:nvSpPr>
          <p:cNvPr id="17" name="Text 15"/>
          <p:cNvSpPr txBox="1"/>
          <p:nvPr/>
        </p:nvSpPr>
        <p:spPr>
          <a:xfrm>
            <a:off x="8055864" y="3191256"/>
            <a:ext cx="3429000" cy="777240"/>
          </a:xfrm>
          <a:prstGeom prst="rect">
            <a:avLst/>
          </a:prstGeom>
          <a:noFill/>
          <a:ln/>
        </p:spPr>
        <p:txBody>
          <a:bodyPr wrap="square" lIns="0" tIns="0" rIns="0" bIns="0" rtlCol="0" anchor="t"/>
          <a:lstStyle/>
          <a:p>
            <a:pPr marL="0" indent="0">
              <a:buNone/>
            </a:pPr>
            <a:r>
              <a:rPr lang="en-US" sz="4800" dirty="0">
                <a:solidFill>
                  <a:srgbClr val="B9C94F"/>
                </a:solidFill>
                <a:latin typeface="Roboto Light" pitchFamily="34" charset="0"/>
                <a:ea typeface="Roboto Light" pitchFamily="34" charset="-122"/>
                <a:cs typeface="Roboto Light" pitchFamily="34" charset="-120"/>
              </a:rPr>
              <a:t>1,829</a:t>
            </a:r>
            <a:endParaRPr lang="en-US" sz="4800" dirty="0"/>
          </a:p>
        </p:txBody>
      </p:sp>
      <p:sp>
        <p:nvSpPr>
          <p:cNvPr id="18" name="Text 16"/>
          <p:cNvSpPr txBox="1"/>
          <p:nvPr/>
        </p:nvSpPr>
        <p:spPr>
          <a:xfrm>
            <a:off x="8055864" y="3995928"/>
            <a:ext cx="3429000" cy="822960"/>
          </a:xfrm>
          <a:prstGeom prst="rect">
            <a:avLst/>
          </a:prstGeom>
          <a:noFill/>
          <a:ln/>
        </p:spPr>
        <p:txBody>
          <a:bodyPr wrap="square" lIns="0" tIns="0" rIns="0" bIns="0" rtlCol="0" anchor="t"/>
          <a:lstStyle/>
          <a:p>
            <a:pPr marL="0" indent="0">
              <a:buNone/>
            </a:pPr>
            <a:r>
              <a:rPr lang="en-US" sz="1400" dirty="0">
                <a:solidFill>
                  <a:srgbClr val="C3D0CF"/>
                </a:solidFill>
                <a:latin typeface="Roboto" pitchFamily="34" charset="0"/>
                <a:ea typeface="Roboto" pitchFamily="34" charset="-122"/>
                <a:cs typeface="Roboto" pitchFamily="34" charset="-120"/>
              </a:rPr>
              <a:t>ha/yr in 2022–25, much of it on old pits</a:t>
            </a:r>
            <a:endParaRPr lang="en-US" sz="1400" dirty="0"/>
          </a:p>
        </p:txBody>
      </p:sp>
      <p:sp>
        <p:nvSpPr>
          <p:cNvPr id="19" name="Text 17"/>
          <p:cNvSpPr txBox="1"/>
          <p:nvPr/>
        </p:nvSpPr>
        <p:spPr>
          <a:xfrm>
            <a:off x="502920" y="5760720"/>
            <a:ext cx="11185855" cy="274320"/>
          </a:xfrm>
          <a:prstGeom prst="rect">
            <a:avLst/>
          </a:prstGeom>
          <a:noFill/>
          <a:ln/>
        </p:spPr>
        <p:txBody>
          <a:bodyPr wrap="square" lIns="0" tIns="0" rIns="0" bIns="0" rtlCol="0" anchor="ctr"/>
          <a:lstStyle/>
          <a:p>
            <a:pPr marL="0" indent="0">
              <a:buNone/>
            </a:pPr>
            <a:r>
              <a:rPr lang="en-US" sz="1200" dirty="0">
                <a:solidFill>
                  <a:srgbClr val="C3D0CF"/>
                </a:solidFill>
                <a:latin typeface="Roboto" pitchFamily="34" charset="0"/>
                <a:ea typeface="Roboto" pitchFamily="34" charset="-122"/>
                <a:cs typeface="Roboto" pitchFamily="34" charset="-120"/>
              </a:rPr>
              <a:t>All three: description, 2016–18 vs 2019–21 vs 2022–25.</a:t>
            </a:r>
            <a:endParaRPr lang="en-US" sz="1200" dirty="0"/>
          </a:p>
        </p:txBody>
      </p:sp>
      <p:sp>
        <p:nvSpPr>
          <p:cNvPr id="25" name="Slide Number Placeholder 0"/>
          <p:cNvSpPr>
            <a:spLocks noGrp="1"/>
          </p:cNvSpPr>
          <p:nvPr>
            <p:ph type="sldNum" sz="quarter" idx="4294967295"/>
          </p:nvPr>
        </p:nvSpPr>
        <p:spPr>
          <a:xfrm>
            <a:off x="11140135" y="6510528"/>
            <a:ext cx="548640" cy="219456"/>
          </a:xfrm>
          <a:prstGeom prst="rect">
            <a:avLst/>
          </a:prstGeom>
          <a:extLst>
            <a:ext uri="{C572A759-6A51-4108-AA02-DFA0A04FC94B}">
              <ma14:wrappingTextBoxFlag xmlns="" xmlns:ma14="http://schemas.microsoft.com/office/mac/drawingml/2011/main" val="0"/>
            </a:ext>
          </a:extLst>
        </p:spPr>
        <p:txBody>
          <a:bodyPr/>
          <a:lstStyle>
            <a:lvl1pPr>
              <a:defRPr sz="900">
                <a:solidFill>
                  <a:srgbClr val="C3D0CF"/>
                </a:solidFill>
                <a:latin typeface="Roboto"/>
                <a:ea typeface="Roboto"/>
                <a:cs typeface="Roboto"/>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02920" y="384048"/>
            <a:ext cx="2372868" cy="274320"/>
          </a:xfrm>
          <a:prstGeom prst="rect">
            <a:avLst/>
          </a:prstGeom>
          <a:noFill/>
          <a:ln/>
        </p:spPr>
        <p:txBody>
          <a:bodyPr wrap="square" lIns="0" tIns="0" rIns="0" bIns="0" rtlCol="0" anchor="ctr"/>
          <a:lstStyle/>
          <a:p>
            <a:pPr marL="0" indent="0">
              <a:buNone/>
            </a:pPr>
            <a:r>
              <a:rPr lang="en-US" sz="1200" kern="0" spc="220" dirty="0">
                <a:solidFill>
                  <a:srgbClr val="A42C58"/>
                </a:solidFill>
                <a:latin typeface="Roboto Medium" pitchFamily="34" charset="0"/>
                <a:ea typeface="Roboto Medium" pitchFamily="34" charset="-122"/>
                <a:cs typeface="Roboto Medium" pitchFamily="34" charset="-120"/>
              </a:rPr>
              <a:t>01   </a:t>
            </a:r>
            <a:r>
              <a:rPr lang="en-US" sz="1200" kern="0" spc="220" dirty="0">
                <a:solidFill>
                  <a:srgbClr val="3C7D2C"/>
                </a:solidFill>
                <a:latin typeface="Roboto Medium" pitchFamily="34" charset="0"/>
                <a:ea typeface="Roboto Medium" pitchFamily="34" charset="-122"/>
                <a:cs typeface="Roboto Medium" pitchFamily="34" charset="-120"/>
              </a:rPr>
              <a:t>WHERE WE ARE</a:t>
            </a:r>
            <a:endParaRPr lang="en-US" sz="1200" dirty="0"/>
          </a:p>
        </p:txBody>
      </p:sp>
      <p:sp>
        <p:nvSpPr>
          <p:cNvPr id="3" name="Shape 1"/>
          <p:cNvSpPr/>
          <p:nvPr/>
        </p:nvSpPr>
        <p:spPr>
          <a:xfrm>
            <a:off x="2985516" y="521208"/>
            <a:ext cx="6325819" cy="0"/>
          </a:xfrm>
          <a:prstGeom prst="line">
            <a:avLst/>
          </a:prstGeom>
          <a:noFill/>
          <a:ln w="9525">
            <a:solidFill>
              <a:srgbClr val="3C7D2C">
                <a:alpha val="55000"/>
              </a:srgbClr>
            </a:solidFill>
            <a:prstDash val="solid"/>
          </a:ln>
        </p:spPr>
        <p:txBody>
          <a:bodyPr/>
          <a:lstStyle/>
          <a:p>
            <a:endParaRPr lang="en-US"/>
          </a:p>
        </p:txBody>
      </p:sp>
      <p:sp>
        <p:nvSpPr>
          <p:cNvPr id="4" name="claim-D"/>
          <p:cNvSpPr/>
          <p:nvPr/>
        </p:nvSpPr>
        <p:spPr>
          <a:xfrm>
            <a:off x="9539935" y="347472"/>
            <a:ext cx="2148840" cy="310896"/>
          </a:xfrm>
          <a:prstGeom prst="roundRect">
            <a:avLst>
              <a:gd name="adj" fmla="val 50000"/>
            </a:avLst>
          </a:prstGeom>
          <a:ln w="12700">
            <a:solidFill>
              <a:srgbClr val="2B6A8A"/>
            </a:solidFill>
          </a:ln>
        </p:spPr>
        <p:txBody>
          <a:bodyPr wrap="square" lIns="0" tIns="0" rIns="0" bIns="0" rtlCol="0" anchor="ctr"/>
          <a:lstStyle/>
          <a:p>
            <a:pPr marL="0" indent="0" algn="ctr">
              <a:buNone/>
            </a:pPr>
            <a:r>
              <a:rPr lang="en-US" sz="1050" kern="0" spc="150" dirty="0">
                <a:solidFill>
                  <a:srgbClr val="2B6A8A"/>
                </a:solidFill>
                <a:latin typeface="Roboto Medium" pitchFamily="34" charset="0"/>
                <a:ea typeface="Roboto Medium" pitchFamily="34" charset="-122"/>
                <a:cs typeface="Roboto Medium" pitchFamily="34" charset="-120"/>
              </a:rPr>
              <a:t>DESCRIPTION</a:t>
            </a:r>
            <a:endParaRPr lang="en-US" sz="1050" dirty="0"/>
          </a:p>
        </p:txBody>
      </p:sp>
      <p:sp>
        <p:nvSpPr>
          <p:cNvPr id="5" name="title"/>
          <p:cNvSpPr txBox="1"/>
          <p:nvPr/>
        </p:nvSpPr>
        <p:spPr>
          <a:xfrm>
            <a:off x="502920" y="731520"/>
            <a:ext cx="11185855" cy="475488"/>
          </a:xfrm>
          <a:prstGeom prst="rect">
            <a:avLst/>
          </a:prstGeom>
          <a:noFill/>
          <a:ln/>
        </p:spPr>
        <p:txBody>
          <a:bodyPr wrap="square" lIns="0" tIns="0" rIns="0" bIns="0" rtlCol="0" anchor="t"/>
          <a:lstStyle/>
          <a:p>
            <a:pPr marL="0" indent="0">
              <a:buNone/>
            </a:pPr>
            <a:r>
              <a:rPr lang="en-US" sz="2800" dirty="0">
                <a:solidFill>
                  <a:srgbClr val="22383F"/>
                </a:solidFill>
                <a:latin typeface="Roboto Light" pitchFamily="34" charset="0"/>
                <a:ea typeface="Roboto Light" pitchFamily="34" charset="-122"/>
                <a:cs typeface="Roboto Light" pitchFamily="34" charset="-120"/>
              </a:rPr>
              <a:t>La Pampa: one road away from land where mining is legal</a:t>
            </a:r>
            <a:endParaRPr lang="en-US" sz="2800" dirty="0"/>
          </a:p>
        </p:txBody>
      </p:sp>
      <p:sp>
        <p:nvSpPr>
          <p:cNvPr id="6" name="Text 4"/>
          <p:cNvSpPr/>
          <p:nvPr/>
        </p:nvSpPr>
        <p:spPr>
          <a:xfrm>
            <a:off x="502920" y="1709928"/>
            <a:ext cx="329184" cy="329184"/>
          </a:xfrm>
          <a:prstGeom prst="ellipse">
            <a:avLst/>
          </a:prstGeom>
          <a:solidFill>
            <a:srgbClr val="3C7D2C"/>
          </a:solidFill>
          <a:ln w="12700">
            <a:solidFill>
              <a:srgbClr val="3C7D2C"/>
            </a:solidFill>
          </a:ln>
        </p:spPr>
        <p:txBody>
          <a:bodyPr wrap="square" lIns="0" tIns="0" rIns="0" bIns="0" rtlCol="0" anchor="ctr"/>
          <a:lstStyle/>
          <a:p>
            <a:pPr marL="0" indent="0" algn="ctr">
              <a:buNone/>
            </a:pPr>
            <a:r>
              <a:rPr lang="en-US" sz="1200" dirty="0">
                <a:solidFill>
                  <a:srgbClr val="FFFFFF"/>
                </a:solidFill>
                <a:latin typeface="Roboto Medium" pitchFamily="34" charset="0"/>
                <a:ea typeface="Roboto Medium" pitchFamily="34" charset="-122"/>
                <a:cs typeface="Roboto Medium" pitchFamily="34" charset="-120"/>
              </a:rPr>
              <a:t>1</a:t>
            </a:r>
            <a:endParaRPr lang="en-US" sz="1200" dirty="0"/>
          </a:p>
        </p:txBody>
      </p:sp>
      <p:sp>
        <p:nvSpPr>
          <p:cNvPr id="7" name="Text 5"/>
          <p:cNvSpPr txBox="1"/>
          <p:nvPr/>
        </p:nvSpPr>
        <p:spPr>
          <a:xfrm>
            <a:off x="960120" y="1691640"/>
            <a:ext cx="2743200" cy="365760"/>
          </a:xfrm>
          <a:prstGeom prst="rect">
            <a:avLst/>
          </a:prstGeom>
          <a:noFill/>
          <a:ln/>
        </p:spPr>
        <p:txBody>
          <a:bodyPr wrap="square" lIns="0" tIns="0" rIns="0" bIns="0" rtlCol="0" anchor="ctr"/>
          <a:lstStyle/>
          <a:p>
            <a:pPr marL="0" indent="0">
              <a:buNone/>
            </a:pPr>
            <a:r>
              <a:rPr lang="en-US" sz="1600" dirty="0">
                <a:solidFill>
                  <a:srgbClr val="22383F"/>
                </a:solidFill>
                <a:latin typeface="Roboto Medium" pitchFamily="34" charset="0"/>
                <a:ea typeface="Roboto Medium" pitchFamily="34" charset="-122"/>
                <a:cs typeface="Roboto Medium" pitchFamily="34" charset="-120"/>
              </a:rPr>
              <a:t>Protected areas</a:t>
            </a:r>
            <a:endParaRPr lang="en-US" sz="1600" dirty="0"/>
          </a:p>
        </p:txBody>
      </p:sp>
      <p:sp>
        <p:nvSpPr>
          <p:cNvPr id="8" name="Text 6"/>
          <p:cNvSpPr txBox="1"/>
          <p:nvPr/>
        </p:nvSpPr>
        <p:spPr>
          <a:xfrm>
            <a:off x="960120" y="2075688"/>
            <a:ext cx="2743200" cy="475488"/>
          </a:xfrm>
          <a:prstGeom prst="rect">
            <a:avLst/>
          </a:prstGeom>
          <a:noFill/>
          <a:ln/>
        </p:spPr>
        <p:txBody>
          <a:bodyPr wrap="square" lIns="0" tIns="0" rIns="0" bIns="0" rtlCol="0" anchor="t"/>
          <a:lstStyle/>
          <a:p>
            <a:pPr marL="0" indent="0">
              <a:buNone/>
            </a:pPr>
            <a:r>
              <a:rPr lang="en-US" sz="1300" dirty="0">
                <a:solidFill>
                  <a:srgbClr val="4A5B60"/>
                </a:solidFill>
                <a:latin typeface="Roboto" pitchFamily="34" charset="0"/>
                <a:ea typeface="Roboto" pitchFamily="34" charset="-122"/>
                <a:cs typeface="Roboto" pitchFamily="34" charset="-120"/>
              </a:rPr>
              <a:t>Tambopata reserve, its buffer zone, Amarakaeri. Pink: native land.</a:t>
            </a:r>
            <a:endParaRPr lang="en-US" sz="1300" dirty="0"/>
          </a:p>
        </p:txBody>
      </p:sp>
      <p:sp>
        <p:nvSpPr>
          <p:cNvPr id="9" name="Text 7"/>
          <p:cNvSpPr/>
          <p:nvPr/>
        </p:nvSpPr>
        <p:spPr>
          <a:xfrm>
            <a:off x="502920" y="2642616"/>
            <a:ext cx="329184" cy="329184"/>
          </a:xfrm>
          <a:prstGeom prst="ellipse">
            <a:avLst/>
          </a:prstGeom>
          <a:ln w="12700">
            <a:solidFill>
              <a:srgbClr val="C9C1B4"/>
            </a:solidFill>
          </a:ln>
        </p:spPr>
        <p:txBody>
          <a:bodyPr wrap="square" lIns="0" tIns="0" rIns="0" bIns="0" rtlCol="0" anchor="ctr"/>
          <a:lstStyle/>
          <a:p>
            <a:pPr marL="0" indent="0" algn="ctr">
              <a:buNone/>
            </a:pPr>
            <a:r>
              <a:rPr lang="en-US" sz="1200" dirty="0">
                <a:solidFill>
                  <a:srgbClr val="6C7B80"/>
                </a:solidFill>
                <a:latin typeface="Roboto Medium" pitchFamily="34" charset="0"/>
                <a:ea typeface="Roboto Medium" pitchFamily="34" charset="-122"/>
                <a:cs typeface="Roboto Medium" pitchFamily="34" charset="-120"/>
              </a:rPr>
              <a:t>2</a:t>
            </a:r>
            <a:endParaRPr lang="en-US" sz="1200" dirty="0"/>
          </a:p>
        </p:txBody>
      </p:sp>
      <p:sp>
        <p:nvSpPr>
          <p:cNvPr id="10" name="Text 8"/>
          <p:cNvSpPr txBox="1"/>
          <p:nvPr/>
        </p:nvSpPr>
        <p:spPr>
          <a:xfrm>
            <a:off x="960120" y="2624328"/>
            <a:ext cx="2743200" cy="365760"/>
          </a:xfrm>
          <a:prstGeom prst="rect">
            <a:avLst/>
          </a:prstGeom>
          <a:noFill/>
          <a:ln/>
        </p:spPr>
        <p:txBody>
          <a:bodyPr wrap="square" lIns="0" tIns="0" rIns="0" bIns="0" rtlCol="0" anchor="ctr"/>
          <a:lstStyle/>
          <a:p>
            <a:pPr marL="0" indent="0">
              <a:buNone/>
            </a:pPr>
            <a:r>
              <a:rPr lang="en-US" sz="1600" dirty="0">
                <a:solidFill>
                  <a:srgbClr val="6C7B80"/>
                </a:solidFill>
                <a:latin typeface="Roboto" pitchFamily="34" charset="0"/>
                <a:ea typeface="Roboto" pitchFamily="34" charset="-122"/>
                <a:cs typeface="Roboto" pitchFamily="34" charset="-120"/>
              </a:rPr>
              <a:t>The Interoceanic Highway</a:t>
            </a:r>
            <a:endParaRPr lang="en-US" sz="1600" dirty="0"/>
          </a:p>
        </p:txBody>
      </p:sp>
      <p:sp>
        <p:nvSpPr>
          <p:cNvPr id="11" name="Text 9"/>
          <p:cNvSpPr/>
          <p:nvPr/>
        </p:nvSpPr>
        <p:spPr>
          <a:xfrm>
            <a:off x="502920" y="3575304"/>
            <a:ext cx="329184" cy="329184"/>
          </a:xfrm>
          <a:prstGeom prst="ellipse">
            <a:avLst/>
          </a:prstGeom>
          <a:ln w="12700">
            <a:solidFill>
              <a:srgbClr val="C9C1B4"/>
            </a:solidFill>
          </a:ln>
        </p:spPr>
        <p:txBody>
          <a:bodyPr wrap="square" lIns="0" tIns="0" rIns="0" bIns="0" rtlCol="0" anchor="ctr"/>
          <a:lstStyle/>
          <a:p>
            <a:pPr marL="0" indent="0" algn="ctr">
              <a:buNone/>
            </a:pPr>
            <a:r>
              <a:rPr lang="en-US" sz="1200" dirty="0">
                <a:solidFill>
                  <a:srgbClr val="6C7B80"/>
                </a:solidFill>
                <a:latin typeface="Roboto Medium" pitchFamily="34" charset="0"/>
                <a:ea typeface="Roboto Medium" pitchFamily="34" charset="-122"/>
                <a:cs typeface="Roboto Medium" pitchFamily="34" charset="-120"/>
              </a:rPr>
              <a:t>3</a:t>
            </a:r>
            <a:endParaRPr lang="en-US" sz="1200" dirty="0"/>
          </a:p>
        </p:txBody>
      </p:sp>
      <p:sp>
        <p:nvSpPr>
          <p:cNvPr id="12" name="Text 10"/>
          <p:cNvSpPr txBox="1"/>
          <p:nvPr/>
        </p:nvSpPr>
        <p:spPr>
          <a:xfrm>
            <a:off x="960120" y="3557016"/>
            <a:ext cx="2743200" cy="365760"/>
          </a:xfrm>
          <a:prstGeom prst="rect">
            <a:avLst/>
          </a:prstGeom>
          <a:noFill/>
          <a:ln/>
        </p:spPr>
        <p:txBody>
          <a:bodyPr wrap="square" lIns="0" tIns="0" rIns="0" bIns="0" rtlCol="0" anchor="ctr"/>
          <a:lstStyle/>
          <a:p>
            <a:pPr marL="0" indent="0">
              <a:buNone/>
            </a:pPr>
            <a:r>
              <a:rPr lang="en-US" sz="1600" dirty="0">
                <a:solidFill>
                  <a:srgbClr val="6C7B80"/>
                </a:solidFill>
                <a:latin typeface="Roboto" pitchFamily="34" charset="0"/>
                <a:ea typeface="Roboto" pitchFamily="34" charset="-122"/>
                <a:cs typeface="Roboto" pitchFamily="34" charset="-120"/>
              </a:rPr>
              <a:t>Rivers and old mining</a:t>
            </a:r>
            <a:endParaRPr lang="en-US" sz="1600" dirty="0"/>
          </a:p>
        </p:txBody>
      </p:sp>
      <p:sp>
        <p:nvSpPr>
          <p:cNvPr id="13" name="Text 11"/>
          <p:cNvSpPr/>
          <p:nvPr/>
        </p:nvSpPr>
        <p:spPr>
          <a:xfrm>
            <a:off x="502920" y="4507992"/>
            <a:ext cx="329184" cy="329184"/>
          </a:xfrm>
          <a:prstGeom prst="ellipse">
            <a:avLst/>
          </a:prstGeom>
          <a:ln w="12700">
            <a:solidFill>
              <a:srgbClr val="C9C1B4"/>
            </a:solidFill>
          </a:ln>
        </p:spPr>
        <p:txBody>
          <a:bodyPr wrap="square" lIns="0" tIns="0" rIns="0" bIns="0" rtlCol="0" anchor="ctr"/>
          <a:lstStyle/>
          <a:p>
            <a:pPr marL="0" indent="0" algn="ctr">
              <a:buNone/>
            </a:pPr>
            <a:r>
              <a:rPr lang="en-US" sz="1200" dirty="0">
                <a:solidFill>
                  <a:srgbClr val="6C7B80"/>
                </a:solidFill>
                <a:latin typeface="Roboto Medium" pitchFamily="34" charset="0"/>
                <a:ea typeface="Roboto Medium" pitchFamily="34" charset="-122"/>
                <a:cs typeface="Roboto Medium" pitchFamily="34" charset="-120"/>
              </a:rPr>
              <a:t>4</a:t>
            </a:r>
            <a:endParaRPr lang="en-US" sz="1200" dirty="0"/>
          </a:p>
        </p:txBody>
      </p:sp>
      <p:sp>
        <p:nvSpPr>
          <p:cNvPr id="14" name="Text 12"/>
          <p:cNvSpPr txBox="1"/>
          <p:nvPr/>
        </p:nvSpPr>
        <p:spPr>
          <a:xfrm>
            <a:off x="960120" y="4489704"/>
            <a:ext cx="2743200" cy="365760"/>
          </a:xfrm>
          <a:prstGeom prst="rect">
            <a:avLst/>
          </a:prstGeom>
          <a:noFill/>
          <a:ln/>
        </p:spPr>
        <p:txBody>
          <a:bodyPr wrap="square" lIns="0" tIns="0" rIns="0" bIns="0" rtlCol="0" anchor="ctr"/>
          <a:lstStyle/>
          <a:p>
            <a:pPr marL="0" indent="0">
              <a:buNone/>
            </a:pPr>
            <a:r>
              <a:rPr lang="en-US" sz="1600" dirty="0">
                <a:solidFill>
                  <a:srgbClr val="6C7B80"/>
                </a:solidFill>
                <a:latin typeface="Roboto" pitchFamily="34" charset="0"/>
                <a:ea typeface="Roboto" pitchFamily="34" charset="-122"/>
                <a:cs typeface="Roboto" pitchFamily="34" charset="-120"/>
              </a:rPr>
              <a:t>Where mining can be legal</a:t>
            </a:r>
            <a:endParaRPr lang="en-US" sz="1600" dirty="0"/>
          </a:p>
        </p:txBody>
      </p:sp>
      <p:sp>
        <p:nvSpPr>
          <p:cNvPr id="15" name="Text 13"/>
          <p:cNvSpPr/>
          <p:nvPr/>
        </p:nvSpPr>
        <p:spPr>
          <a:xfrm>
            <a:off x="502920" y="5440680"/>
            <a:ext cx="329184" cy="329184"/>
          </a:xfrm>
          <a:prstGeom prst="ellipse">
            <a:avLst/>
          </a:prstGeom>
          <a:ln w="12700">
            <a:solidFill>
              <a:srgbClr val="C9C1B4"/>
            </a:solidFill>
          </a:ln>
        </p:spPr>
        <p:txBody>
          <a:bodyPr wrap="square" lIns="0" tIns="0" rIns="0" bIns="0" rtlCol="0" anchor="ctr"/>
          <a:lstStyle/>
          <a:p>
            <a:pPr marL="0" indent="0" algn="ctr">
              <a:buNone/>
            </a:pPr>
            <a:r>
              <a:rPr lang="en-US" sz="1200" dirty="0">
                <a:solidFill>
                  <a:srgbClr val="6C7B80"/>
                </a:solidFill>
                <a:latin typeface="Roboto Medium" pitchFamily="34" charset="0"/>
                <a:ea typeface="Roboto Medium" pitchFamily="34" charset="-122"/>
                <a:cs typeface="Roboto Medium" pitchFamily="34" charset="-120"/>
              </a:rPr>
              <a:t>5</a:t>
            </a:r>
            <a:endParaRPr lang="en-US" sz="1200" dirty="0"/>
          </a:p>
        </p:txBody>
      </p:sp>
      <p:sp>
        <p:nvSpPr>
          <p:cNvPr id="16" name="Text 14"/>
          <p:cNvSpPr txBox="1"/>
          <p:nvPr/>
        </p:nvSpPr>
        <p:spPr>
          <a:xfrm>
            <a:off x="960120" y="5422392"/>
            <a:ext cx="2743200" cy="365760"/>
          </a:xfrm>
          <a:prstGeom prst="rect">
            <a:avLst/>
          </a:prstGeom>
          <a:noFill/>
          <a:ln/>
        </p:spPr>
        <p:txBody>
          <a:bodyPr wrap="square" lIns="0" tIns="0" rIns="0" bIns="0" rtlCol="0" anchor="ctr"/>
          <a:lstStyle/>
          <a:p>
            <a:pPr marL="0" indent="0">
              <a:buNone/>
            </a:pPr>
            <a:r>
              <a:rPr lang="en-US" sz="1600" dirty="0">
                <a:solidFill>
                  <a:srgbClr val="6C7B80"/>
                </a:solidFill>
                <a:latin typeface="Roboto" pitchFamily="34" charset="0"/>
                <a:ea typeface="Roboto" pitchFamily="34" charset="-122"/>
                <a:cs typeface="Roboto" pitchFamily="34" charset="-120"/>
              </a:rPr>
              <a:t>The target</a:t>
            </a:r>
            <a:endParaRPr lang="en-US" sz="1600" dirty="0"/>
          </a:p>
        </p:txBody>
      </p:sp>
      <p:pic>
        <p:nvPicPr>
          <p:cNvPr id="17" name="Image 0" descr="map step 1"/>
          <p:cNvPicPr>
            <a:picLocks noChangeAspect="1"/>
          </p:cNvPicPr>
          <p:nvPr/>
        </p:nvPicPr>
        <p:blipFill>
          <a:blip r:embed="rId3"/>
          <a:stretch>
            <a:fillRect/>
          </a:stretch>
        </p:blipFill>
        <p:spPr>
          <a:xfrm>
            <a:off x="3931920" y="1691640"/>
            <a:ext cx="7756855" cy="4363231"/>
          </a:xfrm>
          <a:prstGeom prst="rect">
            <a:avLst/>
          </a:prstGeom>
        </p:spPr>
      </p:pic>
      <p:sp>
        <p:nvSpPr>
          <p:cNvPr id="25" name="Slide Number Placeholder 0"/>
          <p:cNvSpPr>
            <a:spLocks noGrp="1"/>
          </p:cNvSpPr>
          <p:nvPr>
            <p:ph type="sldNum" sz="quarter" idx="4294967295"/>
          </p:nvPr>
        </p:nvSpPr>
        <p:spPr>
          <a:xfrm>
            <a:off x="11140135" y="6510528"/>
            <a:ext cx="548640" cy="219456"/>
          </a:xfrm>
          <a:prstGeom prst="rect">
            <a:avLst/>
          </a:prstGeom>
          <a:extLst>
            <a:ext uri="{C572A759-6A51-4108-AA02-DFA0A04FC94B}">
              <ma14:wrappingTextBoxFlag xmlns="" xmlns:ma14="http://schemas.microsoft.com/office/mac/drawingml/2011/main" val="0"/>
            </a:ext>
          </a:extLst>
        </p:spPr>
        <p:txBody>
          <a:bodyPr/>
          <a:lstStyle>
            <a:lvl1pPr>
              <a:defRPr sz="900">
                <a:solidFill>
                  <a:srgbClr val="6C7B80"/>
                </a:solidFill>
                <a:latin typeface="Roboto"/>
                <a:ea typeface="Roboto"/>
                <a:cs typeface="Roboto"/>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02920" y="384048"/>
            <a:ext cx="2372868" cy="274320"/>
          </a:xfrm>
          <a:prstGeom prst="rect">
            <a:avLst/>
          </a:prstGeom>
          <a:noFill/>
          <a:ln/>
        </p:spPr>
        <p:txBody>
          <a:bodyPr wrap="square" lIns="0" tIns="0" rIns="0" bIns="0" rtlCol="0" anchor="ctr"/>
          <a:lstStyle/>
          <a:p>
            <a:pPr marL="0" indent="0">
              <a:buNone/>
            </a:pPr>
            <a:r>
              <a:rPr lang="en-US" sz="1200" kern="0" spc="220" dirty="0">
                <a:solidFill>
                  <a:srgbClr val="A42C58"/>
                </a:solidFill>
                <a:latin typeface="Roboto Medium" pitchFamily="34" charset="0"/>
                <a:ea typeface="Roboto Medium" pitchFamily="34" charset="-122"/>
                <a:cs typeface="Roboto Medium" pitchFamily="34" charset="-120"/>
              </a:rPr>
              <a:t>01   </a:t>
            </a:r>
            <a:r>
              <a:rPr lang="en-US" sz="1200" kern="0" spc="220" dirty="0">
                <a:solidFill>
                  <a:srgbClr val="3C7D2C"/>
                </a:solidFill>
                <a:latin typeface="Roboto Medium" pitchFamily="34" charset="0"/>
                <a:ea typeface="Roboto Medium" pitchFamily="34" charset="-122"/>
                <a:cs typeface="Roboto Medium" pitchFamily="34" charset="-120"/>
              </a:rPr>
              <a:t>WHERE WE ARE</a:t>
            </a:r>
            <a:endParaRPr lang="en-US" sz="1200" dirty="0"/>
          </a:p>
        </p:txBody>
      </p:sp>
      <p:sp>
        <p:nvSpPr>
          <p:cNvPr id="3" name="Shape 1"/>
          <p:cNvSpPr/>
          <p:nvPr/>
        </p:nvSpPr>
        <p:spPr>
          <a:xfrm>
            <a:off x="2985516" y="521208"/>
            <a:ext cx="6325819" cy="0"/>
          </a:xfrm>
          <a:prstGeom prst="line">
            <a:avLst/>
          </a:prstGeom>
          <a:noFill/>
          <a:ln w="9525">
            <a:solidFill>
              <a:srgbClr val="3C7D2C">
                <a:alpha val="55000"/>
              </a:srgbClr>
            </a:solidFill>
            <a:prstDash val="solid"/>
          </a:ln>
        </p:spPr>
        <p:txBody>
          <a:bodyPr/>
          <a:lstStyle/>
          <a:p>
            <a:endParaRPr lang="en-US"/>
          </a:p>
        </p:txBody>
      </p:sp>
      <p:sp>
        <p:nvSpPr>
          <p:cNvPr id="4" name="claim-D"/>
          <p:cNvSpPr/>
          <p:nvPr/>
        </p:nvSpPr>
        <p:spPr>
          <a:xfrm>
            <a:off x="9539935" y="347472"/>
            <a:ext cx="2148840" cy="310896"/>
          </a:xfrm>
          <a:prstGeom prst="roundRect">
            <a:avLst>
              <a:gd name="adj" fmla="val 50000"/>
            </a:avLst>
          </a:prstGeom>
          <a:ln w="12700">
            <a:solidFill>
              <a:srgbClr val="2B6A8A"/>
            </a:solidFill>
          </a:ln>
        </p:spPr>
        <p:txBody>
          <a:bodyPr wrap="square" lIns="0" tIns="0" rIns="0" bIns="0" rtlCol="0" anchor="ctr"/>
          <a:lstStyle/>
          <a:p>
            <a:pPr marL="0" indent="0" algn="ctr">
              <a:buNone/>
            </a:pPr>
            <a:r>
              <a:rPr lang="en-US" sz="1050" kern="0" spc="150" dirty="0">
                <a:solidFill>
                  <a:srgbClr val="2B6A8A"/>
                </a:solidFill>
                <a:latin typeface="Roboto Medium" pitchFamily="34" charset="0"/>
                <a:ea typeface="Roboto Medium" pitchFamily="34" charset="-122"/>
                <a:cs typeface="Roboto Medium" pitchFamily="34" charset="-120"/>
              </a:rPr>
              <a:t>DESCRIPTION</a:t>
            </a:r>
            <a:endParaRPr lang="en-US" sz="1050" dirty="0"/>
          </a:p>
        </p:txBody>
      </p:sp>
      <p:sp>
        <p:nvSpPr>
          <p:cNvPr id="5" name="title"/>
          <p:cNvSpPr txBox="1"/>
          <p:nvPr/>
        </p:nvSpPr>
        <p:spPr>
          <a:xfrm>
            <a:off x="502920" y="731520"/>
            <a:ext cx="11185855" cy="475488"/>
          </a:xfrm>
          <a:prstGeom prst="rect">
            <a:avLst/>
          </a:prstGeom>
          <a:noFill/>
          <a:ln/>
        </p:spPr>
        <p:txBody>
          <a:bodyPr wrap="square" lIns="0" tIns="0" rIns="0" bIns="0" rtlCol="0" anchor="t"/>
          <a:lstStyle/>
          <a:p>
            <a:pPr marL="0" indent="0">
              <a:buNone/>
            </a:pPr>
            <a:r>
              <a:rPr lang="en-US" sz="2800" dirty="0">
                <a:solidFill>
                  <a:srgbClr val="22383F"/>
                </a:solidFill>
                <a:latin typeface="Roboto Light" pitchFamily="34" charset="0"/>
                <a:ea typeface="Roboto Light" pitchFamily="34" charset="-122"/>
                <a:cs typeface="Roboto Light" pitchFamily="34" charset="-120"/>
              </a:rPr>
              <a:t>La Pampa: one road away from land where mining is legal</a:t>
            </a:r>
            <a:endParaRPr lang="en-US" sz="2800" dirty="0"/>
          </a:p>
        </p:txBody>
      </p:sp>
      <p:sp>
        <p:nvSpPr>
          <p:cNvPr id="6" name="Text 4"/>
          <p:cNvSpPr/>
          <p:nvPr/>
        </p:nvSpPr>
        <p:spPr>
          <a:xfrm>
            <a:off x="502920" y="1709928"/>
            <a:ext cx="329184" cy="329184"/>
          </a:xfrm>
          <a:prstGeom prst="ellipse">
            <a:avLst/>
          </a:prstGeom>
          <a:ln w="12700">
            <a:solidFill>
              <a:srgbClr val="3C7D2C"/>
            </a:solidFill>
          </a:ln>
        </p:spPr>
        <p:txBody>
          <a:bodyPr wrap="square" lIns="0" tIns="0" rIns="0" bIns="0" rtlCol="0" anchor="ctr"/>
          <a:lstStyle/>
          <a:p>
            <a:pPr marL="0" indent="0" algn="ctr">
              <a:buNone/>
            </a:pPr>
            <a:r>
              <a:rPr lang="en-US" sz="1200" dirty="0">
                <a:solidFill>
                  <a:srgbClr val="3C7D2C"/>
                </a:solidFill>
                <a:latin typeface="Roboto Medium" pitchFamily="34" charset="0"/>
                <a:ea typeface="Roboto Medium" pitchFamily="34" charset="-122"/>
                <a:cs typeface="Roboto Medium" pitchFamily="34" charset="-120"/>
              </a:rPr>
              <a:t>1</a:t>
            </a:r>
            <a:endParaRPr lang="en-US" sz="1200" dirty="0"/>
          </a:p>
        </p:txBody>
      </p:sp>
      <p:sp>
        <p:nvSpPr>
          <p:cNvPr id="7" name="Text 5"/>
          <p:cNvSpPr txBox="1"/>
          <p:nvPr/>
        </p:nvSpPr>
        <p:spPr>
          <a:xfrm>
            <a:off x="960120" y="1691640"/>
            <a:ext cx="2743200" cy="365760"/>
          </a:xfrm>
          <a:prstGeom prst="rect">
            <a:avLst/>
          </a:prstGeom>
          <a:noFill/>
          <a:ln/>
        </p:spPr>
        <p:txBody>
          <a:bodyPr wrap="square" lIns="0" tIns="0" rIns="0" bIns="0" rtlCol="0" anchor="ctr"/>
          <a:lstStyle/>
          <a:p>
            <a:pPr marL="0" indent="0">
              <a:buNone/>
            </a:pPr>
            <a:r>
              <a:rPr lang="en-US" sz="1600" dirty="0">
                <a:solidFill>
                  <a:srgbClr val="4A5B60"/>
                </a:solidFill>
                <a:latin typeface="Roboto" pitchFamily="34" charset="0"/>
                <a:ea typeface="Roboto" pitchFamily="34" charset="-122"/>
                <a:cs typeface="Roboto" pitchFamily="34" charset="-120"/>
              </a:rPr>
              <a:t>Protected areas</a:t>
            </a:r>
            <a:endParaRPr lang="en-US" sz="1600" dirty="0"/>
          </a:p>
        </p:txBody>
      </p:sp>
      <p:sp>
        <p:nvSpPr>
          <p:cNvPr id="8" name="Text 6"/>
          <p:cNvSpPr/>
          <p:nvPr/>
        </p:nvSpPr>
        <p:spPr>
          <a:xfrm>
            <a:off x="502920" y="2642616"/>
            <a:ext cx="329184" cy="329184"/>
          </a:xfrm>
          <a:prstGeom prst="ellipse">
            <a:avLst/>
          </a:prstGeom>
          <a:solidFill>
            <a:srgbClr val="3C7D2C"/>
          </a:solidFill>
          <a:ln w="12700">
            <a:solidFill>
              <a:srgbClr val="3C7D2C"/>
            </a:solidFill>
          </a:ln>
        </p:spPr>
        <p:txBody>
          <a:bodyPr wrap="square" lIns="0" tIns="0" rIns="0" bIns="0" rtlCol="0" anchor="ctr"/>
          <a:lstStyle/>
          <a:p>
            <a:pPr marL="0" indent="0" algn="ctr">
              <a:buNone/>
            </a:pPr>
            <a:r>
              <a:rPr lang="en-US" sz="1200" dirty="0">
                <a:solidFill>
                  <a:srgbClr val="FFFFFF"/>
                </a:solidFill>
                <a:latin typeface="Roboto Medium" pitchFamily="34" charset="0"/>
                <a:ea typeface="Roboto Medium" pitchFamily="34" charset="-122"/>
                <a:cs typeface="Roboto Medium" pitchFamily="34" charset="-120"/>
              </a:rPr>
              <a:t>2</a:t>
            </a:r>
            <a:endParaRPr lang="en-US" sz="1200" dirty="0"/>
          </a:p>
        </p:txBody>
      </p:sp>
      <p:sp>
        <p:nvSpPr>
          <p:cNvPr id="9" name="Text 7"/>
          <p:cNvSpPr txBox="1"/>
          <p:nvPr/>
        </p:nvSpPr>
        <p:spPr>
          <a:xfrm>
            <a:off x="960120" y="2624328"/>
            <a:ext cx="2743200" cy="365760"/>
          </a:xfrm>
          <a:prstGeom prst="rect">
            <a:avLst/>
          </a:prstGeom>
          <a:noFill/>
          <a:ln/>
        </p:spPr>
        <p:txBody>
          <a:bodyPr wrap="square" lIns="0" tIns="0" rIns="0" bIns="0" rtlCol="0" anchor="ctr"/>
          <a:lstStyle/>
          <a:p>
            <a:pPr marL="0" indent="0">
              <a:buNone/>
            </a:pPr>
            <a:r>
              <a:rPr lang="en-US" sz="1600" dirty="0">
                <a:solidFill>
                  <a:srgbClr val="22383F"/>
                </a:solidFill>
                <a:latin typeface="Roboto Medium" pitchFamily="34" charset="0"/>
                <a:ea typeface="Roboto Medium" pitchFamily="34" charset="-122"/>
                <a:cs typeface="Roboto Medium" pitchFamily="34" charset="-120"/>
              </a:rPr>
              <a:t>The Interoceanic Highway</a:t>
            </a:r>
            <a:endParaRPr lang="en-US" sz="1600" dirty="0"/>
          </a:p>
        </p:txBody>
      </p:sp>
      <p:sp>
        <p:nvSpPr>
          <p:cNvPr id="10" name="Text 8"/>
          <p:cNvSpPr txBox="1"/>
          <p:nvPr/>
        </p:nvSpPr>
        <p:spPr>
          <a:xfrm>
            <a:off x="960120" y="3008376"/>
            <a:ext cx="2743200" cy="475488"/>
          </a:xfrm>
          <a:prstGeom prst="rect">
            <a:avLst/>
          </a:prstGeom>
          <a:noFill/>
          <a:ln/>
        </p:spPr>
        <p:txBody>
          <a:bodyPr wrap="square" lIns="0" tIns="0" rIns="0" bIns="0" rtlCol="0" anchor="t"/>
          <a:lstStyle/>
          <a:p>
            <a:pPr marL="0" indent="0">
              <a:buNone/>
            </a:pPr>
            <a:r>
              <a:rPr lang="en-US" sz="1300" dirty="0">
                <a:solidFill>
                  <a:srgbClr val="4A5B60"/>
                </a:solidFill>
                <a:latin typeface="Roboto" pitchFamily="34" charset="0"/>
                <a:ea typeface="Roboto" pitchFamily="34" charset="-122"/>
                <a:cs typeface="Roboto" pitchFamily="34" charset="-120"/>
              </a:rPr>
              <a:t>One road splits the buffer zone from the land to the north.</a:t>
            </a:r>
            <a:endParaRPr lang="en-US" sz="1300" dirty="0"/>
          </a:p>
        </p:txBody>
      </p:sp>
      <p:sp>
        <p:nvSpPr>
          <p:cNvPr id="11" name="Text 9"/>
          <p:cNvSpPr/>
          <p:nvPr/>
        </p:nvSpPr>
        <p:spPr>
          <a:xfrm>
            <a:off x="502920" y="3575304"/>
            <a:ext cx="329184" cy="329184"/>
          </a:xfrm>
          <a:prstGeom prst="ellipse">
            <a:avLst/>
          </a:prstGeom>
          <a:ln w="12700">
            <a:solidFill>
              <a:srgbClr val="C9C1B4"/>
            </a:solidFill>
          </a:ln>
        </p:spPr>
        <p:txBody>
          <a:bodyPr wrap="square" lIns="0" tIns="0" rIns="0" bIns="0" rtlCol="0" anchor="ctr"/>
          <a:lstStyle/>
          <a:p>
            <a:pPr marL="0" indent="0" algn="ctr">
              <a:buNone/>
            </a:pPr>
            <a:r>
              <a:rPr lang="en-US" sz="1200" dirty="0">
                <a:solidFill>
                  <a:srgbClr val="6C7B80"/>
                </a:solidFill>
                <a:latin typeface="Roboto Medium" pitchFamily="34" charset="0"/>
                <a:ea typeface="Roboto Medium" pitchFamily="34" charset="-122"/>
                <a:cs typeface="Roboto Medium" pitchFamily="34" charset="-120"/>
              </a:rPr>
              <a:t>3</a:t>
            </a:r>
            <a:endParaRPr lang="en-US" sz="1200" dirty="0"/>
          </a:p>
        </p:txBody>
      </p:sp>
      <p:sp>
        <p:nvSpPr>
          <p:cNvPr id="12" name="Text 10"/>
          <p:cNvSpPr txBox="1"/>
          <p:nvPr/>
        </p:nvSpPr>
        <p:spPr>
          <a:xfrm>
            <a:off x="960120" y="3557016"/>
            <a:ext cx="2743200" cy="365760"/>
          </a:xfrm>
          <a:prstGeom prst="rect">
            <a:avLst/>
          </a:prstGeom>
          <a:noFill/>
          <a:ln/>
        </p:spPr>
        <p:txBody>
          <a:bodyPr wrap="square" lIns="0" tIns="0" rIns="0" bIns="0" rtlCol="0" anchor="ctr"/>
          <a:lstStyle/>
          <a:p>
            <a:pPr marL="0" indent="0">
              <a:buNone/>
            </a:pPr>
            <a:r>
              <a:rPr lang="en-US" sz="1600" dirty="0">
                <a:solidFill>
                  <a:srgbClr val="6C7B80"/>
                </a:solidFill>
                <a:latin typeface="Roboto" pitchFamily="34" charset="0"/>
                <a:ea typeface="Roboto" pitchFamily="34" charset="-122"/>
                <a:cs typeface="Roboto" pitchFamily="34" charset="-120"/>
              </a:rPr>
              <a:t>Rivers and old mining</a:t>
            </a:r>
            <a:endParaRPr lang="en-US" sz="1600" dirty="0"/>
          </a:p>
        </p:txBody>
      </p:sp>
      <p:sp>
        <p:nvSpPr>
          <p:cNvPr id="13" name="Text 11"/>
          <p:cNvSpPr/>
          <p:nvPr/>
        </p:nvSpPr>
        <p:spPr>
          <a:xfrm>
            <a:off x="502920" y="4507992"/>
            <a:ext cx="329184" cy="329184"/>
          </a:xfrm>
          <a:prstGeom prst="ellipse">
            <a:avLst/>
          </a:prstGeom>
          <a:ln w="12700">
            <a:solidFill>
              <a:srgbClr val="C9C1B4"/>
            </a:solidFill>
          </a:ln>
        </p:spPr>
        <p:txBody>
          <a:bodyPr wrap="square" lIns="0" tIns="0" rIns="0" bIns="0" rtlCol="0" anchor="ctr"/>
          <a:lstStyle/>
          <a:p>
            <a:pPr marL="0" indent="0" algn="ctr">
              <a:buNone/>
            </a:pPr>
            <a:r>
              <a:rPr lang="en-US" sz="1200" dirty="0">
                <a:solidFill>
                  <a:srgbClr val="6C7B80"/>
                </a:solidFill>
                <a:latin typeface="Roboto Medium" pitchFamily="34" charset="0"/>
                <a:ea typeface="Roboto Medium" pitchFamily="34" charset="-122"/>
                <a:cs typeface="Roboto Medium" pitchFamily="34" charset="-120"/>
              </a:rPr>
              <a:t>4</a:t>
            </a:r>
            <a:endParaRPr lang="en-US" sz="1200" dirty="0"/>
          </a:p>
        </p:txBody>
      </p:sp>
      <p:sp>
        <p:nvSpPr>
          <p:cNvPr id="14" name="Text 12"/>
          <p:cNvSpPr txBox="1"/>
          <p:nvPr/>
        </p:nvSpPr>
        <p:spPr>
          <a:xfrm>
            <a:off x="960120" y="4489704"/>
            <a:ext cx="2743200" cy="365760"/>
          </a:xfrm>
          <a:prstGeom prst="rect">
            <a:avLst/>
          </a:prstGeom>
          <a:noFill/>
          <a:ln/>
        </p:spPr>
        <p:txBody>
          <a:bodyPr wrap="square" lIns="0" tIns="0" rIns="0" bIns="0" rtlCol="0" anchor="ctr"/>
          <a:lstStyle/>
          <a:p>
            <a:pPr marL="0" indent="0">
              <a:buNone/>
            </a:pPr>
            <a:r>
              <a:rPr lang="en-US" sz="1600" dirty="0">
                <a:solidFill>
                  <a:srgbClr val="6C7B80"/>
                </a:solidFill>
                <a:latin typeface="Roboto" pitchFamily="34" charset="0"/>
                <a:ea typeface="Roboto" pitchFamily="34" charset="-122"/>
                <a:cs typeface="Roboto" pitchFamily="34" charset="-120"/>
              </a:rPr>
              <a:t>Where mining can be legal</a:t>
            </a:r>
            <a:endParaRPr lang="en-US" sz="1600" dirty="0"/>
          </a:p>
        </p:txBody>
      </p:sp>
      <p:sp>
        <p:nvSpPr>
          <p:cNvPr id="15" name="Text 13"/>
          <p:cNvSpPr/>
          <p:nvPr/>
        </p:nvSpPr>
        <p:spPr>
          <a:xfrm>
            <a:off x="502920" y="5440680"/>
            <a:ext cx="329184" cy="329184"/>
          </a:xfrm>
          <a:prstGeom prst="ellipse">
            <a:avLst/>
          </a:prstGeom>
          <a:ln w="12700">
            <a:solidFill>
              <a:srgbClr val="C9C1B4"/>
            </a:solidFill>
          </a:ln>
        </p:spPr>
        <p:txBody>
          <a:bodyPr wrap="square" lIns="0" tIns="0" rIns="0" bIns="0" rtlCol="0" anchor="ctr"/>
          <a:lstStyle/>
          <a:p>
            <a:pPr marL="0" indent="0" algn="ctr">
              <a:buNone/>
            </a:pPr>
            <a:r>
              <a:rPr lang="en-US" sz="1200" dirty="0">
                <a:solidFill>
                  <a:srgbClr val="6C7B80"/>
                </a:solidFill>
                <a:latin typeface="Roboto Medium" pitchFamily="34" charset="0"/>
                <a:ea typeface="Roboto Medium" pitchFamily="34" charset="-122"/>
                <a:cs typeface="Roboto Medium" pitchFamily="34" charset="-120"/>
              </a:rPr>
              <a:t>5</a:t>
            </a:r>
            <a:endParaRPr lang="en-US" sz="1200" dirty="0"/>
          </a:p>
        </p:txBody>
      </p:sp>
      <p:sp>
        <p:nvSpPr>
          <p:cNvPr id="16" name="Text 14"/>
          <p:cNvSpPr txBox="1"/>
          <p:nvPr/>
        </p:nvSpPr>
        <p:spPr>
          <a:xfrm>
            <a:off x="960120" y="5422392"/>
            <a:ext cx="2743200" cy="365760"/>
          </a:xfrm>
          <a:prstGeom prst="rect">
            <a:avLst/>
          </a:prstGeom>
          <a:noFill/>
          <a:ln/>
        </p:spPr>
        <p:txBody>
          <a:bodyPr wrap="square" lIns="0" tIns="0" rIns="0" bIns="0" rtlCol="0" anchor="ctr"/>
          <a:lstStyle/>
          <a:p>
            <a:pPr marL="0" indent="0">
              <a:buNone/>
            </a:pPr>
            <a:r>
              <a:rPr lang="en-US" sz="1600" dirty="0">
                <a:solidFill>
                  <a:srgbClr val="6C7B80"/>
                </a:solidFill>
                <a:latin typeface="Roboto" pitchFamily="34" charset="0"/>
                <a:ea typeface="Roboto" pitchFamily="34" charset="-122"/>
                <a:cs typeface="Roboto" pitchFamily="34" charset="-120"/>
              </a:rPr>
              <a:t>The target</a:t>
            </a:r>
            <a:endParaRPr lang="en-US" sz="1600" dirty="0"/>
          </a:p>
        </p:txBody>
      </p:sp>
      <p:pic>
        <p:nvPicPr>
          <p:cNvPr id="17" name="Image 0" descr="map step 2"/>
          <p:cNvPicPr>
            <a:picLocks noChangeAspect="1"/>
          </p:cNvPicPr>
          <p:nvPr/>
        </p:nvPicPr>
        <p:blipFill>
          <a:blip r:embed="rId3"/>
          <a:stretch>
            <a:fillRect/>
          </a:stretch>
        </p:blipFill>
        <p:spPr>
          <a:xfrm>
            <a:off x="3931920" y="1691640"/>
            <a:ext cx="7756855" cy="4363231"/>
          </a:xfrm>
          <a:prstGeom prst="rect">
            <a:avLst/>
          </a:prstGeom>
        </p:spPr>
      </p:pic>
      <p:sp>
        <p:nvSpPr>
          <p:cNvPr id="25" name="Slide Number Placeholder 0"/>
          <p:cNvSpPr>
            <a:spLocks noGrp="1"/>
          </p:cNvSpPr>
          <p:nvPr>
            <p:ph type="sldNum" sz="quarter" idx="4294967295"/>
          </p:nvPr>
        </p:nvSpPr>
        <p:spPr>
          <a:xfrm>
            <a:off x="11140135" y="6510528"/>
            <a:ext cx="548640" cy="219456"/>
          </a:xfrm>
          <a:prstGeom prst="rect">
            <a:avLst/>
          </a:prstGeom>
          <a:extLst>
            <a:ext uri="{C572A759-6A51-4108-AA02-DFA0A04FC94B}">
              <ma14:wrappingTextBoxFlag xmlns="" xmlns:ma14="http://schemas.microsoft.com/office/mac/drawingml/2011/main" val="0"/>
            </a:ext>
          </a:extLst>
        </p:spPr>
        <p:txBody>
          <a:bodyPr/>
          <a:lstStyle>
            <a:lvl1pPr>
              <a:defRPr sz="900">
                <a:solidFill>
                  <a:srgbClr val="6C7B80"/>
                </a:solidFill>
                <a:latin typeface="Roboto"/>
                <a:ea typeface="Roboto"/>
                <a:cs typeface="Roboto"/>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02920" y="384048"/>
            <a:ext cx="2372868" cy="274320"/>
          </a:xfrm>
          <a:prstGeom prst="rect">
            <a:avLst/>
          </a:prstGeom>
          <a:noFill/>
          <a:ln/>
        </p:spPr>
        <p:txBody>
          <a:bodyPr wrap="square" lIns="0" tIns="0" rIns="0" bIns="0" rtlCol="0" anchor="ctr"/>
          <a:lstStyle/>
          <a:p>
            <a:pPr marL="0" indent="0">
              <a:buNone/>
            </a:pPr>
            <a:r>
              <a:rPr lang="en-US" sz="1200" kern="0" spc="220" dirty="0">
                <a:solidFill>
                  <a:srgbClr val="A42C58"/>
                </a:solidFill>
                <a:latin typeface="Roboto Medium" pitchFamily="34" charset="0"/>
                <a:ea typeface="Roboto Medium" pitchFamily="34" charset="-122"/>
                <a:cs typeface="Roboto Medium" pitchFamily="34" charset="-120"/>
              </a:rPr>
              <a:t>01   </a:t>
            </a:r>
            <a:r>
              <a:rPr lang="en-US" sz="1200" kern="0" spc="220" dirty="0">
                <a:solidFill>
                  <a:srgbClr val="3C7D2C"/>
                </a:solidFill>
                <a:latin typeface="Roboto Medium" pitchFamily="34" charset="0"/>
                <a:ea typeface="Roboto Medium" pitchFamily="34" charset="-122"/>
                <a:cs typeface="Roboto Medium" pitchFamily="34" charset="-120"/>
              </a:rPr>
              <a:t>WHERE WE ARE</a:t>
            </a:r>
            <a:endParaRPr lang="en-US" sz="1200" dirty="0"/>
          </a:p>
        </p:txBody>
      </p:sp>
      <p:sp>
        <p:nvSpPr>
          <p:cNvPr id="3" name="Shape 1"/>
          <p:cNvSpPr/>
          <p:nvPr/>
        </p:nvSpPr>
        <p:spPr>
          <a:xfrm>
            <a:off x="2985516" y="521208"/>
            <a:ext cx="6325819" cy="0"/>
          </a:xfrm>
          <a:prstGeom prst="line">
            <a:avLst/>
          </a:prstGeom>
          <a:noFill/>
          <a:ln w="9525">
            <a:solidFill>
              <a:srgbClr val="3C7D2C">
                <a:alpha val="55000"/>
              </a:srgbClr>
            </a:solidFill>
            <a:prstDash val="solid"/>
          </a:ln>
        </p:spPr>
        <p:txBody>
          <a:bodyPr/>
          <a:lstStyle/>
          <a:p>
            <a:endParaRPr lang="en-US"/>
          </a:p>
        </p:txBody>
      </p:sp>
      <p:sp>
        <p:nvSpPr>
          <p:cNvPr id="4" name="claim-D"/>
          <p:cNvSpPr/>
          <p:nvPr/>
        </p:nvSpPr>
        <p:spPr>
          <a:xfrm>
            <a:off x="9539935" y="347472"/>
            <a:ext cx="2148840" cy="310896"/>
          </a:xfrm>
          <a:prstGeom prst="roundRect">
            <a:avLst>
              <a:gd name="adj" fmla="val 50000"/>
            </a:avLst>
          </a:prstGeom>
          <a:ln w="12700">
            <a:solidFill>
              <a:srgbClr val="2B6A8A"/>
            </a:solidFill>
          </a:ln>
        </p:spPr>
        <p:txBody>
          <a:bodyPr wrap="square" lIns="0" tIns="0" rIns="0" bIns="0" rtlCol="0" anchor="ctr"/>
          <a:lstStyle/>
          <a:p>
            <a:pPr marL="0" indent="0" algn="ctr">
              <a:buNone/>
            </a:pPr>
            <a:r>
              <a:rPr lang="en-US" sz="1050" kern="0" spc="150" dirty="0">
                <a:solidFill>
                  <a:srgbClr val="2B6A8A"/>
                </a:solidFill>
                <a:latin typeface="Roboto Medium" pitchFamily="34" charset="0"/>
                <a:ea typeface="Roboto Medium" pitchFamily="34" charset="-122"/>
                <a:cs typeface="Roboto Medium" pitchFamily="34" charset="-120"/>
              </a:rPr>
              <a:t>DESCRIPTION</a:t>
            </a:r>
            <a:endParaRPr lang="en-US" sz="1050" dirty="0"/>
          </a:p>
        </p:txBody>
      </p:sp>
      <p:sp>
        <p:nvSpPr>
          <p:cNvPr id="5" name="title"/>
          <p:cNvSpPr txBox="1"/>
          <p:nvPr/>
        </p:nvSpPr>
        <p:spPr>
          <a:xfrm>
            <a:off x="502920" y="731520"/>
            <a:ext cx="11185855" cy="475488"/>
          </a:xfrm>
          <a:prstGeom prst="rect">
            <a:avLst/>
          </a:prstGeom>
          <a:noFill/>
          <a:ln/>
        </p:spPr>
        <p:txBody>
          <a:bodyPr wrap="square" lIns="0" tIns="0" rIns="0" bIns="0" rtlCol="0" anchor="t"/>
          <a:lstStyle/>
          <a:p>
            <a:pPr marL="0" indent="0">
              <a:buNone/>
            </a:pPr>
            <a:r>
              <a:rPr lang="en-US" sz="2800" dirty="0">
                <a:solidFill>
                  <a:srgbClr val="22383F"/>
                </a:solidFill>
                <a:latin typeface="Roboto Light" pitchFamily="34" charset="0"/>
                <a:ea typeface="Roboto Light" pitchFamily="34" charset="-122"/>
                <a:cs typeface="Roboto Light" pitchFamily="34" charset="-120"/>
              </a:rPr>
              <a:t>La Pampa: one road away from land where mining is legal</a:t>
            </a:r>
            <a:endParaRPr lang="en-US" sz="2800" dirty="0"/>
          </a:p>
        </p:txBody>
      </p:sp>
      <p:sp>
        <p:nvSpPr>
          <p:cNvPr id="6" name="Text 4"/>
          <p:cNvSpPr/>
          <p:nvPr/>
        </p:nvSpPr>
        <p:spPr>
          <a:xfrm>
            <a:off x="502920" y="1709928"/>
            <a:ext cx="329184" cy="329184"/>
          </a:xfrm>
          <a:prstGeom prst="ellipse">
            <a:avLst/>
          </a:prstGeom>
          <a:ln w="12700">
            <a:solidFill>
              <a:srgbClr val="3C7D2C"/>
            </a:solidFill>
          </a:ln>
        </p:spPr>
        <p:txBody>
          <a:bodyPr wrap="square" lIns="0" tIns="0" rIns="0" bIns="0" rtlCol="0" anchor="ctr"/>
          <a:lstStyle/>
          <a:p>
            <a:pPr marL="0" indent="0" algn="ctr">
              <a:buNone/>
            </a:pPr>
            <a:r>
              <a:rPr lang="en-US" sz="1200" dirty="0">
                <a:solidFill>
                  <a:srgbClr val="3C7D2C"/>
                </a:solidFill>
                <a:latin typeface="Roboto Medium" pitchFamily="34" charset="0"/>
                <a:ea typeface="Roboto Medium" pitchFamily="34" charset="-122"/>
                <a:cs typeface="Roboto Medium" pitchFamily="34" charset="-120"/>
              </a:rPr>
              <a:t>1</a:t>
            </a:r>
            <a:endParaRPr lang="en-US" sz="1200" dirty="0"/>
          </a:p>
        </p:txBody>
      </p:sp>
      <p:sp>
        <p:nvSpPr>
          <p:cNvPr id="7" name="Text 5"/>
          <p:cNvSpPr txBox="1"/>
          <p:nvPr/>
        </p:nvSpPr>
        <p:spPr>
          <a:xfrm>
            <a:off x="960120" y="1691640"/>
            <a:ext cx="2743200" cy="365760"/>
          </a:xfrm>
          <a:prstGeom prst="rect">
            <a:avLst/>
          </a:prstGeom>
          <a:noFill/>
          <a:ln/>
        </p:spPr>
        <p:txBody>
          <a:bodyPr wrap="square" lIns="0" tIns="0" rIns="0" bIns="0" rtlCol="0" anchor="ctr"/>
          <a:lstStyle/>
          <a:p>
            <a:pPr marL="0" indent="0">
              <a:buNone/>
            </a:pPr>
            <a:r>
              <a:rPr lang="en-US" sz="1600" dirty="0">
                <a:solidFill>
                  <a:srgbClr val="4A5B60"/>
                </a:solidFill>
                <a:latin typeface="Roboto" pitchFamily="34" charset="0"/>
                <a:ea typeface="Roboto" pitchFamily="34" charset="-122"/>
                <a:cs typeface="Roboto" pitchFamily="34" charset="-120"/>
              </a:rPr>
              <a:t>Protected areas</a:t>
            </a:r>
            <a:endParaRPr lang="en-US" sz="1600" dirty="0"/>
          </a:p>
        </p:txBody>
      </p:sp>
      <p:sp>
        <p:nvSpPr>
          <p:cNvPr id="8" name="Text 6"/>
          <p:cNvSpPr/>
          <p:nvPr/>
        </p:nvSpPr>
        <p:spPr>
          <a:xfrm>
            <a:off x="502920" y="2642616"/>
            <a:ext cx="329184" cy="329184"/>
          </a:xfrm>
          <a:prstGeom prst="ellipse">
            <a:avLst/>
          </a:prstGeom>
          <a:ln w="12700">
            <a:solidFill>
              <a:srgbClr val="3C7D2C"/>
            </a:solidFill>
          </a:ln>
        </p:spPr>
        <p:txBody>
          <a:bodyPr wrap="square" lIns="0" tIns="0" rIns="0" bIns="0" rtlCol="0" anchor="ctr"/>
          <a:lstStyle/>
          <a:p>
            <a:pPr marL="0" indent="0" algn="ctr">
              <a:buNone/>
            </a:pPr>
            <a:r>
              <a:rPr lang="en-US" sz="1200" dirty="0">
                <a:solidFill>
                  <a:srgbClr val="3C7D2C"/>
                </a:solidFill>
                <a:latin typeface="Roboto Medium" pitchFamily="34" charset="0"/>
                <a:ea typeface="Roboto Medium" pitchFamily="34" charset="-122"/>
                <a:cs typeface="Roboto Medium" pitchFamily="34" charset="-120"/>
              </a:rPr>
              <a:t>2</a:t>
            </a:r>
            <a:endParaRPr lang="en-US" sz="1200" dirty="0"/>
          </a:p>
        </p:txBody>
      </p:sp>
      <p:sp>
        <p:nvSpPr>
          <p:cNvPr id="9" name="Text 7"/>
          <p:cNvSpPr txBox="1"/>
          <p:nvPr/>
        </p:nvSpPr>
        <p:spPr>
          <a:xfrm>
            <a:off x="960120" y="2624328"/>
            <a:ext cx="2743200" cy="365760"/>
          </a:xfrm>
          <a:prstGeom prst="rect">
            <a:avLst/>
          </a:prstGeom>
          <a:noFill/>
          <a:ln/>
        </p:spPr>
        <p:txBody>
          <a:bodyPr wrap="square" lIns="0" tIns="0" rIns="0" bIns="0" rtlCol="0" anchor="ctr"/>
          <a:lstStyle/>
          <a:p>
            <a:pPr marL="0" indent="0">
              <a:buNone/>
            </a:pPr>
            <a:r>
              <a:rPr lang="en-US" sz="1600" dirty="0">
                <a:solidFill>
                  <a:srgbClr val="4A5B60"/>
                </a:solidFill>
                <a:latin typeface="Roboto" pitchFamily="34" charset="0"/>
                <a:ea typeface="Roboto" pitchFamily="34" charset="-122"/>
                <a:cs typeface="Roboto" pitchFamily="34" charset="-120"/>
              </a:rPr>
              <a:t>The Interoceanic Highway</a:t>
            </a:r>
            <a:endParaRPr lang="en-US" sz="1600" dirty="0"/>
          </a:p>
        </p:txBody>
      </p:sp>
      <p:sp>
        <p:nvSpPr>
          <p:cNvPr id="10" name="Text 8"/>
          <p:cNvSpPr/>
          <p:nvPr/>
        </p:nvSpPr>
        <p:spPr>
          <a:xfrm>
            <a:off x="502920" y="3575304"/>
            <a:ext cx="329184" cy="329184"/>
          </a:xfrm>
          <a:prstGeom prst="ellipse">
            <a:avLst/>
          </a:prstGeom>
          <a:solidFill>
            <a:srgbClr val="3C7D2C"/>
          </a:solidFill>
          <a:ln w="12700">
            <a:solidFill>
              <a:srgbClr val="3C7D2C"/>
            </a:solidFill>
          </a:ln>
        </p:spPr>
        <p:txBody>
          <a:bodyPr wrap="square" lIns="0" tIns="0" rIns="0" bIns="0" rtlCol="0" anchor="ctr"/>
          <a:lstStyle/>
          <a:p>
            <a:pPr marL="0" indent="0" algn="ctr">
              <a:buNone/>
            </a:pPr>
            <a:r>
              <a:rPr lang="en-US" sz="1200" dirty="0">
                <a:solidFill>
                  <a:srgbClr val="FFFFFF"/>
                </a:solidFill>
                <a:latin typeface="Roboto Medium" pitchFamily="34" charset="0"/>
                <a:ea typeface="Roboto Medium" pitchFamily="34" charset="-122"/>
                <a:cs typeface="Roboto Medium" pitchFamily="34" charset="-120"/>
              </a:rPr>
              <a:t>3</a:t>
            </a:r>
            <a:endParaRPr lang="en-US" sz="1200" dirty="0"/>
          </a:p>
        </p:txBody>
      </p:sp>
      <p:sp>
        <p:nvSpPr>
          <p:cNvPr id="11" name="Text 9"/>
          <p:cNvSpPr txBox="1"/>
          <p:nvPr/>
        </p:nvSpPr>
        <p:spPr>
          <a:xfrm>
            <a:off x="960120" y="3557016"/>
            <a:ext cx="2743200" cy="365760"/>
          </a:xfrm>
          <a:prstGeom prst="rect">
            <a:avLst/>
          </a:prstGeom>
          <a:noFill/>
          <a:ln/>
        </p:spPr>
        <p:txBody>
          <a:bodyPr wrap="square" lIns="0" tIns="0" rIns="0" bIns="0" rtlCol="0" anchor="ctr"/>
          <a:lstStyle/>
          <a:p>
            <a:pPr marL="0" indent="0">
              <a:buNone/>
            </a:pPr>
            <a:r>
              <a:rPr lang="en-US" sz="1600" dirty="0">
                <a:solidFill>
                  <a:srgbClr val="22383F"/>
                </a:solidFill>
                <a:latin typeface="Roboto Medium" pitchFamily="34" charset="0"/>
                <a:ea typeface="Roboto Medium" pitchFamily="34" charset="-122"/>
                <a:cs typeface="Roboto Medium" pitchFamily="34" charset="-120"/>
              </a:rPr>
              <a:t>Rivers and old mining</a:t>
            </a:r>
            <a:endParaRPr lang="en-US" sz="1600" dirty="0"/>
          </a:p>
        </p:txBody>
      </p:sp>
      <p:sp>
        <p:nvSpPr>
          <p:cNvPr id="12" name="Text 10"/>
          <p:cNvSpPr txBox="1"/>
          <p:nvPr/>
        </p:nvSpPr>
        <p:spPr>
          <a:xfrm>
            <a:off x="960120" y="3941064"/>
            <a:ext cx="2743200" cy="475488"/>
          </a:xfrm>
          <a:prstGeom prst="rect">
            <a:avLst/>
          </a:prstGeom>
          <a:noFill/>
          <a:ln/>
        </p:spPr>
        <p:txBody>
          <a:bodyPr wrap="square" lIns="0" tIns="0" rIns="0" bIns="0" rtlCol="0" anchor="t"/>
          <a:lstStyle/>
          <a:p>
            <a:pPr marL="0" indent="0">
              <a:buNone/>
            </a:pPr>
            <a:r>
              <a:rPr lang="en-US" sz="1300" dirty="0">
                <a:solidFill>
                  <a:srgbClr val="4A5B60"/>
                </a:solidFill>
                <a:latin typeface="Roboto" pitchFamily="34" charset="0"/>
                <a:ea typeface="Roboto" pitchFamily="34" charset="-122"/>
                <a:cs typeface="Roboto" pitchFamily="34" charset="-120"/>
              </a:rPr>
              <a:t>Alluvial gold sits in floodplains. Grey: mined by 2018.</a:t>
            </a:r>
            <a:endParaRPr lang="en-US" sz="1300" dirty="0"/>
          </a:p>
        </p:txBody>
      </p:sp>
      <p:sp>
        <p:nvSpPr>
          <p:cNvPr id="13" name="Text 11"/>
          <p:cNvSpPr/>
          <p:nvPr/>
        </p:nvSpPr>
        <p:spPr>
          <a:xfrm>
            <a:off x="502920" y="4507992"/>
            <a:ext cx="329184" cy="329184"/>
          </a:xfrm>
          <a:prstGeom prst="ellipse">
            <a:avLst/>
          </a:prstGeom>
          <a:ln w="12700">
            <a:solidFill>
              <a:srgbClr val="C9C1B4"/>
            </a:solidFill>
          </a:ln>
        </p:spPr>
        <p:txBody>
          <a:bodyPr wrap="square" lIns="0" tIns="0" rIns="0" bIns="0" rtlCol="0" anchor="ctr"/>
          <a:lstStyle/>
          <a:p>
            <a:pPr marL="0" indent="0" algn="ctr">
              <a:buNone/>
            </a:pPr>
            <a:r>
              <a:rPr lang="en-US" sz="1200" dirty="0">
                <a:solidFill>
                  <a:srgbClr val="6C7B80"/>
                </a:solidFill>
                <a:latin typeface="Roboto Medium" pitchFamily="34" charset="0"/>
                <a:ea typeface="Roboto Medium" pitchFamily="34" charset="-122"/>
                <a:cs typeface="Roboto Medium" pitchFamily="34" charset="-120"/>
              </a:rPr>
              <a:t>4</a:t>
            </a:r>
            <a:endParaRPr lang="en-US" sz="1200" dirty="0"/>
          </a:p>
        </p:txBody>
      </p:sp>
      <p:sp>
        <p:nvSpPr>
          <p:cNvPr id="14" name="Text 12"/>
          <p:cNvSpPr txBox="1"/>
          <p:nvPr/>
        </p:nvSpPr>
        <p:spPr>
          <a:xfrm>
            <a:off x="960120" y="4489704"/>
            <a:ext cx="2743200" cy="365760"/>
          </a:xfrm>
          <a:prstGeom prst="rect">
            <a:avLst/>
          </a:prstGeom>
          <a:noFill/>
          <a:ln/>
        </p:spPr>
        <p:txBody>
          <a:bodyPr wrap="square" lIns="0" tIns="0" rIns="0" bIns="0" rtlCol="0" anchor="ctr"/>
          <a:lstStyle/>
          <a:p>
            <a:pPr marL="0" indent="0">
              <a:buNone/>
            </a:pPr>
            <a:r>
              <a:rPr lang="en-US" sz="1600" dirty="0">
                <a:solidFill>
                  <a:srgbClr val="6C7B80"/>
                </a:solidFill>
                <a:latin typeface="Roboto" pitchFamily="34" charset="0"/>
                <a:ea typeface="Roboto" pitchFamily="34" charset="-122"/>
                <a:cs typeface="Roboto" pitchFamily="34" charset="-120"/>
              </a:rPr>
              <a:t>Where mining can be legal</a:t>
            </a:r>
            <a:endParaRPr lang="en-US" sz="1600" dirty="0"/>
          </a:p>
        </p:txBody>
      </p:sp>
      <p:sp>
        <p:nvSpPr>
          <p:cNvPr id="15" name="Text 13"/>
          <p:cNvSpPr/>
          <p:nvPr/>
        </p:nvSpPr>
        <p:spPr>
          <a:xfrm>
            <a:off x="502920" y="5440680"/>
            <a:ext cx="329184" cy="329184"/>
          </a:xfrm>
          <a:prstGeom prst="ellipse">
            <a:avLst/>
          </a:prstGeom>
          <a:ln w="12700">
            <a:solidFill>
              <a:srgbClr val="C9C1B4"/>
            </a:solidFill>
          </a:ln>
        </p:spPr>
        <p:txBody>
          <a:bodyPr wrap="square" lIns="0" tIns="0" rIns="0" bIns="0" rtlCol="0" anchor="ctr"/>
          <a:lstStyle/>
          <a:p>
            <a:pPr marL="0" indent="0" algn="ctr">
              <a:buNone/>
            </a:pPr>
            <a:r>
              <a:rPr lang="en-US" sz="1200" dirty="0">
                <a:solidFill>
                  <a:srgbClr val="6C7B80"/>
                </a:solidFill>
                <a:latin typeface="Roboto Medium" pitchFamily="34" charset="0"/>
                <a:ea typeface="Roboto Medium" pitchFamily="34" charset="-122"/>
                <a:cs typeface="Roboto Medium" pitchFamily="34" charset="-120"/>
              </a:rPr>
              <a:t>5</a:t>
            </a:r>
            <a:endParaRPr lang="en-US" sz="1200" dirty="0"/>
          </a:p>
        </p:txBody>
      </p:sp>
      <p:sp>
        <p:nvSpPr>
          <p:cNvPr id="16" name="Text 14"/>
          <p:cNvSpPr txBox="1"/>
          <p:nvPr/>
        </p:nvSpPr>
        <p:spPr>
          <a:xfrm>
            <a:off x="960120" y="5422392"/>
            <a:ext cx="2743200" cy="365760"/>
          </a:xfrm>
          <a:prstGeom prst="rect">
            <a:avLst/>
          </a:prstGeom>
          <a:noFill/>
          <a:ln/>
        </p:spPr>
        <p:txBody>
          <a:bodyPr wrap="square" lIns="0" tIns="0" rIns="0" bIns="0" rtlCol="0" anchor="ctr"/>
          <a:lstStyle/>
          <a:p>
            <a:pPr marL="0" indent="0">
              <a:buNone/>
            </a:pPr>
            <a:r>
              <a:rPr lang="en-US" sz="1600" dirty="0">
                <a:solidFill>
                  <a:srgbClr val="6C7B80"/>
                </a:solidFill>
                <a:latin typeface="Roboto" pitchFamily="34" charset="0"/>
                <a:ea typeface="Roboto" pitchFamily="34" charset="-122"/>
                <a:cs typeface="Roboto" pitchFamily="34" charset="-120"/>
              </a:rPr>
              <a:t>The target</a:t>
            </a:r>
            <a:endParaRPr lang="en-US" sz="1600" dirty="0"/>
          </a:p>
        </p:txBody>
      </p:sp>
      <p:pic>
        <p:nvPicPr>
          <p:cNvPr id="17" name="Image 0" descr="map step 3"/>
          <p:cNvPicPr>
            <a:picLocks noChangeAspect="1"/>
          </p:cNvPicPr>
          <p:nvPr/>
        </p:nvPicPr>
        <p:blipFill>
          <a:blip r:embed="rId3"/>
          <a:stretch>
            <a:fillRect/>
          </a:stretch>
        </p:blipFill>
        <p:spPr>
          <a:xfrm>
            <a:off x="3931920" y="1691640"/>
            <a:ext cx="7756855" cy="4363231"/>
          </a:xfrm>
          <a:prstGeom prst="rect">
            <a:avLst/>
          </a:prstGeom>
        </p:spPr>
      </p:pic>
      <p:sp>
        <p:nvSpPr>
          <p:cNvPr id="25" name="Slide Number Placeholder 0"/>
          <p:cNvSpPr>
            <a:spLocks noGrp="1"/>
          </p:cNvSpPr>
          <p:nvPr>
            <p:ph type="sldNum" sz="quarter" idx="4294967295"/>
          </p:nvPr>
        </p:nvSpPr>
        <p:spPr>
          <a:xfrm>
            <a:off x="11140135" y="6510528"/>
            <a:ext cx="548640" cy="219456"/>
          </a:xfrm>
          <a:prstGeom prst="rect">
            <a:avLst/>
          </a:prstGeom>
          <a:extLst>
            <a:ext uri="{C572A759-6A51-4108-AA02-DFA0A04FC94B}">
              <ma14:wrappingTextBoxFlag xmlns="" xmlns:ma14="http://schemas.microsoft.com/office/mac/drawingml/2011/main" val="0"/>
            </a:ext>
          </a:extLst>
        </p:spPr>
        <p:txBody>
          <a:bodyPr/>
          <a:lstStyle>
            <a:lvl1pPr>
              <a:defRPr sz="900">
                <a:solidFill>
                  <a:srgbClr val="6C7B80"/>
                </a:solidFill>
                <a:latin typeface="Roboto"/>
                <a:ea typeface="Roboto"/>
                <a:cs typeface="Roboto"/>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02920" y="384048"/>
            <a:ext cx="2372868" cy="274320"/>
          </a:xfrm>
          <a:prstGeom prst="rect">
            <a:avLst/>
          </a:prstGeom>
          <a:noFill/>
          <a:ln/>
        </p:spPr>
        <p:txBody>
          <a:bodyPr wrap="square" lIns="0" tIns="0" rIns="0" bIns="0" rtlCol="0" anchor="ctr"/>
          <a:lstStyle/>
          <a:p>
            <a:pPr marL="0" indent="0">
              <a:buNone/>
            </a:pPr>
            <a:r>
              <a:rPr lang="en-US" sz="1200" kern="0" spc="220" dirty="0">
                <a:solidFill>
                  <a:srgbClr val="A42C58"/>
                </a:solidFill>
                <a:latin typeface="Roboto Medium" pitchFamily="34" charset="0"/>
                <a:ea typeface="Roboto Medium" pitchFamily="34" charset="-122"/>
                <a:cs typeface="Roboto Medium" pitchFamily="34" charset="-120"/>
              </a:rPr>
              <a:t>01   </a:t>
            </a:r>
            <a:r>
              <a:rPr lang="en-US" sz="1200" kern="0" spc="220" dirty="0">
                <a:solidFill>
                  <a:srgbClr val="3C7D2C"/>
                </a:solidFill>
                <a:latin typeface="Roboto Medium" pitchFamily="34" charset="0"/>
                <a:ea typeface="Roboto Medium" pitchFamily="34" charset="-122"/>
                <a:cs typeface="Roboto Medium" pitchFamily="34" charset="-120"/>
              </a:rPr>
              <a:t>WHERE WE ARE</a:t>
            </a:r>
            <a:endParaRPr lang="en-US" sz="1200" dirty="0"/>
          </a:p>
        </p:txBody>
      </p:sp>
      <p:sp>
        <p:nvSpPr>
          <p:cNvPr id="3" name="Shape 1"/>
          <p:cNvSpPr/>
          <p:nvPr/>
        </p:nvSpPr>
        <p:spPr>
          <a:xfrm>
            <a:off x="2985516" y="521208"/>
            <a:ext cx="6325819" cy="0"/>
          </a:xfrm>
          <a:prstGeom prst="line">
            <a:avLst/>
          </a:prstGeom>
          <a:noFill/>
          <a:ln w="9525">
            <a:solidFill>
              <a:srgbClr val="3C7D2C">
                <a:alpha val="55000"/>
              </a:srgbClr>
            </a:solidFill>
            <a:prstDash val="solid"/>
          </a:ln>
        </p:spPr>
        <p:txBody>
          <a:bodyPr/>
          <a:lstStyle/>
          <a:p>
            <a:endParaRPr lang="en-US"/>
          </a:p>
        </p:txBody>
      </p:sp>
      <p:sp>
        <p:nvSpPr>
          <p:cNvPr id="4" name="claim-D"/>
          <p:cNvSpPr/>
          <p:nvPr/>
        </p:nvSpPr>
        <p:spPr>
          <a:xfrm>
            <a:off x="9539935" y="347472"/>
            <a:ext cx="2148840" cy="310896"/>
          </a:xfrm>
          <a:prstGeom prst="roundRect">
            <a:avLst>
              <a:gd name="adj" fmla="val 50000"/>
            </a:avLst>
          </a:prstGeom>
          <a:ln w="12700">
            <a:solidFill>
              <a:srgbClr val="2B6A8A"/>
            </a:solidFill>
          </a:ln>
        </p:spPr>
        <p:txBody>
          <a:bodyPr wrap="square" lIns="0" tIns="0" rIns="0" bIns="0" rtlCol="0" anchor="ctr"/>
          <a:lstStyle/>
          <a:p>
            <a:pPr marL="0" indent="0" algn="ctr">
              <a:buNone/>
            </a:pPr>
            <a:r>
              <a:rPr lang="en-US" sz="1050" kern="0" spc="150" dirty="0">
                <a:solidFill>
                  <a:srgbClr val="2B6A8A"/>
                </a:solidFill>
                <a:latin typeface="Roboto Medium" pitchFamily="34" charset="0"/>
                <a:ea typeface="Roboto Medium" pitchFamily="34" charset="-122"/>
                <a:cs typeface="Roboto Medium" pitchFamily="34" charset="-120"/>
              </a:rPr>
              <a:t>DESCRIPTION</a:t>
            </a:r>
            <a:endParaRPr lang="en-US" sz="1050" dirty="0"/>
          </a:p>
        </p:txBody>
      </p:sp>
      <p:sp>
        <p:nvSpPr>
          <p:cNvPr id="5" name="title"/>
          <p:cNvSpPr txBox="1"/>
          <p:nvPr/>
        </p:nvSpPr>
        <p:spPr>
          <a:xfrm>
            <a:off x="502920" y="731520"/>
            <a:ext cx="11185855" cy="475488"/>
          </a:xfrm>
          <a:prstGeom prst="rect">
            <a:avLst/>
          </a:prstGeom>
          <a:noFill/>
          <a:ln/>
        </p:spPr>
        <p:txBody>
          <a:bodyPr wrap="square" lIns="0" tIns="0" rIns="0" bIns="0" rtlCol="0" anchor="t"/>
          <a:lstStyle/>
          <a:p>
            <a:pPr marL="0" indent="0">
              <a:buNone/>
            </a:pPr>
            <a:r>
              <a:rPr lang="en-US" sz="2800" dirty="0">
                <a:solidFill>
                  <a:srgbClr val="22383F"/>
                </a:solidFill>
                <a:latin typeface="Roboto Light" pitchFamily="34" charset="0"/>
                <a:ea typeface="Roboto Light" pitchFamily="34" charset="-122"/>
                <a:cs typeface="Roboto Light" pitchFamily="34" charset="-120"/>
              </a:rPr>
              <a:t>La Pampa: one road away from land where mining is legal</a:t>
            </a:r>
            <a:endParaRPr lang="en-US" sz="2800" dirty="0"/>
          </a:p>
        </p:txBody>
      </p:sp>
      <p:sp>
        <p:nvSpPr>
          <p:cNvPr id="6" name="Text 4"/>
          <p:cNvSpPr/>
          <p:nvPr/>
        </p:nvSpPr>
        <p:spPr>
          <a:xfrm>
            <a:off x="502920" y="1709928"/>
            <a:ext cx="329184" cy="329184"/>
          </a:xfrm>
          <a:prstGeom prst="ellipse">
            <a:avLst/>
          </a:prstGeom>
          <a:ln w="12700">
            <a:solidFill>
              <a:srgbClr val="3C7D2C"/>
            </a:solidFill>
          </a:ln>
        </p:spPr>
        <p:txBody>
          <a:bodyPr wrap="square" lIns="0" tIns="0" rIns="0" bIns="0" rtlCol="0" anchor="ctr"/>
          <a:lstStyle/>
          <a:p>
            <a:pPr marL="0" indent="0" algn="ctr">
              <a:buNone/>
            </a:pPr>
            <a:r>
              <a:rPr lang="en-US" sz="1200" dirty="0">
                <a:solidFill>
                  <a:srgbClr val="3C7D2C"/>
                </a:solidFill>
                <a:latin typeface="Roboto Medium" pitchFamily="34" charset="0"/>
                <a:ea typeface="Roboto Medium" pitchFamily="34" charset="-122"/>
                <a:cs typeface="Roboto Medium" pitchFamily="34" charset="-120"/>
              </a:rPr>
              <a:t>1</a:t>
            </a:r>
            <a:endParaRPr lang="en-US" sz="1200" dirty="0"/>
          </a:p>
        </p:txBody>
      </p:sp>
      <p:sp>
        <p:nvSpPr>
          <p:cNvPr id="7" name="Text 5"/>
          <p:cNvSpPr txBox="1"/>
          <p:nvPr/>
        </p:nvSpPr>
        <p:spPr>
          <a:xfrm>
            <a:off x="960120" y="1691640"/>
            <a:ext cx="2743200" cy="365760"/>
          </a:xfrm>
          <a:prstGeom prst="rect">
            <a:avLst/>
          </a:prstGeom>
          <a:noFill/>
          <a:ln/>
        </p:spPr>
        <p:txBody>
          <a:bodyPr wrap="square" lIns="0" tIns="0" rIns="0" bIns="0" rtlCol="0" anchor="ctr"/>
          <a:lstStyle/>
          <a:p>
            <a:pPr marL="0" indent="0">
              <a:buNone/>
            </a:pPr>
            <a:r>
              <a:rPr lang="en-US" sz="1600" dirty="0">
                <a:solidFill>
                  <a:srgbClr val="4A5B60"/>
                </a:solidFill>
                <a:latin typeface="Roboto" pitchFamily="34" charset="0"/>
                <a:ea typeface="Roboto" pitchFamily="34" charset="-122"/>
                <a:cs typeface="Roboto" pitchFamily="34" charset="-120"/>
              </a:rPr>
              <a:t>Protected areas</a:t>
            </a:r>
            <a:endParaRPr lang="en-US" sz="1600" dirty="0"/>
          </a:p>
        </p:txBody>
      </p:sp>
      <p:sp>
        <p:nvSpPr>
          <p:cNvPr id="8" name="Text 6"/>
          <p:cNvSpPr/>
          <p:nvPr/>
        </p:nvSpPr>
        <p:spPr>
          <a:xfrm>
            <a:off x="502920" y="2642616"/>
            <a:ext cx="329184" cy="329184"/>
          </a:xfrm>
          <a:prstGeom prst="ellipse">
            <a:avLst/>
          </a:prstGeom>
          <a:ln w="12700">
            <a:solidFill>
              <a:srgbClr val="3C7D2C"/>
            </a:solidFill>
          </a:ln>
        </p:spPr>
        <p:txBody>
          <a:bodyPr wrap="square" lIns="0" tIns="0" rIns="0" bIns="0" rtlCol="0" anchor="ctr"/>
          <a:lstStyle/>
          <a:p>
            <a:pPr marL="0" indent="0" algn="ctr">
              <a:buNone/>
            </a:pPr>
            <a:r>
              <a:rPr lang="en-US" sz="1200" dirty="0">
                <a:solidFill>
                  <a:srgbClr val="3C7D2C"/>
                </a:solidFill>
                <a:latin typeface="Roboto Medium" pitchFamily="34" charset="0"/>
                <a:ea typeface="Roboto Medium" pitchFamily="34" charset="-122"/>
                <a:cs typeface="Roboto Medium" pitchFamily="34" charset="-120"/>
              </a:rPr>
              <a:t>2</a:t>
            </a:r>
            <a:endParaRPr lang="en-US" sz="1200" dirty="0"/>
          </a:p>
        </p:txBody>
      </p:sp>
      <p:sp>
        <p:nvSpPr>
          <p:cNvPr id="9" name="Text 7"/>
          <p:cNvSpPr txBox="1"/>
          <p:nvPr/>
        </p:nvSpPr>
        <p:spPr>
          <a:xfrm>
            <a:off x="960120" y="2624328"/>
            <a:ext cx="2743200" cy="365760"/>
          </a:xfrm>
          <a:prstGeom prst="rect">
            <a:avLst/>
          </a:prstGeom>
          <a:noFill/>
          <a:ln/>
        </p:spPr>
        <p:txBody>
          <a:bodyPr wrap="square" lIns="0" tIns="0" rIns="0" bIns="0" rtlCol="0" anchor="ctr"/>
          <a:lstStyle/>
          <a:p>
            <a:pPr marL="0" indent="0">
              <a:buNone/>
            </a:pPr>
            <a:r>
              <a:rPr lang="en-US" sz="1600" dirty="0">
                <a:solidFill>
                  <a:srgbClr val="4A5B60"/>
                </a:solidFill>
                <a:latin typeface="Roboto" pitchFamily="34" charset="0"/>
                <a:ea typeface="Roboto" pitchFamily="34" charset="-122"/>
                <a:cs typeface="Roboto" pitchFamily="34" charset="-120"/>
              </a:rPr>
              <a:t>The Interoceanic Highway</a:t>
            </a:r>
            <a:endParaRPr lang="en-US" sz="1600" dirty="0"/>
          </a:p>
        </p:txBody>
      </p:sp>
      <p:sp>
        <p:nvSpPr>
          <p:cNvPr id="10" name="Text 8"/>
          <p:cNvSpPr/>
          <p:nvPr/>
        </p:nvSpPr>
        <p:spPr>
          <a:xfrm>
            <a:off x="502920" y="3575304"/>
            <a:ext cx="329184" cy="329184"/>
          </a:xfrm>
          <a:prstGeom prst="ellipse">
            <a:avLst/>
          </a:prstGeom>
          <a:ln w="12700">
            <a:solidFill>
              <a:srgbClr val="3C7D2C"/>
            </a:solidFill>
          </a:ln>
        </p:spPr>
        <p:txBody>
          <a:bodyPr wrap="square" lIns="0" tIns="0" rIns="0" bIns="0" rtlCol="0" anchor="ctr"/>
          <a:lstStyle/>
          <a:p>
            <a:pPr marL="0" indent="0" algn="ctr">
              <a:buNone/>
            </a:pPr>
            <a:r>
              <a:rPr lang="en-US" sz="1200" dirty="0">
                <a:solidFill>
                  <a:srgbClr val="3C7D2C"/>
                </a:solidFill>
                <a:latin typeface="Roboto Medium" pitchFamily="34" charset="0"/>
                <a:ea typeface="Roboto Medium" pitchFamily="34" charset="-122"/>
                <a:cs typeface="Roboto Medium" pitchFamily="34" charset="-120"/>
              </a:rPr>
              <a:t>3</a:t>
            </a:r>
            <a:endParaRPr lang="en-US" sz="1200" dirty="0"/>
          </a:p>
        </p:txBody>
      </p:sp>
      <p:sp>
        <p:nvSpPr>
          <p:cNvPr id="11" name="Text 9"/>
          <p:cNvSpPr txBox="1"/>
          <p:nvPr/>
        </p:nvSpPr>
        <p:spPr>
          <a:xfrm>
            <a:off x="960120" y="3557016"/>
            <a:ext cx="2743200" cy="365760"/>
          </a:xfrm>
          <a:prstGeom prst="rect">
            <a:avLst/>
          </a:prstGeom>
          <a:noFill/>
          <a:ln/>
        </p:spPr>
        <p:txBody>
          <a:bodyPr wrap="square" lIns="0" tIns="0" rIns="0" bIns="0" rtlCol="0" anchor="ctr"/>
          <a:lstStyle/>
          <a:p>
            <a:pPr marL="0" indent="0">
              <a:buNone/>
            </a:pPr>
            <a:r>
              <a:rPr lang="en-US" sz="1600" dirty="0">
                <a:solidFill>
                  <a:srgbClr val="4A5B60"/>
                </a:solidFill>
                <a:latin typeface="Roboto" pitchFamily="34" charset="0"/>
                <a:ea typeface="Roboto" pitchFamily="34" charset="-122"/>
                <a:cs typeface="Roboto" pitchFamily="34" charset="-120"/>
              </a:rPr>
              <a:t>Rivers and old mining</a:t>
            </a:r>
            <a:endParaRPr lang="en-US" sz="1600" dirty="0"/>
          </a:p>
        </p:txBody>
      </p:sp>
      <p:sp>
        <p:nvSpPr>
          <p:cNvPr id="12" name="Text 10"/>
          <p:cNvSpPr/>
          <p:nvPr/>
        </p:nvSpPr>
        <p:spPr>
          <a:xfrm>
            <a:off x="502920" y="4507992"/>
            <a:ext cx="329184" cy="329184"/>
          </a:xfrm>
          <a:prstGeom prst="ellipse">
            <a:avLst/>
          </a:prstGeom>
          <a:solidFill>
            <a:srgbClr val="3C7D2C"/>
          </a:solidFill>
          <a:ln w="12700">
            <a:solidFill>
              <a:srgbClr val="3C7D2C"/>
            </a:solidFill>
          </a:ln>
        </p:spPr>
        <p:txBody>
          <a:bodyPr wrap="square" lIns="0" tIns="0" rIns="0" bIns="0" rtlCol="0" anchor="ctr"/>
          <a:lstStyle/>
          <a:p>
            <a:pPr marL="0" indent="0" algn="ctr">
              <a:buNone/>
            </a:pPr>
            <a:r>
              <a:rPr lang="en-US" sz="1200" dirty="0">
                <a:solidFill>
                  <a:srgbClr val="FFFFFF"/>
                </a:solidFill>
                <a:latin typeface="Roboto Medium" pitchFamily="34" charset="0"/>
                <a:ea typeface="Roboto Medium" pitchFamily="34" charset="-122"/>
                <a:cs typeface="Roboto Medium" pitchFamily="34" charset="-120"/>
              </a:rPr>
              <a:t>4</a:t>
            </a:r>
            <a:endParaRPr lang="en-US" sz="1200" dirty="0"/>
          </a:p>
        </p:txBody>
      </p:sp>
      <p:sp>
        <p:nvSpPr>
          <p:cNvPr id="13" name="Text 11"/>
          <p:cNvSpPr txBox="1"/>
          <p:nvPr/>
        </p:nvSpPr>
        <p:spPr>
          <a:xfrm>
            <a:off x="960120" y="4489704"/>
            <a:ext cx="2743200" cy="365760"/>
          </a:xfrm>
          <a:prstGeom prst="rect">
            <a:avLst/>
          </a:prstGeom>
          <a:noFill/>
          <a:ln/>
        </p:spPr>
        <p:txBody>
          <a:bodyPr wrap="square" lIns="0" tIns="0" rIns="0" bIns="0" rtlCol="0" anchor="ctr"/>
          <a:lstStyle/>
          <a:p>
            <a:pPr marL="0" indent="0">
              <a:buNone/>
            </a:pPr>
            <a:r>
              <a:rPr lang="en-US" sz="1600" dirty="0">
                <a:solidFill>
                  <a:srgbClr val="22383F"/>
                </a:solidFill>
                <a:latin typeface="Roboto Medium" pitchFamily="34" charset="0"/>
                <a:ea typeface="Roboto Medium" pitchFamily="34" charset="-122"/>
                <a:cs typeface="Roboto Medium" pitchFamily="34" charset="-120"/>
              </a:rPr>
              <a:t>Where mining can be legal</a:t>
            </a:r>
            <a:endParaRPr lang="en-US" sz="1600" dirty="0"/>
          </a:p>
        </p:txBody>
      </p:sp>
      <p:sp>
        <p:nvSpPr>
          <p:cNvPr id="14" name="Text 12"/>
          <p:cNvSpPr txBox="1"/>
          <p:nvPr/>
        </p:nvSpPr>
        <p:spPr>
          <a:xfrm>
            <a:off x="960120" y="4873752"/>
            <a:ext cx="2743200" cy="475488"/>
          </a:xfrm>
          <a:prstGeom prst="rect">
            <a:avLst/>
          </a:prstGeom>
          <a:noFill/>
          <a:ln/>
        </p:spPr>
        <p:txBody>
          <a:bodyPr wrap="square" lIns="0" tIns="0" rIns="0" bIns="0" rtlCol="0" anchor="t"/>
          <a:lstStyle/>
          <a:p>
            <a:pPr marL="0" indent="0">
              <a:buNone/>
            </a:pPr>
            <a:r>
              <a:rPr lang="en-US" sz="1300" dirty="0">
                <a:solidFill>
                  <a:srgbClr val="4A5B60"/>
                </a:solidFill>
                <a:latin typeface="Roboto" pitchFamily="34" charset="0"/>
                <a:ea typeface="Roboto" pitchFamily="34" charset="-122"/>
                <a:cs typeface="Roboto" pitchFamily="34" charset="-120"/>
              </a:rPr>
              <a:t>D.L. 1100 corridor, north of the road. South of it: a crime.</a:t>
            </a:r>
            <a:endParaRPr lang="en-US" sz="1300" dirty="0"/>
          </a:p>
        </p:txBody>
      </p:sp>
      <p:sp>
        <p:nvSpPr>
          <p:cNvPr id="15" name="Text 13"/>
          <p:cNvSpPr/>
          <p:nvPr/>
        </p:nvSpPr>
        <p:spPr>
          <a:xfrm>
            <a:off x="502920" y="5440680"/>
            <a:ext cx="329184" cy="329184"/>
          </a:xfrm>
          <a:prstGeom prst="ellipse">
            <a:avLst/>
          </a:prstGeom>
          <a:ln w="12700">
            <a:solidFill>
              <a:srgbClr val="C9C1B4"/>
            </a:solidFill>
          </a:ln>
        </p:spPr>
        <p:txBody>
          <a:bodyPr wrap="square" lIns="0" tIns="0" rIns="0" bIns="0" rtlCol="0" anchor="ctr"/>
          <a:lstStyle/>
          <a:p>
            <a:pPr marL="0" indent="0" algn="ctr">
              <a:buNone/>
            </a:pPr>
            <a:r>
              <a:rPr lang="en-US" sz="1200" dirty="0">
                <a:solidFill>
                  <a:srgbClr val="6C7B80"/>
                </a:solidFill>
                <a:latin typeface="Roboto Medium" pitchFamily="34" charset="0"/>
                <a:ea typeface="Roboto Medium" pitchFamily="34" charset="-122"/>
                <a:cs typeface="Roboto Medium" pitchFamily="34" charset="-120"/>
              </a:rPr>
              <a:t>5</a:t>
            </a:r>
            <a:endParaRPr lang="en-US" sz="1200" dirty="0"/>
          </a:p>
        </p:txBody>
      </p:sp>
      <p:sp>
        <p:nvSpPr>
          <p:cNvPr id="16" name="Text 14"/>
          <p:cNvSpPr txBox="1"/>
          <p:nvPr/>
        </p:nvSpPr>
        <p:spPr>
          <a:xfrm>
            <a:off x="960120" y="5422392"/>
            <a:ext cx="2743200" cy="365760"/>
          </a:xfrm>
          <a:prstGeom prst="rect">
            <a:avLst/>
          </a:prstGeom>
          <a:noFill/>
          <a:ln/>
        </p:spPr>
        <p:txBody>
          <a:bodyPr wrap="square" lIns="0" tIns="0" rIns="0" bIns="0" rtlCol="0" anchor="ctr"/>
          <a:lstStyle/>
          <a:p>
            <a:pPr marL="0" indent="0">
              <a:buNone/>
            </a:pPr>
            <a:r>
              <a:rPr lang="en-US" sz="1600" dirty="0">
                <a:solidFill>
                  <a:srgbClr val="6C7B80"/>
                </a:solidFill>
                <a:latin typeface="Roboto" pitchFamily="34" charset="0"/>
                <a:ea typeface="Roboto" pitchFamily="34" charset="-122"/>
                <a:cs typeface="Roboto" pitchFamily="34" charset="-120"/>
              </a:rPr>
              <a:t>The target</a:t>
            </a:r>
            <a:endParaRPr lang="en-US" sz="1600" dirty="0"/>
          </a:p>
        </p:txBody>
      </p:sp>
      <p:pic>
        <p:nvPicPr>
          <p:cNvPr id="17" name="Image 0" descr="map step 4"/>
          <p:cNvPicPr>
            <a:picLocks noChangeAspect="1"/>
          </p:cNvPicPr>
          <p:nvPr/>
        </p:nvPicPr>
        <p:blipFill>
          <a:blip r:embed="rId3"/>
          <a:stretch>
            <a:fillRect/>
          </a:stretch>
        </p:blipFill>
        <p:spPr>
          <a:xfrm>
            <a:off x="3931920" y="1691640"/>
            <a:ext cx="7756855" cy="4363231"/>
          </a:xfrm>
          <a:prstGeom prst="rect">
            <a:avLst/>
          </a:prstGeom>
        </p:spPr>
      </p:pic>
      <p:sp>
        <p:nvSpPr>
          <p:cNvPr id="25" name="Slide Number Placeholder 0"/>
          <p:cNvSpPr>
            <a:spLocks noGrp="1"/>
          </p:cNvSpPr>
          <p:nvPr>
            <p:ph type="sldNum" sz="quarter" idx="4294967295"/>
          </p:nvPr>
        </p:nvSpPr>
        <p:spPr>
          <a:xfrm>
            <a:off x="11140135" y="6510528"/>
            <a:ext cx="548640" cy="219456"/>
          </a:xfrm>
          <a:prstGeom prst="rect">
            <a:avLst/>
          </a:prstGeom>
          <a:extLst>
            <a:ext uri="{C572A759-6A51-4108-AA02-DFA0A04FC94B}">
              <ma14:wrappingTextBoxFlag xmlns="" xmlns:ma14="http://schemas.microsoft.com/office/mac/drawingml/2011/main" val="0"/>
            </a:ext>
          </a:extLst>
        </p:spPr>
        <p:txBody>
          <a:bodyPr/>
          <a:lstStyle>
            <a:lvl1pPr>
              <a:defRPr sz="900">
                <a:solidFill>
                  <a:srgbClr val="6C7B80"/>
                </a:solidFill>
                <a:latin typeface="Roboto"/>
                <a:ea typeface="Roboto"/>
                <a:cs typeface="Roboto"/>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02920" y="384048"/>
            <a:ext cx="2372868" cy="274320"/>
          </a:xfrm>
          <a:prstGeom prst="rect">
            <a:avLst/>
          </a:prstGeom>
          <a:noFill/>
          <a:ln/>
        </p:spPr>
        <p:txBody>
          <a:bodyPr wrap="square" lIns="0" tIns="0" rIns="0" bIns="0" rtlCol="0" anchor="ctr"/>
          <a:lstStyle/>
          <a:p>
            <a:pPr marL="0" indent="0">
              <a:buNone/>
            </a:pPr>
            <a:r>
              <a:rPr lang="en-US" sz="1200" kern="0" spc="220" dirty="0">
                <a:solidFill>
                  <a:srgbClr val="A42C58"/>
                </a:solidFill>
                <a:latin typeface="Roboto Medium" pitchFamily="34" charset="0"/>
                <a:ea typeface="Roboto Medium" pitchFamily="34" charset="-122"/>
                <a:cs typeface="Roboto Medium" pitchFamily="34" charset="-120"/>
              </a:rPr>
              <a:t>01   </a:t>
            </a:r>
            <a:r>
              <a:rPr lang="en-US" sz="1200" kern="0" spc="220" dirty="0">
                <a:solidFill>
                  <a:srgbClr val="3C7D2C"/>
                </a:solidFill>
                <a:latin typeface="Roboto Medium" pitchFamily="34" charset="0"/>
                <a:ea typeface="Roboto Medium" pitchFamily="34" charset="-122"/>
                <a:cs typeface="Roboto Medium" pitchFamily="34" charset="-120"/>
              </a:rPr>
              <a:t>WHERE WE ARE</a:t>
            </a:r>
            <a:endParaRPr lang="en-US" sz="1200" dirty="0"/>
          </a:p>
        </p:txBody>
      </p:sp>
      <p:sp>
        <p:nvSpPr>
          <p:cNvPr id="3" name="Shape 1"/>
          <p:cNvSpPr/>
          <p:nvPr/>
        </p:nvSpPr>
        <p:spPr>
          <a:xfrm>
            <a:off x="2985516" y="521208"/>
            <a:ext cx="6325819" cy="0"/>
          </a:xfrm>
          <a:prstGeom prst="line">
            <a:avLst/>
          </a:prstGeom>
          <a:noFill/>
          <a:ln w="9525">
            <a:solidFill>
              <a:srgbClr val="3C7D2C">
                <a:alpha val="55000"/>
              </a:srgbClr>
            </a:solidFill>
            <a:prstDash val="solid"/>
          </a:ln>
        </p:spPr>
        <p:txBody>
          <a:bodyPr/>
          <a:lstStyle/>
          <a:p>
            <a:endParaRPr lang="en-US"/>
          </a:p>
        </p:txBody>
      </p:sp>
      <p:sp>
        <p:nvSpPr>
          <p:cNvPr id="4" name="claim-D"/>
          <p:cNvSpPr/>
          <p:nvPr/>
        </p:nvSpPr>
        <p:spPr>
          <a:xfrm>
            <a:off x="9539935" y="347472"/>
            <a:ext cx="2148840" cy="310896"/>
          </a:xfrm>
          <a:prstGeom prst="roundRect">
            <a:avLst>
              <a:gd name="adj" fmla="val 50000"/>
            </a:avLst>
          </a:prstGeom>
          <a:ln w="12700">
            <a:solidFill>
              <a:srgbClr val="2B6A8A"/>
            </a:solidFill>
          </a:ln>
        </p:spPr>
        <p:txBody>
          <a:bodyPr wrap="square" lIns="0" tIns="0" rIns="0" bIns="0" rtlCol="0" anchor="ctr"/>
          <a:lstStyle/>
          <a:p>
            <a:pPr marL="0" indent="0" algn="ctr">
              <a:buNone/>
            </a:pPr>
            <a:r>
              <a:rPr lang="en-US" sz="1050" kern="0" spc="150" dirty="0">
                <a:solidFill>
                  <a:srgbClr val="2B6A8A"/>
                </a:solidFill>
                <a:latin typeface="Roboto Medium" pitchFamily="34" charset="0"/>
                <a:ea typeface="Roboto Medium" pitchFamily="34" charset="-122"/>
                <a:cs typeface="Roboto Medium" pitchFamily="34" charset="-120"/>
              </a:rPr>
              <a:t>DESCRIPTION</a:t>
            </a:r>
            <a:endParaRPr lang="en-US" sz="1050" dirty="0"/>
          </a:p>
        </p:txBody>
      </p:sp>
      <p:sp>
        <p:nvSpPr>
          <p:cNvPr id="5" name="title"/>
          <p:cNvSpPr txBox="1"/>
          <p:nvPr/>
        </p:nvSpPr>
        <p:spPr>
          <a:xfrm>
            <a:off x="502920" y="731520"/>
            <a:ext cx="11185855" cy="475488"/>
          </a:xfrm>
          <a:prstGeom prst="rect">
            <a:avLst/>
          </a:prstGeom>
          <a:noFill/>
          <a:ln/>
        </p:spPr>
        <p:txBody>
          <a:bodyPr wrap="square" lIns="0" tIns="0" rIns="0" bIns="0" rtlCol="0" anchor="t"/>
          <a:lstStyle/>
          <a:p>
            <a:pPr marL="0" indent="0">
              <a:buNone/>
            </a:pPr>
            <a:r>
              <a:rPr lang="en-US" sz="2800" dirty="0">
                <a:solidFill>
                  <a:srgbClr val="22383F"/>
                </a:solidFill>
                <a:latin typeface="Roboto Light" pitchFamily="34" charset="0"/>
                <a:ea typeface="Roboto Light" pitchFamily="34" charset="-122"/>
                <a:cs typeface="Roboto Light" pitchFamily="34" charset="-120"/>
              </a:rPr>
              <a:t>La Pampa: one road away from land where mining is legal</a:t>
            </a:r>
            <a:endParaRPr lang="en-US" sz="2800" dirty="0"/>
          </a:p>
        </p:txBody>
      </p:sp>
      <p:sp>
        <p:nvSpPr>
          <p:cNvPr id="6" name="Text 4"/>
          <p:cNvSpPr/>
          <p:nvPr/>
        </p:nvSpPr>
        <p:spPr>
          <a:xfrm>
            <a:off x="502920" y="1709928"/>
            <a:ext cx="329184" cy="329184"/>
          </a:xfrm>
          <a:prstGeom prst="ellipse">
            <a:avLst/>
          </a:prstGeom>
          <a:ln w="12700">
            <a:solidFill>
              <a:srgbClr val="3C7D2C"/>
            </a:solidFill>
          </a:ln>
        </p:spPr>
        <p:txBody>
          <a:bodyPr wrap="square" lIns="0" tIns="0" rIns="0" bIns="0" rtlCol="0" anchor="ctr"/>
          <a:lstStyle/>
          <a:p>
            <a:pPr marL="0" indent="0" algn="ctr">
              <a:buNone/>
            </a:pPr>
            <a:r>
              <a:rPr lang="en-US" sz="1200" dirty="0">
                <a:solidFill>
                  <a:srgbClr val="3C7D2C"/>
                </a:solidFill>
                <a:latin typeface="Roboto Medium" pitchFamily="34" charset="0"/>
                <a:ea typeface="Roboto Medium" pitchFamily="34" charset="-122"/>
                <a:cs typeface="Roboto Medium" pitchFamily="34" charset="-120"/>
              </a:rPr>
              <a:t>1</a:t>
            </a:r>
            <a:endParaRPr lang="en-US" sz="1200" dirty="0"/>
          </a:p>
        </p:txBody>
      </p:sp>
      <p:sp>
        <p:nvSpPr>
          <p:cNvPr id="7" name="Text 5"/>
          <p:cNvSpPr txBox="1"/>
          <p:nvPr/>
        </p:nvSpPr>
        <p:spPr>
          <a:xfrm>
            <a:off x="960120" y="1691640"/>
            <a:ext cx="2743200" cy="365760"/>
          </a:xfrm>
          <a:prstGeom prst="rect">
            <a:avLst/>
          </a:prstGeom>
          <a:noFill/>
          <a:ln/>
        </p:spPr>
        <p:txBody>
          <a:bodyPr wrap="square" lIns="0" tIns="0" rIns="0" bIns="0" rtlCol="0" anchor="ctr"/>
          <a:lstStyle/>
          <a:p>
            <a:pPr marL="0" indent="0">
              <a:buNone/>
            </a:pPr>
            <a:r>
              <a:rPr lang="en-US" sz="1600" dirty="0">
                <a:solidFill>
                  <a:srgbClr val="4A5B60"/>
                </a:solidFill>
                <a:latin typeface="Roboto" pitchFamily="34" charset="0"/>
                <a:ea typeface="Roboto" pitchFamily="34" charset="-122"/>
                <a:cs typeface="Roboto" pitchFamily="34" charset="-120"/>
              </a:rPr>
              <a:t>Protected areas</a:t>
            </a:r>
            <a:endParaRPr lang="en-US" sz="1600" dirty="0"/>
          </a:p>
        </p:txBody>
      </p:sp>
      <p:sp>
        <p:nvSpPr>
          <p:cNvPr id="8" name="Text 6"/>
          <p:cNvSpPr/>
          <p:nvPr/>
        </p:nvSpPr>
        <p:spPr>
          <a:xfrm>
            <a:off x="502920" y="2642616"/>
            <a:ext cx="329184" cy="329184"/>
          </a:xfrm>
          <a:prstGeom prst="ellipse">
            <a:avLst/>
          </a:prstGeom>
          <a:ln w="12700">
            <a:solidFill>
              <a:srgbClr val="3C7D2C"/>
            </a:solidFill>
          </a:ln>
        </p:spPr>
        <p:txBody>
          <a:bodyPr wrap="square" lIns="0" tIns="0" rIns="0" bIns="0" rtlCol="0" anchor="ctr"/>
          <a:lstStyle/>
          <a:p>
            <a:pPr marL="0" indent="0" algn="ctr">
              <a:buNone/>
            </a:pPr>
            <a:r>
              <a:rPr lang="en-US" sz="1200" dirty="0">
                <a:solidFill>
                  <a:srgbClr val="3C7D2C"/>
                </a:solidFill>
                <a:latin typeface="Roboto Medium" pitchFamily="34" charset="0"/>
                <a:ea typeface="Roboto Medium" pitchFamily="34" charset="-122"/>
                <a:cs typeface="Roboto Medium" pitchFamily="34" charset="-120"/>
              </a:rPr>
              <a:t>2</a:t>
            </a:r>
            <a:endParaRPr lang="en-US" sz="1200" dirty="0"/>
          </a:p>
        </p:txBody>
      </p:sp>
      <p:sp>
        <p:nvSpPr>
          <p:cNvPr id="9" name="Text 7"/>
          <p:cNvSpPr txBox="1"/>
          <p:nvPr/>
        </p:nvSpPr>
        <p:spPr>
          <a:xfrm>
            <a:off x="960120" y="2624328"/>
            <a:ext cx="2743200" cy="365760"/>
          </a:xfrm>
          <a:prstGeom prst="rect">
            <a:avLst/>
          </a:prstGeom>
          <a:noFill/>
          <a:ln/>
        </p:spPr>
        <p:txBody>
          <a:bodyPr wrap="square" lIns="0" tIns="0" rIns="0" bIns="0" rtlCol="0" anchor="ctr"/>
          <a:lstStyle/>
          <a:p>
            <a:pPr marL="0" indent="0">
              <a:buNone/>
            </a:pPr>
            <a:r>
              <a:rPr lang="en-US" sz="1600" dirty="0">
                <a:solidFill>
                  <a:srgbClr val="4A5B60"/>
                </a:solidFill>
                <a:latin typeface="Roboto" pitchFamily="34" charset="0"/>
                <a:ea typeface="Roboto" pitchFamily="34" charset="-122"/>
                <a:cs typeface="Roboto" pitchFamily="34" charset="-120"/>
              </a:rPr>
              <a:t>The Interoceanic Highway</a:t>
            </a:r>
            <a:endParaRPr lang="en-US" sz="1600" dirty="0"/>
          </a:p>
        </p:txBody>
      </p:sp>
      <p:sp>
        <p:nvSpPr>
          <p:cNvPr id="10" name="Text 8"/>
          <p:cNvSpPr/>
          <p:nvPr/>
        </p:nvSpPr>
        <p:spPr>
          <a:xfrm>
            <a:off x="502920" y="3575304"/>
            <a:ext cx="329184" cy="329184"/>
          </a:xfrm>
          <a:prstGeom prst="ellipse">
            <a:avLst/>
          </a:prstGeom>
          <a:ln w="12700">
            <a:solidFill>
              <a:srgbClr val="3C7D2C"/>
            </a:solidFill>
          </a:ln>
        </p:spPr>
        <p:txBody>
          <a:bodyPr wrap="square" lIns="0" tIns="0" rIns="0" bIns="0" rtlCol="0" anchor="ctr"/>
          <a:lstStyle/>
          <a:p>
            <a:pPr marL="0" indent="0" algn="ctr">
              <a:buNone/>
            </a:pPr>
            <a:r>
              <a:rPr lang="en-US" sz="1200" dirty="0">
                <a:solidFill>
                  <a:srgbClr val="3C7D2C"/>
                </a:solidFill>
                <a:latin typeface="Roboto Medium" pitchFamily="34" charset="0"/>
                <a:ea typeface="Roboto Medium" pitchFamily="34" charset="-122"/>
                <a:cs typeface="Roboto Medium" pitchFamily="34" charset="-120"/>
              </a:rPr>
              <a:t>3</a:t>
            </a:r>
            <a:endParaRPr lang="en-US" sz="1200" dirty="0"/>
          </a:p>
        </p:txBody>
      </p:sp>
      <p:sp>
        <p:nvSpPr>
          <p:cNvPr id="11" name="Text 9"/>
          <p:cNvSpPr txBox="1"/>
          <p:nvPr/>
        </p:nvSpPr>
        <p:spPr>
          <a:xfrm>
            <a:off x="960120" y="3557016"/>
            <a:ext cx="2743200" cy="365760"/>
          </a:xfrm>
          <a:prstGeom prst="rect">
            <a:avLst/>
          </a:prstGeom>
          <a:noFill/>
          <a:ln/>
        </p:spPr>
        <p:txBody>
          <a:bodyPr wrap="square" lIns="0" tIns="0" rIns="0" bIns="0" rtlCol="0" anchor="ctr"/>
          <a:lstStyle/>
          <a:p>
            <a:pPr marL="0" indent="0">
              <a:buNone/>
            </a:pPr>
            <a:r>
              <a:rPr lang="en-US" sz="1600" dirty="0">
                <a:solidFill>
                  <a:srgbClr val="4A5B60"/>
                </a:solidFill>
                <a:latin typeface="Roboto" pitchFamily="34" charset="0"/>
                <a:ea typeface="Roboto" pitchFamily="34" charset="-122"/>
                <a:cs typeface="Roboto" pitchFamily="34" charset="-120"/>
              </a:rPr>
              <a:t>Rivers and old mining</a:t>
            </a:r>
            <a:endParaRPr lang="en-US" sz="1600" dirty="0"/>
          </a:p>
        </p:txBody>
      </p:sp>
      <p:sp>
        <p:nvSpPr>
          <p:cNvPr id="12" name="Text 10"/>
          <p:cNvSpPr/>
          <p:nvPr/>
        </p:nvSpPr>
        <p:spPr>
          <a:xfrm>
            <a:off x="502920" y="4507992"/>
            <a:ext cx="329184" cy="329184"/>
          </a:xfrm>
          <a:prstGeom prst="ellipse">
            <a:avLst/>
          </a:prstGeom>
          <a:ln w="12700">
            <a:solidFill>
              <a:srgbClr val="3C7D2C"/>
            </a:solidFill>
          </a:ln>
        </p:spPr>
        <p:txBody>
          <a:bodyPr wrap="square" lIns="0" tIns="0" rIns="0" bIns="0" rtlCol="0" anchor="ctr"/>
          <a:lstStyle/>
          <a:p>
            <a:pPr marL="0" indent="0" algn="ctr">
              <a:buNone/>
            </a:pPr>
            <a:r>
              <a:rPr lang="en-US" sz="1200" dirty="0">
                <a:solidFill>
                  <a:srgbClr val="3C7D2C"/>
                </a:solidFill>
                <a:latin typeface="Roboto Medium" pitchFamily="34" charset="0"/>
                <a:ea typeface="Roboto Medium" pitchFamily="34" charset="-122"/>
                <a:cs typeface="Roboto Medium" pitchFamily="34" charset="-120"/>
              </a:rPr>
              <a:t>4</a:t>
            </a:r>
            <a:endParaRPr lang="en-US" sz="1200" dirty="0"/>
          </a:p>
        </p:txBody>
      </p:sp>
      <p:sp>
        <p:nvSpPr>
          <p:cNvPr id="13" name="Text 11"/>
          <p:cNvSpPr txBox="1"/>
          <p:nvPr/>
        </p:nvSpPr>
        <p:spPr>
          <a:xfrm>
            <a:off x="960120" y="4489704"/>
            <a:ext cx="2743200" cy="365760"/>
          </a:xfrm>
          <a:prstGeom prst="rect">
            <a:avLst/>
          </a:prstGeom>
          <a:noFill/>
          <a:ln/>
        </p:spPr>
        <p:txBody>
          <a:bodyPr wrap="square" lIns="0" tIns="0" rIns="0" bIns="0" rtlCol="0" anchor="ctr"/>
          <a:lstStyle/>
          <a:p>
            <a:pPr marL="0" indent="0">
              <a:buNone/>
            </a:pPr>
            <a:r>
              <a:rPr lang="en-US" sz="1600" dirty="0">
                <a:solidFill>
                  <a:srgbClr val="4A5B60"/>
                </a:solidFill>
                <a:latin typeface="Roboto" pitchFamily="34" charset="0"/>
                <a:ea typeface="Roboto" pitchFamily="34" charset="-122"/>
                <a:cs typeface="Roboto" pitchFamily="34" charset="-120"/>
              </a:rPr>
              <a:t>Where mining can be legal</a:t>
            </a:r>
            <a:endParaRPr lang="en-US" sz="1600" dirty="0"/>
          </a:p>
        </p:txBody>
      </p:sp>
      <p:sp>
        <p:nvSpPr>
          <p:cNvPr id="14" name="Text 12"/>
          <p:cNvSpPr/>
          <p:nvPr/>
        </p:nvSpPr>
        <p:spPr>
          <a:xfrm>
            <a:off x="502920" y="5440680"/>
            <a:ext cx="329184" cy="329184"/>
          </a:xfrm>
          <a:prstGeom prst="ellipse">
            <a:avLst/>
          </a:prstGeom>
          <a:solidFill>
            <a:srgbClr val="3C7D2C"/>
          </a:solidFill>
          <a:ln w="12700">
            <a:solidFill>
              <a:srgbClr val="3C7D2C"/>
            </a:solidFill>
          </a:ln>
        </p:spPr>
        <p:txBody>
          <a:bodyPr wrap="square" lIns="0" tIns="0" rIns="0" bIns="0" rtlCol="0" anchor="ctr"/>
          <a:lstStyle/>
          <a:p>
            <a:pPr marL="0" indent="0" algn="ctr">
              <a:buNone/>
            </a:pPr>
            <a:r>
              <a:rPr lang="en-US" sz="1200" dirty="0">
                <a:solidFill>
                  <a:srgbClr val="FFFFFF"/>
                </a:solidFill>
                <a:latin typeface="Roboto Medium" pitchFamily="34" charset="0"/>
                <a:ea typeface="Roboto Medium" pitchFamily="34" charset="-122"/>
                <a:cs typeface="Roboto Medium" pitchFamily="34" charset="-120"/>
              </a:rPr>
              <a:t>5</a:t>
            </a:r>
            <a:endParaRPr lang="en-US" sz="1200" dirty="0"/>
          </a:p>
        </p:txBody>
      </p:sp>
      <p:sp>
        <p:nvSpPr>
          <p:cNvPr id="15" name="Text 13"/>
          <p:cNvSpPr txBox="1"/>
          <p:nvPr/>
        </p:nvSpPr>
        <p:spPr>
          <a:xfrm>
            <a:off x="960120" y="5422392"/>
            <a:ext cx="2743200" cy="365760"/>
          </a:xfrm>
          <a:prstGeom prst="rect">
            <a:avLst/>
          </a:prstGeom>
          <a:noFill/>
          <a:ln/>
        </p:spPr>
        <p:txBody>
          <a:bodyPr wrap="square" lIns="0" tIns="0" rIns="0" bIns="0" rtlCol="0" anchor="ctr"/>
          <a:lstStyle/>
          <a:p>
            <a:pPr marL="0" indent="0">
              <a:buNone/>
            </a:pPr>
            <a:r>
              <a:rPr lang="en-US" sz="1600" dirty="0">
                <a:solidFill>
                  <a:srgbClr val="22383F"/>
                </a:solidFill>
                <a:latin typeface="Roboto Medium" pitchFamily="34" charset="0"/>
                <a:ea typeface="Roboto Medium" pitchFamily="34" charset="-122"/>
                <a:cs typeface="Roboto Medium" pitchFamily="34" charset="-120"/>
              </a:rPr>
              <a:t>The target</a:t>
            </a:r>
            <a:endParaRPr lang="en-US" sz="1600" dirty="0"/>
          </a:p>
        </p:txBody>
      </p:sp>
      <p:sp>
        <p:nvSpPr>
          <p:cNvPr id="16" name="Text 14"/>
          <p:cNvSpPr txBox="1"/>
          <p:nvPr/>
        </p:nvSpPr>
        <p:spPr>
          <a:xfrm>
            <a:off x="960120" y="5806440"/>
            <a:ext cx="2743200" cy="475488"/>
          </a:xfrm>
          <a:prstGeom prst="rect">
            <a:avLst/>
          </a:prstGeom>
          <a:noFill/>
          <a:ln/>
        </p:spPr>
        <p:txBody>
          <a:bodyPr wrap="square" lIns="0" tIns="0" rIns="0" bIns="0" rtlCol="0" anchor="t"/>
          <a:lstStyle/>
          <a:p>
            <a:pPr marL="0" indent="0">
              <a:buNone/>
            </a:pPr>
            <a:r>
              <a:rPr lang="en-US" sz="1300" dirty="0">
                <a:solidFill>
                  <a:srgbClr val="4A5B60"/>
                </a:solidFill>
                <a:latin typeface="Roboto" pitchFamily="34" charset="0"/>
                <a:ea typeface="Roboto" pitchFamily="34" charset="-122"/>
                <a:cs typeface="Roboto" pitchFamily="34" charset="-120"/>
              </a:rPr>
              <a:t>La Pampa, target of Operation Mercurio from Feb 2019.</a:t>
            </a:r>
            <a:endParaRPr lang="en-US" sz="1300" dirty="0"/>
          </a:p>
        </p:txBody>
      </p:sp>
      <p:pic>
        <p:nvPicPr>
          <p:cNvPr id="17" name="Image 0" descr="map step 5"/>
          <p:cNvPicPr>
            <a:picLocks noChangeAspect="1"/>
          </p:cNvPicPr>
          <p:nvPr/>
        </p:nvPicPr>
        <p:blipFill>
          <a:blip r:embed="rId3"/>
          <a:stretch>
            <a:fillRect/>
          </a:stretch>
        </p:blipFill>
        <p:spPr>
          <a:xfrm>
            <a:off x="3931920" y="1691640"/>
            <a:ext cx="7756855" cy="4363231"/>
          </a:xfrm>
          <a:prstGeom prst="rect">
            <a:avLst/>
          </a:prstGeom>
        </p:spPr>
      </p:pic>
      <p:sp>
        <p:nvSpPr>
          <p:cNvPr id="25" name="Slide Number Placeholder 0"/>
          <p:cNvSpPr>
            <a:spLocks noGrp="1"/>
          </p:cNvSpPr>
          <p:nvPr>
            <p:ph type="sldNum" sz="quarter" idx="4294967295"/>
          </p:nvPr>
        </p:nvSpPr>
        <p:spPr>
          <a:xfrm>
            <a:off x="11140135" y="6510528"/>
            <a:ext cx="548640" cy="219456"/>
          </a:xfrm>
          <a:prstGeom prst="rect">
            <a:avLst/>
          </a:prstGeom>
          <a:extLst>
            <a:ext uri="{C572A759-6A51-4108-AA02-DFA0A04FC94B}">
              <ma14:wrappingTextBoxFlag xmlns="" xmlns:ma14="http://schemas.microsoft.com/office/mac/drawingml/2011/main" val="0"/>
            </a:ext>
          </a:extLst>
        </p:spPr>
        <p:txBody>
          <a:bodyPr/>
          <a:lstStyle>
            <a:lvl1pPr>
              <a:defRPr sz="900">
                <a:solidFill>
                  <a:srgbClr val="6C7B80"/>
                </a:solidFill>
                <a:latin typeface="Roboto"/>
                <a:ea typeface="Roboto"/>
                <a:cs typeface="Roboto"/>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02920" y="384048"/>
            <a:ext cx="3730752" cy="274320"/>
          </a:xfrm>
          <a:prstGeom prst="rect">
            <a:avLst/>
          </a:prstGeom>
          <a:noFill/>
          <a:ln/>
        </p:spPr>
        <p:txBody>
          <a:bodyPr wrap="square" lIns="0" tIns="0" rIns="0" bIns="0" rtlCol="0" anchor="ctr"/>
          <a:lstStyle/>
          <a:p>
            <a:pPr marL="0" indent="0">
              <a:buNone/>
            </a:pPr>
            <a:r>
              <a:rPr lang="en-US" sz="1200" kern="0" spc="220" dirty="0">
                <a:solidFill>
                  <a:srgbClr val="A42C58"/>
                </a:solidFill>
                <a:latin typeface="Roboto Medium" pitchFamily="34" charset="0"/>
                <a:ea typeface="Roboto Medium" pitchFamily="34" charset="-122"/>
                <a:cs typeface="Roboto Medium" pitchFamily="34" charset="-120"/>
              </a:rPr>
              <a:t>02   </a:t>
            </a:r>
            <a:r>
              <a:rPr lang="en-US" sz="1200" kern="0" spc="220" dirty="0">
                <a:solidFill>
                  <a:srgbClr val="3C7D2C"/>
                </a:solidFill>
                <a:latin typeface="Roboto Medium" pitchFamily="34" charset="0"/>
                <a:ea typeface="Roboto Medium" pitchFamily="34" charset="-122"/>
                <a:cs typeface="Roboto Medium" pitchFamily="34" charset="-120"/>
              </a:rPr>
              <a:t>2008–2025 IN ONE MINUTE</a:t>
            </a:r>
            <a:endParaRPr lang="en-US" sz="1200" dirty="0"/>
          </a:p>
        </p:txBody>
      </p:sp>
      <p:sp>
        <p:nvSpPr>
          <p:cNvPr id="3" name="Shape 1"/>
          <p:cNvSpPr/>
          <p:nvPr/>
        </p:nvSpPr>
        <p:spPr>
          <a:xfrm>
            <a:off x="4343400" y="521208"/>
            <a:ext cx="4967935" cy="0"/>
          </a:xfrm>
          <a:prstGeom prst="line">
            <a:avLst/>
          </a:prstGeom>
          <a:noFill/>
          <a:ln w="9525">
            <a:solidFill>
              <a:srgbClr val="3C7D2C">
                <a:alpha val="55000"/>
              </a:srgbClr>
            </a:solidFill>
            <a:prstDash val="solid"/>
          </a:ln>
        </p:spPr>
        <p:txBody>
          <a:bodyPr/>
          <a:lstStyle/>
          <a:p>
            <a:endParaRPr lang="en-US"/>
          </a:p>
        </p:txBody>
      </p:sp>
      <p:sp>
        <p:nvSpPr>
          <p:cNvPr id="4" name="claim-D"/>
          <p:cNvSpPr/>
          <p:nvPr/>
        </p:nvSpPr>
        <p:spPr>
          <a:xfrm>
            <a:off x="9539935" y="347472"/>
            <a:ext cx="2148840" cy="310896"/>
          </a:xfrm>
          <a:prstGeom prst="roundRect">
            <a:avLst>
              <a:gd name="adj" fmla="val 50000"/>
            </a:avLst>
          </a:prstGeom>
          <a:ln w="12700">
            <a:solidFill>
              <a:srgbClr val="2B6A8A"/>
            </a:solidFill>
          </a:ln>
        </p:spPr>
        <p:txBody>
          <a:bodyPr wrap="square" lIns="0" tIns="0" rIns="0" bIns="0" rtlCol="0" anchor="ctr"/>
          <a:lstStyle/>
          <a:p>
            <a:pPr marL="0" indent="0" algn="ctr">
              <a:buNone/>
            </a:pPr>
            <a:r>
              <a:rPr lang="en-US" sz="1050" kern="0" spc="150" dirty="0">
                <a:solidFill>
                  <a:srgbClr val="2B6A8A"/>
                </a:solidFill>
                <a:latin typeface="Roboto Medium" pitchFamily="34" charset="0"/>
                <a:ea typeface="Roboto Medium" pitchFamily="34" charset="-122"/>
                <a:cs typeface="Roboto Medium" pitchFamily="34" charset="-120"/>
              </a:rPr>
              <a:t>DESCRIPTION</a:t>
            </a:r>
            <a:endParaRPr lang="en-US" sz="1050" dirty="0"/>
          </a:p>
        </p:txBody>
      </p:sp>
      <p:sp>
        <p:nvSpPr>
          <p:cNvPr id="5" name="title"/>
          <p:cNvSpPr txBox="1"/>
          <p:nvPr/>
        </p:nvSpPr>
        <p:spPr>
          <a:xfrm>
            <a:off x="502920" y="731520"/>
            <a:ext cx="11185855" cy="475488"/>
          </a:xfrm>
          <a:prstGeom prst="rect">
            <a:avLst/>
          </a:prstGeom>
          <a:noFill/>
          <a:ln/>
        </p:spPr>
        <p:txBody>
          <a:bodyPr wrap="square" lIns="0" tIns="0" rIns="0" bIns="0" rtlCol="0" anchor="t"/>
          <a:lstStyle/>
          <a:p>
            <a:pPr marL="0" indent="0">
              <a:buNone/>
            </a:pPr>
            <a:r>
              <a:rPr lang="en-US" sz="2800" dirty="0">
                <a:solidFill>
                  <a:srgbClr val="22383F"/>
                </a:solidFill>
                <a:latin typeface="Roboto Light" pitchFamily="34" charset="0"/>
                <a:ea typeface="Roboto Light" pitchFamily="34" charset="-122"/>
                <a:cs typeface="Roboto Light" pitchFamily="34" charset="-120"/>
              </a:rPr>
              <a:t>Where land was mined for the first time, 2008–2025</a:t>
            </a:r>
            <a:endParaRPr lang="en-US" sz="2800" dirty="0"/>
          </a:p>
        </p:txBody>
      </p:sp>
      <p:pic>
        <p:nvPicPr>
          <p:cNvPr id="6" name="Media 0">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1950568" y="1691640"/>
            <a:ext cx="8290560" cy="4663440"/>
          </a:xfrm>
          <a:prstGeom prst="rect">
            <a:avLst/>
          </a:prstGeom>
        </p:spPr>
      </p:pic>
      <p:sp>
        <p:nvSpPr>
          <p:cNvPr id="25" name="Slide Number Placeholder 0"/>
          <p:cNvSpPr>
            <a:spLocks noGrp="1"/>
          </p:cNvSpPr>
          <p:nvPr>
            <p:ph type="sldNum" sz="quarter" idx="4294967295"/>
          </p:nvPr>
        </p:nvSpPr>
        <p:spPr>
          <a:xfrm>
            <a:off x="11140135" y="6510528"/>
            <a:ext cx="548640" cy="219456"/>
          </a:xfrm>
          <a:prstGeom prst="rect">
            <a:avLst/>
          </a:prstGeom>
          <a:extLst>
            <a:ext uri="{C572A759-6A51-4108-AA02-DFA0A04FC94B}">
              <ma14:wrappingTextBoxFlag xmlns="" xmlns:ma14="http://schemas.microsoft.com/office/mac/drawingml/2011/main" val="0"/>
            </a:ext>
          </a:extLst>
        </p:spPr>
        <p:txBody>
          <a:bodyPr/>
          <a:lstStyle>
            <a:lvl1pPr>
              <a:defRPr sz="900">
                <a:solidFill>
                  <a:srgbClr val="6C7B80"/>
                </a:solidFill>
                <a:latin typeface="Roboto"/>
                <a:ea typeface="Roboto"/>
                <a:cs typeface="Roboto"/>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02920" y="384048"/>
            <a:ext cx="4224528" cy="274320"/>
          </a:xfrm>
          <a:prstGeom prst="rect">
            <a:avLst/>
          </a:prstGeom>
          <a:noFill/>
          <a:ln/>
        </p:spPr>
        <p:txBody>
          <a:bodyPr wrap="square" lIns="0" tIns="0" rIns="0" bIns="0" rtlCol="0" anchor="ctr"/>
          <a:lstStyle/>
          <a:p>
            <a:pPr marL="0" indent="0">
              <a:buNone/>
            </a:pPr>
            <a:r>
              <a:rPr lang="en-US" sz="1200" kern="0" spc="220" dirty="0">
                <a:solidFill>
                  <a:srgbClr val="A42C58"/>
                </a:solidFill>
                <a:latin typeface="Roboto Medium" pitchFamily="34" charset="0"/>
                <a:ea typeface="Roboto Medium" pitchFamily="34" charset="-122"/>
                <a:cs typeface="Roboto Medium" pitchFamily="34" charset="-120"/>
              </a:rPr>
              <a:t>03   </a:t>
            </a:r>
            <a:r>
              <a:rPr lang="en-US" sz="1200" kern="0" spc="220" dirty="0">
                <a:solidFill>
                  <a:srgbClr val="3C7D2C"/>
                </a:solidFill>
                <a:latin typeface="Roboto Medium" pitchFamily="34" charset="0"/>
                <a:ea typeface="Roboto Medium" pitchFamily="34" charset="-122"/>
                <a:cs typeface="Roboto Medium" pitchFamily="34" charset="-120"/>
              </a:rPr>
              <a:t>WHAT HAPPENED IN THE TARGET</a:t>
            </a:r>
            <a:endParaRPr lang="en-US" sz="1200" dirty="0"/>
          </a:p>
        </p:txBody>
      </p:sp>
      <p:sp>
        <p:nvSpPr>
          <p:cNvPr id="3" name="Shape 1"/>
          <p:cNvSpPr/>
          <p:nvPr/>
        </p:nvSpPr>
        <p:spPr>
          <a:xfrm>
            <a:off x="4837176" y="521208"/>
            <a:ext cx="4474159" cy="0"/>
          </a:xfrm>
          <a:prstGeom prst="line">
            <a:avLst/>
          </a:prstGeom>
          <a:noFill/>
          <a:ln w="9525">
            <a:solidFill>
              <a:srgbClr val="3C7D2C">
                <a:alpha val="55000"/>
              </a:srgbClr>
            </a:solidFill>
            <a:prstDash val="solid"/>
          </a:ln>
        </p:spPr>
        <p:txBody>
          <a:bodyPr/>
          <a:lstStyle/>
          <a:p>
            <a:endParaRPr lang="en-US"/>
          </a:p>
        </p:txBody>
      </p:sp>
      <p:sp>
        <p:nvSpPr>
          <p:cNvPr id="4" name="claim-D"/>
          <p:cNvSpPr/>
          <p:nvPr/>
        </p:nvSpPr>
        <p:spPr>
          <a:xfrm>
            <a:off x="9539935" y="347472"/>
            <a:ext cx="2148840" cy="310896"/>
          </a:xfrm>
          <a:prstGeom prst="roundRect">
            <a:avLst>
              <a:gd name="adj" fmla="val 50000"/>
            </a:avLst>
          </a:prstGeom>
          <a:ln w="12700">
            <a:solidFill>
              <a:srgbClr val="2B6A8A"/>
            </a:solidFill>
          </a:ln>
        </p:spPr>
        <p:txBody>
          <a:bodyPr wrap="square" lIns="0" tIns="0" rIns="0" bIns="0" rtlCol="0" anchor="ctr"/>
          <a:lstStyle/>
          <a:p>
            <a:pPr marL="0" indent="0" algn="ctr">
              <a:buNone/>
            </a:pPr>
            <a:r>
              <a:rPr lang="en-US" sz="1050" kern="0" spc="150" dirty="0">
                <a:solidFill>
                  <a:srgbClr val="2B6A8A"/>
                </a:solidFill>
                <a:latin typeface="Roboto Medium" pitchFamily="34" charset="0"/>
                <a:ea typeface="Roboto Medium" pitchFamily="34" charset="-122"/>
                <a:cs typeface="Roboto Medium" pitchFamily="34" charset="-120"/>
              </a:rPr>
              <a:t>DESCRIPTION</a:t>
            </a:r>
            <a:endParaRPr lang="en-US" sz="1050" dirty="0"/>
          </a:p>
        </p:txBody>
      </p:sp>
      <p:sp>
        <p:nvSpPr>
          <p:cNvPr id="5" name="title"/>
          <p:cNvSpPr txBox="1"/>
          <p:nvPr/>
        </p:nvSpPr>
        <p:spPr>
          <a:xfrm>
            <a:off x="502920" y="731520"/>
            <a:ext cx="11185855" cy="475488"/>
          </a:xfrm>
          <a:prstGeom prst="rect">
            <a:avLst/>
          </a:prstGeom>
          <a:noFill/>
          <a:ln/>
        </p:spPr>
        <p:txBody>
          <a:bodyPr wrap="square" lIns="0" tIns="0" rIns="0" bIns="0" rtlCol="0" anchor="t"/>
          <a:lstStyle/>
          <a:p>
            <a:pPr marL="0" indent="0">
              <a:buNone/>
            </a:pPr>
            <a:r>
              <a:rPr lang="en-US" sz="2800" dirty="0">
                <a:solidFill>
                  <a:srgbClr val="22383F"/>
                </a:solidFill>
                <a:latin typeface="Roboto Light" pitchFamily="34" charset="0"/>
                <a:ea typeface="Roboto Light" pitchFamily="34" charset="-122"/>
                <a:cs typeface="Roboto Light" pitchFamily="34" charset="-120"/>
              </a:rPr>
              <a:t>Net new mining in Tambopata fell 90%, then came back</a:t>
            </a:r>
            <a:endParaRPr lang="en-US" sz="2800" dirty="0"/>
          </a:p>
        </p:txBody>
      </p:sp>
      <p:sp>
        <p:nvSpPr>
          <p:cNvPr id="6" name="subtitle"/>
          <p:cNvSpPr txBox="1"/>
          <p:nvPr/>
        </p:nvSpPr>
        <p:spPr>
          <a:xfrm>
            <a:off x="502920" y="1261872"/>
            <a:ext cx="11185855" cy="274320"/>
          </a:xfrm>
          <a:prstGeom prst="rect">
            <a:avLst/>
          </a:prstGeom>
          <a:noFill/>
          <a:ln/>
        </p:spPr>
        <p:txBody>
          <a:bodyPr wrap="square" lIns="0" tIns="0" rIns="0" bIns="0" rtlCol="0" anchor="ctr"/>
          <a:lstStyle/>
          <a:p>
            <a:pPr marL="0" indent="0">
              <a:buNone/>
            </a:pPr>
            <a:r>
              <a:rPr lang="en-US" sz="1400" dirty="0">
                <a:solidFill>
                  <a:srgbClr val="4A5B60"/>
                </a:solidFill>
                <a:latin typeface="Roboto" pitchFamily="34" charset="0"/>
                <a:ea typeface="Roboto" pitchFamily="34" charset="-122"/>
                <a:cs typeface="Roboto" pitchFamily="34" charset="-120"/>
              </a:rPr>
              <a:t>Tambopata buffer zone · net new mining, ha per year · bars = period averages</a:t>
            </a:r>
            <a:endParaRPr lang="en-US" sz="1400" dirty="0"/>
          </a:p>
        </p:txBody>
      </p:sp>
      <p:sp>
        <p:nvSpPr>
          <p:cNvPr id="7" name="plate"/>
          <p:cNvSpPr/>
          <p:nvPr/>
        </p:nvSpPr>
        <p:spPr>
          <a:xfrm>
            <a:off x="502920" y="1691640"/>
            <a:ext cx="11185855" cy="4663440"/>
          </a:xfrm>
          <a:prstGeom prst="rect">
            <a:avLst/>
          </a:prstGeom>
          <a:solidFill>
            <a:srgbClr val="FBFAF7"/>
          </a:solidFill>
          <a:ln w="9525">
            <a:solidFill>
              <a:srgbClr val="D9D2C7"/>
            </a:solidFill>
            <a:prstDash val="solid"/>
          </a:ln>
        </p:spPr>
        <p:txBody>
          <a:bodyPr/>
          <a:lstStyle/>
          <a:p>
            <a:endParaRPr lang="en-US"/>
          </a:p>
        </p:txBody>
      </p:sp>
      <p:pic>
        <p:nvPicPr>
          <p:cNvPr id="8" name="Image 0" descr="slide_01_tambopata_net.png"/>
          <p:cNvPicPr>
            <a:picLocks noChangeAspect="1"/>
          </p:cNvPicPr>
          <p:nvPr/>
        </p:nvPicPr>
        <p:blipFill>
          <a:blip r:embed="rId3"/>
          <a:stretch>
            <a:fillRect/>
          </a:stretch>
        </p:blipFill>
        <p:spPr>
          <a:xfrm>
            <a:off x="557784" y="1893336"/>
            <a:ext cx="11076127" cy="4260049"/>
          </a:xfrm>
          <a:prstGeom prst="rect">
            <a:avLst/>
          </a:prstGeom>
        </p:spPr>
      </p:pic>
      <p:sp>
        <p:nvSpPr>
          <p:cNvPr id="25" name="Slide Number Placeholder 0"/>
          <p:cNvSpPr>
            <a:spLocks noGrp="1"/>
          </p:cNvSpPr>
          <p:nvPr>
            <p:ph type="sldNum" sz="quarter" idx="4294967295"/>
          </p:nvPr>
        </p:nvSpPr>
        <p:spPr>
          <a:xfrm>
            <a:off x="11140135" y="6510528"/>
            <a:ext cx="548640" cy="219456"/>
          </a:xfrm>
          <a:prstGeom prst="rect">
            <a:avLst/>
          </a:prstGeom>
          <a:extLst>
            <a:ext uri="{C572A759-6A51-4108-AA02-DFA0A04FC94B}">
              <ma14:wrappingTextBoxFlag xmlns="" xmlns:ma14="http://schemas.microsoft.com/office/mac/drawingml/2011/main" val="0"/>
            </a:ext>
          </a:extLst>
        </p:spPr>
        <p:txBody>
          <a:bodyPr/>
          <a:lstStyle>
            <a:lvl1pPr>
              <a:defRPr sz="900">
                <a:solidFill>
                  <a:srgbClr val="6C7B80"/>
                </a:solidFill>
                <a:latin typeface="Roboto"/>
                <a:ea typeface="Roboto"/>
                <a:cs typeface="Roboto"/>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02920" y="384048"/>
            <a:ext cx="2496312" cy="274320"/>
          </a:xfrm>
          <a:prstGeom prst="rect">
            <a:avLst/>
          </a:prstGeom>
          <a:noFill/>
          <a:ln/>
        </p:spPr>
        <p:txBody>
          <a:bodyPr wrap="square" lIns="0" tIns="0" rIns="0" bIns="0" rtlCol="0" anchor="ctr"/>
          <a:lstStyle/>
          <a:p>
            <a:pPr marL="0" indent="0">
              <a:buNone/>
            </a:pPr>
            <a:r>
              <a:rPr lang="en-US" sz="1200" kern="0" spc="220" dirty="0">
                <a:solidFill>
                  <a:srgbClr val="A42C58"/>
                </a:solidFill>
                <a:latin typeface="Roboto Medium" pitchFamily="34" charset="0"/>
                <a:ea typeface="Roboto Medium" pitchFamily="34" charset="-122"/>
                <a:cs typeface="Roboto Medium" pitchFamily="34" charset="-120"/>
              </a:rPr>
              <a:t>04   </a:t>
            </a:r>
            <a:r>
              <a:rPr lang="en-US" sz="1200" kern="0" spc="220" dirty="0">
                <a:solidFill>
                  <a:srgbClr val="3C7D2C"/>
                </a:solidFill>
                <a:latin typeface="Roboto Medium" pitchFamily="34" charset="0"/>
                <a:ea typeface="Roboto Medium" pitchFamily="34" charset="-122"/>
                <a:cs typeface="Roboto Medium" pitchFamily="34" charset="-120"/>
              </a:rPr>
              <a:t>WHERE IT WENT</a:t>
            </a:r>
            <a:endParaRPr lang="en-US" sz="1200" dirty="0"/>
          </a:p>
        </p:txBody>
      </p:sp>
      <p:sp>
        <p:nvSpPr>
          <p:cNvPr id="3" name="Shape 1"/>
          <p:cNvSpPr/>
          <p:nvPr/>
        </p:nvSpPr>
        <p:spPr>
          <a:xfrm>
            <a:off x="3108960" y="521208"/>
            <a:ext cx="6202375" cy="0"/>
          </a:xfrm>
          <a:prstGeom prst="line">
            <a:avLst/>
          </a:prstGeom>
          <a:noFill/>
          <a:ln w="9525">
            <a:solidFill>
              <a:srgbClr val="3C7D2C">
                <a:alpha val="55000"/>
              </a:srgbClr>
            </a:solidFill>
            <a:prstDash val="solid"/>
          </a:ln>
        </p:spPr>
        <p:txBody>
          <a:bodyPr/>
          <a:lstStyle/>
          <a:p>
            <a:endParaRPr lang="en-US"/>
          </a:p>
        </p:txBody>
      </p:sp>
      <p:sp>
        <p:nvSpPr>
          <p:cNvPr id="4" name="claim-D"/>
          <p:cNvSpPr/>
          <p:nvPr/>
        </p:nvSpPr>
        <p:spPr>
          <a:xfrm>
            <a:off x="9539935" y="347472"/>
            <a:ext cx="2148840" cy="310896"/>
          </a:xfrm>
          <a:prstGeom prst="roundRect">
            <a:avLst>
              <a:gd name="adj" fmla="val 50000"/>
            </a:avLst>
          </a:prstGeom>
          <a:ln w="12700">
            <a:solidFill>
              <a:srgbClr val="2B6A8A"/>
            </a:solidFill>
          </a:ln>
        </p:spPr>
        <p:txBody>
          <a:bodyPr wrap="square" lIns="0" tIns="0" rIns="0" bIns="0" rtlCol="0" anchor="ctr"/>
          <a:lstStyle/>
          <a:p>
            <a:pPr marL="0" indent="0" algn="ctr">
              <a:buNone/>
            </a:pPr>
            <a:r>
              <a:rPr lang="en-US" sz="1050" kern="0" spc="150" dirty="0">
                <a:solidFill>
                  <a:srgbClr val="2B6A8A"/>
                </a:solidFill>
                <a:latin typeface="Roboto Medium" pitchFamily="34" charset="0"/>
                <a:ea typeface="Roboto Medium" pitchFamily="34" charset="-122"/>
                <a:cs typeface="Roboto Medium" pitchFamily="34" charset="-120"/>
              </a:rPr>
              <a:t>DESCRIPTION</a:t>
            </a:r>
            <a:endParaRPr lang="en-US" sz="1050" dirty="0"/>
          </a:p>
        </p:txBody>
      </p:sp>
      <p:sp>
        <p:nvSpPr>
          <p:cNvPr id="5" name="title"/>
          <p:cNvSpPr txBox="1"/>
          <p:nvPr/>
        </p:nvSpPr>
        <p:spPr>
          <a:xfrm>
            <a:off x="502920" y="731520"/>
            <a:ext cx="11185855" cy="475488"/>
          </a:xfrm>
          <a:prstGeom prst="rect">
            <a:avLst/>
          </a:prstGeom>
          <a:noFill/>
          <a:ln/>
        </p:spPr>
        <p:txBody>
          <a:bodyPr wrap="square" lIns="0" tIns="0" rIns="0" bIns="0" rtlCol="0" anchor="t"/>
          <a:lstStyle/>
          <a:p>
            <a:pPr marL="0" indent="0">
              <a:buNone/>
            </a:pPr>
            <a:r>
              <a:rPr lang="en-US" sz="2800" dirty="0">
                <a:solidFill>
                  <a:srgbClr val="22383F"/>
                </a:solidFill>
                <a:latin typeface="Roboto Light" pitchFamily="34" charset="0"/>
                <a:ea typeface="Roboto Light" pitchFamily="34" charset="-122"/>
                <a:cs typeface="Roboto Light" pitchFamily="34" charset="-120"/>
              </a:rPr>
              <a:t>La Pampa: first-time mining halved in 2019–21</a:t>
            </a:r>
            <a:endParaRPr lang="en-US" sz="2800" dirty="0"/>
          </a:p>
        </p:txBody>
      </p:sp>
      <p:sp>
        <p:nvSpPr>
          <p:cNvPr id="6" name="subtitle"/>
          <p:cNvSpPr txBox="1"/>
          <p:nvPr/>
        </p:nvSpPr>
        <p:spPr>
          <a:xfrm>
            <a:off x="502920" y="1261872"/>
            <a:ext cx="11185855" cy="274320"/>
          </a:xfrm>
          <a:prstGeom prst="rect">
            <a:avLst/>
          </a:prstGeom>
          <a:noFill/>
          <a:ln/>
        </p:spPr>
        <p:txBody>
          <a:bodyPr wrap="square" lIns="0" tIns="0" rIns="0" bIns="0" rtlCol="0" anchor="ctr"/>
          <a:lstStyle/>
          <a:p>
            <a:pPr marL="0" indent="0">
              <a:buNone/>
            </a:pPr>
            <a:r>
              <a:rPr lang="en-US" sz="1400" dirty="0">
                <a:solidFill>
                  <a:srgbClr val="4A5B60"/>
                </a:solidFill>
                <a:latin typeface="Roboto" pitchFamily="34" charset="0"/>
                <a:ea typeface="Roboto" pitchFamily="34" charset="-122"/>
                <a:cs typeface="Roboto" pitchFamily="34" charset="-120"/>
              </a:rPr>
              <a:t>Land mined for the first time, ha per year · orange = La Pampa, grey = rest of Madre de Dios</a:t>
            </a:r>
            <a:endParaRPr lang="en-US" sz="1400" dirty="0"/>
          </a:p>
        </p:txBody>
      </p:sp>
      <p:sp>
        <p:nvSpPr>
          <p:cNvPr id="7" name="plate"/>
          <p:cNvSpPr/>
          <p:nvPr/>
        </p:nvSpPr>
        <p:spPr>
          <a:xfrm>
            <a:off x="502920" y="1691640"/>
            <a:ext cx="11185855" cy="4663440"/>
          </a:xfrm>
          <a:prstGeom prst="rect">
            <a:avLst/>
          </a:prstGeom>
          <a:solidFill>
            <a:srgbClr val="FBFAF7"/>
          </a:solidFill>
          <a:ln w="9525">
            <a:solidFill>
              <a:srgbClr val="D9D2C7"/>
            </a:solidFill>
            <a:prstDash val="solid"/>
          </a:ln>
        </p:spPr>
        <p:txBody>
          <a:bodyPr/>
          <a:lstStyle/>
          <a:p>
            <a:endParaRPr lang="en-US"/>
          </a:p>
        </p:txBody>
      </p:sp>
      <p:pic>
        <p:nvPicPr>
          <p:cNvPr id="8" name="Image 0" descr="slide_02a_zones.png"/>
          <p:cNvPicPr>
            <a:picLocks noChangeAspect="1"/>
          </p:cNvPicPr>
          <p:nvPr/>
        </p:nvPicPr>
        <p:blipFill>
          <a:blip r:embed="rId3"/>
          <a:stretch>
            <a:fillRect/>
          </a:stretch>
        </p:blipFill>
        <p:spPr>
          <a:xfrm>
            <a:off x="557784" y="1893336"/>
            <a:ext cx="11076127" cy="4260049"/>
          </a:xfrm>
          <a:prstGeom prst="rect">
            <a:avLst/>
          </a:prstGeom>
        </p:spPr>
      </p:pic>
      <p:sp>
        <p:nvSpPr>
          <p:cNvPr id="25" name="Slide Number Placeholder 0"/>
          <p:cNvSpPr>
            <a:spLocks noGrp="1"/>
          </p:cNvSpPr>
          <p:nvPr>
            <p:ph type="sldNum" sz="quarter" idx="4294967295"/>
          </p:nvPr>
        </p:nvSpPr>
        <p:spPr>
          <a:xfrm>
            <a:off x="11140135" y="6510528"/>
            <a:ext cx="548640" cy="219456"/>
          </a:xfrm>
          <a:prstGeom prst="rect">
            <a:avLst/>
          </a:prstGeom>
          <a:extLst>
            <a:ext uri="{C572A759-6A51-4108-AA02-DFA0A04FC94B}">
              <ma14:wrappingTextBoxFlag xmlns="" xmlns:ma14="http://schemas.microsoft.com/office/mac/drawingml/2011/main" val="0"/>
            </a:ext>
          </a:extLst>
        </p:spPr>
        <p:txBody>
          <a:bodyPr/>
          <a:lstStyle>
            <a:lvl1pPr>
              <a:defRPr sz="900">
                <a:solidFill>
                  <a:srgbClr val="6C7B80"/>
                </a:solidFill>
                <a:latin typeface="Roboto"/>
                <a:ea typeface="Roboto"/>
                <a:cs typeface="Roboto"/>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02920" y="384048"/>
            <a:ext cx="2496312" cy="274320"/>
          </a:xfrm>
          <a:prstGeom prst="rect">
            <a:avLst/>
          </a:prstGeom>
          <a:noFill/>
          <a:ln/>
        </p:spPr>
        <p:txBody>
          <a:bodyPr wrap="square" lIns="0" tIns="0" rIns="0" bIns="0" rtlCol="0" anchor="ctr"/>
          <a:lstStyle/>
          <a:p>
            <a:pPr marL="0" indent="0">
              <a:buNone/>
            </a:pPr>
            <a:r>
              <a:rPr lang="en-US" sz="1200" kern="0" spc="220" dirty="0">
                <a:solidFill>
                  <a:srgbClr val="A42C58"/>
                </a:solidFill>
                <a:latin typeface="Roboto Medium" pitchFamily="34" charset="0"/>
                <a:ea typeface="Roboto Medium" pitchFamily="34" charset="-122"/>
                <a:cs typeface="Roboto Medium" pitchFamily="34" charset="-120"/>
              </a:rPr>
              <a:t>04   </a:t>
            </a:r>
            <a:r>
              <a:rPr lang="en-US" sz="1200" kern="0" spc="220" dirty="0">
                <a:solidFill>
                  <a:srgbClr val="3C7D2C"/>
                </a:solidFill>
                <a:latin typeface="Roboto Medium" pitchFamily="34" charset="0"/>
                <a:ea typeface="Roboto Medium" pitchFamily="34" charset="-122"/>
                <a:cs typeface="Roboto Medium" pitchFamily="34" charset="-120"/>
              </a:rPr>
              <a:t>WHERE IT WENT</a:t>
            </a:r>
            <a:endParaRPr lang="en-US" sz="1200" dirty="0"/>
          </a:p>
        </p:txBody>
      </p:sp>
      <p:sp>
        <p:nvSpPr>
          <p:cNvPr id="3" name="Shape 1"/>
          <p:cNvSpPr/>
          <p:nvPr/>
        </p:nvSpPr>
        <p:spPr>
          <a:xfrm>
            <a:off x="3108960" y="521208"/>
            <a:ext cx="6202375" cy="0"/>
          </a:xfrm>
          <a:prstGeom prst="line">
            <a:avLst/>
          </a:prstGeom>
          <a:noFill/>
          <a:ln w="9525">
            <a:solidFill>
              <a:srgbClr val="3C7D2C">
                <a:alpha val="55000"/>
              </a:srgbClr>
            </a:solidFill>
            <a:prstDash val="solid"/>
          </a:ln>
        </p:spPr>
        <p:txBody>
          <a:bodyPr/>
          <a:lstStyle/>
          <a:p>
            <a:endParaRPr lang="en-US"/>
          </a:p>
        </p:txBody>
      </p:sp>
      <p:sp>
        <p:nvSpPr>
          <p:cNvPr id="4" name="claim-D"/>
          <p:cNvSpPr/>
          <p:nvPr/>
        </p:nvSpPr>
        <p:spPr>
          <a:xfrm>
            <a:off x="9539935" y="347472"/>
            <a:ext cx="2148840" cy="310896"/>
          </a:xfrm>
          <a:prstGeom prst="roundRect">
            <a:avLst>
              <a:gd name="adj" fmla="val 50000"/>
            </a:avLst>
          </a:prstGeom>
          <a:ln w="12700">
            <a:solidFill>
              <a:srgbClr val="2B6A8A"/>
            </a:solidFill>
          </a:ln>
        </p:spPr>
        <p:txBody>
          <a:bodyPr wrap="square" lIns="0" tIns="0" rIns="0" bIns="0" rtlCol="0" anchor="ctr"/>
          <a:lstStyle/>
          <a:p>
            <a:pPr marL="0" indent="0" algn="ctr">
              <a:buNone/>
            </a:pPr>
            <a:r>
              <a:rPr lang="en-US" sz="1050" kern="0" spc="150" dirty="0">
                <a:solidFill>
                  <a:srgbClr val="2B6A8A"/>
                </a:solidFill>
                <a:latin typeface="Roboto Medium" pitchFamily="34" charset="0"/>
                <a:ea typeface="Roboto Medium" pitchFamily="34" charset="-122"/>
                <a:cs typeface="Roboto Medium" pitchFamily="34" charset="-120"/>
              </a:rPr>
              <a:t>DESCRIPTION</a:t>
            </a:r>
            <a:endParaRPr lang="en-US" sz="1050" dirty="0"/>
          </a:p>
        </p:txBody>
      </p:sp>
      <p:sp>
        <p:nvSpPr>
          <p:cNvPr id="5" name="title"/>
          <p:cNvSpPr txBox="1"/>
          <p:nvPr/>
        </p:nvSpPr>
        <p:spPr>
          <a:xfrm>
            <a:off x="502920" y="731520"/>
            <a:ext cx="11185855" cy="475488"/>
          </a:xfrm>
          <a:prstGeom prst="rect">
            <a:avLst/>
          </a:prstGeom>
          <a:noFill/>
          <a:ln/>
        </p:spPr>
        <p:txBody>
          <a:bodyPr wrap="square" lIns="0" tIns="0" rIns="0" bIns="0" rtlCol="0" anchor="t"/>
          <a:lstStyle/>
          <a:p>
            <a:pPr marL="0" indent="0">
              <a:buNone/>
            </a:pPr>
            <a:r>
              <a:rPr lang="en-US" sz="2800" dirty="0">
                <a:solidFill>
                  <a:srgbClr val="22383F"/>
                </a:solidFill>
                <a:latin typeface="Roboto Light" pitchFamily="34" charset="0"/>
                <a:ea typeface="Roboto Light" pitchFamily="34" charset="-122"/>
                <a:cs typeface="Roboto Light" pitchFamily="34" charset="-120"/>
              </a:rPr>
              <a:t>The region kept growing, mostly in the legal corridor</a:t>
            </a:r>
            <a:endParaRPr lang="en-US" sz="2800" dirty="0"/>
          </a:p>
        </p:txBody>
      </p:sp>
      <p:sp>
        <p:nvSpPr>
          <p:cNvPr id="6" name="subtitle"/>
          <p:cNvSpPr txBox="1"/>
          <p:nvPr/>
        </p:nvSpPr>
        <p:spPr>
          <a:xfrm>
            <a:off x="502920" y="1261872"/>
            <a:ext cx="11185855" cy="274320"/>
          </a:xfrm>
          <a:prstGeom prst="rect">
            <a:avLst/>
          </a:prstGeom>
          <a:noFill/>
          <a:ln/>
        </p:spPr>
        <p:txBody>
          <a:bodyPr wrap="square" lIns="0" tIns="0" rIns="0" bIns="0" rtlCol="0" anchor="ctr"/>
          <a:lstStyle/>
          <a:p>
            <a:pPr marL="0" indent="0">
              <a:buNone/>
            </a:pPr>
            <a:r>
              <a:rPr lang="en-US" sz="1400" dirty="0">
                <a:solidFill>
                  <a:srgbClr val="4A5B60"/>
                </a:solidFill>
                <a:latin typeface="Roboto" pitchFamily="34" charset="0"/>
                <a:ea typeface="Roboto" pitchFamily="34" charset="-122"/>
                <a:cs typeface="Roboto" pitchFamily="34" charset="-120"/>
              </a:rPr>
              <a:t>All Madre de Dios, first-time mining: 5,317 → 6,571 → 11,373 ha/yr</a:t>
            </a:r>
            <a:endParaRPr lang="en-US" sz="1400" dirty="0"/>
          </a:p>
        </p:txBody>
      </p:sp>
      <p:sp>
        <p:nvSpPr>
          <p:cNvPr id="7" name="plate"/>
          <p:cNvSpPr/>
          <p:nvPr/>
        </p:nvSpPr>
        <p:spPr>
          <a:xfrm>
            <a:off x="502920" y="1691640"/>
            <a:ext cx="11185855" cy="4663440"/>
          </a:xfrm>
          <a:prstGeom prst="rect">
            <a:avLst/>
          </a:prstGeom>
          <a:solidFill>
            <a:srgbClr val="FBFAF7"/>
          </a:solidFill>
          <a:ln w="9525">
            <a:solidFill>
              <a:srgbClr val="D9D2C7"/>
            </a:solidFill>
            <a:prstDash val="solid"/>
          </a:ln>
        </p:spPr>
        <p:txBody>
          <a:bodyPr/>
          <a:lstStyle/>
          <a:p>
            <a:endParaRPr lang="en-US"/>
          </a:p>
        </p:txBody>
      </p:sp>
      <p:pic>
        <p:nvPicPr>
          <p:cNvPr id="8" name="Image 0" descr="slide_02b_zones.png"/>
          <p:cNvPicPr>
            <a:picLocks noChangeAspect="1"/>
          </p:cNvPicPr>
          <p:nvPr/>
        </p:nvPicPr>
        <p:blipFill>
          <a:blip r:embed="rId3"/>
          <a:stretch>
            <a:fillRect/>
          </a:stretch>
        </p:blipFill>
        <p:spPr>
          <a:xfrm>
            <a:off x="557784" y="1893336"/>
            <a:ext cx="11076127" cy="4260049"/>
          </a:xfrm>
          <a:prstGeom prst="rect">
            <a:avLst/>
          </a:prstGeom>
        </p:spPr>
      </p:pic>
      <p:sp>
        <p:nvSpPr>
          <p:cNvPr id="25" name="Slide Number Placeholder 0"/>
          <p:cNvSpPr>
            <a:spLocks noGrp="1"/>
          </p:cNvSpPr>
          <p:nvPr>
            <p:ph type="sldNum" sz="quarter" idx="4294967295"/>
          </p:nvPr>
        </p:nvSpPr>
        <p:spPr>
          <a:xfrm>
            <a:off x="11140135" y="6510528"/>
            <a:ext cx="548640" cy="219456"/>
          </a:xfrm>
          <a:prstGeom prst="rect">
            <a:avLst/>
          </a:prstGeom>
          <a:extLst>
            <a:ext uri="{C572A759-6A51-4108-AA02-DFA0A04FC94B}">
              <ma14:wrappingTextBoxFlag xmlns="" xmlns:ma14="http://schemas.microsoft.com/office/mac/drawingml/2011/main" val="0"/>
            </a:ext>
          </a:extLst>
        </p:spPr>
        <p:txBody>
          <a:bodyPr/>
          <a:lstStyle>
            <a:lvl1pPr>
              <a:defRPr sz="900">
                <a:solidFill>
                  <a:srgbClr val="6C7B80"/>
                </a:solidFill>
                <a:latin typeface="Roboto"/>
                <a:ea typeface="Roboto"/>
                <a:cs typeface="Roboto"/>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02920" y="384048"/>
            <a:ext cx="2743200" cy="274320"/>
          </a:xfrm>
          <a:prstGeom prst="rect">
            <a:avLst/>
          </a:prstGeom>
          <a:noFill/>
          <a:ln/>
        </p:spPr>
        <p:txBody>
          <a:bodyPr wrap="square" lIns="0" tIns="0" rIns="0" bIns="0" rtlCol="0" anchor="ctr"/>
          <a:lstStyle/>
          <a:p>
            <a:pPr marL="0" indent="0">
              <a:buNone/>
            </a:pPr>
            <a:r>
              <a:rPr lang="en-US" sz="1200" kern="0" spc="220" dirty="0">
                <a:solidFill>
                  <a:srgbClr val="A42C58"/>
                </a:solidFill>
                <a:latin typeface="Roboto Medium" pitchFamily="34" charset="0"/>
                <a:ea typeface="Roboto Medium" pitchFamily="34" charset="-122"/>
                <a:cs typeface="Roboto Medium" pitchFamily="34" charset="-120"/>
              </a:rPr>
              <a:t>05   </a:t>
            </a:r>
            <a:r>
              <a:rPr lang="en-US" sz="1200" kern="0" spc="220" dirty="0">
                <a:solidFill>
                  <a:srgbClr val="3C7D2C"/>
                </a:solidFill>
                <a:latin typeface="Roboto Medium" pitchFamily="34" charset="0"/>
                <a:ea typeface="Roboto Medium" pitchFamily="34" charset="-122"/>
                <a:cs typeface="Roboto Medium" pitchFamily="34" charset="-120"/>
              </a:rPr>
              <a:t>ACROSS THE ROAD</a:t>
            </a:r>
            <a:endParaRPr lang="en-US" sz="1200" dirty="0"/>
          </a:p>
        </p:txBody>
      </p:sp>
      <p:sp>
        <p:nvSpPr>
          <p:cNvPr id="3" name="Shape 1"/>
          <p:cNvSpPr/>
          <p:nvPr/>
        </p:nvSpPr>
        <p:spPr>
          <a:xfrm>
            <a:off x="3355848" y="521208"/>
            <a:ext cx="5955487" cy="0"/>
          </a:xfrm>
          <a:prstGeom prst="line">
            <a:avLst/>
          </a:prstGeom>
          <a:noFill/>
          <a:ln w="9525">
            <a:solidFill>
              <a:srgbClr val="3C7D2C">
                <a:alpha val="55000"/>
              </a:srgbClr>
            </a:solidFill>
            <a:prstDash val="solid"/>
          </a:ln>
        </p:spPr>
        <p:txBody>
          <a:bodyPr/>
          <a:lstStyle/>
          <a:p>
            <a:endParaRPr lang="en-US"/>
          </a:p>
        </p:txBody>
      </p:sp>
      <p:sp>
        <p:nvSpPr>
          <p:cNvPr id="4" name="claim-D"/>
          <p:cNvSpPr/>
          <p:nvPr/>
        </p:nvSpPr>
        <p:spPr>
          <a:xfrm>
            <a:off x="9539935" y="347472"/>
            <a:ext cx="2148840" cy="310896"/>
          </a:xfrm>
          <a:prstGeom prst="roundRect">
            <a:avLst>
              <a:gd name="adj" fmla="val 50000"/>
            </a:avLst>
          </a:prstGeom>
          <a:ln w="12700">
            <a:solidFill>
              <a:srgbClr val="2B6A8A"/>
            </a:solidFill>
          </a:ln>
        </p:spPr>
        <p:txBody>
          <a:bodyPr wrap="square" lIns="0" tIns="0" rIns="0" bIns="0" rtlCol="0" anchor="ctr"/>
          <a:lstStyle/>
          <a:p>
            <a:pPr marL="0" indent="0" algn="ctr">
              <a:buNone/>
            </a:pPr>
            <a:r>
              <a:rPr lang="en-US" sz="1050" kern="0" spc="150" dirty="0">
                <a:solidFill>
                  <a:srgbClr val="2B6A8A"/>
                </a:solidFill>
                <a:latin typeface="Roboto Medium" pitchFamily="34" charset="0"/>
                <a:ea typeface="Roboto Medium" pitchFamily="34" charset="-122"/>
                <a:cs typeface="Roboto Medium" pitchFamily="34" charset="-120"/>
              </a:rPr>
              <a:t>DESCRIPTION</a:t>
            </a:r>
            <a:endParaRPr lang="en-US" sz="1050" dirty="0"/>
          </a:p>
        </p:txBody>
      </p:sp>
      <p:sp>
        <p:nvSpPr>
          <p:cNvPr id="5" name="title"/>
          <p:cNvSpPr txBox="1"/>
          <p:nvPr/>
        </p:nvSpPr>
        <p:spPr>
          <a:xfrm>
            <a:off x="502920" y="731520"/>
            <a:ext cx="11185855" cy="475488"/>
          </a:xfrm>
          <a:prstGeom prst="rect">
            <a:avLst/>
          </a:prstGeom>
          <a:noFill/>
          <a:ln/>
        </p:spPr>
        <p:txBody>
          <a:bodyPr wrap="square" lIns="0" tIns="0" rIns="0" bIns="0" rtlCol="0" anchor="t"/>
          <a:lstStyle/>
          <a:p>
            <a:pPr marL="0" indent="0">
              <a:buNone/>
            </a:pPr>
            <a:r>
              <a:rPr lang="en-US" sz="2800" dirty="0">
                <a:solidFill>
                  <a:srgbClr val="22383F"/>
                </a:solidFill>
                <a:latin typeface="Roboto Light" pitchFamily="34" charset="0"/>
                <a:ea typeface="Roboto Light" pitchFamily="34" charset="-122"/>
                <a:cs typeface="Roboto Light" pitchFamily="34" charset="-120"/>
              </a:rPr>
              <a:t>New mining near La Pampa moved north of the road: 23% → 65%</a:t>
            </a:r>
            <a:endParaRPr lang="en-US" sz="2800" dirty="0"/>
          </a:p>
        </p:txBody>
      </p:sp>
      <p:sp>
        <p:nvSpPr>
          <p:cNvPr id="6" name="subtitle"/>
          <p:cNvSpPr txBox="1"/>
          <p:nvPr/>
        </p:nvSpPr>
        <p:spPr>
          <a:xfrm>
            <a:off x="502920" y="1261872"/>
            <a:ext cx="11185855" cy="274320"/>
          </a:xfrm>
          <a:prstGeom prst="rect">
            <a:avLst/>
          </a:prstGeom>
          <a:noFill/>
          <a:ln/>
        </p:spPr>
        <p:txBody>
          <a:bodyPr wrap="square" lIns="0" tIns="0" rIns="0" bIns="0" rtlCol="0" anchor="ctr"/>
          <a:lstStyle/>
          <a:p>
            <a:pPr marL="0" indent="0">
              <a:buNone/>
            </a:pPr>
            <a:r>
              <a:rPr lang="en-US" sz="1400" dirty="0">
                <a:solidFill>
                  <a:srgbClr val="4A5B60"/>
                </a:solidFill>
                <a:latin typeface="Roboto" pitchFamily="34" charset="0"/>
                <a:ea typeface="Roboto" pitchFamily="34" charset="-122"/>
                <a:cs typeface="Roboto" pitchFamily="34" charset="-120"/>
              </a:rPr>
              <a:t>Share of first-time mining north of the Interoceanic Highway, La Pampa's longitudes</a:t>
            </a:r>
            <a:endParaRPr lang="en-US" sz="1400" dirty="0"/>
          </a:p>
        </p:txBody>
      </p:sp>
      <p:sp>
        <p:nvSpPr>
          <p:cNvPr id="7" name="plate"/>
          <p:cNvSpPr/>
          <p:nvPr/>
        </p:nvSpPr>
        <p:spPr>
          <a:xfrm>
            <a:off x="502920" y="1691640"/>
            <a:ext cx="11185855" cy="4663440"/>
          </a:xfrm>
          <a:prstGeom prst="rect">
            <a:avLst/>
          </a:prstGeom>
          <a:solidFill>
            <a:srgbClr val="FBFAF7"/>
          </a:solidFill>
          <a:ln w="9525">
            <a:solidFill>
              <a:srgbClr val="D9D2C7"/>
            </a:solidFill>
            <a:prstDash val="solid"/>
          </a:ln>
        </p:spPr>
        <p:txBody>
          <a:bodyPr/>
          <a:lstStyle/>
          <a:p>
            <a:endParaRPr lang="en-US"/>
          </a:p>
        </p:txBody>
      </p:sp>
      <p:pic>
        <p:nvPicPr>
          <p:cNvPr id="8" name="Image 0" descr="slide_03_road_share.png"/>
          <p:cNvPicPr>
            <a:picLocks noChangeAspect="1"/>
          </p:cNvPicPr>
          <p:nvPr/>
        </p:nvPicPr>
        <p:blipFill>
          <a:blip r:embed="rId3"/>
          <a:stretch>
            <a:fillRect/>
          </a:stretch>
        </p:blipFill>
        <p:spPr>
          <a:xfrm>
            <a:off x="557784" y="1893336"/>
            <a:ext cx="11076127" cy="4260049"/>
          </a:xfrm>
          <a:prstGeom prst="rect">
            <a:avLst/>
          </a:prstGeom>
        </p:spPr>
      </p:pic>
      <p:sp>
        <p:nvSpPr>
          <p:cNvPr id="25" name="Slide Number Placeholder 0"/>
          <p:cNvSpPr>
            <a:spLocks noGrp="1"/>
          </p:cNvSpPr>
          <p:nvPr>
            <p:ph type="sldNum" sz="quarter" idx="4294967295"/>
          </p:nvPr>
        </p:nvSpPr>
        <p:spPr>
          <a:xfrm>
            <a:off x="11140135" y="6510528"/>
            <a:ext cx="548640" cy="219456"/>
          </a:xfrm>
          <a:prstGeom prst="rect">
            <a:avLst/>
          </a:prstGeom>
          <a:extLst>
            <a:ext uri="{C572A759-6A51-4108-AA02-DFA0A04FC94B}">
              <ma14:wrappingTextBoxFlag xmlns="" xmlns:ma14="http://schemas.microsoft.com/office/mac/drawingml/2011/main" val="0"/>
            </a:ext>
          </a:extLst>
        </p:spPr>
        <p:txBody>
          <a:bodyPr/>
          <a:lstStyle>
            <a:lvl1pPr>
              <a:defRPr sz="900">
                <a:solidFill>
                  <a:srgbClr val="6C7B80"/>
                </a:solidFill>
                <a:latin typeface="Roboto"/>
                <a:ea typeface="Roboto"/>
                <a:cs typeface="Roboto"/>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02920" y="384048"/>
            <a:ext cx="2743200" cy="274320"/>
          </a:xfrm>
          <a:prstGeom prst="rect">
            <a:avLst/>
          </a:prstGeom>
          <a:noFill/>
          <a:ln/>
        </p:spPr>
        <p:txBody>
          <a:bodyPr wrap="square" lIns="0" tIns="0" rIns="0" bIns="0" rtlCol="0" anchor="ctr"/>
          <a:lstStyle/>
          <a:p>
            <a:pPr marL="0" indent="0">
              <a:buNone/>
            </a:pPr>
            <a:r>
              <a:rPr lang="en-US" sz="1200" kern="0" spc="220" dirty="0">
                <a:solidFill>
                  <a:srgbClr val="A42C58"/>
                </a:solidFill>
                <a:latin typeface="Roboto Medium" pitchFamily="34" charset="0"/>
                <a:ea typeface="Roboto Medium" pitchFamily="34" charset="-122"/>
                <a:cs typeface="Roboto Medium" pitchFamily="34" charset="-120"/>
              </a:rPr>
              <a:t>05   </a:t>
            </a:r>
            <a:r>
              <a:rPr lang="en-US" sz="1200" kern="0" spc="220" dirty="0">
                <a:solidFill>
                  <a:srgbClr val="3C7D2C"/>
                </a:solidFill>
                <a:latin typeface="Roboto Medium" pitchFamily="34" charset="0"/>
                <a:ea typeface="Roboto Medium" pitchFamily="34" charset="-122"/>
                <a:cs typeface="Roboto Medium" pitchFamily="34" charset="-120"/>
              </a:rPr>
              <a:t>ACROSS THE ROAD</a:t>
            </a:r>
            <a:endParaRPr lang="en-US" sz="1200" dirty="0"/>
          </a:p>
        </p:txBody>
      </p:sp>
      <p:sp>
        <p:nvSpPr>
          <p:cNvPr id="3" name="Shape 1"/>
          <p:cNvSpPr/>
          <p:nvPr/>
        </p:nvSpPr>
        <p:spPr>
          <a:xfrm>
            <a:off x="3355848" y="521208"/>
            <a:ext cx="5955487" cy="0"/>
          </a:xfrm>
          <a:prstGeom prst="line">
            <a:avLst/>
          </a:prstGeom>
          <a:noFill/>
          <a:ln w="9525">
            <a:solidFill>
              <a:srgbClr val="3C7D2C">
                <a:alpha val="55000"/>
              </a:srgbClr>
            </a:solidFill>
            <a:prstDash val="solid"/>
          </a:ln>
        </p:spPr>
        <p:txBody>
          <a:bodyPr/>
          <a:lstStyle/>
          <a:p>
            <a:endParaRPr lang="en-US"/>
          </a:p>
        </p:txBody>
      </p:sp>
      <p:sp>
        <p:nvSpPr>
          <p:cNvPr id="4" name="claim-D"/>
          <p:cNvSpPr/>
          <p:nvPr/>
        </p:nvSpPr>
        <p:spPr>
          <a:xfrm>
            <a:off x="9539935" y="347472"/>
            <a:ext cx="2148840" cy="310896"/>
          </a:xfrm>
          <a:prstGeom prst="roundRect">
            <a:avLst>
              <a:gd name="adj" fmla="val 50000"/>
            </a:avLst>
          </a:prstGeom>
          <a:ln w="12700">
            <a:solidFill>
              <a:srgbClr val="2B6A8A"/>
            </a:solidFill>
          </a:ln>
        </p:spPr>
        <p:txBody>
          <a:bodyPr wrap="square" lIns="0" tIns="0" rIns="0" bIns="0" rtlCol="0" anchor="ctr"/>
          <a:lstStyle/>
          <a:p>
            <a:pPr marL="0" indent="0" algn="ctr">
              <a:buNone/>
            </a:pPr>
            <a:r>
              <a:rPr lang="en-US" sz="1050" kern="0" spc="150" dirty="0">
                <a:solidFill>
                  <a:srgbClr val="2B6A8A"/>
                </a:solidFill>
                <a:latin typeface="Roboto Medium" pitchFamily="34" charset="0"/>
                <a:ea typeface="Roboto Medium" pitchFamily="34" charset="-122"/>
                <a:cs typeface="Roboto Medium" pitchFamily="34" charset="-120"/>
              </a:rPr>
              <a:t>DESCRIPTION</a:t>
            </a:r>
            <a:endParaRPr lang="en-US" sz="1050" dirty="0"/>
          </a:p>
        </p:txBody>
      </p:sp>
      <p:sp>
        <p:nvSpPr>
          <p:cNvPr id="5" name="title"/>
          <p:cNvSpPr txBox="1"/>
          <p:nvPr/>
        </p:nvSpPr>
        <p:spPr>
          <a:xfrm>
            <a:off x="502920" y="731520"/>
            <a:ext cx="11185855" cy="475488"/>
          </a:xfrm>
          <a:prstGeom prst="rect">
            <a:avLst/>
          </a:prstGeom>
          <a:noFill/>
          <a:ln/>
        </p:spPr>
        <p:txBody>
          <a:bodyPr wrap="square" lIns="0" tIns="0" rIns="0" bIns="0" rtlCol="0" anchor="t"/>
          <a:lstStyle/>
          <a:p>
            <a:pPr marL="0" indent="0">
              <a:buNone/>
            </a:pPr>
            <a:r>
              <a:rPr lang="en-US" sz="2800" dirty="0">
                <a:solidFill>
                  <a:srgbClr val="22383F"/>
                </a:solidFill>
                <a:latin typeface="Roboto Light" pitchFamily="34" charset="0"/>
                <a:ea typeface="Roboto Light" pitchFamily="34" charset="-122"/>
                <a:cs typeface="Roboto Light" pitchFamily="34" charset="-120"/>
              </a:rPr>
              <a:t>In 2019–21 new mining piled up just north of the road</a:t>
            </a:r>
            <a:endParaRPr lang="en-US" sz="2800" dirty="0"/>
          </a:p>
        </p:txBody>
      </p:sp>
      <p:sp>
        <p:nvSpPr>
          <p:cNvPr id="6" name="subtitle"/>
          <p:cNvSpPr txBox="1"/>
          <p:nvPr/>
        </p:nvSpPr>
        <p:spPr>
          <a:xfrm>
            <a:off x="502920" y="1261872"/>
            <a:ext cx="11185855" cy="274320"/>
          </a:xfrm>
          <a:prstGeom prst="rect">
            <a:avLst/>
          </a:prstGeom>
          <a:noFill/>
          <a:ln/>
        </p:spPr>
        <p:txBody>
          <a:bodyPr wrap="square" lIns="0" tIns="0" rIns="0" bIns="0" rtlCol="0" anchor="ctr"/>
          <a:lstStyle/>
          <a:p>
            <a:pPr marL="0" indent="0">
              <a:buNone/>
            </a:pPr>
            <a:r>
              <a:rPr lang="en-US" sz="1400" dirty="0">
                <a:solidFill>
                  <a:srgbClr val="4A5B60"/>
                </a:solidFill>
                <a:latin typeface="Roboto" pitchFamily="34" charset="0"/>
                <a:ea typeface="Roboto" pitchFamily="34" charset="-122"/>
                <a:cs typeface="Roboto" pitchFamily="34" charset="-120"/>
              </a:rPr>
              <a:t>First-time mining per 1-km strip, ha/yr · blue = north (legal side), orange = south (buffer zone)</a:t>
            </a:r>
            <a:endParaRPr lang="en-US" sz="1400" dirty="0"/>
          </a:p>
        </p:txBody>
      </p:sp>
      <p:sp>
        <p:nvSpPr>
          <p:cNvPr id="7" name="plate"/>
          <p:cNvSpPr/>
          <p:nvPr/>
        </p:nvSpPr>
        <p:spPr>
          <a:xfrm>
            <a:off x="502920" y="1691640"/>
            <a:ext cx="11185855" cy="4663440"/>
          </a:xfrm>
          <a:prstGeom prst="rect">
            <a:avLst/>
          </a:prstGeom>
          <a:solidFill>
            <a:srgbClr val="FBFAF7"/>
          </a:solidFill>
          <a:ln w="9525">
            <a:solidFill>
              <a:srgbClr val="D9D2C7"/>
            </a:solidFill>
            <a:prstDash val="solid"/>
          </a:ln>
        </p:spPr>
        <p:txBody>
          <a:bodyPr/>
          <a:lstStyle/>
          <a:p>
            <a:endParaRPr lang="en-US"/>
          </a:p>
        </p:txBody>
      </p:sp>
      <p:pic>
        <p:nvPicPr>
          <p:cNvPr id="8" name="Image 0" descr="slide_03b_road_bands.png"/>
          <p:cNvPicPr>
            <a:picLocks noChangeAspect="1"/>
          </p:cNvPicPr>
          <p:nvPr/>
        </p:nvPicPr>
        <p:blipFill>
          <a:blip r:embed="rId3"/>
          <a:stretch>
            <a:fillRect/>
          </a:stretch>
        </p:blipFill>
        <p:spPr>
          <a:xfrm>
            <a:off x="557784" y="1893336"/>
            <a:ext cx="11076127" cy="4260049"/>
          </a:xfrm>
          <a:prstGeom prst="rect">
            <a:avLst/>
          </a:prstGeom>
        </p:spPr>
      </p:pic>
      <p:sp>
        <p:nvSpPr>
          <p:cNvPr id="25" name="Slide Number Placeholder 0"/>
          <p:cNvSpPr>
            <a:spLocks noGrp="1"/>
          </p:cNvSpPr>
          <p:nvPr>
            <p:ph type="sldNum" sz="quarter" idx="4294967295"/>
          </p:nvPr>
        </p:nvSpPr>
        <p:spPr>
          <a:xfrm>
            <a:off x="11140135" y="6510528"/>
            <a:ext cx="548640" cy="219456"/>
          </a:xfrm>
          <a:prstGeom prst="rect">
            <a:avLst/>
          </a:prstGeom>
          <a:extLst>
            <a:ext uri="{C572A759-6A51-4108-AA02-DFA0A04FC94B}">
              <ma14:wrappingTextBoxFlag xmlns="" xmlns:ma14="http://schemas.microsoft.com/office/mac/drawingml/2011/main" val="0"/>
            </a:ext>
          </a:extLst>
        </p:spPr>
        <p:txBody>
          <a:bodyPr/>
          <a:lstStyle>
            <a:lvl1pPr>
              <a:defRPr sz="900">
                <a:solidFill>
                  <a:srgbClr val="6C7B80"/>
                </a:solidFill>
                <a:latin typeface="Roboto"/>
                <a:ea typeface="Roboto"/>
                <a:cs typeface="Roboto"/>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02920" y="384048"/>
            <a:ext cx="2866644" cy="274320"/>
          </a:xfrm>
          <a:prstGeom prst="rect">
            <a:avLst/>
          </a:prstGeom>
          <a:noFill/>
          <a:ln/>
        </p:spPr>
        <p:txBody>
          <a:bodyPr wrap="square" lIns="0" tIns="0" rIns="0" bIns="0" rtlCol="0" anchor="ctr"/>
          <a:lstStyle/>
          <a:p>
            <a:pPr marL="0" indent="0">
              <a:buNone/>
            </a:pPr>
            <a:r>
              <a:rPr lang="en-US" sz="1200" kern="0" spc="220" dirty="0">
                <a:solidFill>
                  <a:srgbClr val="A42C58"/>
                </a:solidFill>
                <a:latin typeface="Roboto Medium" pitchFamily="34" charset="0"/>
                <a:ea typeface="Roboto Medium" pitchFamily="34" charset="-122"/>
                <a:cs typeface="Roboto Medium" pitchFamily="34" charset="-120"/>
              </a:rPr>
              <a:t>06   </a:t>
            </a:r>
            <a:r>
              <a:rPr lang="en-US" sz="1200" kern="0" spc="220" dirty="0">
                <a:solidFill>
                  <a:srgbClr val="3C7D2C"/>
                </a:solidFill>
                <a:latin typeface="Roboto Medium" pitchFamily="34" charset="0"/>
                <a:ea typeface="Roboto Medium" pitchFamily="34" charset="-122"/>
                <a:cs typeface="Roboto Medium" pitchFamily="34" charset="-120"/>
              </a:rPr>
              <a:t>WHY IT CAME BACK</a:t>
            </a:r>
            <a:endParaRPr lang="en-US" sz="1200" dirty="0"/>
          </a:p>
        </p:txBody>
      </p:sp>
      <p:sp>
        <p:nvSpPr>
          <p:cNvPr id="3" name="Shape 1"/>
          <p:cNvSpPr/>
          <p:nvPr/>
        </p:nvSpPr>
        <p:spPr>
          <a:xfrm>
            <a:off x="3479292" y="521208"/>
            <a:ext cx="5832043" cy="0"/>
          </a:xfrm>
          <a:prstGeom prst="line">
            <a:avLst/>
          </a:prstGeom>
          <a:noFill/>
          <a:ln w="9525">
            <a:solidFill>
              <a:srgbClr val="3C7D2C">
                <a:alpha val="55000"/>
              </a:srgbClr>
            </a:solidFill>
            <a:prstDash val="solid"/>
          </a:ln>
        </p:spPr>
        <p:txBody>
          <a:bodyPr/>
          <a:lstStyle/>
          <a:p>
            <a:endParaRPr lang="en-US"/>
          </a:p>
        </p:txBody>
      </p:sp>
      <p:sp>
        <p:nvSpPr>
          <p:cNvPr id="4" name="claim-D"/>
          <p:cNvSpPr/>
          <p:nvPr/>
        </p:nvSpPr>
        <p:spPr>
          <a:xfrm>
            <a:off x="9539935" y="347472"/>
            <a:ext cx="2148840" cy="310896"/>
          </a:xfrm>
          <a:prstGeom prst="roundRect">
            <a:avLst>
              <a:gd name="adj" fmla="val 50000"/>
            </a:avLst>
          </a:prstGeom>
          <a:ln w="12700">
            <a:solidFill>
              <a:srgbClr val="2B6A8A"/>
            </a:solidFill>
          </a:ln>
        </p:spPr>
        <p:txBody>
          <a:bodyPr wrap="square" lIns="0" tIns="0" rIns="0" bIns="0" rtlCol="0" anchor="ctr"/>
          <a:lstStyle/>
          <a:p>
            <a:pPr marL="0" indent="0" algn="ctr">
              <a:buNone/>
            </a:pPr>
            <a:r>
              <a:rPr lang="en-US" sz="1050" kern="0" spc="150" dirty="0">
                <a:solidFill>
                  <a:srgbClr val="2B6A8A"/>
                </a:solidFill>
                <a:latin typeface="Roboto Medium" pitchFamily="34" charset="0"/>
                <a:ea typeface="Roboto Medium" pitchFamily="34" charset="-122"/>
                <a:cs typeface="Roboto Medium" pitchFamily="34" charset="-120"/>
              </a:rPr>
              <a:t>DESCRIPTION</a:t>
            </a:r>
            <a:endParaRPr lang="en-US" sz="1050" dirty="0"/>
          </a:p>
        </p:txBody>
      </p:sp>
      <p:sp>
        <p:nvSpPr>
          <p:cNvPr id="5" name="title"/>
          <p:cNvSpPr txBox="1"/>
          <p:nvPr/>
        </p:nvSpPr>
        <p:spPr>
          <a:xfrm>
            <a:off x="502920" y="731520"/>
            <a:ext cx="11185855" cy="475488"/>
          </a:xfrm>
          <a:prstGeom prst="rect">
            <a:avLst/>
          </a:prstGeom>
          <a:noFill/>
          <a:ln/>
        </p:spPr>
        <p:txBody>
          <a:bodyPr wrap="square" lIns="0" tIns="0" rIns="0" bIns="0" rtlCol="0" anchor="t"/>
          <a:lstStyle/>
          <a:p>
            <a:pPr marL="0" indent="0">
              <a:buNone/>
            </a:pPr>
            <a:r>
              <a:rPr lang="en-US" sz="2800" dirty="0">
                <a:solidFill>
                  <a:srgbClr val="22383F"/>
                </a:solidFill>
                <a:latin typeface="Roboto Light" pitchFamily="34" charset="0"/>
                <a:ea typeface="Roboto Light" pitchFamily="34" charset="-122"/>
                <a:cs typeface="Roboto Light" pitchFamily="34" charset="-120"/>
              </a:rPr>
              <a:t>Money faded after 2019, while gold rose 2.7-fold</a:t>
            </a:r>
            <a:endParaRPr lang="en-US" sz="2800" dirty="0"/>
          </a:p>
        </p:txBody>
      </p:sp>
      <p:sp>
        <p:nvSpPr>
          <p:cNvPr id="6" name="subtitle"/>
          <p:cNvSpPr txBox="1"/>
          <p:nvPr/>
        </p:nvSpPr>
        <p:spPr>
          <a:xfrm>
            <a:off x="502920" y="1261872"/>
            <a:ext cx="11185855" cy="274320"/>
          </a:xfrm>
          <a:prstGeom prst="rect">
            <a:avLst/>
          </a:prstGeom>
          <a:noFill/>
          <a:ln/>
        </p:spPr>
        <p:txBody>
          <a:bodyPr wrap="square" lIns="0" tIns="0" rIns="0" bIns="0" rtlCol="0" anchor="ctr"/>
          <a:lstStyle/>
          <a:p>
            <a:pPr marL="0" indent="0">
              <a:buNone/>
            </a:pPr>
            <a:r>
              <a:rPr lang="en-US" sz="1400" dirty="0">
                <a:solidFill>
                  <a:srgbClr val="4A5B60"/>
                </a:solidFill>
                <a:latin typeface="Roboto" pitchFamily="34" charset="0"/>
                <a:ea typeface="Roboto" pitchFamily="34" charset="-122"/>
                <a:cs typeface="Roboto" pitchFamily="34" charset="-120"/>
              </a:rPr>
              <a:t>Enforcement spending, Madre de Dios · gold price · La Pampa first-time mining</a:t>
            </a:r>
            <a:endParaRPr lang="en-US" sz="1400" dirty="0"/>
          </a:p>
        </p:txBody>
      </p:sp>
      <p:sp>
        <p:nvSpPr>
          <p:cNvPr id="7" name="plate"/>
          <p:cNvSpPr/>
          <p:nvPr/>
        </p:nvSpPr>
        <p:spPr>
          <a:xfrm>
            <a:off x="502920" y="1691640"/>
            <a:ext cx="11185855" cy="4663440"/>
          </a:xfrm>
          <a:prstGeom prst="rect">
            <a:avLst/>
          </a:prstGeom>
          <a:solidFill>
            <a:srgbClr val="FBFAF7"/>
          </a:solidFill>
          <a:ln w="9525">
            <a:solidFill>
              <a:srgbClr val="D9D2C7"/>
            </a:solidFill>
            <a:prstDash val="solid"/>
          </a:ln>
        </p:spPr>
        <p:txBody>
          <a:bodyPr/>
          <a:lstStyle/>
          <a:p>
            <a:endParaRPr lang="en-US"/>
          </a:p>
        </p:txBody>
      </p:sp>
      <p:pic>
        <p:nvPicPr>
          <p:cNvPr id="8" name="Image 0" descr="slide_04_context.png"/>
          <p:cNvPicPr>
            <a:picLocks noChangeAspect="1"/>
          </p:cNvPicPr>
          <p:nvPr/>
        </p:nvPicPr>
        <p:blipFill>
          <a:blip r:embed="rId3"/>
          <a:stretch>
            <a:fillRect/>
          </a:stretch>
        </p:blipFill>
        <p:spPr>
          <a:xfrm>
            <a:off x="557784" y="1893336"/>
            <a:ext cx="11076127" cy="4260049"/>
          </a:xfrm>
          <a:prstGeom prst="rect">
            <a:avLst/>
          </a:prstGeom>
        </p:spPr>
      </p:pic>
      <p:sp>
        <p:nvSpPr>
          <p:cNvPr id="25" name="Slide Number Placeholder 0"/>
          <p:cNvSpPr>
            <a:spLocks noGrp="1"/>
          </p:cNvSpPr>
          <p:nvPr>
            <p:ph type="sldNum" sz="quarter" idx="4294967295"/>
          </p:nvPr>
        </p:nvSpPr>
        <p:spPr>
          <a:xfrm>
            <a:off x="11140135" y="6510528"/>
            <a:ext cx="548640" cy="219456"/>
          </a:xfrm>
          <a:prstGeom prst="rect">
            <a:avLst/>
          </a:prstGeom>
          <a:extLst>
            <a:ext uri="{C572A759-6A51-4108-AA02-DFA0A04FC94B}">
              <ma14:wrappingTextBoxFlag xmlns="" xmlns:ma14="http://schemas.microsoft.com/office/mac/drawingml/2011/main" val="0"/>
            </a:ext>
          </a:extLst>
        </p:spPr>
        <p:txBody>
          <a:bodyPr/>
          <a:lstStyle>
            <a:lvl1pPr>
              <a:defRPr sz="900">
                <a:solidFill>
                  <a:srgbClr val="6C7B80"/>
                </a:solidFill>
                <a:latin typeface="Roboto"/>
                <a:ea typeface="Roboto"/>
                <a:cs typeface="Roboto"/>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02920" y="384048"/>
            <a:ext cx="2866644" cy="274320"/>
          </a:xfrm>
          <a:prstGeom prst="rect">
            <a:avLst/>
          </a:prstGeom>
          <a:noFill/>
          <a:ln/>
        </p:spPr>
        <p:txBody>
          <a:bodyPr wrap="square" lIns="0" tIns="0" rIns="0" bIns="0" rtlCol="0" anchor="ctr"/>
          <a:lstStyle/>
          <a:p>
            <a:pPr marL="0" indent="0">
              <a:buNone/>
            </a:pPr>
            <a:r>
              <a:rPr lang="en-US" sz="1200" kern="0" spc="220" dirty="0">
                <a:solidFill>
                  <a:srgbClr val="A42C58"/>
                </a:solidFill>
                <a:latin typeface="Roboto Medium" pitchFamily="34" charset="0"/>
                <a:ea typeface="Roboto Medium" pitchFamily="34" charset="-122"/>
                <a:cs typeface="Roboto Medium" pitchFamily="34" charset="-120"/>
              </a:rPr>
              <a:t>07   </a:t>
            </a:r>
            <a:r>
              <a:rPr lang="en-US" sz="1200" kern="0" spc="220" dirty="0">
                <a:solidFill>
                  <a:srgbClr val="3C7D2C"/>
                </a:solidFill>
                <a:latin typeface="Roboto Medium" pitchFamily="34" charset="0"/>
                <a:ea typeface="Roboto Medium" pitchFamily="34" charset="-122"/>
                <a:cs typeface="Roboto Medium" pitchFamily="34" charset="-120"/>
              </a:rPr>
              <a:t>HOW IT CAME BACK</a:t>
            </a:r>
            <a:endParaRPr lang="en-US" sz="1200" dirty="0"/>
          </a:p>
        </p:txBody>
      </p:sp>
      <p:sp>
        <p:nvSpPr>
          <p:cNvPr id="3" name="Shape 1"/>
          <p:cNvSpPr/>
          <p:nvPr/>
        </p:nvSpPr>
        <p:spPr>
          <a:xfrm>
            <a:off x="3479292" y="521208"/>
            <a:ext cx="5832043" cy="0"/>
          </a:xfrm>
          <a:prstGeom prst="line">
            <a:avLst/>
          </a:prstGeom>
          <a:noFill/>
          <a:ln w="9525">
            <a:solidFill>
              <a:srgbClr val="3C7D2C">
                <a:alpha val="55000"/>
              </a:srgbClr>
            </a:solidFill>
            <a:prstDash val="solid"/>
          </a:ln>
        </p:spPr>
        <p:txBody>
          <a:bodyPr/>
          <a:lstStyle/>
          <a:p>
            <a:endParaRPr lang="en-US"/>
          </a:p>
        </p:txBody>
      </p:sp>
      <p:sp>
        <p:nvSpPr>
          <p:cNvPr id="4" name="claim-D"/>
          <p:cNvSpPr/>
          <p:nvPr/>
        </p:nvSpPr>
        <p:spPr>
          <a:xfrm>
            <a:off x="9539935" y="347472"/>
            <a:ext cx="2148840" cy="310896"/>
          </a:xfrm>
          <a:prstGeom prst="roundRect">
            <a:avLst>
              <a:gd name="adj" fmla="val 50000"/>
            </a:avLst>
          </a:prstGeom>
          <a:ln w="12700">
            <a:solidFill>
              <a:srgbClr val="2B6A8A"/>
            </a:solidFill>
          </a:ln>
        </p:spPr>
        <p:txBody>
          <a:bodyPr wrap="square" lIns="0" tIns="0" rIns="0" bIns="0" rtlCol="0" anchor="ctr"/>
          <a:lstStyle/>
          <a:p>
            <a:pPr marL="0" indent="0" algn="ctr">
              <a:buNone/>
            </a:pPr>
            <a:r>
              <a:rPr lang="en-US" sz="1050" kern="0" spc="150" dirty="0">
                <a:solidFill>
                  <a:srgbClr val="2B6A8A"/>
                </a:solidFill>
                <a:latin typeface="Roboto Medium" pitchFamily="34" charset="0"/>
                <a:ea typeface="Roboto Medium" pitchFamily="34" charset="-122"/>
                <a:cs typeface="Roboto Medium" pitchFamily="34" charset="-120"/>
              </a:rPr>
              <a:t>DESCRIPTION</a:t>
            </a:r>
            <a:endParaRPr lang="en-US" sz="1050" dirty="0"/>
          </a:p>
        </p:txBody>
      </p:sp>
      <p:sp>
        <p:nvSpPr>
          <p:cNvPr id="5" name="title"/>
          <p:cNvSpPr txBox="1"/>
          <p:nvPr/>
        </p:nvSpPr>
        <p:spPr>
          <a:xfrm>
            <a:off x="502920" y="731520"/>
            <a:ext cx="11185855" cy="475488"/>
          </a:xfrm>
          <a:prstGeom prst="rect">
            <a:avLst/>
          </a:prstGeom>
          <a:noFill/>
          <a:ln/>
        </p:spPr>
        <p:txBody>
          <a:bodyPr wrap="square" lIns="0" tIns="0" rIns="0" bIns="0" rtlCol="0" anchor="t"/>
          <a:lstStyle/>
          <a:p>
            <a:pPr marL="0" indent="0">
              <a:buNone/>
            </a:pPr>
            <a:r>
              <a:rPr lang="en-US" sz="2800" dirty="0">
                <a:solidFill>
                  <a:srgbClr val="22383F"/>
                </a:solidFill>
                <a:latin typeface="Roboto Light" pitchFamily="34" charset="0"/>
                <a:ea typeface="Roboto Light" pitchFamily="34" charset="-122"/>
                <a:cs typeface="Roboto Light" pitchFamily="34" charset="-120"/>
              </a:rPr>
              <a:t>In 2023, 67% of new mining in La Pampa was on old pits</a:t>
            </a:r>
            <a:endParaRPr lang="en-US" sz="2800" dirty="0"/>
          </a:p>
        </p:txBody>
      </p:sp>
      <p:sp>
        <p:nvSpPr>
          <p:cNvPr id="6" name="subtitle"/>
          <p:cNvSpPr txBox="1"/>
          <p:nvPr/>
        </p:nvSpPr>
        <p:spPr>
          <a:xfrm>
            <a:off x="502920" y="1261872"/>
            <a:ext cx="11185855" cy="274320"/>
          </a:xfrm>
          <a:prstGeom prst="rect">
            <a:avLst/>
          </a:prstGeom>
          <a:noFill/>
          <a:ln/>
        </p:spPr>
        <p:txBody>
          <a:bodyPr wrap="square" lIns="0" tIns="0" rIns="0" bIns="0" rtlCol="0" anchor="ctr"/>
          <a:lstStyle/>
          <a:p>
            <a:pPr marL="0" indent="0">
              <a:buNone/>
            </a:pPr>
            <a:r>
              <a:rPr lang="en-US" sz="1400" dirty="0">
                <a:solidFill>
                  <a:srgbClr val="4A5B60"/>
                </a:solidFill>
                <a:latin typeface="Roboto" pitchFamily="34" charset="0"/>
                <a:ea typeface="Roboto" pitchFamily="34" charset="-122"/>
                <a:cs typeface="Roboto" pitchFamily="34" charset="-120"/>
              </a:rPr>
              <a:t>La Pampa, ha per year · dark = new land · light = old pits mined again</a:t>
            </a:r>
            <a:endParaRPr lang="en-US" sz="1400" dirty="0"/>
          </a:p>
        </p:txBody>
      </p:sp>
      <p:sp>
        <p:nvSpPr>
          <p:cNvPr id="7" name="plate"/>
          <p:cNvSpPr/>
          <p:nvPr/>
        </p:nvSpPr>
        <p:spPr>
          <a:xfrm>
            <a:off x="502920" y="1691640"/>
            <a:ext cx="11185855" cy="4663440"/>
          </a:xfrm>
          <a:prstGeom prst="rect">
            <a:avLst/>
          </a:prstGeom>
          <a:solidFill>
            <a:srgbClr val="FBFAF7"/>
          </a:solidFill>
          <a:ln w="9525">
            <a:solidFill>
              <a:srgbClr val="D9D2C7"/>
            </a:solidFill>
            <a:prstDash val="solid"/>
          </a:ln>
        </p:spPr>
        <p:txBody>
          <a:bodyPr/>
          <a:lstStyle/>
          <a:p>
            <a:endParaRPr lang="en-US"/>
          </a:p>
        </p:txBody>
      </p:sp>
      <p:pic>
        <p:nvPicPr>
          <p:cNvPr id="8" name="Image 0" descr="slide_05_old_pits.png"/>
          <p:cNvPicPr>
            <a:picLocks noChangeAspect="1"/>
          </p:cNvPicPr>
          <p:nvPr/>
        </p:nvPicPr>
        <p:blipFill>
          <a:blip r:embed="rId3"/>
          <a:stretch>
            <a:fillRect/>
          </a:stretch>
        </p:blipFill>
        <p:spPr>
          <a:xfrm>
            <a:off x="557784" y="1893336"/>
            <a:ext cx="11076127" cy="4260049"/>
          </a:xfrm>
          <a:prstGeom prst="rect">
            <a:avLst/>
          </a:prstGeom>
        </p:spPr>
      </p:pic>
      <p:sp>
        <p:nvSpPr>
          <p:cNvPr id="25" name="Slide Number Placeholder 0"/>
          <p:cNvSpPr>
            <a:spLocks noGrp="1"/>
          </p:cNvSpPr>
          <p:nvPr>
            <p:ph type="sldNum" sz="quarter" idx="4294967295"/>
          </p:nvPr>
        </p:nvSpPr>
        <p:spPr>
          <a:xfrm>
            <a:off x="11140135" y="6510528"/>
            <a:ext cx="548640" cy="219456"/>
          </a:xfrm>
          <a:prstGeom prst="rect">
            <a:avLst/>
          </a:prstGeom>
          <a:extLst>
            <a:ext uri="{C572A759-6A51-4108-AA02-DFA0A04FC94B}">
              <ma14:wrappingTextBoxFlag xmlns="" xmlns:ma14="http://schemas.microsoft.com/office/mac/drawingml/2011/main" val="0"/>
            </a:ext>
          </a:extLst>
        </p:spPr>
        <p:txBody>
          <a:bodyPr/>
          <a:lstStyle>
            <a:lvl1pPr>
              <a:defRPr sz="900">
                <a:solidFill>
                  <a:srgbClr val="6C7B80"/>
                </a:solidFill>
                <a:latin typeface="Roboto"/>
                <a:ea typeface="Roboto"/>
                <a:cs typeface="Roboto"/>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02920" y="384048"/>
            <a:ext cx="3113532" cy="274320"/>
          </a:xfrm>
          <a:prstGeom prst="rect">
            <a:avLst/>
          </a:prstGeom>
          <a:noFill/>
          <a:ln/>
        </p:spPr>
        <p:txBody>
          <a:bodyPr wrap="square" lIns="0" tIns="0" rIns="0" bIns="0" rtlCol="0" anchor="ctr"/>
          <a:lstStyle/>
          <a:p>
            <a:pPr marL="0" indent="0">
              <a:buNone/>
            </a:pPr>
            <a:r>
              <a:rPr lang="en-US" sz="1200" kern="0" spc="220" dirty="0">
                <a:solidFill>
                  <a:srgbClr val="A42C58"/>
                </a:solidFill>
                <a:latin typeface="Roboto Medium" pitchFamily="34" charset="0"/>
                <a:ea typeface="Roboto Medium" pitchFamily="34" charset="-122"/>
                <a:cs typeface="Roboto Medium" pitchFamily="34" charset="-120"/>
              </a:rPr>
              <a:t>08   </a:t>
            </a:r>
            <a:r>
              <a:rPr lang="en-US" sz="1200" kern="0" spc="220" dirty="0">
                <a:solidFill>
                  <a:srgbClr val="3C7D2C"/>
                </a:solidFill>
                <a:latin typeface="Roboto Medium" pitchFamily="34" charset="0"/>
                <a:ea typeface="Roboto Medium" pitchFamily="34" charset="-122"/>
                <a:cs typeface="Roboto Medium" pitchFamily="34" charset="-120"/>
              </a:rPr>
              <a:t>INSIDE THE RESERVE</a:t>
            </a:r>
            <a:endParaRPr lang="en-US" sz="1200" dirty="0"/>
          </a:p>
        </p:txBody>
      </p:sp>
      <p:sp>
        <p:nvSpPr>
          <p:cNvPr id="3" name="Shape 1"/>
          <p:cNvSpPr/>
          <p:nvPr/>
        </p:nvSpPr>
        <p:spPr>
          <a:xfrm>
            <a:off x="3726180" y="521208"/>
            <a:ext cx="5585155" cy="0"/>
          </a:xfrm>
          <a:prstGeom prst="line">
            <a:avLst/>
          </a:prstGeom>
          <a:noFill/>
          <a:ln w="9525">
            <a:solidFill>
              <a:srgbClr val="3C7D2C">
                <a:alpha val="55000"/>
              </a:srgbClr>
            </a:solidFill>
            <a:prstDash val="solid"/>
          </a:ln>
        </p:spPr>
        <p:txBody>
          <a:bodyPr/>
          <a:lstStyle/>
          <a:p>
            <a:endParaRPr lang="en-US"/>
          </a:p>
        </p:txBody>
      </p:sp>
      <p:sp>
        <p:nvSpPr>
          <p:cNvPr id="4" name="claim-D"/>
          <p:cNvSpPr/>
          <p:nvPr/>
        </p:nvSpPr>
        <p:spPr>
          <a:xfrm>
            <a:off x="9539935" y="347472"/>
            <a:ext cx="2148840" cy="310896"/>
          </a:xfrm>
          <a:prstGeom prst="roundRect">
            <a:avLst>
              <a:gd name="adj" fmla="val 50000"/>
            </a:avLst>
          </a:prstGeom>
          <a:ln w="12700">
            <a:solidFill>
              <a:srgbClr val="2B6A8A"/>
            </a:solidFill>
          </a:ln>
        </p:spPr>
        <p:txBody>
          <a:bodyPr wrap="square" lIns="0" tIns="0" rIns="0" bIns="0" rtlCol="0" anchor="ctr"/>
          <a:lstStyle/>
          <a:p>
            <a:pPr marL="0" indent="0" algn="ctr">
              <a:buNone/>
            </a:pPr>
            <a:r>
              <a:rPr lang="en-US" sz="1050" kern="0" spc="150" dirty="0">
                <a:solidFill>
                  <a:srgbClr val="2B6A8A"/>
                </a:solidFill>
                <a:latin typeface="Roboto Medium" pitchFamily="34" charset="0"/>
                <a:ea typeface="Roboto Medium" pitchFamily="34" charset="-122"/>
                <a:cs typeface="Roboto Medium" pitchFamily="34" charset="-120"/>
              </a:rPr>
              <a:t>DESCRIPTION</a:t>
            </a:r>
            <a:endParaRPr lang="en-US" sz="1050" dirty="0"/>
          </a:p>
        </p:txBody>
      </p:sp>
      <p:sp>
        <p:nvSpPr>
          <p:cNvPr id="5" name="title"/>
          <p:cNvSpPr txBox="1"/>
          <p:nvPr/>
        </p:nvSpPr>
        <p:spPr>
          <a:xfrm>
            <a:off x="502920" y="731520"/>
            <a:ext cx="11185855" cy="475488"/>
          </a:xfrm>
          <a:prstGeom prst="rect">
            <a:avLst/>
          </a:prstGeom>
          <a:noFill/>
          <a:ln/>
        </p:spPr>
        <p:txBody>
          <a:bodyPr wrap="square" lIns="0" tIns="0" rIns="0" bIns="0" rtlCol="0" anchor="t"/>
          <a:lstStyle/>
          <a:p>
            <a:pPr marL="0" indent="0">
              <a:buNone/>
            </a:pPr>
            <a:r>
              <a:rPr lang="en-US" sz="2800" dirty="0">
                <a:solidFill>
                  <a:srgbClr val="22383F"/>
                </a:solidFill>
                <a:latin typeface="Roboto Light" pitchFamily="34" charset="0"/>
                <a:ea typeface="Roboto Light" pitchFamily="34" charset="-122"/>
                <a:cs typeface="Roboto Light" pitchFamily="34" charset="-120"/>
              </a:rPr>
              <a:t>In 2025, mining inside the reserve jumped by 241 ha</a:t>
            </a:r>
            <a:endParaRPr lang="en-US" sz="2800" dirty="0"/>
          </a:p>
        </p:txBody>
      </p:sp>
      <p:sp>
        <p:nvSpPr>
          <p:cNvPr id="6" name="subtitle"/>
          <p:cNvSpPr txBox="1"/>
          <p:nvPr/>
        </p:nvSpPr>
        <p:spPr>
          <a:xfrm>
            <a:off x="502920" y="1261872"/>
            <a:ext cx="11185855" cy="274320"/>
          </a:xfrm>
          <a:prstGeom prst="rect">
            <a:avLst/>
          </a:prstGeom>
          <a:noFill/>
          <a:ln/>
        </p:spPr>
        <p:txBody>
          <a:bodyPr wrap="square" lIns="0" tIns="0" rIns="0" bIns="0" rtlCol="0" anchor="ctr"/>
          <a:lstStyle/>
          <a:p>
            <a:pPr marL="0" indent="0">
              <a:buNone/>
            </a:pPr>
            <a:r>
              <a:rPr lang="en-US" sz="1400" dirty="0">
                <a:solidFill>
                  <a:srgbClr val="4A5B60"/>
                </a:solidFill>
                <a:latin typeface="Roboto" pitchFamily="34" charset="0"/>
                <a:ea typeface="Roboto" pitchFamily="34" charset="-122"/>
                <a:cs typeface="Roboto" pitchFamily="34" charset="-120"/>
              </a:rPr>
              <a:t>Tambopata National Reserve · net new mining, ha per year</a:t>
            </a:r>
            <a:endParaRPr lang="en-US" sz="1400" dirty="0"/>
          </a:p>
        </p:txBody>
      </p:sp>
      <p:sp>
        <p:nvSpPr>
          <p:cNvPr id="7" name="plate"/>
          <p:cNvSpPr/>
          <p:nvPr/>
        </p:nvSpPr>
        <p:spPr>
          <a:xfrm>
            <a:off x="502920" y="1691640"/>
            <a:ext cx="11185855" cy="4663440"/>
          </a:xfrm>
          <a:prstGeom prst="rect">
            <a:avLst/>
          </a:prstGeom>
          <a:solidFill>
            <a:srgbClr val="FBFAF7"/>
          </a:solidFill>
          <a:ln w="9525">
            <a:solidFill>
              <a:srgbClr val="D9D2C7"/>
            </a:solidFill>
            <a:prstDash val="solid"/>
          </a:ln>
        </p:spPr>
        <p:txBody>
          <a:bodyPr/>
          <a:lstStyle/>
          <a:p>
            <a:endParaRPr lang="en-US"/>
          </a:p>
        </p:txBody>
      </p:sp>
      <p:pic>
        <p:nvPicPr>
          <p:cNvPr id="8" name="Image 0" descr="slide_06_reserve.png"/>
          <p:cNvPicPr>
            <a:picLocks noChangeAspect="1"/>
          </p:cNvPicPr>
          <p:nvPr/>
        </p:nvPicPr>
        <p:blipFill>
          <a:blip r:embed="rId3"/>
          <a:stretch>
            <a:fillRect/>
          </a:stretch>
        </p:blipFill>
        <p:spPr>
          <a:xfrm>
            <a:off x="557784" y="1893336"/>
            <a:ext cx="11076127" cy="4260049"/>
          </a:xfrm>
          <a:prstGeom prst="rect">
            <a:avLst/>
          </a:prstGeom>
        </p:spPr>
      </p:pic>
      <p:sp>
        <p:nvSpPr>
          <p:cNvPr id="25" name="Slide Number Placeholder 0"/>
          <p:cNvSpPr>
            <a:spLocks noGrp="1"/>
          </p:cNvSpPr>
          <p:nvPr>
            <p:ph type="sldNum" sz="quarter" idx="4294967295"/>
          </p:nvPr>
        </p:nvSpPr>
        <p:spPr>
          <a:xfrm>
            <a:off x="11140135" y="6510528"/>
            <a:ext cx="548640" cy="219456"/>
          </a:xfrm>
          <a:prstGeom prst="rect">
            <a:avLst/>
          </a:prstGeom>
          <a:extLst>
            <a:ext uri="{C572A759-6A51-4108-AA02-DFA0A04FC94B}">
              <ma14:wrappingTextBoxFlag xmlns="" xmlns:ma14="http://schemas.microsoft.com/office/mac/drawingml/2011/main" val="0"/>
            </a:ext>
          </a:extLst>
        </p:spPr>
        <p:txBody>
          <a:bodyPr/>
          <a:lstStyle>
            <a:lvl1pPr>
              <a:defRPr sz="900">
                <a:solidFill>
                  <a:srgbClr val="6C7B80"/>
                </a:solidFill>
                <a:latin typeface="Roboto"/>
                <a:ea typeface="Roboto"/>
                <a:cs typeface="Roboto"/>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02920" y="384048"/>
            <a:ext cx="2496312" cy="274320"/>
          </a:xfrm>
          <a:prstGeom prst="rect">
            <a:avLst/>
          </a:prstGeom>
          <a:noFill/>
          <a:ln/>
        </p:spPr>
        <p:txBody>
          <a:bodyPr wrap="square" lIns="0" tIns="0" rIns="0" bIns="0" rtlCol="0" anchor="ctr"/>
          <a:lstStyle/>
          <a:p>
            <a:pPr marL="0" indent="0">
              <a:buNone/>
            </a:pPr>
            <a:r>
              <a:rPr lang="en-US" sz="1200" kern="0" spc="220" dirty="0">
                <a:solidFill>
                  <a:srgbClr val="A42C58"/>
                </a:solidFill>
                <a:latin typeface="Roboto Medium" pitchFamily="34" charset="0"/>
                <a:ea typeface="Roboto Medium" pitchFamily="34" charset="-122"/>
                <a:cs typeface="Roboto Medium" pitchFamily="34" charset="-120"/>
              </a:rPr>
              <a:t>09   </a:t>
            </a:r>
            <a:r>
              <a:rPr lang="en-US" sz="1200" kern="0" spc="220" dirty="0">
                <a:solidFill>
                  <a:srgbClr val="3C7D2C"/>
                </a:solidFill>
                <a:latin typeface="Roboto Medium" pitchFamily="34" charset="0"/>
                <a:ea typeface="Roboto Medium" pitchFamily="34" charset="-122"/>
                <a:cs typeface="Roboto Medium" pitchFamily="34" charset="-120"/>
              </a:rPr>
              <a:t>IS IT CAUSAL?</a:t>
            </a:r>
            <a:endParaRPr lang="en-US" sz="1200" dirty="0"/>
          </a:p>
        </p:txBody>
      </p:sp>
      <p:sp>
        <p:nvSpPr>
          <p:cNvPr id="3" name="Shape 1"/>
          <p:cNvSpPr/>
          <p:nvPr/>
        </p:nvSpPr>
        <p:spPr>
          <a:xfrm>
            <a:off x="3108960" y="521208"/>
            <a:ext cx="6202375" cy="0"/>
          </a:xfrm>
          <a:prstGeom prst="line">
            <a:avLst/>
          </a:prstGeom>
          <a:noFill/>
          <a:ln w="9525">
            <a:solidFill>
              <a:srgbClr val="3C7D2C">
                <a:alpha val="55000"/>
              </a:srgbClr>
            </a:solidFill>
            <a:prstDash val="solid"/>
          </a:ln>
        </p:spPr>
        <p:txBody>
          <a:bodyPr/>
          <a:lstStyle/>
          <a:p>
            <a:endParaRPr lang="en-US"/>
          </a:p>
        </p:txBody>
      </p:sp>
      <p:sp>
        <p:nvSpPr>
          <p:cNvPr id="4" name="claim-C"/>
          <p:cNvSpPr/>
          <p:nvPr/>
        </p:nvSpPr>
        <p:spPr>
          <a:xfrm>
            <a:off x="9539935" y="347472"/>
            <a:ext cx="2148840" cy="310896"/>
          </a:xfrm>
          <a:prstGeom prst="roundRect">
            <a:avLst>
              <a:gd name="adj" fmla="val 50000"/>
            </a:avLst>
          </a:prstGeom>
          <a:solidFill>
            <a:srgbClr val="F3E3E9"/>
          </a:solidFill>
          <a:ln w="12700">
            <a:solidFill>
              <a:srgbClr val="A42C58"/>
            </a:solidFill>
          </a:ln>
        </p:spPr>
        <p:txBody>
          <a:bodyPr wrap="square" lIns="0" tIns="0" rIns="0" bIns="0" rtlCol="0" anchor="ctr"/>
          <a:lstStyle/>
          <a:p>
            <a:pPr marL="0" indent="0" algn="ctr">
              <a:buNone/>
            </a:pPr>
            <a:r>
              <a:rPr lang="en-US" sz="1050" kern="0" spc="150" dirty="0">
                <a:solidFill>
                  <a:srgbClr val="A42C58"/>
                </a:solidFill>
                <a:latin typeface="Roboto Medium" pitchFamily="34" charset="0"/>
                <a:ea typeface="Roboto Medium" pitchFamily="34" charset="-122"/>
                <a:cs typeface="Roboto Medium" pitchFamily="34" charset="-120"/>
              </a:rPr>
              <a:t>CAUSAL · CONDITIONAL</a:t>
            </a:r>
            <a:endParaRPr lang="en-US" sz="1050" dirty="0"/>
          </a:p>
        </p:txBody>
      </p:sp>
      <p:sp>
        <p:nvSpPr>
          <p:cNvPr id="5" name="title"/>
          <p:cNvSpPr txBox="1"/>
          <p:nvPr/>
        </p:nvSpPr>
        <p:spPr>
          <a:xfrm>
            <a:off x="502920" y="731520"/>
            <a:ext cx="11185855" cy="475488"/>
          </a:xfrm>
          <a:prstGeom prst="rect">
            <a:avLst/>
          </a:prstGeom>
          <a:noFill/>
          <a:ln/>
        </p:spPr>
        <p:txBody>
          <a:bodyPr wrap="square" lIns="0" tIns="0" rIns="0" bIns="0" rtlCol="0" anchor="t"/>
          <a:lstStyle/>
          <a:p>
            <a:pPr marL="0" indent="0">
              <a:buNone/>
            </a:pPr>
            <a:r>
              <a:rPr lang="en-US" sz="2800" dirty="0">
                <a:solidFill>
                  <a:srgbClr val="22383F"/>
                </a:solidFill>
                <a:latin typeface="Roboto Light" pitchFamily="34" charset="0"/>
                <a:ea typeface="Roboto Light" pitchFamily="34" charset="-122"/>
                <a:cs typeface="Roboto Light" pitchFamily="34" charset="-120"/>
              </a:rPr>
              <a:t>We tried six methods. Two held up</a:t>
            </a:r>
            <a:endParaRPr lang="en-US" sz="2800" dirty="0"/>
          </a:p>
        </p:txBody>
      </p:sp>
      <p:sp>
        <p:nvSpPr>
          <p:cNvPr id="6" name="subtitle"/>
          <p:cNvSpPr txBox="1"/>
          <p:nvPr/>
        </p:nvSpPr>
        <p:spPr>
          <a:xfrm>
            <a:off x="502920" y="1261872"/>
            <a:ext cx="11185855" cy="274320"/>
          </a:xfrm>
          <a:prstGeom prst="rect">
            <a:avLst/>
          </a:prstGeom>
          <a:noFill/>
          <a:ln/>
        </p:spPr>
        <p:txBody>
          <a:bodyPr wrap="square" lIns="0" tIns="0" rIns="0" bIns="0" rtlCol="0" anchor="ctr"/>
          <a:lstStyle/>
          <a:p>
            <a:pPr marL="0" indent="0">
              <a:buNone/>
            </a:pPr>
            <a:r>
              <a:rPr lang="en-US" sz="1400" dirty="0">
                <a:solidFill>
                  <a:srgbClr val="4A5B60"/>
                </a:solidFill>
                <a:latin typeface="Roboto" pitchFamily="34" charset="0"/>
                <a:ea typeface="Roboto" pitchFamily="34" charset="-122"/>
                <a:cs typeface="Roboto" pitchFamily="34" charset="-120"/>
              </a:rPr>
              <a:t>Each builds a stand-in for Tambopata without Mercurio</a:t>
            </a:r>
            <a:endParaRPr lang="en-US" sz="1400" dirty="0"/>
          </a:p>
        </p:txBody>
      </p:sp>
      <p:sp>
        <p:nvSpPr>
          <p:cNvPr id="7" name="Shape 5"/>
          <p:cNvSpPr/>
          <p:nvPr/>
        </p:nvSpPr>
        <p:spPr>
          <a:xfrm>
            <a:off x="502920" y="1691640"/>
            <a:ext cx="3576218" cy="2217420"/>
          </a:xfrm>
          <a:prstGeom prst="rect">
            <a:avLst/>
          </a:prstGeom>
          <a:solidFill>
            <a:srgbClr val="EAF2E4"/>
          </a:solidFill>
          <a:ln w="19050">
            <a:solidFill>
              <a:srgbClr val="3C7D2C"/>
            </a:solidFill>
            <a:prstDash val="solid"/>
          </a:ln>
        </p:spPr>
        <p:txBody>
          <a:bodyPr/>
          <a:lstStyle/>
          <a:p>
            <a:endParaRPr lang="en-US"/>
          </a:p>
        </p:txBody>
      </p:sp>
      <p:pic>
        <p:nvPicPr>
          <p:cNvPr id="8" name="Image 0" descr="preencoded.png"/>
          <p:cNvPicPr>
            <a:picLocks noChangeAspect="1"/>
          </p:cNvPicPr>
          <p:nvPr/>
        </p:nvPicPr>
        <p:blipFill>
          <a:blip r:embed="rId3"/>
          <a:stretch>
            <a:fillRect/>
          </a:stretch>
        </p:blipFill>
        <p:spPr>
          <a:xfrm>
            <a:off x="777240" y="1965960"/>
            <a:ext cx="457200" cy="457200"/>
          </a:xfrm>
          <a:prstGeom prst="rect">
            <a:avLst/>
          </a:prstGeom>
        </p:spPr>
      </p:pic>
      <p:sp>
        <p:nvSpPr>
          <p:cNvPr id="9" name="Text 6"/>
          <p:cNvSpPr txBox="1"/>
          <p:nvPr/>
        </p:nvSpPr>
        <p:spPr>
          <a:xfrm>
            <a:off x="777240" y="2560320"/>
            <a:ext cx="3027578" cy="411480"/>
          </a:xfrm>
          <a:prstGeom prst="rect">
            <a:avLst/>
          </a:prstGeom>
          <a:noFill/>
          <a:ln/>
        </p:spPr>
        <p:txBody>
          <a:bodyPr wrap="square" lIns="0" tIns="0" rIns="0" bIns="0" rtlCol="0" anchor="ctr"/>
          <a:lstStyle/>
          <a:p>
            <a:pPr marL="0" indent="0">
              <a:buNone/>
            </a:pPr>
            <a:r>
              <a:rPr lang="en-US" sz="1900" dirty="0">
                <a:solidFill>
                  <a:srgbClr val="22383F"/>
                </a:solidFill>
                <a:latin typeface="Roboto Medium" pitchFamily="34" charset="0"/>
                <a:ea typeface="Roboto Medium" pitchFamily="34" charset="-122"/>
                <a:cs typeface="Roboto Medium" pitchFamily="34" charset="-120"/>
              </a:rPr>
              <a:t>Difference-in-differences</a:t>
            </a:r>
            <a:endParaRPr lang="en-US" sz="1900" dirty="0"/>
          </a:p>
        </p:txBody>
      </p:sp>
      <p:sp>
        <p:nvSpPr>
          <p:cNvPr id="10" name="Text 7"/>
          <p:cNvSpPr txBox="1"/>
          <p:nvPr/>
        </p:nvSpPr>
        <p:spPr>
          <a:xfrm>
            <a:off x="777240" y="2971800"/>
            <a:ext cx="3027578" cy="365760"/>
          </a:xfrm>
          <a:prstGeom prst="rect">
            <a:avLst/>
          </a:prstGeom>
          <a:noFill/>
          <a:ln/>
        </p:spPr>
        <p:txBody>
          <a:bodyPr wrap="square" lIns="0" tIns="0" rIns="0" bIns="0" rtlCol="0" anchor="ctr"/>
          <a:lstStyle/>
          <a:p>
            <a:pPr marL="0" indent="0">
              <a:buNone/>
            </a:pPr>
            <a:r>
              <a:rPr lang="en-US" sz="1400" dirty="0">
                <a:solidFill>
                  <a:srgbClr val="4A5B60"/>
                </a:solidFill>
                <a:latin typeface="Roboto" pitchFamily="34" charset="0"/>
                <a:ea typeface="Roboto" pitchFamily="34" charset="-122"/>
                <a:cs typeface="Roboto" pitchFamily="34" charset="-120"/>
              </a:rPr>
              <a:t>vs 14 other Peruvian buffer zones</a:t>
            </a:r>
            <a:endParaRPr lang="en-US" sz="1400" dirty="0"/>
          </a:p>
        </p:txBody>
      </p:sp>
      <p:sp>
        <p:nvSpPr>
          <p:cNvPr id="11" name="Text 8"/>
          <p:cNvSpPr txBox="1"/>
          <p:nvPr/>
        </p:nvSpPr>
        <p:spPr>
          <a:xfrm>
            <a:off x="777240" y="3451860"/>
            <a:ext cx="3027578" cy="274320"/>
          </a:xfrm>
          <a:prstGeom prst="rect">
            <a:avLst/>
          </a:prstGeom>
          <a:noFill/>
          <a:ln/>
        </p:spPr>
        <p:txBody>
          <a:bodyPr wrap="square" lIns="0" tIns="0" rIns="0" bIns="0" rtlCol="0" anchor="ctr"/>
          <a:lstStyle/>
          <a:p>
            <a:pPr marL="0" indent="0">
              <a:buNone/>
            </a:pPr>
            <a:r>
              <a:rPr lang="en-US" sz="1100" kern="0" spc="150" dirty="0">
                <a:solidFill>
                  <a:srgbClr val="3C7D2C"/>
                </a:solidFill>
                <a:latin typeface="Roboto Medium" pitchFamily="34" charset="0"/>
                <a:ea typeface="Roboto Medium" pitchFamily="34" charset="-122"/>
                <a:cs typeface="Roboto Medium" pitchFamily="34" charset="-120"/>
              </a:rPr>
              <a:t>HELD UP · IN HECTARES</a:t>
            </a:r>
            <a:endParaRPr lang="en-US" sz="1100" dirty="0"/>
          </a:p>
        </p:txBody>
      </p:sp>
      <p:sp>
        <p:nvSpPr>
          <p:cNvPr id="12" name="Shape 9"/>
          <p:cNvSpPr/>
          <p:nvPr/>
        </p:nvSpPr>
        <p:spPr>
          <a:xfrm>
            <a:off x="4307738" y="1691640"/>
            <a:ext cx="3576218" cy="2217420"/>
          </a:xfrm>
          <a:prstGeom prst="rect">
            <a:avLst/>
          </a:prstGeom>
          <a:solidFill>
            <a:srgbClr val="FBFAF7"/>
          </a:solidFill>
          <a:ln w="9525">
            <a:solidFill>
              <a:srgbClr val="D9D2C7"/>
            </a:solidFill>
            <a:prstDash val="solid"/>
          </a:ln>
        </p:spPr>
        <p:txBody>
          <a:bodyPr/>
          <a:lstStyle/>
          <a:p>
            <a:endParaRPr lang="en-US"/>
          </a:p>
        </p:txBody>
      </p:sp>
      <p:pic>
        <p:nvPicPr>
          <p:cNvPr id="13" name="Image 1" descr="preencoded.png"/>
          <p:cNvPicPr>
            <a:picLocks noChangeAspect="1"/>
          </p:cNvPicPr>
          <p:nvPr/>
        </p:nvPicPr>
        <p:blipFill>
          <a:blip r:embed="rId4"/>
          <a:stretch>
            <a:fillRect/>
          </a:stretch>
        </p:blipFill>
        <p:spPr>
          <a:xfrm>
            <a:off x="4582058" y="1965960"/>
            <a:ext cx="457200" cy="457200"/>
          </a:xfrm>
          <a:prstGeom prst="rect">
            <a:avLst/>
          </a:prstGeom>
        </p:spPr>
      </p:pic>
      <p:sp>
        <p:nvSpPr>
          <p:cNvPr id="14" name="Text 10"/>
          <p:cNvSpPr txBox="1"/>
          <p:nvPr/>
        </p:nvSpPr>
        <p:spPr>
          <a:xfrm>
            <a:off x="4582058" y="2560320"/>
            <a:ext cx="3027578" cy="411480"/>
          </a:xfrm>
          <a:prstGeom prst="rect">
            <a:avLst/>
          </a:prstGeom>
          <a:noFill/>
          <a:ln/>
        </p:spPr>
        <p:txBody>
          <a:bodyPr wrap="square" lIns="0" tIns="0" rIns="0" bIns="0" rtlCol="0" anchor="ctr"/>
          <a:lstStyle/>
          <a:p>
            <a:pPr marL="0" indent="0">
              <a:buNone/>
            </a:pPr>
            <a:r>
              <a:rPr lang="en-US" sz="1900" dirty="0">
                <a:solidFill>
                  <a:srgbClr val="4A5B60"/>
                </a:solidFill>
                <a:latin typeface="Roboto Medium" pitchFamily="34" charset="0"/>
                <a:ea typeface="Roboto Medium" pitchFamily="34" charset="-122"/>
                <a:cs typeface="Roboto Medium" pitchFamily="34" charset="-120"/>
              </a:rPr>
              <a:t>Synthetic control</a:t>
            </a:r>
            <a:endParaRPr lang="en-US" sz="1900" dirty="0"/>
          </a:p>
        </p:txBody>
      </p:sp>
      <p:sp>
        <p:nvSpPr>
          <p:cNvPr id="15" name="Text 11"/>
          <p:cNvSpPr txBox="1"/>
          <p:nvPr/>
        </p:nvSpPr>
        <p:spPr>
          <a:xfrm>
            <a:off x="4582058" y="2971800"/>
            <a:ext cx="3027578" cy="365760"/>
          </a:xfrm>
          <a:prstGeom prst="rect">
            <a:avLst/>
          </a:prstGeom>
          <a:noFill/>
          <a:ln/>
        </p:spPr>
        <p:txBody>
          <a:bodyPr wrap="square" lIns="0" tIns="0" rIns="0" bIns="0" rtlCol="0" anchor="ctr"/>
          <a:lstStyle/>
          <a:p>
            <a:pPr marL="0" indent="0">
              <a:buNone/>
            </a:pPr>
            <a:r>
              <a:rPr lang="en-US" sz="1400" dirty="0">
                <a:solidFill>
                  <a:srgbClr val="4A5B60"/>
                </a:solidFill>
                <a:latin typeface="Roboto" pitchFamily="34" charset="0"/>
                <a:ea typeface="Roboto" pitchFamily="34" charset="-122"/>
                <a:cs typeface="Roboto" pitchFamily="34" charset="-120"/>
              </a:rPr>
              <a:t>a weighted copy of Tambopata</a:t>
            </a:r>
            <a:endParaRPr lang="en-US" sz="1400" dirty="0"/>
          </a:p>
        </p:txBody>
      </p:sp>
      <p:sp>
        <p:nvSpPr>
          <p:cNvPr id="16" name="Text 12"/>
          <p:cNvSpPr txBox="1"/>
          <p:nvPr/>
        </p:nvSpPr>
        <p:spPr>
          <a:xfrm>
            <a:off x="4582058" y="3451860"/>
            <a:ext cx="3027578" cy="274320"/>
          </a:xfrm>
          <a:prstGeom prst="rect">
            <a:avLst/>
          </a:prstGeom>
          <a:noFill/>
          <a:ln/>
        </p:spPr>
        <p:txBody>
          <a:bodyPr wrap="square" lIns="0" tIns="0" rIns="0" bIns="0" rtlCol="0" anchor="ctr"/>
          <a:lstStyle/>
          <a:p>
            <a:pPr marL="0" indent="0">
              <a:buNone/>
            </a:pPr>
            <a:r>
              <a:rPr lang="en-US" sz="1100" kern="0" spc="150" dirty="0">
                <a:solidFill>
                  <a:srgbClr val="6C7B80"/>
                </a:solidFill>
                <a:latin typeface="Roboto Medium" pitchFamily="34" charset="0"/>
                <a:ea typeface="Roboto Medium" pitchFamily="34" charset="-122"/>
                <a:cs typeface="Roboto Medium" pitchFamily="34" charset="-120"/>
              </a:rPr>
              <a:t>NO GOOD COPY</a:t>
            </a:r>
            <a:endParaRPr lang="en-US" sz="1100" dirty="0"/>
          </a:p>
        </p:txBody>
      </p:sp>
      <p:sp>
        <p:nvSpPr>
          <p:cNvPr id="17" name="Shape 13"/>
          <p:cNvSpPr/>
          <p:nvPr/>
        </p:nvSpPr>
        <p:spPr>
          <a:xfrm>
            <a:off x="8112557" y="1691640"/>
            <a:ext cx="3576218" cy="2217420"/>
          </a:xfrm>
          <a:prstGeom prst="rect">
            <a:avLst/>
          </a:prstGeom>
          <a:solidFill>
            <a:srgbClr val="FBFAF7"/>
          </a:solidFill>
          <a:ln w="9525">
            <a:solidFill>
              <a:srgbClr val="D9D2C7"/>
            </a:solidFill>
            <a:prstDash val="solid"/>
          </a:ln>
        </p:spPr>
        <p:txBody>
          <a:bodyPr/>
          <a:lstStyle/>
          <a:p>
            <a:endParaRPr lang="en-US"/>
          </a:p>
        </p:txBody>
      </p:sp>
      <p:pic>
        <p:nvPicPr>
          <p:cNvPr id="18" name="Image 2" descr="preencoded.png"/>
          <p:cNvPicPr>
            <a:picLocks noChangeAspect="1"/>
          </p:cNvPicPr>
          <p:nvPr/>
        </p:nvPicPr>
        <p:blipFill>
          <a:blip r:embed="rId5"/>
          <a:stretch>
            <a:fillRect/>
          </a:stretch>
        </p:blipFill>
        <p:spPr>
          <a:xfrm>
            <a:off x="8386877" y="1965960"/>
            <a:ext cx="457200" cy="457200"/>
          </a:xfrm>
          <a:prstGeom prst="rect">
            <a:avLst/>
          </a:prstGeom>
        </p:spPr>
      </p:pic>
      <p:sp>
        <p:nvSpPr>
          <p:cNvPr id="19" name="Text 14"/>
          <p:cNvSpPr txBox="1"/>
          <p:nvPr/>
        </p:nvSpPr>
        <p:spPr>
          <a:xfrm>
            <a:off x="8386877" y="2560320"/>
            <a:ext cx="3027578" cy="411480"/>
          </a:xfrm>
          <a:prstGeom prst="rect">
            <a:avLst/>
          </a:prstGeom>
          <a:noFill/>
          <a:ln/>
        </p:spPr>
        <p:txBody>
          <a:bodyPr wrap="square" lIns="0" tIns="0" rIns="0" bIns="0" rtlCol="0" anchor="ctr"/>
          <a:lstStyle/>
          <a:p>
            <a:pPr marL="0" indent="0">
              <a:buNone/>
            </a:pPr>
            <a:r>
              <a:rPr lang="en-US" sz="1900" dirty="0">
                <a:solidFill>
                  <a:srgbClr val="4A5B60"/>
                </a:solidFill>
                <a:latin typeface="Roboto Medium" pitchFamily="34" charset="0"/>
                <a:ea typeface="Roboto Medium" pitchFamily="34" charset="-122"/>
                <a:cs typeface="Roboto Medium" pitchFamily="34" charset="-120"/>
              </a:rPr>
              <a:t>Rule-based twins</a:t>
            </a:r>
            <a:endParaRPr lang="en-US" sz="1900" dirty="0"/>
          </a:p>
        </p:txBody>
      </p:sp>
      <p:sp>
        <p:nvSpPr>
          <p:cNvPr id="20" name="Text 15"/>
          <p:cNvSpPr txBox="1"/>
          <p:nvPr/>
        </p:nvSpPr>
        <p:spPr>
          <a:xfrm>
            <a:off x="8386877" y="2971800"/>
            <a:ext cx="3027578" cy="365760"/>
          </a:xfrm>
          <a:prstGeom prst="rect">
            <a:avLst/>
          </a:prstGeom>
          <a:noFill/>
          <a:ln/>
        </p:spPr>
        <p:txBody>
          <a:bodyPr wrap="square" lIns="0" tIns="0" rIns="0" bIns="0" rtlCol="0" anchor="ctr"/>
          <a:lstStyle/>
          <a:p>
            <a:pPr marL="0" indent="0">
              <a:buNone/>
            </a:pPr>
            <a:r>
              <a:rPr lang="en-US" sz="1400" dirty="0">
                <a:solidFill>
                  <a:srgbClr val="4A5B60"/>
                </a:solidFill>
                <a:latin typeface="Roboto" pitchFamily="34" charset="0"/>
                <a:ea typeface="Roboto" pitchFamily="34" charset="-122"/>
                <a:cs typeface="Roboto" pitchFamily="34" charset="-120"/>
              </a:rPr>
              <a:t>look-alike areas in Brazil</a:t>
            </a:r>
            <a:endParaRPr lang="en-US" sz="1400" dirty="0"/>
          </a:p>
        </p:txBody>
      </p:sp>
      <p:sp>
        <p:nvSpPr>
          <p:cNvPr id="21" name="Text 16"/>
          <p:cNvSpPr txBox="1"/>
          <p:nvPr/>
        </p:nvSpPr>
        <p:spPr>
          <a:xfrm>
            <a:off x="8386877" y="3451860"/>
            <a:ext cx="3027578" cy="274320"/>
          </a:xfrm>
          <a:prstGeom prst="rect">
            <a:avLst/>
          </a:prstGeom>
          <a:noFill/>
          <a:ln/>
        </p:spPr>
        <p:txBody>
          <a:bodyPr wrap="square" lIns="0" tIns="0" rIns="0" bIns="0" rtlCol="0" anchor="ctr"/>
          <a:lstStyle/>
          <a:p>
            <a:pPr marL="0" indent="0">
              <a:buNone/>
            </a:pPr>
            <a:r>
              <a:rPr lang="en-US" sz="1100" kern="0" spc="150" dirty="0">
                <a:solidFill>
                  <a:srgbClr val="6C7B80"/>
                </a:solidFill>
                <a:latin typeface="Roboto Medium" pitchFamily="34" charset="0"/>
                <a:ea typeface="Roboto Medium" pitchFamily="34" charset="-122"/>
                <a:cs typeface="Roboto Medium" pitchFamily="34" charset="-120"/>
              </a:rPr>
              <a:t>DIFFERENT TRENDS BEFORE 2019</a:t>
            </a:r>
            <a:endParaRPr lang="en-US" sz="1100" dirty="0"/>
          </a:p>
        </p:txBody>
      </p:sp>
      <p:sp>
        <p:nvSpPr>
          <p:cNvPr id="22" name="Shape 17"/>
          <p:cNvSpPr/>
          <p:nvPr/>
        </p:nvSpPr>
        <p:spPr>
          <a:xfrm>
            <a:off x="502920" y="4137660"/>
            <a:ext cx="3576218" cy="2217420"/>
          </a:xfrm>
          <a:prstGeom prst="rect">
            <a:avLst/>
          </a:prstGeom>
          <a:solidFill>
            <a:srgbClr val="FBFAF7"/>
          </a:solidFill>
          <a:ln w="9525">
            <a:solidFill>
              <a:srgbClr val="D9D2C7"/>
            </a:solidFill>
            <a:prstDash val="solid"/>
          </a:ln>
        </p:spPr>
        <p:txBody>
          <a:bodyPr/>
          <a:lstStyle/>
          <a:p>
            <a:endParaRPr lang="en-US"/>
          </a:p>
        </p:txBody>
      </p:sp>
      <p:pic>
        <p:nvPicPr>
          <p:cNvPr id="23" name="Image 3" descr="preencoded.png"/>
          <p:cNvPicPr>
            <a:picLocks noChangeAspect="1"/>
          </p:cNvPicPr>
          <p:nvPr/>
        </p:nvPicPr>
        <p:blipFill>
          <a:blip r:embed="rId6"/>
          <a:stretch>
            <a:fillRect/>
          </a:stretch>
        </p:blipFill>
        <p:spPr>
          <a:xfrm>
            <a:off x="777240" y="4411980"/>
            <a:ext cx="457200" cy="457200"/>
          </a:xfrm>
          <a:prstGeom prst="rect">
            <a:avLst/>
          </a:prstGeom>
        </p:spPr>
      </p:pic>
      <p:sp>
        <p:nvSpPr>
          <p:cNvPr id="24" name="Text 18"/>
          <p:cNvSpPr txBox="1"/>
          <p:nvPr/>
        </p:nvSpPr>
        <p:spPr>
          <a:xfrm>
            <a:off x="777240" y="5006340"/>
            <a:ext cx="3027578" cy="411480"/>
          </a:xfrm>
          <a:prstGeom prst="rect">
            <a:avLst/>
          </a:prstGeom>
          <a:noFill/>
          <a:ln/>
        </p:spPr>
        <p:txBody>
          <a:bodyPr wrap="square" lIns="0" tIns="0" rIns="0" bIns="0" rtlCol="0" anchor="ctr"/>
          <a:lstStyle/>
          <a:p>
            <a:pPr marL="0" indent="0">
              <a:buNone/>
            </a:pPr>
            <a:r>
              <a:rPr lang="en-US" sz="1900" dirty="0">
                <a:solidFill>
                  <a:srgbClr val="4A5B60"/>
                </a:solidFill>
                <a:latin typeface="Roboto Medium" pitchFamily="34" charset="0"/>
                <a:ea typeface="Roboto Medium" pitchFamily="34" charset="-122"/>
                <a:cs typeface="Roboto Medium" pitchFamily="34" charset="-120"/>
              </a:rPr>
              <a:t>Spatial discontinuity</a:t>
            </a:r>
            <a:endParaRPr lang="en-US" sz="1900" dirty="0"/>
          </a:p>
        </p:txBody>
      </p:sp>
      <p:sp>
        <p:nvSpPr>
          <p:cNvPr id="25" name="Text 19"/>
          <p:cNvSpPr txBox="1"/>
          <p:nvPr/>
        </p:nvSpPr>
        <p:spPr>
          <a:xfrm>
            <a:off x="777240" y="5417820"/>
            <a:ext cx="3027578" cy="365760"/>
          </a:xfrm>
          <a:prstGeom prst="rect">
            <a:avLst/>
          </a:prstGeom>
          <a:noFill/>
          <a:ln/>
        </p:spPr>
        <p:txBody>
          <a:bodyPr wrap="square" lIns="0" tIns="0" rIns="0" bIns="0" rtlCol="0" anchor="ctr"/>
          <a:lstStyle/>
          <a:p>
            <a:pPr marL="0" indent="0">
              <a:buNone/>
            </a:pPr>
            <a:r>
              <a:rPr lang="en-US" sz="1400" dirty="0">
                <a:solidFill>
                  <a:srgbClr val="4A5B60"/>
                </a:solidFill>
                <a:latin typeface="Roboto" pitchFamily="34" charset="0"/>
                <a:ea typeface="Roboto" pitchFamily="34" charset="-122"/>
                <a:cs typeface="Roboto" pitchFamily="34" charset="-120"/>
              </a:rPr>
              <a:t>just north vs just south of the road</a:t>
            </a:r>
            <a:endParaRPr lang="en-US" sz="1400" dirty="0"/>
          </a:p>
        </p:txBody>
      </p:sp>
      <p:sp>
        <p:nvSpPr>
          <p:cNvPr id="26" name="Text 20"/>
          <p:cNvSpPr txBox="1"/>
          <p:nvPr/>
        </p:nvSpPr>
        <p:spPr>
          <a:xfrm>
            <a:off x="777240" y="5897880"/>
            <a:ext cx="3027578" cy="274320"/>
          </a:xfrm>
          <a:prstGeom prst="rect">
            <a:avLst/>
          </a:prstGeom>
          <a:noFill/>
          <a:ln/>
        </p:spPr>
        <p:txBody>
          <a:bodyPr wrap="square" lIns="0" tIns="0" rIns="0" bIns="0" rtlCol="0" anchor="ctr"/>
          <a:lstStyle/>
          <a:p>
            <a:pPr marL="0" indent="0">
              <a:buNone/>
            </a:pPr>
            <a:r>
              <a:rPr lang="en-US" sz="1100" kern="0" spc="150" dirty="0">
                <a:solidFill>
                  <a:srgbClr val="6C7B80"/>
                </a:solidFill>
                <a:latin typeface="Roboto Medium" pitchFamily="34" charset="0"/>
                <a:ea typeface="Roboto Medium" pitchFamily="34" charset="-122"/>
                <a:cs typeface="Roboto Medium" pitchFamily="34" charset="-120"/>
              </a:rPr>
              <a:t>BORDERLINE · P = 0.08</a:t>
            </a:r>
            <a:endParaRPr lang="en-US" sz="1100" dirty="0"/>
          </a:p>
        </p:txBody>
      </p:sp>
      <p:sp>
        <p:nvSpPr>
          <p:cNvPr id="27" name="Shape 21"/>
          <p:cNvSpPr/>
          <p:nvPr/>
        </p:nvSpPr>
        <p:spPr>
          <a:xfrm>
            <a:off x="4307738" y="4137660"/>
            <a:ext cx="3576218" cy="2217420"/>
          </a:xfrm>
          <a:prstGeom prst="rect">
            <a:avLst/>
          </a:prstGeom>
          <a:solidFill>
            <a:srgbClr val="FBFAF7"/>
          </a:solidFill>
          <a:ln w="9525">
            <a:solidFill>
              <a:srgbClr val="D9D2C7"/>
            </a:solidFill>
            <a:prstDash val="solid"/>
          </a:ln>
        </p:spPr>
        <p:txBody>
          <a:bodyPr/>
          <a:lstStyle/>
          <a:p>
            <a:endParaRPr lang="en-US"/>
          </a:p>
        </p:txBody>
      </p:sp>
      <p:pic>
        <p:nvPicPr>
          <p:cNvPr id="28" name="Image 4" descr="preencoded.png"/>
          <p:cNvPicPr>
            <a:picLocks noChangeAspect="1"/>
          </p:cNvPicPr>
          <p:nvPr/>
        </p:nvPicPr>
        <p:blipFill>
          <a:blip r:embed="rId7"/>
          <a:stretch>
            <a:fillRect/>
          </a:stretch>
        </p:blipFill>
        <p:spPr>
          <a:xfrm>
            <a:off x="4582058" y="4411980"/>
            <a:ext cx="457200" cy="457200"/>
          </a:xfrm>
          <a:prstGeom prst="rect">
            <a:avLst/>
          </a:prstGeom>
        </p:spPr>
      </p:pic>
      <p:sp>
        <p:nvSpPr>
          <p:cNvPr id="29" name="Text 22"/>
          <p:cNvSpPr txBox="1"/>
          <p:nvPr/>
        </p:nvSpPr>
        <p:spPr>
          <a:xfrm>
            <a:off x="4582058" y="5006340"/>
            <a:ext cx="3027578" cy="411480"/>
          </a:xfrm>
          <a:prstGeom prst="rect">
            <a:avLst/>
          </a:prstGeom>
          <a:noFill/>
          <a:ln/>
        </p:spPr>
        <p:txBody>
          <a:bodyPr wrap="square" lIns="0" tIns="0" rIns="0" bIns="0" rtlCol="0" anchor="ctr"/>
          <a:lstStyle/>
          <a:p>
            <a:pPr marL="0" indent="0">
              <a:buNone/>
            </a:pPr>
            <a:r>
              <a:rPr lang="en-US" sz="1900" dirty="0">
                <a:solidFill>
                  <a:srgbClr val="4A5B60"/>
                </a:solidFill>
                <a:latin typeface="Roboto Medium" pitchFamily="34" charset="0"/>
                <a:ea typeface="Roboto Medium" pitchFamily="34" charset="-122"/>
                <a:cs typeface="Roboto Medium" pitchFamily="34" charset="-120"/>
              </a:rPr>
              <a:t>Matching, 7 ways</a:t>
            </a:r>
            <a:endParaRPr lang="en-US" sz="1900" dirty="0"/>
          </a:p>
        </p:txBody>
      </p:sp>
      <p:sp>
        <p:nvSpPr>
          <p:cNvPr id="30" name="Text 23"/>
          <p:cNvSpPr txBox="1"/>
          <p:nvPr/>
        </p:nvSpPr>
        <p:spPr>
          <a:xfrm>
            <a:off x="4582058" y="5417820"/>
            <a:ext cx="3027578" cy="365760"/>
          </a:xfrm>
          <a:prstGeom prst="rect">
            <a:avLst/>
          </a:prstGeom>
          <a:noFill/>
          <a:ln/>
        </p:spPr>
        <p:txBody>
          <a:bodyPr wrap="square" lIns="0" tIns="0" rIns="0" bIns="0" rtlCol="0" anchor="ctr"/>
          <a:lstStyle/>
          <a:p>
            <a:pPr marL="0" indent="0">
              <a:buNone/>
            </a:pPr>
            <a:r>
              <a:rPr lang="en-US" sz="1400" dirty="0">
                <a:solidFill>
                  <a:srgbClr val="4A5B60"/>
                </a:solidFill>
                <a:latin typeface="Roboto" pitchFamily="34" charset="0"/>
                <a:ea typeface="Roboto" pitchFamily="34" charset="-122"/>
                <a:cs typeface="Roboto" pitchFamily="34" charset="-120"/>
              </a:rPr>
              <a:t>areas picked by algorithm</a:t>
            </a:r>
            <a:endParaRPr lang="en-US" sz="1400" dirty="0"/>
          </a:p>
        </p:txBody>
      </p:sp>
      <p:sp>
        <p:nvSpPr>
          <p:cNvPr id="31" name="Text 24"/>
          <p:cNvSpPr txBox="1"/>
          <p:nvPr/>
        </p:nvSpPr>
        <p:spPr>
          <a:xfrm>
            <a:off x="4582058" y="5897880"/>
            <a:ext cx="3027578" cy="274320"/>
          </a:xfrm>
          <a:prstGeom prst="rect">
            <a:avLst/>
          </a:prstGeom>
          <a:noFill/>
          <a:ln/>
        </p:spPr>
        <p:txBody>
          <a:bodyPr wrap="square" lIns="0" tIns="0" rIns="0" bIns="0" rtlCol="0" anchor="ctr"/>
          <a:lstStyle/>
          <a:p>
            <a:pPr marL="0" indent="0">
              <a:buNone/>
            </a:pPr>
            <a:r>
              <a:rPr lang="en-US" sz="1100" kern="0" spc="150" dirty="0">
                <a:solidFill>
                  <a:srgbClr val="6C7B80"/>
                </a:solidFill>
                <a:latin typeface="Roboto Medium" pitchFamily="34" charset="0"/>
                <a:ea typeface="Roboto Medium" pitchFamily="34" charset="-122"/>
                <a:cs typeface="Roboto Medium" pitchFamily="34" charset="-120"/>
              </a:rPr>
              <a:t>CAN'T BEAT CHANCE</a:t>
            </a:r>
            <a:endParaRPr lang="en-US" sz="1100" dirty="0"/>
          </a:p>
        </p:txBody>
      </p:sp>
      <p:sp>
        <p:nvSpPr>
          <p:cNvPr id="32" name="Shape 25"/>
          <p:cNvSpPr/>
          <p:nvPr/>
        </p:nvSpPr>
        <p:spPr>
          <a:xfrm>
            <a:off x="8112557" y="4137660"/>
            <a:ext cx="3576218" cy="2217420"/>
          </a:xfrm>
          <a:prstGeom prst="rect">
            <a:avLst/>
          </a:prstGeom>
          <a:solidFill>
            <a:srgbClr val="EAF2E4"/>
          </a:solidFill>
          <a:ln w="19050">
            <a:solidFill>
              <a:srgbClr val="3C7D2C"/>
            </a:solidFill>
            <a:prstDash val="solid"/>
          </a:ln>
        </p:spPr>
        <p:txBody>
          <a:bodyPr/>
          <a:lstStyle/>
          <a:p>
            <a:endParaRPr lang="en-US"/>
          </a:p>
        </p:txBody>
      </p:sp>
      <p:pic>
        <p:nvPicPr>
          <p:cNvPr id="33" name="Image 5" descr="preencoded.png"/>
          <p:cNvPicPr>
            <a:picLocks noChangeAspect="1"/>
          </p:cNvPicPr>
          <p:nvPr/>
        </p:nvPicPr>
        <p:blipFill>
          <a:blip r:embed="rId8"/>
          <a:stretch>
            <a:fillRect/>
          </a:stretch>
        </p:blipFill>
        <p:spPr>
          <a:xfrm>
            <a:off x="8386877" y="4411980"/>
            <a:ext cx="457200" cy="457200"/>
          </a:xfrm>
          <a:prstGeom prst="rect">
            <a:avLst/>
          </a:prstGeom>
        </p:spPr>
      </p:pic>
      <p:sp>
        <p:nvSpPr>
          <p:cNvPr id="34" name="Text 26"/>
          <p:cNvSpPr txBox="1"/>
          <p:nvPr/>
        </p:nvSpPr>
        <p:spPr>
          <a:xfrm>
            <a:off x="8386877" y="5006340"/>
            <a:ext cx="3027578" cy="411480"/>
          </a:xfrm>
          <a:prstGeom prst="rect">
            <a:avLst/>
          </a:prstGeom>
          <a:noFill/>
          <a:ln/>
        </p:spPr>
        <p:txBody>
          <a:bodyPr wrap="square" lIns="0" tIns="0" rIns="0" bIns="0" rtlCol="0" anchor="ctr"/>
          <a:lstStyle/>
          <a:p>
            <a:pPr marL="0" indent="0">
              <a:buNone/>
            </a:pPr>
            <a:r>
              <a:rPr lang="en-US" sz="1900" dirty="0">
                <a:solidFill>
                  <a:srgbClr val="22383F"/>
                </a:solidFill>
                <a:latin typeface="Roboto Medium" pitchFamily="34" charset="0"/>
                <a:ea typeface="Roboto Medium" pitchFamily="34" charset="-122"/>
                <a:cs typeface="Roboto Medium" pitchFamily="34" charset="-120"/>
              </a:rPr>
              <a:t>Synthetic DiD</a:t>
            </a:r>
            <a:endParaRPr lang="en-US" sz="1900" dirty="0"/>
          </a:p>
        </p:txBody>
      </p:sp>
      <p:sp>
        <p:nvSpPr>
          <p:cNvPr id="35" name="Text 27"/>
          <p:cNvSpPr txBox="1"/>
          <p:nvPr/>
        </p:nvSpPr>
        <p:spPr>
          <a:xfrm>
            <a:off x="8386877" y="5417820"/>
            <a:ext cx="3027578" cy="365760"/>
          </a:xfrm>
          <a:prstGeom prst="rect">
            <a:avLst/>
          </a:prstGeom>
          <a:noFill/>
          <a:ln/>
        </p:spPr>
        <p:txBody>
          <a:bodyPr wrap="square" lIns="0" tIns="0" rIns="0" bIns="0" rtlCol="0" anchor="ctr"/>
          <a:lstStyle/>
          <a:p>
            <a:pPr marL="0" indent="0">
              <a:buNone/>
            </a:pPr>
            <a:r>
              <a:rPr lang="en-US" sz="1400" dirty="0">
                <a:solidFill>
                  <a:srgbClr val="4A5B60"/>
                </a:solidFill>
                <a:latin typeface="Roboto" pitchFamily="34" charset="0"/>
                <a:ea typeface="Roboto" pitchFamily="34" charset="-122"/>
                <a:cs typeface="Roboto" pitchFamily="34" charset="-120"/>
              </a:rPr>
              <a:t>weighted zones and years</a:t>
            </a:r>
            <a:endParaRPr lang="en-US" sz="1400" dirty="0"/>
          </a:p>
        </p:txBody>
      </p:sp>
      <p:sp>
        <p:nvSpPr>
          <p:cNvPr id="36" name="Text 28"/>
          <p:cNvSpPr txBox="1"/>
          <p:nvPr/>
        </p:nvSpPr>
        <p:spPr>
          <a:xfrm>
            <a:off x="8386877" y="5897880"/>
            <a:ext cx="3027578" cy="274320"/>
          </a:xfrm>
          <a:prstGeom prst="rect">
            <a:avLst/>
          </a:prstGeom>
          <a:noFill/>
          <a:ln/>
        </p:spPr>
        <p:txBody>
          <a:bodyPr wrap="square" lIns="0" tIns="0" rIns="0" bIns="0" rtlCol="0" anchor="ctr"/>
          <a:lstStyle/>
          <a:p>
            <a:pPr marL="0" indent="0">
              <a:buNone/>
            </a:pPr>
            <a:r>
              <a:rPr lang="en-US" sz="1100" kern="0" spc="150" dirty="0">
                <a:solidFill>
                  <a:srgbClr val="3C7D2C"/>
                </a:solidFill>
                <a:latin typeface="Roboto Medium" pitchFamily="34" charset="0"/>
                <a:ea typeface="Roboto Medium" pitchFamily="34" charset="-122"/>
                <a:cs typeface="Roboto Medium" pitchFamily="34" charset="-120"/>
              </a:rPr>
              <a:t>HELD UP · IN HECTARES</a:t>
            </a:r>
            <a:endParaRPr lang="en-US" sz="1100" dirty="0"/>
          </a:p>
        </p:txBody>
      </p:sp>
      <p:sp>
        <p:nvSpPr>
          <p:cNvPr id="37" name="Slide Number Placeholder 0"/>
          <p:cNvSpPr>
            <a:spLocks noGrp="1"/>
          </p:cNvSpPr>
          <p:nvPr>
            <p:ph type="sldNum" sz="quarter" idx="4294967295"/>
          </p:nvPr>
        </p:nvSpPr>
        <p:spPr>
          <a:xfrm>
            <a:off x="11140135" y="6510528"/>
            <a:ext cx="548640" cy="219456"/>
          </a:xfrm>
          <a:prstGeom prst="rect">
            <a:avLst/>
          </a:prstGeom>
          <a:extLst>
            <a:ext uri="{C572A759-6A51-4108-AA02-DFA0A04FC94B}">
              <ma14:wrappingTextBoxFlag xmlns="" xmlns:ma14="http://schemas.microsoft.com/office/mac/drawingml/2011/main" val="0"/>
            </a:ext>
          </a:extLst>
        </p:spPr>
        <p:txBody>
          <a:bodyPr/>
          <a:lstStyle>
            <a:lvl1pPr>
              <a:defRPr sz="900">
                <a:solidFill>
                  <a:srgbClr val="6C7B80"/>
                </a:solidFill>
                <a:latin typeface="Roboto"/>
                <a:ea typeface="Roboto"/>
                <a:cs typeface="Roboto"/>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02920" y="384048"/>
            <a:ext cx="2866644" cy="274320"/>
          </a:xfrm>
          <a:prstGeom prst="rect">
            <a:avLst/>
          </a:prstGeom>
          <a:noFill/>
          <a:ln/>
        </p:spPr>
        <p:txBody>
          <a:bodyPr wrap="square" lIns="0" tIns="0" rIns="0" bIns="0" rtlCol="0" anchor="ctr"/>
          <a:lstStyle/>
          <a:p>
            <a:pPr marL="0" indent="0">
              <a:buNone/>
            </a:pPr>
            <a:r>
              <a:rPr lang="en-US" sz="1200" kern="0" spc="220" dirty="0">
                <a:solidFill>
                  <a:srgbClr val="B9C94F"/>
                </a:solidFill>
                <a:latin typeface="Roboto Medium" pitchFamily="34" charset="0"/>
                <a:ea typeface="Roboto Medium" pitchFamily="34" charset="-122"/>
                <a:cs typeface="Roboto Medium" pitchFamily="34" charset="-120"/>
              </a:rPr>
              <a:t>10   THE CAUSAL CLAIM</a:t>
            </a:r>
            <a:endParaRPr lang="en-US" sz="1200" dirty="0"/>
          </a:p>
        </p:txBody>
      </p:sp>
      <p:sp>
        <p:nvSpPr>
          <p:cNvPr id="3" name="Shape 1"/>
          <p:cNvSpPr/>
          <p:nvPr/>
        </p:nvSpPr>
        <p:spPr>
          <a:xfrm>
            <a:off x="3479292" y="521208"/>
            <a:ext cx="5832043" cy="0"/>
          </a:xfrm>
          <a:prstGeom prst="line">
            <a:avLst/>
          </a:prstGeom>
          <a:noFill/>
          <a:ln w="9525">
            <a:solidFill>
              <a:srgbClr val="B9C94F">
                <a:alpha val="70000"/>
              </a:srgbClr>
            </a:solidFill>
            <a:prstDash val="solid"/>
          </a:ln>
        </p:spPr>
        <p:txBody>
          <a:bodyPr/>
          <a:lstStyle/>
          <a:p>
            <a:endParaRPr lang="en-US"/>
          </a:p>
        </p:txBody>
      </p:sp>
      <p:sp>
        <p:nvSpPr>
          <p:cNvPr id="4" name="claim-C"/>
          <p:cNvSpPr/>
          <p:nvPr/>
        </p:nvSpPr>
        <p:spPr>
          <a:xfrm>
            <a:off x="9539935" y="347472"/>
            <a:ext cx="2148840" cy="310896"/>
          </a:xfrm>
          <a:prstGeom prst="roundRect">
            <a:avLst>
              <a:gd name="adj" fmla="val 50000"/>
            </a:avLst>
          </a:prstGeom>
          <a:solidFill>
            <a:srgbClr val="A42C58"/>
          </a:solidFill>
          <a:ln w="12700">
            <a:solidFill>
              <a:srgbClr val="A42C58"/>
            </a:solidFill>
          </a:ln>
        </p:spPr>
        <p:txBody>
          <a:bodyPr wrap="square" lIns="0" tIns="0" rIns="0" bIns="0" rtlCol="0" anchor="ctr"/>
          <a:lstStyle/>
          <a:p>
            <a:pPr marL="0" indent="0" algn="ctr">
              <a:buNone/>
            </a:pPr>
            <a:r>
              <a:rPr lang="en-US" sz="1050" kern="0" spc="150" dirty="0">
                <a:solidFill>
                  <a:srgbClr val="FFFFFF"/>
                </a:solidFill>
                <a:latin typeface="Roboto Medium" pitchFamily="34" charset="0"/>
                <a:ea typeface="Roboto Medium" pitchFamily="34" charset="-122"/>
                <a:cs typeface="Roboto Medium" pitchFamily="34" charset="-120"/>
              </a:rPr>
              <a:t>CAUSAL · CONDITIONAL</a:t>
            </a:r>
            <a:endParaRPr lang="en-US" sz="1050" dirty="0"/>
          </a:p>
        </p:txBody>
      </p:sp>
      <p:sp>
        <p:nvSpPr>
          <p:cNvPr id="5" name="title"/>
          <p:cNvSpPr txBox="1"/>
          <p:nvPr/>
        </p:nvSpPr>
        <p:spPr>
          <a:xfrm>
            <a:off x="502920" y="731520"/>
            <a:ext cx="11185855" cy="475488"/>
          </a:xfrm>
          <a:prstGeom prst="rect">
            <a:avLst/>
          </a:prstGeom>
          <a:noFill/>
          <a:ln/>
        </p:spPr>
        <p:txBody>
          <a:bodyPr wrap="square" lIns="0" tIns="0" rIns="0" bIns="0" rtlCol="0" anchor="t"/>
          <a:lstStyle/>
          <a:p>
            <a:pPr marL="0" indent="0">
              <a:buNone/>
            </a:pPr>
            <a:r>
              <a:rPr lang="en-US" sz="2800" dirty="0">
                <a:solidFill>
                  <a:srgbClr val="F3F5F2"/>
                </a:solidFill>
                <a:latin typeface="Roboto Light" pitchFamily="34" charset="0"/>
                <a:ea typeface="Roboto Light" pitchFamily="34" charset="-122"/>
                <a:cs typeface="Roboto Light" pitchFamily="34" charset="-120"/>
              </a:rPr>
              <a:t>What we can say about cause</a:t>
            </a:r>
            <a:endParaRPr lang="en-US" sz="2800" dirty="0"/>
          </a:p>
        </p:txBody>
      </p:sp>
      <p:sp>
        <p:nvSpPr>
          <p:cNvPr id="6" name="Text 4"/>
          <p:cNvSpPr txBox="1"/>
          <p:nvPr/>
        </p:nvSpPr>
        <p:spPr>
          <a:xfrm>
            <a:off x="502920" y="1691640"/>
            <a:ext cx="10789920" cy="1828800"/>
          </a:xfrm>
          <a:prstGeom prst="rect">
            <a:avLst/>
          </a:prstGeom>
          <a:noFill/>
          <a:ln/>
        </p:spPr>
        <p:txBody>
          <a:bodyPr wrap="square" lIns="0" tIns="0" rIns="0" bIns="0" rtlCol="0" anchor="t"/>
          <a:lstStyle/>
          <a:p>
            <a:pPr marL="0" indent="0">
              <a:buNone/>
            </a:pPr>
            <a:r>
              <a:rPr lang="en-US" sz="3000" i="1" dirty="0">
                <a:solidFill>
                  <a:srgbClr val="C3D0CF"/>
                </a:solidFill>
                <a:latin typeface="Roboto Light" pitchFamily="34" charset="0"/>
                <a:ea typeface="Roboto Light" pitchFamily="34" charset="-122"/>
                <a:cs typeface="Roboto Light" pitchFamily="34" charset="-120"/>
              </a:rPr>
              <a:t>If the other zones show what Tambopata would have done, </a:t>
            </a:r>
            <a:r>
              <a:rPr lang="en-US" sz="3000" dirty="0">
                <a:solidFill>
                  <a:srgbClr val="F3F5F2"/>
                </a:solidFill>
                <a:latin typeface="Roboto Light" pitchFamily="34" charset="0"/>
                <a:ea typeface="Roboto Light" pitchFamily="34" charset="-122"/>
                <a:cs typeface="Roboto Light" pitchFamily="34" charset="-120"/>
              </a:rPr>
              <a:t>Mercurio and the operations after it cut net new mining by </a:t>
            </a:r>
            <a:r>
              <a:rPr lang="en-US" sz="3000" dirty="0">
                <a:solidFill>
                  <a:srgbClr val="B9C94F"/>
                </a:solidFill>
                <a:latin typeface="Roboto Light" pitchFamily="34" charset="0"/>
                <a:ea typeface="Roboto Light" pitchFamily="34" charset="-122"/>
                <a:cs typeface="Roboto Light" pitchFamily="34" charset="-120"/>
              </a:rPr>
              <a:t>411 to 1,859 ha a year</a:t>
            </a:r>
            <a:r>
              <a:rPr lang="en-US" sz="3000" dirty="0">
                <a:solidFill>
                  <a:srgbClr val="F3F5F2"/>
                </a:solidFill>
                <a:latin typeface="Roboto Light" pitchFamily="34" charset="0"/>
                <a:ea typeface="Roboto Light" pitchFamily="34" charset="-122"/>
                <a:cs typeface="Roboto Light" pitchFamily="34" charset="-120"/>
              </a:rPr>
              <a:t> in 2019–21.</a:t>
            </a:r>
            <a:endParaRPr lang="en-US" sz="3000" dirty="0"/>
          </a:p>
        </p:txBody>
      </p:sp>
      <p:sp>
        <p:nvSpPr>
          <p:cNvPr id="7" name="Shape 5"/>
          <p:cNvSpPr/>
          <p:nvPr/>
        </p:nvSpPr>
        <p:spPr>
          <a:xfrm>
            <a:off x="502920" y="3794760"/>
            <a:ext cx="11185855" cy="0"/>
          </a:xfrm>
          <a:prstGeom prst="line">
            <a:avLst/>
          </a:prstGeom>
          <a:noFill/>
          <a:ln w="9525">
            <a:solidFill>
              <a:srgbClr val="FFFFFF">
                <a:alpha val="18000"/>
              </a:srgbClr>
            </a:solidFill>
            <a:prstDash val="solid"/>
          </a:ln>
        </p:spPr>
        <p:txBody>
          <a:bodyPr/>
          <a:lstStyle/>
          <a:p>
            <a:endParaRPr lang="en-US"/>
          </a:p>
        </p:txBody>
      </p:sp>
      <p:sp>
        <p:nvSpPr>
          <p:cNvPr id="8" name="Text 6"/>
          <p:cNvSpPr txBox="1"/>
          <p:nvPr/>
        </p:nvSpPr>
        <p:spPr>
          <a:xfrm>
            <a:off x="502920" y="4023360"/>
            <a:ext cx="3474720" cy="640080"/>
          </a:xfrm>
          <a:prstGeom prst="rect">
            <a:avLst/>
          </a:prstGeom>
          <a:noFill/>
          <a:ln/>
        </p:spPr>
        <p:txBody>
          <a:bodyPr wrap="square" lIns="0" tIns="0" rIns="0" bIns="0" rtlCol="0" anchor="ctr"/>
          <a:lstStyle/>
          <a:p>
            <a:pPr marL="0" indent="0">
              <a:buNone/>
            </a:pPr>
            <a:r>
              <a:rPr lang="en-US" sz="3000" dirty="0">
                <a:solidFill>
                  <a:srgbClr val="B9C94F"/>
                </a:solidFill>
                <a:latin typeface="Roboto Light" pitchFamily="34" charset="0"/>
                <a:ea typeface="Roboto Light" pitchFamily="34" charset="-122"/>
                <a:cs typeface="Roboto Light" pitchFamily="34" charset="-120"/>
              </a:rPr>
              <a:t>Hectares only</a:t>
            </a:r>
            <a:endParaRPr lang="en-US" sz="3000" dirty="0"/>
          </a:p>
        </p:txBody>
      </p:sp>
      <p:sp>
        <p:nvSpPr>
          <p:cNvPr id="9" name="Text 7"/>
          <p:cNvSpPr txBox="1"/>
          <p:nvPr/>
        </p:nvSpPr>
        <p:spPr>
          <a:xfrm>
            <a:off x="502920" y="4709160"/>
            <a:ext cx="3383280" cy="914400"/>
          </a:xfrm>
          <a:prstGeom prst="rect">
            <a:avLst/>
          </a:prstGeom>
          <a:noFill/>
          <a:ln/>
        </p:spPr>
        <p:txBody>
          <a:bodyPr wrap="square" lIns="0" tIns="0" rIns="0" bIns="0" rtlCol="0" anchor="t"/>
          <a:lstStyle/>
          <a:p>
            <a:pPr marL="0" indent="0">
              <a:buNone/>
            </a:pPr>
            <a:r>
              <a:rPr lang="en-US" sz="1500" dirty="0">
                <a:solidFill>
                  <a:srgbClr val="C3D0CF"/>
                </a:solidFill>
                <a:latin typeface="Roboto" pitchFamily="34" charset="0"/>
                <a:ea typeface="Roboto" pitchFamily="34" charset="-122"/>
                <a:cs typeface="Roboto" pitchFamily="34" charset="-120"/>
              </a:rPr>
              <a:t>Largest fall of 15 zones; for its size, 3rd of 7.</a:t>
            </a:r>
            <a:endParaRPr lang="en-US" sz="1500" dirty="0"/>
          </a:p>
        </p:txBody>
      </p:sp>
      <p:sp>
        <p:nvSpPr>
          <p:cNvPr id="10" name="Shape 8"/>
          <p:cNvSpPr/>
          <p:nvPr/>
        </p:nvSpPr>
        <p:spPr>
          <a:xfrm>
            <a:off x="4096512" y="4023360"/>
            <a:ext cx="0" cy="1737360"/>
          </a:xfrm>
          <a:prstGeom prst="line">
            <a:avLst/>
          </a:prstGeom>
          <a:noFill/>
          <a:ln w="9525">
            <a:solidFill>
              <a:srgbClr val="FFFFFF">
                <a:alpha val="18000"/>
              </a:srgbClr>
            </a:solidFill>
            <a:prstDash val="solid"/>
          </a:ln>
        </p:spPr>
        <p:txBody>
          <a:bodyPr/>
          <a:lstStyle/>
          <a:p>
            <a:endParaRPr lang="en-US"/>
          </a:p>
        </p:txBody>
      </p:sp>
      <p:sp>
        <p:nvSpPr>
          <p:cNvPr id="11" name="Text 9"/>
          <p:cNvSpPr txBox="1"/>
          <p:nvPr/>
        </p:nvSpPr>
        <p:spPr>
          <a:xfrm>
            <a:off x="4279392" y="4023360"/>
            <a:ext cx="3474720" cy="640080"/>
          </a:xfrm>
          <a:prstGeom prst="rect">
            <a:avLst/>
          </a:prstGeom>
          <a:noFill/>
          <a:ln/>
        </p:spPr>
        <p:txBody>
          <a:bodyPr wrap="square" lIns="0" tIns="0" rIns="0" bIns="0" rtlCol="0" anchor="ctr"/>
          <a:lstStyle/>
          <a:p>
            <a:pPr marL="0" indent="0">
              <a:buNone/>
            </a:pPr>
            <a:r>
              <a:rPr lang="en-US" sz="3000" dirty="0">
                <a:solidFill>
                  <a:srgbClr val="B9C94F"/>
                </a:solidFill>
                <a:latin typeface="Roboto Light" pitchFamily="34" charset="0"/>
                <a:ea typeface="Roboto Light" pitchFamily="34" charset="-122"/>
                <a:cs typeface="Roboto Light" pitchFamily="34" charset="-120"/>
              </a:rPr>
              <a:t>p = 0.07</a:t>
            </a:r>
            <a:endParaRPr lang="en-US" sz="3000" dirty="0"/>
          </a:p>
        </p:txBody>
      </p:sp>
      <p:sp>
        <p:nvSpPr>
          <p:cNvPr id="12" name="Text 10"/>
          <p:cNvSpPr txBox="1"/>
          <p:nvPr/>
        </p:nvSpPr>
        <p:spPr>
          <a:xfrm>
            <a:off x="4279392" y="4709160"/>
            <a:ext cx="3383280" cy="914400"/>
          </a:xfrm>
          <a:prstGeom prst="rect">
            <a:avLst/>
          </a:prstGeom>
          <a:noFill/>
          <a:ln/>
        </p:spPr>
        <p:txBody>
          <a:bodyPr wrap="square" lIns="0" tIns="0" rIns="0" bIns="0" rtlCol="0" anchor="t"/>
          <a:lstStyle/>
          <a:p>
            <a:pPr marL="0" indent="0">
              <a:buNone/>
            </a:pPr>
            <a:r>
              <a:rPr lang="en-US" sz="1500" dirty="0">
                <a:solidFill>
                  <a:srgbClr val="C3D0CF"/>
                </a:solidFill>
                <a:latin typeface="Roboto" pitchFamily="34" charset="0"/>
                <a:ea typeface="Roboto" pitchFamily="34" charset="-122"/>
                <a:cs typeface="Roboto" pitchFamily="34" charset="-120"/>
              </a:rPr>
              <a:t>The best possible with one target among 15.</a:t>
            </a:r>
            <a:endParaRPr lang="en-US" sz="1500" dirty="0"/>
          </a:p>
        </p:txBody>
      </p:sp>
      <p:sp>
        <p:nvSpPr>
          <p:cNvPr id="13" name="Shape 11"/>
          <p:cNvSpPr/>
          <p:nvPr/>
        </p:nvSpPr>
        <p:spPr>
          <a:xfrm>
            <a:off x="7872984" y="4023360"/>
            <a:ext cx="0" cy="1737360"/>
          </a:xfrm>
          <a:prstGeom prst="line">
            <a:avLst/>
          </a:prstGeom>
          <a:noFill/>
          <a:ln w="9525">
            <a:solidFill>
              <a:srgbClr val="FFFFFF">
                <a:alpha val="18000"/>
              </a:srgbClr>
            </a:solidFill>
            <a:prstDash val="solid"/>
          </a:ln>
        </p:spPr>
        <p:txBody>
          <a:bodyPr/>
          <a:lstStyle/>
          <a:p>
            <a:endParaRPr lang="en-US"/>
          </a:p>
        </p:txBody>
      </p:sp>
      <p:sp>
        <p:nvSpPr>
          <p:cNvPr id="14" name="Text 12"/>
          <p:cNvSpPr txBox="1"/>
          <p:nvPr/>
        </p:nvSpPr>
        <p:spPr>
          <a:xfrm>
            <a:off x="8055864" y="4023360"/>
            <a:ext cx="3474720" cy="640080"/>
          </a:xfrm>
          <a:prstGeom prst="rect">
            <a:avLst/>
          </a:prstGeom>
          <a:noFill/>
          <a:ln/>
        </p:spPr>
        <p:txBody>
          <a:bodyPr wrap="square" lIns="0" tIns="0" rIns="0" bIns="0" rtlCol="0" anchor="ctr"/>
          <a:lstStyle/>
          <a:p>
            <a:pPr marL="0" indent="0">
              <a:buNone/>
            </a:pPr>
            <a:r>
              <a:rPr lang="en-US" sz="3000" dirty="0">
                <a:solidFill>
                  <a:srgbClr val="B9C94F"/>
                </a:solidFill>
                <a:latin typeface="Roboto Light" pitchFamily="34" charset="0"/>
                <a:ea typeface="Roboto Light" pitchFamily="34" charset="-122"/>
                <a:cs typeface="Roboto Light" pitchFamily="34" charset="-120"/>
              </a:rPr>
              <a:t>COVID overlaps</a:t>
            </a:r>
            <a:endParaRPr lang="en-US" sz="3000" dirty="0"/>
          </a:p>
        </p:txBody>
      </p:sp>
      <p:sp>
        <p:nvSpPr>
          <p:cNvPr id="15" name="Text 13"/>
          <p:cNvSpPr txBox="1"/>
          <p:nvPr/>
        </p:nvSpPr>
        <p:spPr>
          <a:xfrm>
            <a:off x="8055864" y="4709160"/>
            <a:ext cx="3383280" cy="914400"/>
          </a:xfrm>
          <a:prstGeom prst="rect">
            <a:avLst/>
          </a:prstGeom>
          <a:noFill/>
          <a:ln/>
        </p:spPr>
        <p:txBody>
          <a:bodyPr wrap="square" lIns="0" tIns="0" rIns="0" bIns="0" rtlCol="0" anchor="t"/>
          <a:lstStyle/>
          <a:p>
            <a:pPr marL="0" indent="0">
              <a:buNone/>
            </a:pPr>
            <a:r>
              <a:rPr lang="en-US" sz="1500" dirty="0">
                <a:solidFill>
                  <a:srgbClr val="C3D0CF"/>
                </a:solidFill>
                <a:latin typeface="Roboto" pitchFamily="34" charset="0"/>
                <a:ea typeface="Roboto" pitchFamily="34" charset="-122"/>
                <a:cs typeface="Roboto" pitchFamily="34" charset="-120"/>
              </a:rPr>
              <a:t>Nothing fell in 2019. The fall came in 2020–21.</a:t>
            </a:r>
            <a:endParaRPr lang="en-US" sz="1500" dirty="0"/>
          </a:p>
        </p:txBody>
      </p:sp>
      <p:sp>
        <p:nvSpPr>
          <p:cNvPr id="25" name="Slide Number Placeholder 0"/>
          <p:cNvSpPr>
            <a:spLocks noGrp="1"/>
          </p:cNvSpPr>
          <p:nvPr>
            <p:ph type="sldNum" sz="quarter" idx="4294967295"/>
          </p:nvPr>
        </p:nvSpPr>
        <p:spPr>
          <a:xfrm>
            <a:off x="11140135" y="6510528"/>
            <a:ext cx="548640" cy="219456"/>
          </a:xfrm>
          <a:prstGeom prst="rect">
            <a:avLst/>
          </a:prstGeom>
          <a:extLst>
            <a:ext uri="{C572A759-6A51-4108-AA02-DFA0A04FC94B}">
              <ma14:wrappingTextBoxFlag xmlns="" xmlns:ma14="http://schemas.microsoft.com/office/mac/drawingml/2011/main" val="0"/>
            </a:ext>
          </a:extLst>
        </p:spPr>
        <p:txBody>
          <a:bodyPr/>
          <a:lstStyle>
            <a:lvl1pPr>
              <a:defRPr sz="900">
                <a:solidFill>
                  <a:srgbClr val="C3D0CF"/>
                </a:solidFill>
                <a:latin typeface="Roboto"/>
                <a:ea typeface="Roboto"/>
                <a:cs typeface="Roboto"/>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02920" y="384048"/>
            <a:ext cx="2372868" cy="274320"/>
          </a:xfrm>
          <a:prstGeom prst="rect">
            <a:avLst/>
          </a:prstGeom>
          <a:noFill/>
          <a:ln/>
        </p:spPr>
        <p:txBody>
          <a:bodyPr wrap="square" lIns="0" tIns="0" rIns="0" bIns="0" rtlCol="0" anchor="ctr"/>
          <a:lstStyle/>
          <a:p>
            <a:pPr marL="0" indent="0">
              <a:buNone/>
            </a:pPr>
            <a:r>
              <a:rPr lang="en-US" sz="1200" kern="0" spc="220" dirty="0">
                <a:solidFill>
                  <a:srgbClr val="A42C58"/>
                </a:solidFill>
                <a:latin typeface="Roboto Medium" pitchFamily="34" charset="0"/>
                <a:ea typeface="Roboto Medium" pitchFamily="34" charset="-122"/>
                <a:cs typeface="Roboto Medium" pitchFamily="34" charset="-120"/>
              </a:rPr>
              <a:t>10   </a:t>
            </a:r>
            <a:r>
              <a:rPr lang="en-US" sz="1200" kern="0" spc="220" dirty="0">
                <a:solidFill>
                  <a:srgbClr val="3C7D2C"/>
                </a:solidFill>
                <a:latin typeface="Roboto Medium" pitchFamily="34" charset="0"/>
                <a:ea typeface="Roboto Medium" pitchFamily="34" charset="-122"/>
                <a:cs typeface="Roboto Medium" pitchFamily="34" charset="-120"/>
              </a:rPr>
              <a:t>THE EVIDENCE</a:t>
            </a:r>
            <a:endParaRPr lang="en-US" sz="1200" dirty="0"/>
          </a:p>
        </p:txBody>
      </p:sp>
      <p:sp>
        <p:nvSpPr>
          <p:cNvPr id="3" name="Shape 1"/>
          <p:cNvSpPr/>
          <p:nvPr/>
        </p:nvSpPr>
        <p:spPr>
          <a:xfrm>
            <a:off x="2985516" y="521208"/>
            <a:ext cx="6325819" cy="0"/>
          </a:xfrm>
          <a:prstGeom prst="line">
            <a:avLst/>
          </a:prstGeom>
          <a:noFill/>
          <a:ln w="9525">
            <a:solidFill>
              <a:srgbClr val="3C7D2C">
                <a:alpha val="55000"/>
              </a:srgbClr>
            </a:solidFill>
            <a:prstDash val="solid"/>
          </a:ln>
        </p:spPr>
        <p:txBody>
          <a:bodyPr/>
          <a:lstStyle/>
          <a:p>
            <a:endParaRPr lang="en-US"/>
          </a:p>
        </p:txBody>
      </p:sp>
      <p:sp>
        <p:nvSpPr>
          <p:cNvPr id="4" name="claim-C"/>
          <p:cNvSpPr/>
          <p:nvPr/>
        </p:nvSpPr>
        <p:spPr>
          <a:xfrm>
            <a:off x="9539935" y="347472"/>
            <a:ext cx="2148840" cy="310896"/>
          </a:xfrm>
          <a:prstGeom prst="roundRect">
            <a:avLst>
              <a:gd name="adj" fmla="val 50000"/>
            </a:avLst>
          </a:prstGeom>
          <a:solidFill>
            <a:srgbClr val="F3E3E9"/>
          </a:solidFill>
          <a:ln w="12700">
            <a:solidFill>
              <a:srgbClr val="A42C58"/>
            </a:solidFill>
          </a:ln>
        </p:spPr>
        <p:txBody>
          <a:bodyPr wrap="square" lIns="0" tIns="0" rIns="0" bIns="0" rtlCol="0" anchor="ctr"/>
          <a:lstStyle/>
          <a:p>
            <a:pPr marL="0" indent="0" algn="ctr">
              <a:buNone/>
            </a:pPr>
            <a:r>
              <a:rPr lang="en-US" sz="1050" kern="0" spc="150" dirty="0">
                <a:solidFill>
                  <a:srgbClr val="A42C58"/>
                </a:solidFill>
                <a:latin typeface="Roboto Medium" pitchFamily="34" charset="0"/>
                <a:ea typeface="Roboto Medium" pitchFamily="34" charset="-122"/>
                <a:cs typeface="Roboto Medium" pitchFamily="34" charset="-120"/>
              </a:rPr>
              <a:t>CAUSAL · CONDITIONAL</a:t>
            </a:r>
            <a:endParaRPr lang="en-US" sz="1050" dirty="0"/>
          </a:p>
        </p:txBody>
      </p:sp>
      <p:sp>
        <p:nvSpPr>
          <p:cNvPr id="5" name="title"/>
          <p:cNvSpPr txBox="1"/>
          <p:nvPr/>
        </p:nvSpPr>
        <p:spPr>
          <a:xfrm>
            <a:off x="502920" y="731520"/>
            <a:ext cx="11185855" cy="475488"/>
          </a:xfrm>
          <a:prstGeom prst="rect">
            <a:avLst/>
          </a:prstGeom>
          <a:noFill/>
          <a:ln/>
        </p:spPr>
        <p:txBody>
          <a:bodyPr wrap="square" lIns="0" tIns="0" rIns="0" bIns="0" rtlCol="0" anchor="t"/>
          <a:lstStyle/>
          <a:p>
            <a:pPr marL="0" indent="0">
              <a:buNone/>
            </a:pPr>
            <a:r>
              <a:rPr lang="en-US" sz="2800" dirty="0">
                <a:solidFill>
                  <a:srgbClr val="22383F"/>
                </a:solidFill>
                <a:latin typeface="Roboto Light" pitchFamily="34" charset="0"/>
                <a:ea typeface="Roboto Light" pitchFamily="34" charset="-122"/>
                <a:cs typeface="Roboto Light" pitchFamily="34" charset="-120"/>
              </a:rPr>
              <a:t>In hectares the fall stands out. For its size, it doesn't</a:t>
            </a:r>
            <a:endParaRPr lang="en-US" sz="2800" dirty="0"/>
          </a:p>
        </p:txBody>
      </p:sp>
      <p:sp>
        <p:nvSpPr>
          <p:cNvPr id="6" name="subtitle"/>
          <p:cNvSpPr txBox="1"/>
          <p:nvPr/>
        </p:nvSpPr>
        <p:spPr>
          <a:xfrm>
            <a:off x="502920" y="1261872"/>
            <a:ext cx="11185855" cy="274320"/>
          </a:xfrm>
          <a:prstGeom prst="rect">
            <a:avLst/>
          </a:prstGeom>
          <a:noFill/>
          <a:ln/>
        </p:spPr>
        <p:txBody>
          <a:bodyPr wrap="square" lIns="0" tIns="0" rIns="0" bIns="0" rtlCol="0" anchor="ctr"/>
          <a:lstStyle/>
          <a:p>
            <a:pPr marL="0" indent="0">
              <a:buNone/>
            </a:pPr>
            <a:r>
              <a:rPr lang="en-US" sz="1400" dirty="0">
                <a:solidFill>
                  <a:srgbClr val="4A5B60"/>
                </a:solidFill>
                <a:latin typeface="Roboto" pitchFamily="34" charset="0"/>
                <a:ea typeface="Roboto" pitchFamily="34" charset="-122"/>
                <a:cs typeface="Roboto" pitchFamily="34" charset="-120"/>
              </a:rPr>
              <a:t>Orange = Tambopata's real 2019–21 change · grey = other zones given a fake operation</a:t>
            </a:r>
            <a:endParaRPr lang="en-US" sz="1400" dirty="0"/>
          </a:p>
        </p:txBody>
      </p:sp>
      <p:sp>
        <p:nvSpPr>
          <p:cNvPr id="7" name="plate"/>
          <p:cNvSpPr/>
          <p:nvPr/>
        </p:nvSpPr>
        <p:spPr>
          <a:xfrm>
            <a:off x="502920" y="1691640"/>
            <a:ext cx="11185855" cy="4663440"/>
          </a:xfrm>
          <a:prstGeom prst="rect">
            <a:avLst/>
          </a:prstGeom>
          <a:solidFill>
            <a:srgbClr val="FBFAF7"/>
          </a:solidFill>
          <a:ln w="9525">
            <a:solidFill>
              <a:srgbClr val="D9D2C7"/>
            </a:solidFill>
            <a:prstDash val="solid"/>
          </a:ln>
        </p:spPr>
        <p:txBody>
          <a:bodyPr/>
          <a:lstStyle/>
          <a:p>
            <a:endParaRPr lang="en-US"/>
          </a:p>
        </p:txBody>
      </p:sp>
      <p:pic>
        <p:nvPicPr>
          <p:cNvPr id="8" name="Image 0" descr="slide_07_causal.png"/>
          <p:cNvPicPr>
            <a:picLocks noChangeAspect="1"/>
          </p:cNvPicPr>
          <p:nvPr/>
        </p:nvPicPr>
        <p:blipFill>
          <a:blip r:embed="rId3"/>
          <a:stretch>
            <a:fillRect/>
          </a:stretch>
        </p:blipFill>
        <p:spPr>
          <a:xfrm>
            <a:off x="557784" y="1893336"/>
            <a:ext cx="11076127" cy="4260049"/>
          </a:xfrm>
          <a:prstGeom prst="rect">
            <a:avLst/>
          </a:prstGeom>
        </p:spPr>
      </p:pic>
      <p:sp>
        <p:nvSpPr>
          <p:cNvPr id="25" name="Slide Number Placeholder 0"/>
          <p:cNvSpPr>
            <a:spLocks noGrp="1"/>
          </p:cNvSpPr>
          <p:nvPr>
            <p:ph type="sldNum" sz="quarter" idx="4294967295"/>
          </p:nvPr>
        </p:nvSpPr>
        <p:spPr>
          <a:xfrm>
            <a:off x="11140135" y="6510528"/>
            <a:ext cx="548640" cy="219456"/>
          </a:xfrm>
          <a:prstGeom prst="rect">
            <a:avLst/>
          </a:prstGeom>
          <a:extLst>
            <a:ext uri="{C572A759-6A51-4108-AA02-DFA0A04FC94B}">
              <ma14:wrappingTextBoxFlag xmlns="" xmlns:ma14="http://schemas.microsoft.com/office/mac/drawingml/2011/main" val="0"/>
            </a:ext>
          </a:extLst>
        </p:spPr>
        <p:txBody>
          <a:bodyPr/>
          <a:lstStyle>
            <a:lvl1pPr>
              <a:defRPr sz="900">
                <a:solidFill>
                  <a:srgbClr val="6C7B80"/>
                </a:solidFill>
                <a:latin typeface="Roboto"/>
                <a:ea typeface="Roboto"/>
                <a:cs typeface="Roboto"/>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02920" y="384048"/>
            <a:ext cx="1632204" cy="274320"/>
          </a:xfrm>
          <a:prstGeom prst="rect">
            <a:avLst/>
          </a:prstGeom>
          <a:noFill/>
          <a:ln/>
        </p:spPr>
        <p:txBody>
          <a:bodyPr wrap="square" lIns="0" tIns="0" rIns="0" bIns="0" rtlCol="0" anchor="ctr"/>
          <a:lstStyle/>
          <a:p>
            <a:pPr marL="0" indent="0">
              <a:buNone/>
            </a:pPr>
            <a:r>
              <a:rPr lang="en-US" sz="1200" kern="0" spc="220" dirty="0">
                <a:solidFill>
                  <a:srgbClr val="A42C58"/>
                </a:solidFill>
                <a:latin typeface="Roboto Medium" pitchFamily="34" charset="0"/>
                <a:ea typeface="Roboto Medium" pitchFamily="34" charset="-122"/>
                <a:cs typeface="Roboto Medium" pitchFamily="34" charset="-120"/>
              </a:rPr>
              <a:t>11   </a:t>
            </a:r>
            <a:r>
              <a:rPr lang="en-US" sz="1200" kern="0" spc="220" dirty="0">
                <a:solidFill>
                  <a:srgbClr val="3C7D2C"/>
                </a:solidFill>
                <a:latin typeface="Roboto Medium" pitchFamily="34" charset="0"/>
                <a:ea typeface="Roboto Medium" pitchFamily="34" charset="-122"/>
                <a:cs typeface="Roboto Medium" pitchFamily="34" charset="-120"/>
              </a:rPr>
              <a:t>LIMITS</a:t>
            </a:r>
            <a:endParaRPr lang="en-US" sz="1200" dirty="0"/>
          </a:p>
        </p:txBody>
      </p:sp>
      <p:sp>
        <p:nvSpPr>
          <p:cNvPr id="3" name="Shape 1"/>
          <p:cNvSpPr/>
          <p:nvPr/>
        </p:nvSpPr>
        <p:spPr>
          <a:xfrm>
            <a:off x="2244852" y="521208"/>
            <a:ext cx="7066483" cy="0"/>
          </a:xfrm>
          <a:prstGeom prst="line">
            <a:avLst/>
          </a:prstGeom>
          <a:noFill/>
          <a:ln w="9525">
            <a:solidFill>
              <a:srgbClr val="3C7D2C">
                <a:alpha val="55000"/>
              </a:srgbClr>
            </a:solidFill>
            <a:prstDash val="solid"/>
          </a:ln>
        </p:spPr>
        <p:txBody>
          <a:bodyPr/>
          <a:lstStyle/>
          <a:p>
            <a:endParaRPr lang="en-US"/>
          </a:p>
        </p:txBody>
      </p:sp>
      <p:sp>
        <p:nvSpPr>
          <p:cNvPr id="4" name="claim-D"/>
          <p:cNvSpPr/>
          <p:nvPr/>
        </p:nvSpPr>
        <p:spPr>
          <a:xfrm>
            <a:off x="9539935" y="347472"/>
            <a:ext cx="2148840" cy="310896"/>
          </a:xfrm>
          <a:prstGeom prst="roundRect">
            <a:avLst>
              <a:gd name="adj" fmla="val 50000"/>
            </a:avLst>
          </a:prstGeom>
          <a:ln w="12700">
            <a:solidFill>
              <a:srgbClr val="2B6A8A"/>
            </a:solidFill>
          </a:ln>
        </p:spPr>
        <p:txBody>
          <a:bodyPr wrap="square" lIns="0" tIns="0" rIns="0" bIns="0" rtlCol="0" anchor="ctr"/>
          <a:lstStyle/>
          <a:p>
            <a:pPr marL="0" indent="0" algn="ctr">
              <a:buNone/>
            </a:pPr>
            <a:r>
              <a:rPr lang="en-US" sz="1050" kern="0" spc="150" dirty="0">
                <a:solidFill>
                  <a:srgbClr val="2B6A8A"/>
                </a:solidFill>
                <a:latin typeface="Roboto Medium" pitchFamily="34" charset="0"/>
                <a:ea typeface="Roboto Medium" pitchFamily="34" charset="-122"/>
                <a:cs typeface="Roboto Medium" pitchFamily="34" charset="-120"/>
              </a:rPr>
              <a:t>DESCRIPTION</a:t>
            </a:r>
            <a:endParaRPr lang="en-US" sz="1050" dirty="0"/>
          </a:p>
        </p:txBody>
      </p:sp>
      <p:sp>
        <p:nvSpPr>
          <p:cNvPr id="5" name="title"/>
          <p:cNvSpPr txBox="1"/>
          <p:nvPr/>
        </p:nvSpPr>
        <p:spPr>
          <a:xfrm>
            <a:off x="502920" y="731520"/>
            <a:ext cx="11185855" cy="475488"/>
          </a:xfrm>
          <a:prstGeom prst="rect">
            <a:avLst/>
          </a:prstGeom>
          <a:noFill/>
          <a:ln/>
        </p:spPr>
        <p:txBody>
          <a:bodyPr wrap="square" lIns="0" tIns="0" rIns="0" bIns="0" rtlCol="0" anchor="t"/>
          <a:lstStyle/>
          <a:p>
            <a:pPr marL="0" indent="0">
              <a:buNone/>
            </a:pPr>
            <a:r>
              <a:rPr lang="en-US" sz="2800" dirty="0">
                <a:solidFill>
                  <a:srgbClr val="22383F"/>
                </a:solidFill>
                <a:latin typeface="Roboto Light" pitchFamily="34" charset="0"/>
                <a:ea typeface="Roboto Light" pitchFamily="34" charset="-122"/>
                <a:cs typeface="Roboto Light" pitchFamily="34" charset="-120"/>
              </a:rPr>
              <a:t>Most biases make the fall look bigger</a:t>
            </a:r>
            <a:endParaRPr lang="en-US" sz="2800" dirty="0"/>
          </a:p>
        </p:txBody>
      </p:sp>
      <p:sp>
        <p:nvSpPr>
          <p:cNvPr id="6" name="Text 4"/>
          <p:cNvSpPr txBox="1"/>
          <p:nvPr/>
        </p:nvSpPr>
        <p:spPr>
          <a:xfrm>
            <a:off x="502920" y="1691640"/>
            <a:ext cx="5120640" cy="274320"/>
          </a:xfrm>
          <a:prstGeom prst="rect">
            <a:avLst/>
          </a:prstGeom>
          <a:noFill/>
          <a:ln/>
        </p:spPr>
        <p:txBody>
          <a:bodyPr wrap="square" lIns="0" tIns="0" rIns="0" bIns="0" rtlCol="0" anchor="ctr"/>
          <a:lstStyle/>
          <a:p>
            <a:pPr marL="0" indent="0">
              <a:buNone/>
            </a:pPr>
            <a:r>
              <a:rPr lang="en-US" sz="1100" kern="0" spc="200" dirty="0">
                <a:solidFill>
                  <a:srgbClr val="A42C58"/>
                </a:solidFill>
                <a:latin typeface="Roboto Medium" pitchFamily="34" charset="0"/>
                <a:ea typeface="Roboto Medium" pitchFamily="34" charset="-122"/>
                <a:cs typeface="Roboto Medium" pitchFamily="34" charset="-120"/>
              </a:rPr>
              <a:t>SATELLITES CAN'T SEE</a:t>
            </a:r>
            <a:endParaRPr lang="en-US" sz="1100" dirty="0"/>
          </a:p>
        </p:txBody>
      </p:sp>
      <p:sp>
        <p:nvSpPr>
          <p:cNvPr id="7" name="plate"/>
          <p:cNvSpPr/>
          <p:nvPr/>
        </p:nvSpPr>
        <p:spPr>
          <a:xfrm>
            <a:off x="502920" y="2057400"/>
            <a:ext cx="2487168" cy="2011680"/>
          </a:xfrm>
          <a:prstGeom prst="rect">
            <a:avLst/>
          </a:prstGeom>
          <a:solidFill>
            <a:srgbClr val="FBFAF7"/>
          </a:solidFill>
          <a:ln w="9525">
            <a:solidFill>
              <a:srgbClr val="D9D2C7"/>
            </a:solidFill>
            <a:prstDash val="solid"/>
          </a:ln>
        </p:spPr>
        <p:txBody>
          <a:bodyPr/>
          <a:lstStyle/>
          <a:p>
            <a:endParaRPr lang="en-US"/>
          </a:p>
        </p:txBody>
      </p:sp>
      <p:pic>
        <p:nvPicPr>
          <p:cNvPr id="8" name="Image 0" descr="preencoded.png"/>
          <p:cNvPicPr>
            <a:picLocks noChangeAspect="1"/>
          </p:cNvPicPr>
          <p:nvPr/>
        </p:nvPicPr>
        <p:blipFill>
          <a:blip r:embed="rId3"/>
          <a:stretch>
            <a:fillRect/>
          </a:stretch>
        </p:blipFill>
        <p:spPr>
          <a:xfrm>
            <a:off x="731520" y="2286000"/>
            <a:ext cx="502920" cy="502920"/>
          </a:xfrm>
          <a:prstGeom prst="rect">
            <a:avLst/>
          </a:prstGeom>
        </p:spPr>
      </p:pic>
      <p:sp>
        <p:nvSpPr>
          <p:cNvPr id="9" name="Text 6"/>
          <p:cNvSpPr txBox="1"/>
          <p:nvPr/>
        </p:nvSpPr>
        <p:spPr>
          <a:xfrm>
            <a:off x="731520" y="2971800"/>
            <a:ext cx="2075688" cy="365760"/>
          </a:xfrm>
          <a:prstGeom prst="rect">
            <a:avLst/>
          </a:prstGeom>
          <a:noFill/>
          <a:ln/>
        </p:spPr>
        <p:txBody>
          <a:bodyPr wrap="square" lIns="0" tIns="0" rIns="0" bIns="0" rtlCol="0" anchor="ctr"/>
          <a:lstStyle/>
          <a:p>
            <a:pPr marL="0" indent="0">
              <a:buNone/>
            </a:pPr>
            <a:r>
              <a:rPr lang="en-US" sz="1800" dirty="0">
                <a:solidFill>
                  <a:srgbClr val="22383F"/>
                </a:solidFill>
                <a:latin typeface="Roboto Medium" pitchFamily="34" charset="0"/>
                <a:ea typeface="Roboto Medium" pitchFamily="34" charset="-122"/>
                <a:cs typeface="Roboto Medium" pitchFamily="34" charset="-120"/>
              </a:rPr>
              <a:t>River dredges</a:t>
            </a:r>
            <a:endParaRPr lang="en-US" sz="1800" dirty="0"/>
          </a:p>
        </p:txBody>
      </p:sp>
      <p:sp>
        <p:nvSpPr>
          <p:cNvPr id="10" name="Text 7"/>
          <p:cNvSpPr txBox="1"/>
          <p:nvPr/>
        </p:nvSpPr>
        <p:spPr>
          <a:xfrm>
            <a:off x="731520" y="3355848"/>
            <a:ext cx="2075688" cy="594360"/>
          </a:xfrm>
          <a:prstGeom prst="rect">
            <a:avLst/>
          </a:prstGeom>
          <a:noFill/>
          <a:ln/>
        </p:spPr>
        <p:txBody>
          <a:bodyPr wrap="square" lIns="0" tIns="0" rIns="0" bIns="0" rtlCol="0" anchor="t"/>
          <a:lstStyle/>
          <a:p>
            <a:pPr marL="0" indent="0">
              <a:buNone/>
            </a:pPr>
            <a:r>
              <a:rPr lang="en-US" sz="1300" dirty="0">
                <a:solidFill>
                  <a:srgbClr val="4A5B60"/>
                </a:solidFill>
                <a:latin typeface="Roboto" pitchFamily="34" charset="0"/>
                <a:ea typeface="Roboto" pitchFamily="34" charset="-122"/>
                <a:cs typeface="Roboto" pitchFamily="34" charset="-120"/>
              </a:rPr>
              <a:t>148 → 598 in La Pampa, 2021–23 (MAAP #193)</a:t>
            </a:r>
            <a:endParaRPr lang="en-US" sz="1300" dirty="0"/>
          </a:p>
        </p:txBody>
      </p:sp>
      <p:sp>
        <p:nvSpPr>
          <p:cNvPr id="11" name="plate"/>
          <p:cNvSpPr/>
          <p:nvPr/>
        </p:nvSpPr>
        <p:spPr>
          <a:xfrm>
            <a:off x="3136392" y="2057400"/>
            <a:ext cx="2487168" cy="2011680"/>
          </a:xfrm>
          <a:prstGeom prst="rect">
            <a:avLst/>
          </a:prstGeom>
          <a:solidFill>
            <a:srgbClr val="FBFAF7"/>
          </a:solidFill>
          <a:ln w="9525">
            <a:solidFill>
              <a:srgbClr val="D9D2C7"/>
            </a:solidFill>
            <a:prstDash val="solid"/>
          </a:ln>
        </p:spPr>
        <p:txBody>
          <a:bodyPr/>
          <a:lstStyle/>
          <a:p>
            <a:endParaRPr lang="en-US"/>
          </a:p>
        </p:txBody>
      </p:sp>
      <p:pic>
        <p:nvPicPr>
          <p:cNvPr id="12" name="Image 1" descr="preencoded.png"/>
          <p:cNvPicPr>
            <a:picLocks noChangeAspect="1"/>
          </p:cNvPicPr>
          <p:nvPr/>
        </p:nvPicPr>
        <p:blipFill>
          <a:blip r:embed="rId4"/>
          <a:stretch>
            <a:fillRect/>
          </a:stretch>
        </p:blipFill>
        <p:spPr>
          <a:xfrm>
            <a:off x="3364992" y="2286000"/>
            <a:ext cx="502920" cy="502920"/>
          </a:xfrm>
          <a:prstGeom prst="rect">
            <a:avLst/>
          </a:prstGeom>
        </p:spPr>
      </p:pic>
      <p:sp>
        <p:nvSpPr>
          <p:cNvPr id="13" name="Text 9"/>
          <p:cNvSpPr txBox="1"/>
          <p:nvPr/>
        </p:nvSpPr>
        <p:spPr>
          <a:xfrm>
            <a:off x="3364992" y="2971800"/>
            <a:ext cx="2075688" cy="365760"/>
          </a:xfrm>
          <a:prstGeom prst="rect">
            <a:avLst/>
          </a:prstGeom>
          <a:noFill/>
          <a:ln/>
        </p:spPr>
        <p:txBody>
          <a:bodyPr wrap="square" lIns="0" tIns="0" rIns="0" bIns="0" rtlCol="0" anchor="ctr"/>
          <a:lstStyle/>
          <a:p>
            <a:pPr marL="0" indent="0">
              <a:buNone/>
            </a:pPr>
            <a:r>
              <a:rPr lang="en-US" sz="1800" dirty="0">
                <a:solidFill>
                  <a:srgbClr val="22383F"/>
                </a:solidFill>
                <a:latin typeface="Roboto Medium" pitchFamily="34" charset="0"/>
                <a:ea typeface="Roboto Medium" pitchFamily="34" charset="-122"/>
                <a:cs typeface="Roboto Medium" pitchFamily="34" charset="-120"/>
              </a:rPr>
              <a:t>Mercury</a:t>
            </a:r>
            <a:endParaRPr lang="en-US" sz="1800" dirty="0"/>
          </a:p>
        </p:txBody>
      </p:sp>
      <p:sp>
        <p:nvSpPr>
          <p:cNvPr id="14" name="Text 10"/>
          <p:cNvSpPr txBox="1"/>
          <p:nvPr/>
        </p:nvSpPr>
        <p:spPr>
          <a:xfrm>
            <a:off x="3364992" y="3355848"/>
            <a:ext cx="2075688" cy="594360"/>
          </a:xfrm>
          <a:prstGeom prst="rect">
            <a:avLst/>
          </a:prstGeom>
          <a:noFill/>
          <a:ln/>
        </p:spPr>
        <p:txBody>
          <a:bodyPr wrap="square" lIns="0" tIns="0" rIns="0" bIns="0" rtlCol="0" anchor="t"/>
          <a:lstStyle/>
          <a:p>
            <a:pPr marL="0" indent="0">
              <a:buNone/>
            </a:pPr>
            <a:r>
              <a:rPr lang="en-US" sz="1300" dirty="0">
                <a:solidFill>
                  <a:srgbClr val="4A5B60"/>
                </a:solidFill>
                <a:latin typeface="Roboto" pitchFamily="34" charset="0"/>
                <a:ea typeface="Roboto" pitchFamily="34" charset="-122"/>
                <a:cs typeface="Roboto" pitchFamily="34" charset="-120"/>
              </a:rPr>
              <a:t>in rivers and fish</a:t>
            </a:r>
            <a:endParaRPr lang="en-US" sz="1300" dirty="0"/>
          </a:p>
        </p:txBody>
      </p:sp>
      <p:sp>
        <p:nvSpPr>
          <p:cNvPr id="15" name="plate"/>
          <p:cNvSpPr/>
          <p:nvPr/>
        </p:nvSpPr>
        <p:spPr>
          <a:xfrm>
            <a:off x="502920" y="4215384"/>
            <a:ext cx="2487168" cy="2011680"/>
          </a:xfrm>
          <a:prstGeom prst="rect">
            <a:avLst/>
          </a:prstGeom>
          <a:solidFill>
            <a:srgbClr val="FBFAF7"/>
          </a:solidFill>
          <a:ln w="9525">
            <a:solidFill>
              <a:srgbClr val="D9D2C7"/>
            </a:solidFill>
            <a:prstDash val="solid"/>
          </a:ln>
        </p:spPr>
        <p:txBody>
          <a:bodyPr/>
          <a:lstStyle/>
          <a:p>
            <a:endParaRPr lang="en-US"/>
          </a:p>
        </p:txBody>
      </p:sp>
      <p:pic>
        <p:nvPicPr>
          <p:cNvPr id="16" name="Image 2" descr="preencoded.png"/>
          <p:cNvPicPr>
            <a:picLocks noChangeAspect="1"/>
          </p:cNvPicPr>
          <p:nvPr/>
        </p:nvPicPr>
        <p:blipFill>
          <a:blip r:embed="rId5"/>
          <a:stretch>
            <a:fillRect/>
          </a:stretch>
        </p:blipFill>
        <p:spPr>
          <a:xfrm>
            <a:off x="731520" y="4443984"/>
            <a:ext cx="502920" cy="502920"/>
          </a:xfrm>
          <a:prstGeom prst="rect">
            <a:avLst/>
          </a:prstGeom>
        </p:spPr>
      </p:pic>
      <p:sp>
        <p:nvSpPr>
          <p:cNvPr id="17" name="Text 12"/>
          <p:cNvSpPr txBox="1"/>
          <p:nvPr/>
        </p:nvSpPr>
        <p:spPr>
          <a:xfrm>
            <a:off x="731520" y="5129784"/>
            <a:ext cx="2075688" cy="365760"/>
          </a:xfrm>
          <a:prstGeom prst="rect">
            <a:avLst/>
          </a:prstGeom>
          <a:noFill/>
          <a:ln/>
        </p:spPr>
        <p:txBody>
          <a:bodyPr wrap="square" lIns="0" tIns="0" rIns="0" bIns="0" rtlCol="0" anchor="ctr"/>
          <a:lstStyle/>
          <a:p>
            <a:pPr marL="0" indent="0">
              <a:buNone/>
            </a:pPr>
            <a:r>
              <a:rPr lang="en-US" sz="1800" dirty="0">
                <a:solidFill>
                  <a:srgbClr val="22383F"/>
                </a:solidFill>
                <a:latin typeface="Roboto Medium" pitchFamily="34" charset="0"/>
                <a:ea typeface="Roboto Medium" pitchFamily="34" charset="-122"/>
                <a:cs typeface="Roboto Medium" pitchFamily="34" charset="-120"/>
              </a:rPr>
              <a:t>People</a:t>
            </a:r>
            <a:endParaRPr lang="en-US" sz="1800" dirty="0"/>
          </a:p>
        </p:txBody>
      </p:sp>
      <p:sp>
        <p:nvSpPr>
          <p:cNvPr id="18" name="Text 13"/>
          <p:cNvSpPr txBox="1"/>
          <p:nvPr/>
        </p:nvSpPr>
        <p:spPr>
          <a:xfrm>
            <a:off x="731520" y="5513832"/>
            <a:ext cx="2075688" cy="594360"/>
          </a:xfrm>
          <a:prstGeom prst="rect">
            <a:avLst/>
          </a:prstGeom>
          <a:noFill/>
          <a:ln/>
        </p:spPr>
        <p:txBody>
          <a:bodyPr wrap="square" lIns="0" tIns="0" rIns="0" bIns="0" rtlCol="0" anchor="t"/>
          <a:lstStyle/>
          <a:p>
            <a:pPr marL="0" indent="0">
              <a:buNone/>
            </a:pPr>
            <a:r>
              <a:rPr lang="en-US" sz="1300" dirty="0">
                <a:solidFill>
                  <a:srgbClr val="4A5B60"/>
                </a:solidFill>
                <a:latin typeface="Roboto" pitchFamily="34" charset="0"/>
                <a:ea typeface="Roboto" pitchFamily="34" charset="-122"/>
                <a:cs typeface="Roboto" pitchFamily="34" charset="-120"/>
              </a:rPr>
              <a:t>hectares, not miners</a:t>
            </a:r>
            <a:endParaRPr lang="en-US" sz="1300" dirty="0"/>
          </a:p>
        </p:txBody>
      </p:sp>
      <p:sp>
        <p:nvSpPr>
          <p:cNvPr id="19" name="plate"/>
          <p:cNvSpPr/>
          <p:nvPr/>
        </p:nvSpPr>
        <p:spPr>
          <a:xfrm>
            <a:off x="3136392" y="4215384"/>
            <a:ext cx="2487168" cy="2011680"/>
          </a:xfrm>
          <a:prstGeom prst="rect">
            <a:avLst/>
          </a:prstGeom>
          <a:solidFill>
            <a:srgbClr val="FBFAF7"/>
          </a:solidFill>
          <a:ln w="9525">
            <a:solidFill>
              <a:srgbClr val="D9D2C7"/>
            </a:solidFill>
            <a:prstDash val="solid"/>
          </a:ln>
        </p:spPr>
        <p:txBody>
          <a:bodyPr/>
          <a:lstStyle/>
          <a:p>
            <a:endParaRPr lang="en-US"/>
          </a:p>
        </p:txBody>
      </p:sp>
      <p:pic>
        <p:nvPicPr>
          <p:cNvPr id="20" name="Image 3" descr="preencoded.png"/>
          <p:cNvPicPr>
            <a:picLocks noChangeAspect="1"/>
          </p:cNvPicPr>
          <p:nvPr/>
        </p:nvPicPr>
        <p:blipFill>
          <a:blip r:embed="rId6"/>
          <a:stretch>
            <a:fillRect/>
          </a:stretch>
        </p:blipFill>
        <p:spPr>
          <a:xfrm>
            <a:off x="3364992" y="4443984"/>
            <a:ext cx="502920" cy="502920"/>
          </a:xfrm>
          <a:prstGeom prst="rect">
            <a:avLst/>
          </a:prstGeom>
        </p:spPr>
      </p:pic>
      <p:sp>
        <p:nvSpPr>
          <p:cNvPr id="21" name="Text 15"/>
          <p:cNvSpPr txBox="1"/>
          <p:nvPr/>
        </p:nvSpPr>
        <p:spPr>
          <a:xfrm>
            <a:off x="3364992" y="5129784"/>
            <a:ext cx="2075688" cy="365760"/>
          </a:xfrm>
          <a:prstGeom prst="rect">
            <a:avLst/>
          </a:prstGeom>
          <a:noFill/>
          <a:ln/>
        </p:spPr>
        <p:txBody>
          <a:bodyPr wrap="square" lIns="0" tIns="0" rIns="0" bIns="0" rtlCol="0" anchor="ctr"/>
          <a:lstStyle/>
          <a:p>
            <a:pPr marL="0" indent="0">
              <a:buNone/>
            </a:pPr>
            <a:r>
              <a:rPr lang="en-US" sz="1800" dirty="0">
                <a:solidFill>
                  <a:srgbClr val="22383F"/>
                </a:solidFill>
                <a:latin typeface="Roboto Medium" pitchFamily="34" charset="0"/>
                <a:ea typeface="Roboto Medium" pitchFamily="34" charset="-122"/>
                <a:cs typeface="Roboto Medium" pitchFamily="34" charset="-120"/>
              </a:rPr>
              <a:t>Legality</a:t>
            </a:r>
            <a:endParaRPr lang="en-US" sz="1800" dirty="0"/>
          </a:p>
        </p:txBody>
      </p:sp>
      <p:sp>
        <p:nvSpPr>
          <p:cNvPr id="22" name="Text 16"/>
          <p:cNvSpPr txBox="1"/>
          <p:nvPr/>
        </p:nvSpPr>
        <p:spPr>
          <a:xfrm>
            <a:off x="3364992" y="5513832"/>
            <a:ext cx="2075688" cy="594360"/>
          </a:xfrm>
          <a:prstGeom prst="rect">
            <a:avLst/>
          </a:prstGeom>
          <a:noFill/>
          <a:ln/>
        </p:spPr>
        <p:txBody>
          <a:bodyPr wrap="square" lIns="0" tIns="0" rIns="0" bIns="0" rtlCol="0" anchor="t"/>
          <a:lstStyle/>
          <a:p>
            <a:pPr marL="0" indent="0">
              <a:buNone/>
            </a:pPr>
            <a:r>
              <a:rPr lang="en-US" sz="1300" dirty="0">
                <a:solidFill>
                  <a:srgbClr val="4A5B60"/>
                </a:solidFill>
                <a:latin typeface="Roboto" pitchFamily="34" charset="0"/>
                <a:ea typeface="Roboto" pitchFamily="34" charset="-122"/>
                <a:cs typeface="Roboto" pitchFamily="34" charset="-120"/>
              </a:rPr>
              <a:t>legal and illegal look alike</a:t>
            </a:r>
            <a:endParaRPr lang="en-US" sz="1300" dirty="0"/>
          </a:p>
        </p:txBody>
      </p:sp>
      <p:sp>
        <p:nvSpPr>
          <p:cNvPr id="23" name="Text 17"/>
          <p:cNvSpPr txBox="1"/>
          <p:nvPr/>
        </p:nvSpPr>
        <p:spPr>
          <a:xfrm>
            <a:off x="6126480" y="1691640"/>
            <a:ext cx="5562295" cy="274320"/>
          </a:xfrm>
          <a:prstGeom prst="rect">
            <a:avLst/>
          </a:prstGeom>
          <a:noFill/>
          <a:ln/>
        </p:spPr>
        <p:txBody>
          <a:bodyPr wrap="square" lIns="0" tIns="0" rIns="0" bIns="0" rtlCol="0" anchor="ctr"/>
          <a:lstStyle/>
          <a:p>
            <a:pPr marL="0" indent="0">
              <a:buNone/>
            </a:pPr>
            <a:r>
              <a:rPr lang="en-US" sz="1100" kern="0" spc="200" dirty="0">
                <a:solidFill>
                  <a:srgbClr val="2B6A8A"/>
                </a:solidFill>
                <a:latin typeface="Roboto Medium" pitchFamily="34" charset="0"/>
                <a:ea typeface="Roboto Medium" pitchFamily="34" charset="-122"/>
                <a:cs typeface="Roboto Medium" pitchFamily="34" charset="-120"/>
              </a:rPr>
              <a:t>EACH BIAS MAKES THE 2019–21 FALL LOOK…</a:t>
            </a:r>
            <a:endParaRPr lang="en-US" sz="1100" dirty="0"/>
          </a:p>
        </p:txBody>
      </p:sp>
      <p:sp>
        <p:nvSpPr>
          <p:cNvPr id="24" name="Text 18"/>
          <p:cNvSpPr txBox="1"/>
          <p:nvPr/>
        </p:nvSpPr>
        <p:spPr>
          <a:xfrm>
            <a:off x="6126480" y="2075688"/>
            <a:ext cx="2671420" cy="274320"/>
          </a:xfrm>
          <a:prstGeom prst="rect">
            <a:avLst/>
          </a:prstGeom>
          <a:noFill/>
          <a:ln/>
        </p:spPr>
        <p:txBody>
          <a:bodyPr wrap="square" lIns="0" tIns="0" rIns="0" bIns="0" rtlCol="0" anchor="ctr"/>
          <a:lstStyle/>
          <a:p>
            <a:pPr marL="0" indent="0" algn="r">
              <a:buNone/>
            </a:pPr>
            <a:r>
              <a:rPr lang="en-US" sz="1400" dirty="0">
                <a:solidFill>
                  <a:srgbClr val="2B74A6"/>
                </a:solidFill>
                <a:latin typeface="Roboto Medium" pitchFamily="34" charset="0"/>
                <a:ea typeface="Roboto Medium" pitchFamily="34" charset="-122"/>
                <a:cs typeface="Roboto Medium" pitchFamily="34" charset="-120"/>
              </a:rPr>
              <a:t>smaller</a:t>
            </a:r>
            <a:endParaRPr lang="en-US" sz="1400" dirty="0"/>
          </a:p>
        </p:txBody>
      </p:sp>
      <p:sp>
        <p:nvSpPr>
          <p:cNvPr id="25" name="Text 19"/>
          <p:cNvSpPr txBox="1"/>
          <p:nvPr/>
        </p:nvSpPr>
        <p:spPr>
          <a:xfrm>
            <a:off x="9017356" y="2075688"/>
            <a:ext cx="2671420" cy="274320"/>
          </a:xfrm>
          <a:prstGeom prst="rect">
            <a:avLst/>
          </a:prstGeom>
          <a:noFill/>
          <a:ln/>
        </p:spPr>
        <p:txBody>
          <a:bodyPr wrap="square" lIns="0" tIns="0" rIns="0" bIns="0" rtlCol="0" anchor="ctr"/>
          <a:lstStyle/>
          <a:p>
            <a:pPr marL="0" indent="0">
              <a:buNone/>
            </a:pPr>
            <a:r>
              <a:rPr lang="en-US" sz="1400" dirty="0">
                <a:solidFill>
                  <a:srgbClr val="D0692F"/>
                </a:solidFill>
                <a:latin typeface="Roboto Medium" pitchFamily="34" charset="0"/>
                <a:ea typeface="Roboto Medium" pitchFamily="34" charset="-122"/>
                <a:cs typeface="Roboto Medium" pitchFamily="34" charset="-120"/>
              </a:rPr>
              <a:t>bigger</a:t>
            </a:r>
            <a:endParaRPr lang="en-US" sz="1400" dirty="0"/>
          </a:p>
        </p:txBody>
      </p:sp>
      <p:sp>
        <p:nvSpPr>
          <p:cNvPr id="26" name="Shape 20"/>
          <p:cNvSpPr/>
          <p:nvPr/>
        </p:nvSpPr>
        <p:spPr>
          <a:xfrm>
            <a:off x="8907628" y="2468880"/>
            <a:ext cx="0" cy="3291840"/>
          </a:xfrm>
          <a:prstGeom prst="line">
            <a:avLst/>
          </a:prstGeom>
          <a:noFill/>
          <a:ln w="15875">
            <a:solidFill>
              <a:srgbClr val="4A5B60"/>
            </a:solidFill>
            <a:prstDash val="solid"/>
          </a:ln>
        </p:spPr>
        <p:txBody>
          <a:bodyPr/>
          <a:lstStyle/>
          <a:p>
            <a:endParaRPr lang="en-US"/>
          </a:p>
        </p:txBody>
      </p:sp>
      <p:sp>
        <p:nvSpPr>
          <p:cNvPr id="27" name="Shape 21"/>
          <p:cNvSpPr/>
          <p:nvPr/>
        </p:nvSpPr>
        <p:spPr>
          <a:xfrm>
            <a:off x="8907628" y="2578608"/>
            <a:ext cx="2669902" cy="402336"/>
          </a:xfrm>
          <a:prstGeom prst="rect">
            <a:avLst/>
          </a:prstGeom>
          <a:solidFill>
            <a:srgbClr val="F6E1D3"/>
          </a:solidFill>
          <a:ln/>
        </p:spPr>
        <p:txBody>
          <a:bodyPr/>
          <a:lstStyle/>
          <a:p>
            <a:endParaRPr lang="en-US"/>
          </a:p>
        </p:txBody>
      </p:sp>
      <p:sp>
        <p:nvSpPr>
          <p:cNvPr id="28" name="Text 22"/>
          <p:cNvSpPr txBox="1"/>
          <p:nvPr/>
        </p:nvSpPr>
        <p:spPr>
          <a:xfrm>
            <a:off x="9017356" y="2578608"/>
            <a:ext cx="2468734" cy="402336"/>
          </a:xfrm>
          <a:prstGeom prst="rect">
            <a:avLst/>
          </a:prstGeom>
          <a:noFill/>
          <a:ln/>
        </p:spPr>
        <p:txBody>
          <a:bodyPr wrap="square" lIns="0" tIns="0" rIns="0" bIns="0" rtlCol="0" anchor="ctr"/>
          <a:lstStyle/>
          <a:p>
            <a:pPr marL="0" indent="0" algn="l">
              <a:buNone/>
            </a:pPr>
            <a:r>
              <a:rPr lang="en-US" sz="1300" dirty="0">
                <a:solidFill>
                  <a:srgbClr val="22383F"/>
                </a:solidFill>
                <a:latin typeface="Roboto" pitchFamily="34" charset="0"/>
                <a:ea typeface="Roboto" pitchFamily="34" charset="-122"/>
                <a:cs typeface="Roboto" pitchFamily="34" charset="-120"/>
              </a:rPr>
              <a:t>Picked at its peak</a:t>
            </a:r>
            <a:endParaRPr lang="en-US" sz="1300" dirty="0"/>
          </a:p>
        </p:txBody>
      </p:sp>
      <p:sp>
        <p:nvSpPr>
          <p:cNvPr id="29" name="Shape 23"/>
          <p:cNvSpPr/>
          <p:nvPr/>
        </p:nvSpPr>
        <p:spPr>
          <a:xfrm>
            <a:off x="8907628" y="3127248"/>
            <a:ext cx="2669902" cy="402336"/>
          </a:xfrm>
          <a:prstGeom prst="rect">
            <a:avLst/>
          </a:prstGeom>
          <a:solidFill>
            <a:srgbClr val="F6E1D3"/>
          </a:solidFill>
          <a:ln/>
        </p:spPr>
        <p:txBody>
          <a:bodyPr/>
          <a:lstStyle/>
          <a:p>
            <a:endParaRPr lang="en-US"/>
          </a:p>
        </p:txBody>
      </p:sp>
      <p:sp>
        <p:nvSpPr>
          <p:cNvPr id="30" name="Text 24"/>
          <p:cNvSpPr txBox="1"/>
          <p:nvPr/>
        </p:nvSpPr>
        <p:spPr>
          <a:xfrm>
            <a:off x="9017356" y="3127248"/>
            <a:ext cx="2468734" cy="402336"/>
          </a:xfrm>
          <a:prstGeom prst="rect">
            <a:avLst/>
          </a:prstGeom>
          <a:noFill/>
          <a:ln/>
        </p:spPr>
        <p:txBody>
          <a:bodyPr wrap="square" lIns="0" tIns="0" rIns="0" bIns="0" rtlCol="0" anchor="ctr"/>
          <a:lstStyle/>
          <a:p>
            <a:pPr marL="0" indent="0" algn="l">
              <a:buNone/>
            </a:pPr>
            <a:r>
              <a:rPr lang="en-US" sz="1300" dirty="0">
                <a:solidFill>
                  <a:srgbClr val="22383F"/>
                </a:solidFill>
                <a:latin typeface="Roboto" pitchFamily="34" charset="0"/>
                <a:ea typeface="Roboto" pitchFamily="34" charset="-122"/>
                <a:cs typeface="Roboto" pitchFamily="34" charset="-120"/>
              </a:rPr>
              <a:t>Hectares, not people</a:t>
            </a:r>
            <a:endParaRPr lang="en-US" sz="1300" dirty="0"/>
          </a:p>
        </p:txBody>
      </p:sp>
      <p:sp>
        <p:nvSpPr>
          <p:cNvPr id="31" name="Shape 25"/>
          <p:cNvSpPr/>
          <p:nvPr/>
        </p:nvSpPr>
        <p:spPr>
          <a:xfrm>
            <a:off x="8907628" y="3675888"/>
            <a:ext cx="2669902" cy="402336"/>
          </a:xfrm>
          <a:prstGeom prst="rect">
            <a:avLst/>
          </a:prstGeom>
          <a:solidFill>
            <a:srgbClr val="F6E1D3"/>
          </a:solidFill>
          <a:ln/>
        </p:spPr>
        <p:txBody>
          <a:bodyPr/>
          <a:lstStyle/>
          <a:p>
            <a:endParaRPr lang="en-US"/>
          </a:p>
        </p:txBody>
      </p:sp>
      <p:sp>
        <p:nvSpPr>
          <p:cNvPr id="32" name="Text 26"/>
          <p:cNvSpPr txBox="1"/>
          <p:nvPr/>
        </p:nvSpPr>
        <p:spPr>
          <a:xfrm>
            <a:off x="9017356" y="3675888"/>
            <a:ext cx="2468734" cy="402336"/>
          </a:xfrm>
          <a:prstGeom prst="rect">
            <a:avLst/>
          </a:prstGeom>
          <a:noFill/>
          <a:ln/>
        </p:spPr>
        <p:txBody>
          <a:bodyPr wrap="square" lIns="0" tIns="0" rIns="0" bIns="0" rtlCol="0" anchor="ctr"/>
          <a:lstStyle/>
          <a:p>
            <a:pPr marL="0" indent="0" algn="l">
              <a:buNone/>
            </a:pPr>
            <a:r>
              <a:rPr lang="en-US" sz="1300" dirty="0">
                <a:solidFill>
                  <a:srgbClr val="22383F"/>
                </a:solidFill>
                <a:latin typeface="Roboto" pitchFamily="34" charset="0"/>
                <a:ea typeface="Roboto" pitchFamily="34" charset="-122"/>
                <a:cs typeface="Roboto" pitchFamily="34" charset="-120"/>
              </a:rPr>
              <a:t>Miners moved into comparison zones</a:t>
            </a:r>
            <a:endParaRPr lang="en-US" sz="1300" dirty="0"/>
          </a:p>
        </p:txBody>
      </p:sp>
      <p:sp>
        <p:nvSpPr>
          <p:cNvPr id="33" name="Shape 27"/>
          <p:cNvSpPr/>
          <p:nvPr/>
        </p:nvSpPr>
        <p:spPr>
          <a:xfrm>
            <a:off x="8907628" y="4224528"/>
            <a:ext cx="2669902" cy="402336"/>
          </a:xfrm>
          <a:prstGeom prst="rect">
            <a:avLst/>
          </a:prstGeom>
          <a:solidFill>
            <a:srgbClr val="F6E1D3"/>
          </a:solidFill>
          <a:ln/>
        </p:spPr>
        <p:txBody>
          <a:bodyPr/>
          <a:lstStyle/>
          <a:p>
            <a:endParaRPr lang="en-US"/>
          </a:p>
        </p:txBody>
      </p:sp>
      <p:sp>
        <p:nvSpPr>
          <p:cNvPr id="34" name="Text 28"/>
          <p:cNvSpPr txBox="1"/>
          <p:nvPr/>
        </p:nvSpPr>
        <p:spPr>
          <a:xfrm>
            <a:off x="9017356" y="4224528"/>
            <a:ext cx="2468734" cy="402336"/>
          </a:xfrm>
          <a:prstGeom prst="rect">
            <a:avLst/>
          </a:prstGeom>
          <a:noFill/>
          <a:ln/>
        </p:spPr>
        <p:txBody>
          <a:bodyPr wrap="square" lIns="0" tIns="0" rIns="0" bIns="0" rtlCol="0" anchor="ctr"/>
          <a:lstStyle/>
          <a:p>
            <a:pPr marL="0" indent="0" algn="l">
              <a:buNone/>
            </a:pPr>
            <a:r>
              <a:rPr lang="en-US" sz="1300" dirty="0">
                <a:solidFill>
                  <a:srgbClr val="22383F"/>
                </a:solidFill>
                <a:latin typeface="Roboto" pitchFamily="34" charset="0"/>
                <a:ea typeface="Roboto" pitchFamily="34" charset="-122"/>
                <a:cs typeface="Roboto" pitchFamily="34" charset="-120"/>
              </a:rPr>
              <a:t>Big zones fall more in hectares</a:t>
            </a:r>
            <a:endParaRPr lang="en-US" sz="1300" dirty="0"/>
          </a:p>
        </p:txBody>
      </p:sp>
      <p:sp>
        <p:nvSpPr>
          <p:cNvPr id="35" name="Shape 29"/>
          <p:cNvSpPr/>
          <p:nvPr/>
        </p:nvSpPr>
        <p:spPr>
          <a:xfrm>
            <a:off x="6237726" y="4773168"/>
            <a:ext cx="2669902" cy="402336"/>
          </a:xfrm>
          <a:prstGeom prst="rect">
            <a:avLst/>
          </a:prstGeom>
          <a:solidFill>
            <a:srgbClr val="DCE9F3"/>
          </a:solidFill>
          <a:ln/>
        </p:spPr>
        <p:txBody>
          <a:bodyPr/>
          <a:lstStyle/>
          <a:p>
            <a:endParaRPr lang="en-US"/>
          </a:p>
        </p:txBody>
      </p:sp>
      <p:sp>
        <p:nvSpPr>
          <p:cNvPr id="36" name="Text 30"/>
          <p:cNvSpPr txBox="1"/>
          <p:nvPr/>
        </p:nvSpPr>
        <p:spPr>
          <a:xfrm>
            <a:off x="6329166" y="4773168"/>
            <a:ext cx="2468734" cy="402336"/>
          </a:xfrm>
          <a:prstGeom prst="rect">
            <a:avLst/>
          </a:prstGeom>
          <a:noFill/>
          <a:ln/>
        </p:spPr>
        <p:txBody>
          <a:bodyPr wrap="square" lIns="0" tIns="0" rIns="0" bIns="0" rtlCol="0" anchor="ctr"/>
          <a:lstStyle/>
          <a:p>
            <a:pPr marL="0" indent="0" algn="r">
              <a:buNone/>
            </a:pPr>
            <a:r>
              <a:rPr lang="en-US" sz="1300" dirty="0">
                <a:solidFill>
                  <a:srgbClr val="22383F"/>
                </a:solidFill>
                <a:latin typeface="Roboto" pitchFamily="34" charset="0"/>
                <a:ea typeface="Roboto" pitchFamily="34" charset="-122"/>
                <a:cs typeface="Roboto" pitchFamily="34" charset="-120"/>
              </a:rPr>
              <a:t>Comparison zones had operations too</a:t>
            </a:r>
            <a:endParaRPr lang="en-US" sz="1300" dirty="0"/>
          </a:p>
        </p:txBody>
      </p:sp>
      <p:sp>
        <p:nvSpPr>
          <p:cNvPr id="37" name="Shape 31"/>
          <p:cNvSpPr/>
          <p:nvPr/>
        </p:nvSpPr>
        <p:spPr>
          <a:xfrm>
            <a:off x="6237726" y="5321808"/>
            <a:ext cx="2669902" cy="402336"/>
          </a:xfrm>
          <a:prstGeom prst="rect">
            <a:avLst/>
          </a:prstGeom>
          <a:solidFill>
            <a:srgbClr val="DCE9F3"/>
          </a:solidFill>
          <a:ln/>
        </p:spPr>
        <p:txBody>
          <a:bodyPr/>
          <a:lstStyle/>
          <a:p>
            <a:endParaRPr lang="en-US"/>
          </a:p>
        </p:txBody>
      </p:sp>
      <p:sp>
        <p:nvSpPr>
          <p:cNvPr id="38" name="Text 32"/>
          <p:cNvSpPr txBox="1"/>
          <p:nvPr/>
        </p:nvSpPr>
        <p:spPr>
          <a:xfrm>
            <a:off x="6329166" y="5321808"/>
            <a:ext cx="2468734" cy="402336"/>
          </a:xfrm>
          <a:prstGeom prst="rect">
            <a:avLst/>
          </a:prstGeom>
          <a:noFill/>
          <a:ln/>
        </p:spPr>
        <p:txBody>
          <a:bodyPr wrap="square" lIns="0" tIns="0" rIns="0" bIns="0" rtlCol="0" anchor="ctr"/>
          <a:lstStyle/>
          <a:p>
            <a:pPr marL="0" indent="0" algn="r">
              <a:buNone/>
            </a:pPr>
            <a:r>
              <a:rPr lang="en-US" sz="1300" dirty="0">
                <a:solidFill>
                  <a:srgbClr val="22383F"/>
                </a:solidFill>
                <a:latin typeface="Roboto" pitchFamily="34" charset="0"/>
                <a:ea typeface="Roboto" pitchFamily="34" charset="-122"/>
                <a:cs typeface="Roboto" pitchFamily="34" charset="-120"/>
              </a:rPr>
              <a:t>Yearly maps blur Feb 2019</a:t>
            </a:r>
            <a:endParaRPr lang="en-US" sz="1300" dirty="0"/>
          </a:p>
        </p:txBody>
      </p:sp>
      <p:sp>
        <p:nvSpPr>
          <p:cNvPr id="39" name="Text 33"/>
          <p:cNvSpPr txBox="1"/>
          <p:nvPr/>
        </p:nvSpPr>
        <p:spPr>
          <a:xfrm>
            <a:off x="6126480" y="5989320"/>
            <a:ext cx="5562295" cy="457200"/>
          </a:xfrm>
          <a:prstGeom prst="rect">
            <a:avLst/>
          </a:prstGeom>
          <a:noFill/>
          <a:ln/>
        </p:spPr>
        <p:txBody>
          <a:bodyPr wrap="square" lIns="0" tIns="0" rIns="0" bIns="0" rtlCol="0" anchor="t"/>
          <a:lstStyle/>
          <a:p>
            <a:pPr marL="0" indent="0">
              <a:buNone/>
            </a:pPr>
            <a:r>
              <a:rPr lang="en-US" sz="1500" dirty="0">
                <a:solidFill>
                  <a:srgbClr val="22383F"/>
                </a:solidFill>
                <a:latin typeface="Roboto Medium" pitchFamily="34" charset="0"/>
                <a:ea typeface="Roboto Medium" pitchFamily="34" charset="-122"/>
                <a:cs typeface="Roboto Medium" pitchFamily="34" charset="-120"/>
              </a:rPr>
              <a:t>Read the fall as an upper bound, the return as a lower bound.</a:t>
            </a:r>
            <a:endParaRPr lang="en-US" sz="1500" dirty="0"/>
          </a:p>
        </p:txBody>
      </p:sp>
      <p:sp>
        <p:nvSpPr>
          <p:cNvPr id="40" name="Slide Number Placeholder 0"/>
          <p:cNvSpPr>
            <a:spLocks noGrp="1"/>
          </p:cNvSpPr>
          <p:nvPr>
            <p:ph type="sldNum" sz="quarter" idx="4294967295"/>
          </p:nvPr>
        </p:nvSpPr>
        <p:spPr>
          <a:xfrm>
            <a:off x="11140135" y="6510528"/>
            <a:ext cx="548640" cy="219456"/>
          </a:xfrm>
          <a:prstGeom prst="rect">
            <a:avLst/>
          </a:prstGeom>
          <a:extLst>
            <a:ext uri="{C572A759-6A51-4108-AA02-DFA0A04FC94B}">
              <ma14:wrappingTextBoxFlag xmlns="" xmlns:ma14="http://schemas.microsoft.com/office/mac/drawingml/2011/main" val="0"/>
            </a:ext>
          </a:extLst>
        </p:spPr>
        <p:txBody>
          <a:bodyPr/>
          <a:lstStyle>
            <a:lvl1pPr>
              <a:defRPr sz="900">
                <a:solidFill>
                  <a:srgbClr val="6C7B80"/>
                </a:solidFill>
                <a:latin typeface="Roboto"/>
                <a:ea typeface="Roboto"/>
                <a:cs typeface="Roboto"/>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02920" y="384048"/>
            <a:ext cx="1755648" cy="274320"/>
          </a:xfrm>
          <a:prstGeom prst="rect">
            <a:avLst/>
          </a:prstGeom>
          <a:noFill/>
          <a:ln/>
        </p:spPr>
        <p:txBody>
          <a:bodyPr wrap="square" lIns="0" tIns="0" rIns="0" bIns="0" rtlCol="0" anchor="ctr"/>
          <a:lstStyle/>
          <a:p>
            <a:pPr marL="0" indent="0">
              <a:buNone/>
            </a:pPr>
            <a:r>
              <a:rPr lang="en-US" sz="1200" kern="0" spc="220" dirty="0">
                <a:solidFill>
                  <a:srgbClr val="B9C94F"/>
                </a:solidFill>
                <a:latin typeface="Roboto Medium" pitchFamily="34" charset="0"/>
                <a:ea typeface="Roboto Medium" pitchFamily="34" charset="-122"/>
                <a:cs typeface="Roboto Medium" pitchFamily="34" charset="-120"/>
              </a:rPr>
              <a:t>12   FOR FZS</a:t>
            </a:r>
            <a:endParaRPr lang="en-US" sz="1200" dirty="0"/>
          </a:p>
        </p:txBody>
      </p:sp>
      <p:sp>
        <p:nvSpPr>
          <p:cNvPr id="3" name="Shape 1"/>
          <p:cNvSpPr/>
          <p:nvPr/>
        </p:nvSpPr>
        <p:spPr>
          <a:xfrm>
            <a:off x="2368296" y="521208"/>
            <a:ext cx="6943039" cy="0"/>
          </a:xfrm>
          <a:prstGeom prst="line">
            <a:avLst/>
          </a:prstGeom>
          <a:noFill/>
          <a:ln w="9525">
            <a:solidFill>
              <a:srgbClr val="B9C94F">
                <a:alpha val="70000"/>
              </a:srgbClr>
            </a:solidFill>
            <a:prstDash val="solid"/>
          </a:ln>
        </p:spPr>
        <p:txBody>
          <a:bodyPr/>
          <a:lstStyle/>
          <a:p>
            <a:endParaRPr lang="en-US"/>
          </a:p>
        </p:txBody>
      </p:sp>
      <p:sp>
        <p:nvSpPr>
          <p:cNvPr id="4" name="claim-R"/>
          <p:cNvSpPr/>
          <p:nvPr/>
        </p:nvSpPr>
        <p:spPr>
          <a:xfrm>
            <a:off x="9539935" y="347472"/>
            <a:ext cx="2148840" cy="310896"/>
          </a:xfrm>
          <a:prstGeom prst="roundRect">
            <a:avLst>
              <a:gd name="adj" fmla="val 50000"/>
            </a:avLst>
          </a:prstGeom>
          <a:ln w="12700">
            <a:solidFill>
              <a:srgbClr val="B9C94F"/>
            </a:solidFill>
          </a:ln>
        </p:spPr>
        <p:txBody>
          <a:bodyPr wrap="square" lIns="0" tIns="0" rIns="0" bIns="0" rtlCol="0" anchor="ctr"/>
          <a:lstStyle/>
          <a:p>
            <a:pPr marL="0" indent="0" algn="ctr">
              <a:buNone/>
            </a:pPr>
            <a:r>
              <a:rPr lang="en-US" sz="1050" kern="0" spc="150" dirty="0">
                <a:solidFill>
                  <a:srgbClr val="B9C94F"/>
                </a:solidFill>
                <a:latin typeface="Roboto Medium" pitchFamily="34" charset="0"/>
                <a:ea typeface="Roboto Medium" pitchFamily="34" charset="-122"/>
                <a:cs typeface="Roboto Medium" pitchFamily="34" charset="-120"/>
              </a:rPr>
              <a:t>RECOMMENDATION</a:t>
            </a:r>
            <a:endParaRPr lang="en-US" sz="1050" dirty="0"/>
          </a:p>
        </p:txBody>
      </p:sp>
      <p:sp>
        <p:nvSpPr>
          <p:cNvPr id="5" name="title"/>
          <p:cNvSpPr txBox="1"/>
          <p:nvPr/>
        </p:nvSpPr>
        <p:spPr>
          <a:xfrm>
            <a:off x="502920" y="731520"/>
            <a:ext cx="11185855" cy="475488"/>
          </a:xfrm>
          <a:prstGeom prst="rect">
            <a:avLst/>
          </a:prstGeom>
          <a:noFill/>
          <a:ln/>
        </p:spPr>
        <p:txBody>
          <a:bodyPr wrap="square" lIns="0" tIns="0" rIns="0" bIns="0" rtlCol="0" anchor="t"/>
          <a:lstStyle/>
          <a:p>
            <a:pPr marL="0" indent="0">
              <a:buNone/>
            </a:pPr>
            <a:r>
              <a:rPr lang="en-US" sz="2800" dirty="0">
                <a:solidFill>
                  <a:srgbClr val="F3F5F2"/>
                </a:solidFill>
                <a:latin typeface="Roboto Light" pitchFamily="34" charset="0"/>
                <a:ea typeface="Roboto Light" pitchFamily="34" charset="-122"/>
                <a:cs typeface="Roboto Light" pitchFamily="34" charset="-120"/>
              </a:rPr>
              <a:t>Plan for the months after the operation ends</a:t>
            </a:r>
            <a:endParaRPr lang="en-US" sz="2800" dirty="0"/>
          </a:p>
        </p:txBody>
      </p:sp>
      <p:sp>
        <p:nvSpPr>
          <p:cNvPr id="6" name="Shape 4"/>
          <p:cNvSpPr/>
          <p:nvPr/>
        </p:nvSpPr>
        <p:spPr>
          <a:xfrm>
            <a:off x="502920" y="1920240"/>
            <a:ext cx="731520" cy="731520"/>
          </a:xfrm>
          <a:prstGeom prst="ellipse">
            <a:avLst/>
          </a:prstGeom>
          <a:solidFill>
            <a:srgbClr val="2E4850"/>
          </a:solidFill>
          <a:ln w="12700">
            <a:solidFill>
              <a:srgbClr val="B9C94F"/>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667512" y="2084832"/>
            <a:ext cx="402336" cy="402336"/>
          </a:xfrm>
          <a:prstGeom prst="rect">
            <a:avLst/>
          </a:prstGeom>
        </p:spPr>
      </p:pic>
      <p:sp>
        <p:nvSpPr>
          <p:cNvPr id="8" name="Text 5"/>
          <p:cNvSpPr txBox="1"/>
          <p:nvPr/>
        </p:nvSpPr>
        <p:spPr>
          <a:xfrm>
            <a:off x="502920" y="2880360"/>
            <a:ext cx="3474720" cy="731520"/>
          </a:xfrm>
          <a:prstGeom prst="rect">
            <a:avLst/>
          </a:prstGeom>
          <a:noFill/>
          <a:ln/>
        </p:spPr>
        <p:txBody>
          <a:bodyPr wrap="square" lIns="0" tIns="0" rIns="0" bIns="0" rtlCol="0" anchor="t"/>
          <a:lstStyle/>
          <a:p>
            <a:pPr marL="0" indent="0">
              <a:buNone/>
            </a:pPr>
            <a:r>
              <a:rPr lang="en-US" sz="2000" dirty="0">
                <a:solidFill>
                  <a:srgbClr val="F3F5F2"/>
                </a:solidFill>
                <a:latin typeface="Roboto Medium" pitchFamily="34" charset="0"/>
                <a:ea typeface="Roboto Medium" pitchFamily="34" charset="-122"/>
                <a:cs typeface="Roboto Medium" pitchFamily="34" charset="-120"/>
              </a:rPr>
              <a:t>Stay after the sweep</a:t>
            </a:r>
            <a:endParaRPr lang="en-US" sz="2000" dirty="0"/>
          </a:p>
        </p:txBody>
      </p:sp>
      <p:sp>
        <p:nvSpPr>
          <p:cNvPr id="9" name="Text 6"/>
          <p:cNvSpPr txBox="1"/>
          <p:nvPr/>
        </p:nvSpPr>
        <p:spPr>
          <a:xfrm>
            <a:off x="502920" y="3703320"/>
            <a:ext cx="3474720" cy="731520"/>
          </a:xfrm>
          <a:prstGeom prst="rect">
            <a:avLst/>
          </a:prstGeom>
          <a:noFill/>
          <a:ln/>
        </p:spPr>
        <p:txBody>
          <a:bodyPr wrap="square" lIns="0" tIns="0" rIns="0" bIns="0" rtlCol="0" anchor="ctr"/>
          <a:lstStyle/>
          <a:p>
            <a:pPr marL="0" indent="0">
              <a:buNone/>
            </a:pPr>
            <a:r>
              <a:rPr lang="en-US" sz="4000" dirty="0">
                <a:solidFill>
                  <a:srgbClr val="B9C94F"/>
                </a:solidFill>
                <a:latin typeface="Roboto Light" pitchFamily="34" charset="0"/>
                <a:ea typeface="Roboto Light" pitchFamily="34" charset="-122"/>
                <a:cs typeface="Roboto Light" pitchFamily="34" charset="-120"/>
              </a:rPr>
              <a:t>2019–21</a:t>
            </a:r>
            <a:endParaRPr lang="en-US" sz="4000" dirty="0"/>
          </a:p>
        </p:txBody>
      </p:sp>
      <p:sp>
        <p:nvSpPr>
          <p:cNvPr id="10" name="Text 7"/>
          <p:cNvSpPr txBox="1"/>
          <p:nvPr/>
        </p:nvSpPr>
        <p:spPr>
          <a:xfrm>
            <a:off x="502920" y="4480560"/>
            <a:ext cx="3291840" cy="914400"/>
          </a:xfrm>
          <a:prstGeom prst="rect">
            <a:avLst/>
          </a:prstGeom>
          <a:noFill/>
          <a:ln/>
        </p:spPr>
        <p:txBody>
          <a:bodyPr wrap="square" lIns="0" tIns="0" rIns="0" bIns="0" rtlCol="0" anchor="t"/>
          <a:lstStyle/>
          <a:p>
            <a:pPr marL="0" indent="0">
              <a:buNone/>
            </a:pPr>
            <a:r>
              <a:rPr lang="en-US" sz="1500" dirty="0">
                <a:solidFill>
                  <a:srgbClr val="C3D0CF"/>
                </a:solidFill>
                <a:latin typeface="Roboto" pitchFamily="34" charset="0"/>
                <a:ea typeface="Roboto" pitchFamily="34" charset="-122"/>
                <a:cs typeface="Roboto" pitchFamily="34" charset="-120"/>
              </a:rPr>
              <a:t>the only years with a fall. Fund lasting presence, not one-off raids.</a:t>
            </a:r>
            <a:endParaRPr lang="en-US" sz="1500" dirty="0"/>
          </a:p>
        </p:txBody>
      </p:sp>
      <p:sp>
        <p:nvSpPr>
          <p:cNvPr id="11" name="Shape 8"/>
          <p:cNvSpPr/>
          <p:nvPr/>
        </p:nvSpPr>
        <p:spPr>
          <a:xfrm>
            <a:off x="4096512" y="1920240"/>
            <a:ext cx="0" cy="4114800"/>
          </a:xfrm>
          <a:prstGeom prst="line">
            <a:avLst/>
          </a:prstGeom>
          <a:noFill/>
          <a:ln w="9525">
            <a:solidFill>
              <a:srgbClr val="FFFFFF">
                <a:alpha val="18000"/>
              </a:srgbClr>
            </a:solidFill>
            <a:prstDash val="solid"/>
          </a:ln>
        </p:spPr>
        <p:txBody>
          <a:bodyPr/>
          <a:lstStyle/>
          <a:p>
            <a:endParaRPr lang="en-US"/>
          </a:p>
        </p:txBody>
      </p:sp>
      <p:sp>
        <p:nvSpPr>
          <p:cNvPr id="12" name="Shape 9"/>
          <p:cNvSpPr/>
          <p:nvPr/>
        </p:nvSpPr>
        <p:spPr>
          <a:xfrm>
            <a:off x="4279392" y="1920240"/>
            <a:ext cx="731520" cy="731520"/>
          </a:xfrm>
          <a:prstGeom prst="ellipse">
            <a:avLst/>
          </a:prstGeom>
          <a:solidFill>
            <a:srgbClr val="2E4850"/>
          </a:solidFill>
          <a:ln w="12700">
            <a:solidFill>
              <a:srgbClr val="B9C94F"/>
            </a:solidFill>
            <a:prstDash val="solid"/>
          </a:ln>
        </p:spPr>
        <p:txBody>
          <a:bodyPr/>
          <a:lstStyle/>
          <a:p>
            <a:endParaRPr lang="en-US"/>
          </a:p>
        </p:txBody>
      </p:sp>
      <p:pic>
        <p:nvPicPr>
          <p:cNvPr id="13" name="Image 1" descr="preencoded.png"/>
          <p:cNvPicPr>
            <a:picLocks noChangeAspect="1"/>
          </p:cNvPicPr>
          <p:nvPr/>
        </p:nvPicPr>
        <p:blipFill>
          <a:blip r:embed="rId4"/>
          <a:stretch>
            <a:fillRect/>
          </a:stretch>
        </p:blipFill>
        <p:spPr>
          <a:xfrm>
            <a:off x="4443984" y="2084832"/>
            <a:ext cx="402336" cy="402336"/>
          </a:xfrm>
          <a:prstGeom prst="rect">
            <a:avLst/>
          </a:prstGeom>
        </p:spPr>
      </p:pic>
      <p:sp>
        <p:nvSpPr>
          <p:cNvPr id="14" name="Text 10"/>
          <p:cNvSpPr txBox="1"/>
          <p:nvPr/>
        </p:nvSpPr>
        <p:spPr>
          <a:xfrm>
            <a:off x="4279392" y="2880360"/>
            <a:ext cx="3474720" cy="731520"/>
          </a:xfrm>
          <a:prstGeom prst="rect">
            <a:avLst/>
          </a:prstGeom>
          <a:noFill/>
          <a:ln/>
        </p:spPr>
        <p:txBody>
          <a:bodyPr wrap="square" lIns="0" tIns="0" rIns="0" bIns="0" rtlCol="0" anchor="t"/>
          <a:lstStyle/>
          <a:p>
            <a:pPr marL="0" indent="0">
              <a:buNone/>
            </a:pPr>
            <a:r>
              <a:rPr lang="en-US" sz="2000" dirty="0">
                <a:solidFill>
                  <a:srgbClr val="F3F5F2"/>
                </a:solidFill>
                <a:latin typeface="Roboto Medium" pitchFamily="34" charset="0"/>
                <a:ea typeface="Roboto Medium" pitchFamily="34" charset="-122"/>
                <a:cs typeface="Roboto Medium" pitchFamily="34" charset="-120"/>
              </a:rPr>
              <a:t>Guard the reserve's edge and river</a:t>
            </a:r>
            <a:endParaRPr lang="en-US" sz="2000" dirty="0"/>
          </a:p>
        </p:txBody>
      </p:sp>
      <p:sp>
        <p:nvSpPr>
          <p:cNvPr id="15" name="Text 11"/>
          <p:cNvSpPr txBox="1"/>
          <p:nvPr/>
        </p:nvSpPr>
        <p:spPr>
          <a:xfrm>
            <a:off x="4279392" y="3703320"/>
            <a:ext cx="3474720" cy="731520"/>
          </a:xfrm>
          <a:prstGeom prst="rect">
            <a:avLst/>
          </a:prstGeom>
          <a:noFill/>
          <a:ln/>
        </p:spPr>
        <p:txBody>
          <a:bodyPr wrap="square" lIns="0" tIns="0" rIns="0" bIns="0" rtlCol="0" anchor="ctr"/>
          <a:lstStyle/>
          <a:p>
            <a:pPr marL="0" indent="0">
              <a:buNone/>
            </a:pPr>
            <a:r>
              <a:rPr lang="en-US" sz="4000" dirty="0">
                <a:solidFill>
                  <a:srgbClr val="B9C94F"/>
                </a:solidFill>
                <a:latin typeface="Roboto Light" pitchFamily="34" charset="0"/>
                <a:ea typeface="Roboto Light" pitchFamily="34" charset="-122"/>
                <a:cs typeface="Roboto Light" pitchFamily="34" charset="-120"/>
              </a:rPr>
              <a:t>91%</a:t>
            </a:r>
            <a:endParaRPr lang="en-US" sz="4000" dirty="0"/>
          </a:p>
        </p:txBody>
      </p:sp>
      <p:sp>
        <p:nvSpPr>
          <p:cNvPr id="16" name="Text 12"/>
          <p:cNvSpPr txBox="1"/>
          <p:nvPr/>
        </p:nvSpPr>
        <p:spPr>
          <a:xfrm>
            <a:off x="4279392" y="4480560"/>
            <a:ext cx="3291840" cy="914400"/>
          </a:xfrm>
          <a:prstGeom prst="rect">
            <a:avLst/>
          </a:prstGeom>
          <a:noFill/>
          <a:ln/>
        </p:spPr>
        <p:txBody>
          <a:bodyPr wrap="square" lIns="0" tIns="0" rIns="0" bIns="0" rtlCol="0" anchor="t"/>
          <a:lstStyle/>
          <a:p>
            <a:pPr marL="0" indent="0">
              <a:buNone/>
            </a:pPr>
            <a:r>
              <a:rPr lang="en-US" sz="1500" dirty="0">
                <a:solidFill>
                  <a:srgbClr val="C3D0CF"/>
                </a:solidFill>
                <a:latin typeface="Roboto" pitchFamily="34" charset="0"/>
                <a:ea typeface="Roboto" pitchFamily="34" charset="-122"/>
                <a:cs typeface="Roboto" pitchFamily="34" charset="-120"/>
              </a:rPr>
              <a:t>of new mining inside the reserve is within 1 km of its edge.</a:t>
            </a:r>
            <a:endParaRPr lang="en-US" sz="1500" dirty="0"/>
          </a:p>
        </p:txBody>
      </p:sp>
      <p:sp>
        <p:nvSpPr>
          <p:cNvPr id="17" name="Shape 13"/>
          <p:cNvSpPr/>
          <p:nvPr/>
        </p:nvSpPr>
        <p:spPr>
          <a:xfrm>
            <a:off x="7872984" y="1920240"/>
            <a:ext cx="0" cy="4114800"/>
          </a:xfrm>
          <a:prstGeom prst="line">
            <a:avLst/>
          </a:prstGeom>
          <a:noFill/>
          <a:ln w="9525">
            <a:solidFill>
              <a:srgbClr val="FFFFFF">
                <a:alpha val="18000"/>
              </a:srgbClr>
            </a:solidFill>
            <a:prstDash val="solid"/>
          </a:ln>
        </p:spPr>
        <p:txBody>
          <a:bodyPr/>
          <a:lstStyle/>
          <a:p>
            <a:endParaRPr lang="en-US"/>
          </a:p>
        </p:txBody>
      </p:sp>
      <p:sp>
        <p:nvSpPr>
          <p:cNvPr id="18" name="Shape 14"/>
          <p:cNvSpPr/>
          <p:nvPr/>
        </p:nvSpPr>
        <p:spPr>
          <a:xfrm>
            <a:off x="8055864" y="1920240"/>
            <a:ext cx="731520" cy="731520"/>
          </a:xfrm>
          <a:prstGeom prst="ellipse">
            <a:avLst/>
          </a:prstGeom>
          <a:solidFill>
            <a:srgbClr val="2E4850"/>
          </a:solidFill>
          <a:ln w="12700">
            <a:solidFill>
              <a:srgbClr val="B9C94F"/>
            </a:solidFill>
            <a:prstDash val="solid"/>
          </a:ln>
        </p:spPr>
        <p:txBody>
          <a:bodyPr/>
          <a:lstStyle/>
          <a:p>
            <a:endParaRPr lang="en-US"/>
          </a:p>
        </p:txBody>
      </p:sp>
      <p:pic>
        <p:nvPicPr>
          <p:cNvPr id="19" name="Image 2" descr="preencoded.png"/>
          <p:cNvPicPr>
            <a:picLocks noChangeAspect="1"/>
          </p:cNvPicPr>
          <p:nvPr/>
        </p:nvPicPr>
        <p:blipFill>
          <a:blip r:embed="rId5"/>
          <a:stretch>
            <a:fillRect/>
          </a:stretch>
        </p:blipFill>
        <p:spPr>
          <a:xfrm>
            <a:off x="8220456" y="2084832"/>
            <a:ext cx="402336" cy="402336"/>
          </a:xfrm>
          <a:prstGeom prst="rect">
            <a:avLst/>
          </a:prstGeom>
        </p:spPr>
      </p:pic>
      <p:sp>
        <p:nvSpPr>
          <p:cNvPr id="20" name="Text 15"/>
          <p:cNvSpPr txBox="1"/>
          <p:nvPr/>
        </p:nvSpPr>
        <p:spPr>
          <a:xfrm>
            <a:off x="8055864" y="2880360"/>
            <a:ext cx="3474720" cy="731520"/>
          </a:xfrm>
          <a:prstGeom prst="rect">
            <a:avLst/>
          </a:prstGeom>
          <a:noFill/>
          <a:ln/>
        </p:spPr>
        <p:txBody>
          <a:bodyPr wrap="square" lIns="0" tIns="0" rIns="0" bIns="0" rtlCol="0" anchor="t"/>
          <a:lstStyle/>
          <a:p>
            <a:pPr marL="0" indent="0">
              <a:buNone/>
            </a:pPr>
            <a:r>
              <a:rPr lang="en-US" sz="2000" dirty="0">
                <a:solidFill>
                  <a:srgbClr val="F3F5F2"/>
                </a:solidFill>
                <a:latin typeface="Roboto Medium" pitchFamily="34" charset="0"/>
                <a:ea typeface="Roboto Medium" pitchFamily="34" charset="-122"/>
                <a:cs typeface="Roboto Medium" pitchFamily="34" charset="-120"/>
              </a:rPr>
              <a:t>Watch the legal side and old pits</a:t>
            </a:r>
            <a:endParaRPr lang="en-US" sz="2000" dirty="0"/>
          </a:p>
        </p:txBody>
      </p:sp>
      <p:sp>
        <p:nvSpPr>
          <p:cNvPr id="21" name="Text 16"/>
          <p:cNvSpPr txBox="1"/>
          <p:nvPr/>
        </p:nvSpPr>
        <p:spPr>
          <a:xfrm>
            <a:off x="8055864" y="3703320"/>
            <a:ext cx="3474720" cy="731520"/>
          </a:xfrm>
          <a:prstGeom prst="rect">
            <a:avLst/>
          </a:prstGeom>
          <a:noFill/>
          <a:ln/>
        </p:spPr>
        <p:txBody>
          <a:bodyPr wrap="square" lIns="0" tIns="0" rIns="0" bIns="0" rtlCol="0" anchor="ctr"/>
          <a:lstStyle/>
          <a:p>
            <a:pPr marL="0" indent="0">
              <a:buNone/>
            </a:pPr>
            <a:r>
              <a:rPr lang="en-US" sz="4000" dirty="0">
                <a:solidFill>
                  <a:srgbClr val="B9C94F"/>
                </a:solidFill>
                <a:latin typeface="Roboto Light" pitchFamily="34" charset="0"/>
                <a:ea typeface="Roboto Light" pitchFamily="34" charset="-122"/>
                <a:cs typeface="Roboto Light" pitchFamily="34" charset="-120"/>
              </a:rPr>
              <a:t>69 → 463</a:t>
            </a:r>
            <a:endParaRPr lang="en-US" sz="4000" dirty="0"/>
          </a:p>
        </p:txBody>
      </p:sp>
      <p:sp>
        <p:nvSpPr>
          <p:cNvPr id="22" name="Text 17"/>
          <p:cNvSpPr txBox="1"/>
          <p:nvPr/>
        </p:nvSpPr>
        <p:spPr>
          <a:xfrm>
            <a:off x="8055864" y="4480560"/>
            <a:ext cx="3291840" cy="914400"/>
          </a:xfrm>
          <a:prstGeom prst="rect">
            <a:avLst/>
          </a:prstGeom>
          <a:noFill/>
          <a:ln/>
        </p:spPr>
        <p:txBody>
          <a:bodyPr wrap="square" lIns="0" tIns="0" rIns="0" bIns="0" rtlCol="0" anchor="t"/>
          <a:lstStyle/>
          <a:p>
            <a:pPr marL="0" indent="0">
              <a:buNone/>
            </a:pPr>
            <a:r>
              <a:rPr lang="en-US" sz="1500" dirty="0">
                <a:solidFill>
                  <a:srgbClr val="C3D0CF"/>
                </a:solidFill>
                <a:latin typeface="Roboto" pitchFamily="34" charset="0"/>
                <a:ea typeface="Roboto" pitchFamily="34" charset="-122"/>
                <a:cs typeface="Roboto" pitchFamily="34" charset="-120"/>
              </a:rPr>
              <a:t>ha/yr of new mining just across the road.</a:t>
            </a:r>
            <a:endParaRPr lang="en-US" sz="1500" dirty="0"/>
          </a:p>
        </p:txBody>
      </p:sp>
      <p:sp>
        <p:nvSpPr>
          <p:cNvPr id="25" name="Slide Number Placeholder 0"/>
          <p:cNvSpPr>
            <a:spLocks noGrp="1"/>
          </p:cNvSpPr>
          <p:nvPr>
            <p:ph type="sldNum" sz="quarter" idx="4294967295"/>
          </p:nvPr>
        </p:nvSpPr>
        <p:spPr>
          <a:xfrm>
            <a:off x="11140135" y="6510528"/>
            <a:ext cx="548640" cy="219456"/>
          </a:xfrm>
          <a:prstGeom prst="rect">
            <a:avLst/>
          </a:prstGeom>
          <a:extLst>
            <a:ext uri="{C572A759-6A51-4108-AA02-DFA0A04FC94B}">
              <ma14:wrappingTextBoxFlag xmlns="" xmlns:ma14="http://schemas.microsoft.com/office/mac/drawingml/2011/main" val="0"/>
            </a:ext>
          </a:extLst>
        </p:spPr>
        <p:txBody>
          <a:bodyPr/>
          <a:lstStyle>
            <a:lvl1pPr>
              <a:defRPr sz="900">
                <a:solidFill>
                  <a:srgbClr val="C3D0CF"/>
                </a:solidFill>
                <a:latin typeface="Roboto"/>
                <a:ea typeface="Roboto"/>
                <a:cs typeface="Roboto"/>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02920" y="384048"/>
            <a:ext cx="1385316" cy="274320"/>
          </a:xfrm>
          <a:prstGeom prst="rect">
            <a:avLst/>
          </a:prstGeom>
          <a:noFill/>
          <a:ln/>
        </p:spPr>
        <p:txBody>
          <a:bodyPr wrap="square" lIns="0" tIns="0" rIns="0" bIns="0" rtlCol="0" anchor="ctr"/>
          <a:lstStyle/>
          <a:p>
            <a:pPr marL="0" indent="0">
              <a:buNone/>
            </a:pPr>
            <a:r>
              <a:rPr lang="en-US" sz="1200" kern="0" spc="220" dirty="0">
                <a:solidFill>
                  <a:srgbClr val="B9C94F"/>
                </a:solidFill>
                <a:latin typeface="Roboto Medium" pitchFamily="34" charset="0"/>
                <a:ea typeface="Roboto Medium" pitchFamily="34" charset="-122"/>
                <a:cs typeface="Roboto Medium" pitchFamily="34" charset="-120"/>
              </a:rPr>
              <a:t>THANK YOU</a:t>
            </a:r>
            <a:endParaRPr lang="en-US" sz="1200" dirty="0"/>
          </a:p>
        </p:txBody>
      </p:sp>
      <p:sp>
        <p:nvSpPr>
          <p:cNvPr id="3" name="Shape 1"/>
          <p:cNvSpPr/>
          <p:nvPr/>
        </p:nvSpPr>
        <p:spPr>
          <a:xfrm>
            <a:off x="1997964" y="521208"/>
            <a:ext cx="9690811" cy="0"/>
          </a:xfrm>
          <a:prstGeom prst="line">
            <a:avLst/>
          </a:prstGeom>
          <a:noFill/>
          <a:ln w="9525">
            <a:solidFill>
              <a:srgbClr val="B9C94F">
                <a:alpha val="70000"/>
              </a:srgbClr>
            </a:solidFill>
            <a:prstDash val="solid"/>
          </a:ln>
        </p:spPr>
        <p:txBody>
          <a:bodyPr/>
          <a:lstStyle/>
          <a:p>
            <a:endParaRPr lang="en-US"/>
          </a:p>
        </p:txBody>
      </p:sp>
      <p:sp>
        <p:nvSpPr>
          <p:cNvPr id="4" name="Text 2"/>
          <p:cNvSpPr txBox="1"/>
          <p:nvPr/>
        </p:nvSpPr>
        <p:spPr>
          <a:xfrm>
            <a:off x="502920" y="1097280"/>
            <a:ext cx="6217920" cy="2194560"/>
          </a:xfrm>
          <a:prstGeom prst="rect">
            <a:avLst/>
          </a:prstGeom>
          <a:noFill/>
          <a:ln/>
        </p:spPr>
        <p:txBody>
          <a:bodyPr wrap="square" lIns="0" tIns="0" rIns="0" bIns="0" rtlCol="0" anchor="t"/>
          <a:lstStyle/>
          <a:p>
            <a:pPr marL="0" indent="0">
              <a:buNone/>
            </a:pPr>
            <a:r>
              <a:rPr lang="en-US" sz="5400" dirty="0">
                <a:solidFill>
                  <a:srgbClr val="F3F5F2"/>
                </a:solidFill>
                <a:latin typeface="Roboto Light" pitchFamily="34" charset="0"/>
                <a:ea typeface="Roboto Light" pitchFamily="34" charset="-122"/>
                <a:cs typeface="Roboto Light" pitchFamily="34" charset="-120"/>
              </a:rPr>
              <a:t>Questions?</a:t>
            </a:r>
            <a:endParaRPr lang="en-US" sz="5400" dirty="0"/>
          </a:p>
          <a:p>
            <a:pPr marL="0" indent="0">
              <a:buNone/>
            </a:pPr>
            <a:r>
              <a:rPr lang="en-US" sz="2200" dirty="0">
                <a:solidFill>
                  <a:srgbClr val="B9C94F"/>
                </a:solidFill>
                <a:latin typeface="Roboto Light" pitchFamily="34" charset="0"/>
                <a:ea typeface="Roboto Light" pitchFamily="34" charset="-122"/>
                <a:cs typeface="Roboto Light" pitchFamily="34" charset="-120"/>
              </a:rPr>
              <a:t>Like the anteater, we'll come back for more.</a:t>
            </a:r>
            <a:endParaRPr lang="en-US" sz="5400" dirty="0"/>
          </a:p>
        </p:txBody>
      </p:sp>
      <p:pic>
        <p:nvPicPr>
          <p:cNvPr id="5" name="Image 0" descr="preencoded.png"/>
          <p:cNvPicPr>
            <a:picLocks noChangeAspect="1"/>
          </p:cNvPicPr>
          <p:nvPr/>
        </p:nvPicPr>
        <p:blipFill>
          <a:blip r:embed="rId3"/>
          <a:stretch>
            <a:fillRect/>
          </a:stretch>
        </p:blipFill>
        <p:spPr>
          <a:xfrm>
            <a:off x="502920" y="3566160"/>
            <a:ext cx="1188720" cy="1188720"/>
          </a:xfrm>
          <a:prstGeom prst="rect">
            <a:avLst/>
          </a:prstGeom>
        </p:spPr>
      </p:pic>
      <p:sp>
        <p:nvSpPr>
          <p:cNvPr id="6" name="photo-placeholder"/>
          <p:cNvSpPr/>
          <p:nvPr/>
        </p:nvSpPr>
        <p:spPr>
          <a:xfrm>
            <a:off x="7086600" y="577572"/>
            <a:ext cx="4602175" cy="5943600"/>
          </a:xfrm>
          <a:prstGeom prst="rect">
            <a:avLst/>
          </a:prstGeom>
          <a:solidFill>
            <a:srgbClr val="2E4850"/>
          </a:solidFill>
          <a:ln w="12700">
            <a:solidFill>
              <a:srgbClr val="3D555D"/>
            </a:solidFill>
            <a:prstDash val="dash"/>
          </a:ln>
        </p:spPr>
        <p:txBody>
          <a:bodyPr/>
          <a:lstStyle/>
          <a:p>
            <a:endParaRPr lang="en-US"/>
          </a:p>
        </p:txBody>
      </p:sp>
      <p:sp>
        <p:nvSpPr>
          <p:cNvPr id="7" name="Text 4"/>
          <p:cNvSpPr txBox="1"/>
          <p:nvPr/>
        </p:nvSpPr>
        <p:spPr>
          <a:xfrm>
            <a:off x="7086600" y="3081528"/>
            <a:ext cx="4602175" cy="548640"/>
          </a:xfrm>
          <a:prstGeom prst="rect">
            <a:avLst/>
          </a:prstGeom>
          <a:noFill/>
          <a:ln/>
        </p:spPr>
        <p:txBody>
          <a:bodyPr wrap="square" rtlCol="0" anchor="ctr"/>
          <a:lstStyle/>
          <a:p>
            <a:pPr marL="0" indent="0" algn="ctr">
              <a:buNone/>
            </a:pPr>
            <a:r>
              <a:rPr lang="en-US" sz="1300" i="1" dirty="0">
                <a:solidFill>
                  <a:srgbClr val="C3D0CF"/>
                </a:solidFill>
                <a:latin typeface="Roboto" pitchFamily="34" charset="0"/>
                <a:ea typeface="Roboto" pitchFamily="34" charset="-122"/>
                <a:cs typeface="Roboto" pitchFamily="34" charset="-120"/>
              </a:rPr>
              <a:t>Photo: rangers / Tambopata river</a:t>
            </a:r>
            <a:endParaRPr lang="en-US" sz="1300" dirty="0"/>
          </a:p>
        </p:txBody>
      </p:sp>
      <p:sp>
        <p:nvSpPr>
          <p:cNvPr id="25" name="Slide Number Placeholder 0"/>
          <p:cNvSpPr>
            <a:spLocks noGrp="1"/>
          </p:cNvSpPr>
          <p:nvPr>
            <p:ph type="sldNum" sz="quarter" idx="4294967295"/>
          </p:nvPr>
        </p:nvSpPr>
        <p:spPr>
          <a:xfrm>
            <a:off x="11140135" y="6510528"/>
            <a:ext cx="548640" cy="219456"/>
          </a:xfrm>
          <a:prstGeom prst="rect">
            <a:avLst/>
          </a:prstGeom>
          <a:extLst>
            <a:ext uri="{C572A759-6A51-4108-AA02-DFA0A04FC94B}">
              <ma14:wrappingTextBoxFlag xmlns="" xmlns:ma14="http://schemas.microsoft.com/office/mac/drawingml/2011/main" val="0"/>
            </a:ext>
          </a:extLst>
        </p:spPr>
        <p:txBody>
          <a:bodyPr/>
          <a:lstStyle>
            <a:lvl1pPr>
              <a:defRPr sz="900">
                <a:solidFill>
                  <a:srgbClr val="C3D0CF"/>
                </a:solidFill>
                <a:latin typeface="Roboto"/>
                <a:ea typeface="Roboto"/>
                <a:cs typeface="Roboto"/>
              </a:defRPr>
            </a:lvl1pPr>
          </a:lstStyle>
          <a:p>
            <a:pPr algn="r"/>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502920" y="384048"/>
            <a:ext cx="1014984" cy="274320"/>
          </a:xfrm>
          <a:prstGeom prst="rect">
            <a:avLst/>
          </a:prstGeom>
          <a:noFill/>
          <a:ln/>
        </p:spPr>
        <p:txBody>
          <a:bodyPr wrap="square" lIns="0" tIns="0" rIns="0" bIns="0" rtlCol="0" anchor="ctr"/>
          <a:lstStyle/>
          <a:p>
            <a:pPr marL="0" indent="0">
              <a:buNone/>
            </a:pPr>
            <a:r>
              <a:rPr lang="en-US" sz="1200" kern="0" spc="220" dirty="0">
                <a:solidFill>
                  <a:srgbClr val="B9C94F"/>
                </a:solidFill>
                <a:latin typeface="Roboto Medium" pitchFamily="34" charset="0"/>
                <a:ea typeface="Roboto Medium" pitchFamily="34" charset="-122"/>
                <a:cs typeface="Roboto Medium" pitchFamily="34" charset="-120"/>
              </a:rPr>
              <a:t>BACKUP</a:t>
            </a:r>
            <a:endParaRPr lang="en-US" sz="1200" dirty="0"/>
          </a:p>
        </p:txBody>
      </p:sp>
      <p:sp>
        <p:nvSpPr>
          <p:cNvPr id="3" name="Shape 1"/>
          <p:cNvSpPr/>
          <p:nvPr/>
        </p:nvSpPr>
        <p:spPr>
          <a:xfrm>
            <a:off x="1627632" y="521208"/>
            <a:ext cx="10061143" cy="0"/>
          </a:xfrm>
          <a:prstGeom prst="line">
            <a:avLst/>
          </a:prstGeom>
          <a:noFill/>
          <a:ln w="9525">
            <a:solidFill>
              <a:srgbClr val="B9C94F">
                <a:alpha val="70000"/>
              </a:srgbClr>
            </a:solidFill>
            <a:prstDash val="solid"/>
          </a:ln>
        </p:spPr>
        <p:txBody>
          <a:bodyPr/>
          <a:lstStyle/>
          <a:p>
            <a:endParaRPr lang="en-US"/>
          </a:p>
        </p:txBody>
      </p:sp>
      <p:sp>
        <p:nvSpPr>
          <p:cNvPr id="4" name="title"/>
          <p:cNvSpPr txBox="1"/>
          <p:nvPr/>
        </p:nvSpPr>
        <p:spPr>
          <a:xfrm>
            <a:off x="502920" y="731520"/>
            <a:ext cx="11185855" cy="475488"/>
          </a:xfrm>
          <a:prstGeom prst="rect">
            <a:avLst/>
          </a:prstGeom>
          <a:noFill/>
          <a:ln/>
        </p:spPr>
        <p:txBody>
          <a:bodyPr wrap="square" lIns="0" tIns="0" rIns="0" bIns="0" rtlCol="0" anchor="t"/>
          <a:lstStyle/>
          <a:p>
            <a:pPr marL="0" indent="0">
              <a:buNone/>
            </a:pPr>
            <a:r>
              <a:rPr lang="en-US" sz="2800" dirty="0">
                <a:solidFill>
                  <a:srgbClr val="F3F5F2"/>
                </a:solidFill>
                <a:latin typeface="Roboto Light" pitchFamily="34" charset="0"/>
                <a:ea typeface="Roboto Light" pitchFamily="34" charset="-122"/>
                <a:cs typeface="Roboto Light" pitchFamily="34" charset="-120"/>
              </a:rPr>
              <a:t>For questions</a:t>
            </a:r>
            <a:endParaRPr lang="en-US" sz="2800" dirty="0"/>
          </a:p>
        </p:txBody>
      </p:sp>
      <p:sp>
        <p:nvSpPr>
          <p:cNvPr id="5" name="subtitle"/>
          <p:cNvSpPr txBox="1"/>
          <p:nvPr/>
        </p:nvSpPr>
        <p:spPr>
          <a:xfrm>
            <a:off x="502920" y="1261872"/>
            <a:ext cx="11185855" cy="274320"/>
          </a:xfrm>
          <a:prstGeom prst="rect">
            <a:avLst/>
          </a:prstGeom>
          <a:noFill/>
          <a:ln/>
        </p:spPr>
        <p:txBody>
          <a:bodyPr wrap="square" lIns="0" tIns="0" rIns="0" bIns="0" rtlCol="0" anchor="ctr"/>
          <a:lstStyle/>
          <a:p>
            <a:pPr marL="0" indent="0">
              <a:buNone/>
            </a:pPr>
            <a:r>
              <a:rPr lang="en-US" sz="1400" dirty="0">
                <a:solidFill>
                  <a:srgbClr val="C3D0CF"/>
                </a:solidFill>
                <a:latin typeface="Roboto" pitchFamily="34" charset="0"/>
                <a:ea typeface="Roboto" pitchFamily="34" charset="-122"/>
                <a:cs typeface="Roboto" pitchFamily="34" charset="-120"/>
              </a:rPr>
              <a:t>Methods · estimates · placebos · timing · depth · legality · declared gold · money · risk map · Brazil · map video</a:t>
            </a:r>
            <a:endParaRPr lang="en-US" sz="1400" dirty="0"/>
          </a:p>
        </p:txBody>
      </p:sp>
      <p:sp>
        <p:nvSpPr>
          <p:cNvPr id="25" name="Slide Number Placeholder 0"/>
          <p:cNvSpPr>
            <a:spLocks noGrp="1"/>
          </p:cNvSpPr>
          <p:nvPr>
            <p:ph type="sldNum" sz="quarter" idx="4294967295"/>
          </p:nvPr>
        </p:nvSpPr>
        <p:spPr>
          <a:xfrm>
            <a:off x="11140135" y="6510528"/>
            <a:ext cx="548640" cy="219456"/>
          </a:xfrm>
          <a:prstGeom prst="rect">
            <a:avLst/>
          </a:prstGeom>
          <a:extLst>
            <a:ext uri="{C572A759-6A51-4108-AA02-DFA0A04FC94B}">
              <ma14:wrappingTextBoxFlag xmlns="" xmlns:ma14="http://schemas.microsoft.com/office/mac/drawingml/2011/main" val="0"/>
            </a:ext>
          </a:extLst>
        </p:spPr>
        <p:txBody>
          <a:bodyPr/>
          <a:lstStyle>
            <a:lvl1pPr>
              <a:defRPr sz="900">
                <a:solidFill>
                  <a:srgbClr val="C3D0CF"/>
                </a:solidFill>
                <a:latin typeface="Roboto"/>
                <a:ea typeface="Roboto"/>
                <a:cs typeface="Roboto"/>
              </a:defRPr>
            </a:lvl1pPr>
          </a:lstStyle>
          <a:p>
            <a:pPr algn="r"/>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502920" y="384048"/>
            <a:ext cx="2743200" cy="274320"/>
          </a:xfrm>
          <a:prstGeom prst="rect">
            <a:avLst/>
          </a:prstGeom>
          <a:noFill/>
          <a:ln/>
        </p:spPr>
        <p:txBody>
          <a:bodyPr wrap="square" lIns="0" tIns="0" rIns="0" bIns="0" rtlCol="0" anchor="ctr"/>
          <a:lstStyle/>
          <a:p>
            <a:pPr marL="0" indent="0">
              <a:buNone/>
            </a:pPr>
            <a:r>
              <a:rPr lang="en-US" sz="1200" kern="0" spc="220" dirty="0">
                <a:solidFill>
                  <a:srgbClr val="3C7D2C"/>
                </a:solidFill>
                <a:latin typeface="Roboto Medium" pitchFamily="34" charset="0"/>
                <a:ea typeface="Roboto Medium" pitchFamily="34" charset="-122"/>
                <a:cs typeface="Roboto Medium" pitchFamily="34" charset="-120"/>
              </a:rPr>
              <a:t>BACKUP · SIX METHODS</a:t>
            </a:r>
            <a:endParaRPr lang="en-US" sz="1200" dirty="0"/>
          </a:p>
        </p:txBody>
      </p:sp>
      <p:sp>
        <p:nvSpPr>
          <p:cNvPr id="3" name="Shape 1"/>
          <p:cNvSpPr/>
          <p:nvPr/>
        </p:nvSpPr>
        <p:spPr>
          <a:xfrm>
            <a:off x="3355848" y="521208"/>
            <a:ext cx="5955487" cy="0"/>
          </a:xfrm>
          <a:prstGeom prst="line">
            <a:avLst/>
          </a:prstGeom>
          <a:noFill/>
          <a:ln w="9525">
            <a:solidFill>
              <a:srgbClr val="3C7D2C">
                <a:alpha val="55000"/>
              </a:srgbClr>
            </a:solidFill>
            <a:prstDash val="solid"/>
          </a:ln>
        </p:spPr>
        <p:txBody>
          <a:bodyPr/>
          <a:lstStyle/>
          <a:p>
            <a:endParaRPr lang="en-US"/>
          </a:p>
        </p:txBody>
      </p:sp>
      <p:sp>
        <p:nvSpPr>
          <p:cNvPr id="4" name="claim-C"/>
          <p:cNvSpPr/>
          <p:nvPr/>
        </p:nvSpPr>
        <p:spPr>
          <a:xfrm>
            <a:off x="9539935" y="347472"/>
            <a:ext cx="2148840" cy="310896"/>
          </a:xfrm>
          <a:prstGeom prst="roundRect">
            <a:avLst>
              <a:gd name="adj" fmla="val 50000"/>
            </a:avLst>
          </a:prstGeom>
          <a:solidFill>
            <a:srgbClr val="F3E3E9"/>
          </a:solidFill>
          <a:ln w="12700">
            <a:solidFill>
              <a:srgbClr val="A42C58"/>
            </a:solidFill>
          </a:ln>
        </p:spPr>
        <p:txBody>
          <a:bodyPr wrap="square" lIns="0" tIns="0" rIns="0" bIns="0" rtlCol="0" anchor="ctr"/>
          <a:lstStyle/>
          <a:p>
            <a:pPr marL="0" indent="0" algn="ctr">
              <a:buNone/>
            </a:pPr>
            <a:r>
              <a:rPr lang="en-US" sz="1050" kern="0" spc="150" dirty="0">
                <a:solidFill>
                  <a:srgbClr val="A42C58"/>
                </a:solidFill>
                <a:latin typeface="Roboto Medium" pitchFamily="34" charset="0"/>
                <a:ea typeface="Roboto Medium" pitchFamily="34" charset="-122"/>
                <a:cs typeface="Roboto Medium" pitchFamily="34" charset="-120"/>
              </a:rPr>
              <a:t>CAUSAL · CONDITIONAL</a:t>
            </a:r>
            <a:endParaRPr lang="en-US" sz="1050" dirty="0"/>
          </a:p>
        </p:txBody>
      </p:sp>
      <p:sp>
        <p:nvSpPr>
          <p:cNvPr id="5" name="title"/>
          <p:cNvSpPr txBox="1"/>
          <p:nvPr/>
        </p:nvSpPr>
        <p:spPr>
          <a:xfrm>
            <a:off x="502920" y="731520"/>
            <a:ext cx="11185855" cy="475488"/>
          </a:xfrm>
          <a:prstGeom prst="rect">
            <a:avLst/>
          </a:prstGeom>
          <a:noFill/>
          <a:ln/>
        </p:spPr>
        <p:txBody>
          <a:bodyPr wrap="square" lIns="0" tIns="0" rIns="0" bIns="0" rtlCol="0" anchor="t"/>
          <a:lstStyle/>
          <a:p>
            <a:pPr marL="0" indent="0">
              <a:buNone/>
            </a:pPr>
            <a:r>
              <a:rPr lang="en-US" sz="2800" dirty="0">
                <a:solidFill>
                  <a:srgbClr val="22383F"/>
                </a:solidFill>
                <a:latin typeface="Roboto Light" pitchFamily="34" charset="0"/>
                <a:ea typeface="Roboto Light" pitchFamily="34" charset="-122"/>
                <a:cs typeface="Roboto Light" pitchFamily="34" charset="-120"/>
              </a:rPr>
              <a:t>Six methods in detail</a:t>
            </a:r>
            <a:endParaRPr lang="en-US" sz="28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02920" y="1691640"/>
          <a:ext cx="11183112" cy="4224528"/>
        </p:xfrm>
        <a:graphic>
          <a:graphicData uri="http://schemas.openxmlformats.org/drawingml/2006/table">
            <a:tbl>
              <a:tblPr/>
              <a:tblGrid>
                <a:gridCol w="292608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3840480">
                  <a:extLst>
                    <a:ext uri="{9D8B030D-6E8A-4147-A177-3AD203B41FA5}">
                      <a16:colId xmlns:a16="http://schemas.microsoft.com/office/drawing/2014/main" val="20002"/>
                    </a:ext>
                  </a:extLst>
                </a:gridCol>
                <a:gridCol w="1399032">
                  <a:extLst>
                    <a:ext uri="{9D8B030D-6E8A-4147-A177-3AD203B41FA5}">
                      <a16:colId xmlns:a16="http://schemas.microsoft.com/office/drawing/2014/main" val="20003"/>
                    </a:ext>
                  </a:extLst>
                </a:gridCol>
              </a:tblGrid>
              <a:tr h="603504">
                <a:tc>
                  <a:txBody>
                    <a:bodyPr/>
                    <a:lstStyle/>
                    <a:p>
                      <a:pPr marL="0" indent="0">
                        <a:buNone/>
                      </a:pPr>
                      <a:r>
                        <a:rPr lang="en-US" sz="1050" kern="0" spc="150" dirty="0">
                          <a:solidFill>
                            <a:srgbClr val="4A5B60"/>
                          </a:solidFill>
                          <a:latin typeface="Roboto Medium" pitchFamily="34" charset="0"/>
                          <a:ea typeface="Roboto Medium" pitchFamily="34" charset="-122"/>
                          <a:cs typeface="Roboto Medium" pitchFamily="34" charset="-120"/>
                        </a:rPr>
                        <a:t>METHOD</a:t>
                      </a:r>
                      <a:endParaRPr lang="en-US" sz="1050" dirty="0">
                        <a:latin typeface="Roboto Medium" charset="0"/>
                        <a:ea typeface="Roboto Medium" charset="0"/>
                        <a:cs typeface="Roboto Medium" charset="0"/>
                      </a:endParaRPr>
                    </a:p>
                  </a:txBody>
                  <a:tcPr marL="127000" marR="127000" marT="63500" marB="63500" anchor="ctr">
                    <a:lnL w="9525" cap="flat" cmpd="sng" algn="ctr">
                      <a:solidFill>
                        <a:srgbClr val="D9D2C7"/>
                      </a:solidFill>
                      <a:prstDash val="solid"/>
                      <a:round/>
                      <a:headEnd type="none" w="med" len="med"/>
                      <a:tailEnd type="none" w="med" len="med"/>
                    </a:lnL>
                    <a:lnR w="9525" cap="flat" cmpd="sng" algn="ctr">
                      <a:solidFill>
                        <a:srgbClr val="D9D2C7"/>
                      </a:solidFill>
                      <a:prstDash val="solid"/>
                      <a:round/>
                      <a:headEnd type="none" w="med" len="med"/>
                      <a:tailEnd type="none" w="med" len="med"/>
                    </a:lnR>
                    <a:lnT w="9525" cap="flat" cmpd="sng" algn="ctr">
                      <a:solidFill>
                        <a:srgbClr val="D9D2C7"/>
                      </a:solidFill>
                      <a:prstDash val="solid"/>
                      <a:round/>
                      <a:headEnd type="none" w="med" len="med"/>
                      <a:tailEnd type="none" w="med" len="med"/>
                    </a:lnT>
                    <a:lnB w="9525" cap="flat" cmpd="sng" algn="ctr">
                      <a:solidFill>
                        <a:srgbClr val="D9D2C7"/>
                      </a:solidFill>
                      <a:prstDash val="solid"/>
                      <a:round/>
                      <a:headEnd type="none" w="med" len="med"/>
                      <a:tailEnd type="none" w="med" len="med"/>
                    </a:lnB>
                    <a:solidFill>
                      <a:srgbClr val="E9E4DC"/>
                    </a:solidFill>
                  </a:tcPr>
                </a:tc>
                <a:tc>
                  <a:txBody>
                    <a:bodyPr/>
                    <a:lstStyle/>
                    <a:p>
                      <a:pPr marL="0" indent="0">
                        <a:buNone/>
                      </a:pPr>
                      <a:r>
                        <a:rPr lang="en-US" sz="1050" kern="0" spc="150" dirty="0">
                          <a:solidFill>
                            <a:srgbClr val="4A5B60"/>
                          </a:solidFill>
                          <a:latin typeface="Roboto Medium" pitchFamily="34" charset="0"/>
                          <a:ea typeface="Roboto Medium" pitchFamily="34" charset="-122"/>
                          <a:cs typeface="Roboto Medium" pitchFamily="34" charset="-120"/>
                        </a:rPr>
                        <a:t>COMPARES TAMBOPATA WITH</a:t>
                      </a:r>
                      <a:endParaRPr lang="en-US" sz="1050" dirty="0">
                        <a:latin typeface="Roboto Medium" charset="0"/>
                        <a:ea typeface="Roboto Medium" charset="0"/>
                        <a:cs typeface="Roboto Medium" charset="0"/>
                      </a:endParaRPr>
                    </a:p>
                  </a:txBody>
                  <a:tcPr marL="127000" marR="127000" marT="63500" marB="63500" anchor="ctr">
                    <a:lnL w="9525" cap="flat" cmpd="sng" algn="ctr">
                      <a:solidFill>
                        <a:srgbClr val="D9D2C7"/>
                      </a:solidFill>
                      <a:prstDash val="solid"/>
                      <a:round/>
                      <a:headEnd type="none" w="med" len="med"/>
                      <a:tailEnd type="none" w="med" len="med"/>
                    </a:lnL>
                    <a:lnR w="9525" cap="flat" cmpd="sng" algn="ctr">
                      <a:solidFill>
                        <a:srgbClr val="D9D2C7"/>
                      </a:solidFill>
                      <a:prstDash val="solid"/>
                      <a:round/>
                      <a:headEnd type="none" w="med" len="med"/>
                      <a:tailEnd type="none" w="med" len="med"/>
                    </a:lnR>
                    <a:lnT w="9525" cap="flat" cmpd="sng" algn="ctr">
                      <a:solidFill>
                        <a:srgbClr val="D9D2C7"/>
                      </a:solidFill>
                      <a:prstDash val="solid"/>
                      <a:round/>
                      <a:headEnd type="none" w="med" len="med"/>
                      <a:tailEnd type="none" w="med" len="med"/>
                    </a:lnT>
                    <a:lnB w="9525" cap="flat" cmpd="sng" algn="ctr">
                      <a:solidFill>
                        <a:srgbClr val="D9D2C7"/>
                      </a:solidFill>
                      <a:prstDash val="solid"/>
                      <a:round/>
                      <a:headEnd type="none" w="med" len="med"/>
                      <a:tailEnd type="none" w="med" len="med"/>
                    </a:lnB>
                    <a:solidFill>
                      <a:srgbClr val="E9E4DC"/>
                    </a:solidFill>
                  </a:tcPr>
                </a:tc>
                <a:tc>
                  <a:txBody>
                    <a:bodyPr/>
                    <a:lstStyle/>
                    <a:p>
                      <a:pPr marL="0" indent="0">
                        <a:buNone/>
                      </a:pPr>
                      <a:r>
                        <a:rPr lang="en-US" sz="1050" kern="0" spc="150" dirty="0">
                          <a:solidFill>
                            <a:srgbClr val="4A5B60"/>
                          </a:solidFill>
                          <a:latin typeface="Roboto Medium" pitchFamily="34" charset="0"/>
                          <a:ea typeface="Roboto Medium" pitchFamily="34" charset="-122"/>
                          <a:cs typeface="Roboto Medium" pitchFamily="34" charset="-120"/>
                        </a:rPr>
                        <a:t>RESULT</a:t>
                      </a:r>
                      <a:endParaRPr lang="en-US" sz="1050" dirty="0">
                        <a:latin typeface="Roboto Medium" charset="0"/>
                        <a:ea typeface="Roboto Medium" charset="0"/>
                        <a:cs typeface="Roboto Medium" charset="0"/>
                      </a:endParaRPr>
                    </a:p>
                  </a:txBody>
                  <a:tcPr marL="127000" marR="127000" marT="63500" marB="63500" anchor="ctr">
                    <a:lnL w="9525" cap="flat" cmpd="sng" algn="ctr">
                      <a:solidFill>
                        <a:srgbClr val="D9D2C7"/>
                      </a:solidFill>
                      <a:prstDash val="solid"/>
                      <a:round/>
                      <a:headEnd type="none" w="med" len="med"/>
                      <a:tailEnd type="none" w="med" len="med"/>
                    </a:lnL>
                    <a:lnR w="9525" cap="flat" cmpd="sng" algn="ctr">
                      <a:solidFill>
                        <a:srgbClr val="D9D2C7"/>
                      </a:solidFill>
                      <a:prstDash val="solid"/>
                      <a:round/>
                      <a:headEnd type="none" w="med" len="med"/>
                      <a:tailEnd type="none" w="med" len="med"/>
                    </a:lnR>
                    <a:lnT w="9525" cap="flat" cmpd="sng" algn="ctr">
                      <a:solidFill>
                        <a:srgbClr val="D9D2C7"/>
                      </a:solidFill>
                      <a:prstDash val="solid"/>
                      <a:round/>
                      <a:headEnd type="none" w="med" len="med"/>
                      <a:tailEnd type="none" w="med" len="med"/>
                    </a:lnT>
                    <a:lnB w="9525" cap="flat" cmpd="sng" algn="ctr">
                      <a:solidFill>
                        <a:srgbClr val="D9D2C7"/>
                      </a:solidFill>
                      <a:prstDash val="solid"/>
                      <a:round/>
                      <a:headEnd type="none" w="med" len="med"/>
                      <a:tailEnd type="none" w="med" len="med"/>
                    </a:lnB>
                    <a:solidFill>
                      <a:srgbClr val="E9E4DC"/>
                    </a:solidFill>
                  </a:tcPr>
                </a:tc>
                <a:tc>
                  <a:txBody>
                    <a:bodyPr/>
                    <a:lstStyle/>
                    <a:p>
                      <a:pPr marL="0" indent="0">
                        <a:buNone/>
                      </a:pPr>
                      <a:r>
                        <a:rPr lang="en-US" sz="1050" kern="0" spc="150" dirty="0">
                          <a:solidFill>
                            <a:srgbClr val="4A5B60"/>
                          </a:solidFill>
                          <a:latin typeface="Roboto Medium" pitchFamily="34" charset="0"/>
                          <a:ea typeface="Roboto Medium" pitchFamily="34" charset="-122"/>
                          <a:cs typeface="Roboto Medium" pitchFamily="34" charset="-120"/>
                        </a:rPr>
                        <a:t>VERDICT</a:t>
                      </a:r>
                      <a:endParaRPr lang="en-US" sz="1050" dirty="0">
                        <a:latin typeface="Roboto Medium" charset="0"/>
                        <a:ea typeface="Roboto Medium" charset="0"/>
                        <a:cs typeface="Roboto Medium" charset="0"/>
                      </a:endParaRPr>
                    </a:p>
                  </a:txBody>
                  <a:tcPr marL="127000" marR="127000" marT="63500" marB="63500" anchor="ctr">
                    <a:lnL w="9525" cap="flat" cmpd="sng" algn="ctr">
                      <a:solidFill>
                        <a:srgbClr val="D9D2C7"/>
                      </a:solidFill>
                      <a:prstDash val="solid"/>
                      <a:round/>
                      <a:headEnd type="none" w="med" len="med"/>
                      <a:tailEnd type="none" w="med" len="med"/>
                    </a:lnL>
                    <a:lnR w="9525" cap="flat" cmpd="sng" algn="ctr">
                      <a:solidFill>
                        <a:srgbClr val="D9D2C7"/>
                      </a:solidFill>
                      <a:prstDash val="solid"/>
                      <a:round/>
                      <a:headEnd type="none" w="med" len="med"/>
                      <a:tailEnd type="none" w="med" len="med"/>
                    </a:lnR>
                    <a:lnT w="9525" cap="flat" cmpd="sng" algn="ctr">
                      <a:solidFill>
                        <a:srgbClr val="D9D2C7"/>
                      </a:solidFill>
                      <a:prstDash val="solid"/>
                      <a:round/>
                      <a:headEnd type="none" w="med" len="med"/>
                      <a:tailEnd type="none" w="med" len="med"/>
                    </a:lnT>
                    <a:lnB w="9525" cap="flat" cmpd="sng" algn="ctr">
                      <a:solidFill>
                        <a:srgbClr val="D9D2C7"/>
                      </a:solidFill>
                      <a:prstDash val="solid"/>
                      <a:round/>
                      <a:headEnd type="none" w="med" len="med"/>
                      <a:tailEnd type="none" w="med" len="med"/>
                    </a:lnB>
                    <a:solidFill>
                      <a:srgbClr val="E9E4DC"/>
                    </a:solidFill>
                  </a:tcPr>
                </a:tc>
                <a:extLst>
                  <a:ext uri="{0D108BD9-81ED-4DB2-BD59-A6C34878D82A}">
                    <a16:rowId xmlns:a16="http://schemas.microsoft.com/office/drawing/2014/main" val="10000"/>
                  </a:ext>
                </a:extLst>
              </a:tr>
              <a:tr h="603504">
                <a:tc>
                  <a:txBody>
                    <a:bodyPr/>
                    <a:lstStyle/>
                    <a:p>
                      <a:pPr marL="0" indent="0">
                        <a:buNone/>
                      </a:pPr>
                      <a:r>
                        <a:rPr lang="en-US" sz="1400" dirty="0">
                          <a:solidFill>
                            <a:srgbClr val="22383F"/>
                          </a:solidFill>
                          <a:latin typeface="Roboto" pitchFamily="34" charset="0"/>
                          <a:ea typeface="Roboto" pitchFamily="34" charset="-122"/>
                          <a:cs typeface="Roboto" pitchFamily="34" charset="-120"/>
                        </a:rPr>
                        <a:t>1  Difference-in-differences</a:t>
                      </a:r>
                      <a:endParaRPr lang="en-US" sz="1400" dirty="0">
                        <a:latin typeface="Roboto" charset="0"/>
                        <a:ea typeface="Roboto" charset="0"/>
                        <a:cs typeface="Roboto" charset="0"/>
                      </a:endParaRPr>
                    </a:p>
                  </a:txBody>
                  <a:tcPr marL="127000" marR="127000" marT="63500" marB="63500" anchor="ctr">
                    <a:lnL w="9525" cap="flat" cmpd="sng" algn="ctr">
                      <a:solidFill>
                        <a:srgbClr val="D9D2C7"/>
                      </a:solidFill>
                      <a:prstDash val="solid"/>
                      <a:round/>
                      <a:headEnd type="none" w="med" len="med"/>
                      <a:tailEnd type="none" w="med" len="med"/>
                    </a:lnL>
                    <a:lnR w="9525" cap="flat" cmpd="sng" algn="ctr">
                      <a:solidFill>
                        <a:srgbClr val="D9D2C7"/>
                      </a:solidFill>
                      <a:prstDash val="solid"/>
                      <a:round/>
                      <a:headEnd type="none" w="med" len="med"/>
                      <a:tailEnd type="none" w="med" len="med"/>
                    </a:lnR>
                    <a:lnT w="9525" cap="flat" cmpd="sng" algn="ctr">
                      <a:solidFill>
                        <a:srgbClr val="D9D2C7"/>
                      </a:solidFill>
                      <a:prstDash val="solid"/>
                      <a:round/>
                      <a:headEnd type="none" w="med" len="med"/>
                      <a:tailEnd type="none" w="med" len="med"/>
                    </a:lnT>
                    <a:lnB w="9525" cap="flat" cmpd="sng" algn="ctr">
                      <a:solidFill>
                        <a:srgbClr val="D9D2C7"/>
                      </a:solidFill>
                      <a:prstDash val="solid"/>
                      <a:round/>
                      <a:headEnd type="none" w="med" len="med"/>
                      <a:tailEnd type="none" w="med" len="med"/>
                    </a:lnB>
                    <a:solidFill>
                      <a:srgbClr val="FBFAF7"/>
                    </a:solidFill>
                  </a:tcPr>
                </a:tc>
                <a:tc>
                  <a:txBody>
                    <a:bodyPr/>
                    <a:lstStyle/>
                    <a:p>
                      <a:pPr marL="0" indent="0">
                        <a:buNone/>
                      </a:pPr>
                      <a:r>
                        <a:rPr lang="en-US" sz="1400" dirty="0">
                          <a:solidFill>
                            <a:srgbClr val="22383F"/>
                          </a:solidFill>
                          <a:latin typeface="Roboto" pitchFamily="34" charset="0"/>
                          <a:ea typeface="Roboto" pitchFamily="34" charset="-122"/>
                          <a:cs typeface="Roboto" pitchFamily="34" charset="-120"/>
                        </a:rPr>
                        <a:t>14 Peruvian buffer zones</a:t>
                      </a:r>
                      <a:endParaRPr lang="en-US" sz="1400" dirty="0">
                        <a:latin typeface="Roboto" charset="0"/>
                        <a:ea typeface="Roboto" charset="0"/>
                        <a:cs typeface="Roboto" charset="0"/>
                      </a:endParaRPr>
                    </a:p>
                  </a:txBody>
                  <a:tcPr marL="127000" marR="127000" marT="63500" marB="63500" anchor="ctr">
                    <a:lnL w="9525" cap="flat" cmpd="sng" algn="ctr">
                      <a:solidFill>
                        <a:srgbClr val="D9D2C7"/>
                      </a:solidFill>
                      <a:prstDash val="solid"/>
                      <a:round/>
                      <a:headEnd type="none" w="med" len="med"/>
                      <a:tailEnd type="none" w="med" len="med"/>
                    </a:lnL>
                    <a:lnR w="9525" cap="flat" cmpd="sng" algn="ctr">
                      <a:solidFill>
                        <a:srgbClr val="D9D2C7"/>
                      </a:solidFill>
                      <a:prstDash val="solid"/>
                      <a:round/>
                      <a:headEnd type="none" w="med" len="med"/>
                      <a:tailEnd type="none" w="med" len="med"/>
                    </a:lnR>
                    <a:lnT w="9525" cap="flat" cmpd="sng" algn="ctr">
                      <a:solidFill>
                        <a:srgbClr val="D9D2C7"/>
                      </a:solidFill>
                      <a:prstDash val="solid"/>
                      <a:round/>
                      <a:headEnd type="none" w="med" len="med"/>
                      <a:tailEnd type="none" w="med" len="med"/>
                    </a:lnT>
                    <a:lnB w="9525" cap="flat" cmpd="sng" algn="ctr">
                      <a:solidFill>
                        <a:srgbClr val="D9D2C7"/>
                      </a:solidFill>
                      <a:prstDash val="solid"/>
                      <a:round/>
                      <a:headEnd type="none" w="med" len="med"/>
                      <a:tailEnd type="none" w="med" len="med"/>
                    </a:lnB>
                    <a:solidFill>
                      <a:srgbClr val="FBFAF7"/>
                    </a:solidFill>
                  </a:tcPr>
                </a:tc>
                <a:tc>
                  <a:txBody>
                    <a:bodyPr/>
                    <a:lstStyle/>
                    <a:p>
                      <a:pPr marL="0" indent="0">
                        <a:buNone/>
                      </a:pPr>
                      <a:r>
                        <a:rPr lang="en-US" sz="1400" dirty="0">
                          <a:solidFill>
                            <a:srgbClr val="22383F"/>
                          </a:solidFill>
                          <a:latin typeface="Roboto" pitchFamily="34" charset="0"/>
                          <a:ea typeface="Roboto" pitchFamily="34" charset="-122"/>
                          <a:cs typeface="Roboto" pitchFamily="34" charset="-120"/>
                        </a:rPr>
                        <a:t>-1,454 to -1,859 ha/yr; rank 1 of 15</a:t>
                      </a:r>
                      <a:endParaRPr lang="en-US" sz="1400" dirty="0">
                        <a:latin typeface="Roboto" charset="0"/>
                        <a:ea typeface="Roboto" charset="0"/>
                        <a:cs typeface="Roboto" charset="0"/>
                      </a:endParaRPr>
                    </a:p>
                  </a:txBody>
                  <a:tcPr marL="127000" marR="127000" marT="63500" marB="63500" anchor="ctr">
                    <a:lnL w="9525" cap="flat" cmpd="sng" algn="ctr">
                      <a:solidFill>
                        <a:srgbClr val="D9D2C7"/>
                      </a:solidFill>
                      <a:prstDash val="solid"/>
                      <a:round/>
                      <a:headEnd type="none" w="med" len="med"/>
                      <a:tailEnd type="none" w="med" len="med"/>
                    </a:lnL>
                    <a:lnR w="9525" cap="flat" cmpd="sng" algn="ctr">
                      <a:solidFill>
                        <a:srgbClr val="D9D2C7"/>
                      </a:solidFill>
                      <a:prstDash val="solid"/>
                      <a:round/>
                      <a:headEnd type="none" w="med" len="med"/>
                      <a:tailEnd type="none" w="med" len="med"/>
                    </a:lnR>
                    <a:lnT w="9525" cap="flat" cmpd="sng" algn="ctr">
                      <a:solidFill>
                        <a:srgbClr val="D9D2C7"/>
                      </a:solidFill>
                      <a:prstDash val="solid"/>
                      <a:round/>
                      <a:headEnd type="none" w="med" len="med"/>
                      <a:tailEnd type="none" w="med" len="med"/>
                    </a:lnT>
                    <a:lnB w="9525" cap="flat" cmpd="sng" algn="ctr">
                      <a:solidFill>
                        <a:srgbClr val="D9D2C7"/>
                      </a:solidFill>
                      <a:prstDash val="solid"/>
                      <a:round/>
                      <a:headEnd type="none" w="med" len="med"/>
                      <a:tailEnd type="none" w="med" len="med"/>
                    </a:lnB>
                    <a:solidFill>
                      <a:srgbClr val="FBFAF7"/>
                    </a:solidFill>
                  </a:tcPr>
                </a:tc>
                <a:tc>
                  <a:txBody>
                    <a:bodyPr/>
                    <a:lstStyle/>
                    <a:p>
                      <a:pPr marL="0" indent="0">
                        <a:buNone/>
                      </a:pPr>
                      <a:r>
                        <a:rPr lang="en-US" sz="1400" dirty="0">
                          <a:solidFill>
                            <a:srgbClr val="3C7D2C"/>
                          </a:solidFill>
                          <a:latin typeface="Roboto Medium" pitchFamily="34" charset="0"/>
                          <a:ea typeface="Roboto Medium" pitchFamily="34" charset="-122"/>
                          <a:cs typeface="Roboto Medium" pitchFamily="34" charset="-120"/>
                        </a:rPr>
                        <a:t>Held up</a:t>
                      </a:r>
                      <a:endParaRPr lang="en-US" sz="1400" dirty="0">
                        <a:latin typeface="Roboto Medium" charset="0"/>
                        <a:ea typeface="Roboto Medium" charset="0"/>
                        <a:cs typeface="Roboto Medium" charset="0"/>
                      </a:endParaRPr>
                    </a:p>
                  </a:txBody>
                  <a:tcPr marL="127000" marR="127000" marT="63500" marB="63500" anchor="ctr">
                    <a:lnL w="9525" cap="flat" cmpd="sng" algn="ctr">
                      <a:solidFill>
                        <a:srgbClr val="D9D2C7"/>
                      </a:solidFill>
                      <a:prstDash val="solid"/>
                      <a:round/>
                      <a:headEnd type="none" w="med" len="med"/>
                      <a:tailEnd type="none" w="med" len="med"/>
                    </a:lnL>
                    <a:lnR w="9525" cap="flat" cmpd="sng" algn="ctr">
                      <a:solidFill>
                        <a:srgbClr val="D9D2C7"/>
                      </a:solidFill>
                      <a:prstDash val="solid"/>
                      <a:round/>
                      <a:headEnd type="none" w="med" len="med"/>
                      <a:tailEnd type="none" w="med" len="med"/>
                    </a:lnR>
                    <a:lnT w="9525" cap="flat" cmpd="sng" algn="ctr">
                      <a:solidFill>
                        <a:srgbClr val="D9D2C7"/>
                      </a:solidFill>
                      <a:prstDash val="solid"/>
                      <a:round/>
                      <a:headEnd type="none" w="med" len="med"/>
                      <a:tailEnd type="none" w="med" len="med"/>
                    </a:lnT>
                    <a:lnB w="9525" cap="flat" cmpd="sng" algn="ctr">
                      <a:solidFill>
                        <a:srgbClr val="D9D2C7"/>
                      </a:solidFill>
                      <a:prstDash val="solid"/>
                      <a:round/>
                      <a:headEnd type="none" w="med" len="med"/>
                      <a:tailEnd type="none" w="med" len="med"/>
                    </a:lnB>
                    <a:solidFill>
                      <a:srgbClr val="FBFAF7"/>
                    </a:solidFill>
                  </a:tcPr>
                </a:tc>
                <a:extLst>
                  <a:ext uri="{0D108BD9-81ED-4DB2-BD59-A6C34878D82A}">
                    <a16:rowId xmlns:a16="http://schemas.microsoft.com/office/drawing/2014/main" val="10001"/>
                  </a:ext>
                </a:extLst>
              </a:tr>
              <a:tr h="603504">
                <a:tc>
                  <a:txBody>
                    <a:bodyPr/>
                    <a:lstStyle/>
                    <a:p>
                      <a:pPr marL="0" indent="0">
                        <a:buNone/>
                      </a:pPr>
                      <a:r>
                        <a:rPr lang="en-US" sz="1400" dirty="0">
                          <a:solidFill>
                            <a:srgbClr val="22383F"/>
                          </a:solidFill>
                          <a:latin typeface="Roboto" pitchFamily="34" charset="0"/>
                          <a:ea typeface="Roboto" pitchFamily="34" charset="-122"/>
                          <a:cs typeface="Roboto" pitchFamily="34" charset="-120"/>
                        </a:rPr>
                        <a:t>2  Synthetic control</a:t>
                      </a:r>
                      <a:endParaRPr lang="en-US" sz="1400" dirty="0">
                        <a:latin typeface="Roboto" charset="0"/>
                        <a:ea typeface="Roboto" charset="0"/>
                        <a:cs typeface="Roboto" charset="0"/>
                      </a:endParaRPr>
                    </a:p>
                  </a:txBody>
                  <a:tcPr marL="127000" marR="127000" marT="63500" marB="63500" anchor="ctr">
                    <a:lnL w="9525" cap="flat" cmpd="sng" algn="ctr">
                      <a:solidFill>
                        <a:srgbClr val="D9D2C7"/>
                      </a:solidFill>
                      <a:prstDash val="solid"/>
                      <a:round/>
                      <a:headEnd type="none" w="med" len="med"/>
                      <a:tailEnd type="none" w="med" len="med"/>
                    </a:lnL>
                    <a:lnR w="9525" cap="flat" cmpd="sng" algn="ctr">
                      <a:solidFill>
                        <a:srgbClr val="D9D2C7"/>
                      </a:solidFill>
                      <a:prstDash val="solid"/>
                      <a:round/>
                      <a:headEnd type="none" w="med" len="med"/>
                      <a:tailEnd type="none" w="med" len="med"/>
                    </a:lnR>
                    <a:lnT w="9525" cap="flat" cmpd="sng" algn="ctr">
                      <a:solidFill>
                        <a:srgbClr val="D9D2C7"/>
                      </a:solidFill>
                      <a:prstDash val="solid"/>
                      <a:round/>
                      <a:headEnd type="none" w="med" len="med"/>
                      <a:tailEnd type="none" w="med" len="med"/>
                    </a:lnT>
                    <a:lnB w="9525" cap="flat" cmpd="sng" algn="ctr">
                      <a:solidFill>
                        <a:srgbClr val="D9D2C7"/>
                      </a:solidFill>
                      <a:prstDash val="solid"/>
                      <a:round/>
                      <a:headEnd type="none" w="med" len="med"/>
                      <a:tailEnd type="none" w="med" len="med"/>
                    </a:lnB>
                    <a:solidFill>
                      <a:srgbClr val="FBFAF7"/>
                    </a:solidFill>
                  </a:tcPr>
                </a:tc>
                <a:tc>
                  <a:txBody>
                    <a:bodyPr/>
                    <a:lstStyle/>
                    <a:p>
                      <a:pPr marL="0" indent="0">
                        <a:buNone/>
                      </a:pPr>
                      <a:r>
                        <a:rPr lang="en-US" sz="1400" dirty="0">
                          <a:solidFill>
                            <a:srgbClr val="22383F"/>
                          </a:solidFill>
                          <a:latin typeface="Roboto" pitchFamily="34" charset="0"/>
                          <a:ea typeface="Roboto" pitchFamily="34" charset="-122"/>
                          <a:cs typeface="Roboto" pitchFamily="34" charset="-120"/>
                        </a:rPr>
                        <a:t>Weighted mix of zones</a:t>
                      </a:r>
                      <a:endParaRPr lang="en-US" sz="1400" dirty="0">
                        <a:latin typeface="Roboto" charset="0"/>
                        <a:ea typeface="Roboto" charset="0"/>
                        <a:cs typeface="Roboto" charset="0"/>
                      </a:endParaRPr>
                    </a:p>
                  </a:txBody>
                  <a:tcPr marL="127000" marR="127000" marT="63500" marB="63500" anchor="ctr">
                    <a:lnL w="9525" cap="flat" cmpd="sng" algn="ctr">
                      <a:solidFill>
                        <a:srgbClr val="D9D2C7"/>
                      </a:solidFill>
                      <a:prstDash val="solid"/>
                      <a:round/>
                      <a:headEnd type="none" w="med" len="med"/>
                      <a:tailEnd type="none" w="med" len="med"/>
                    </a:lnL>
                    <a:lnR w="9525" cap="flat" cmpd="sng" algn="ctr">
                      <a:solidFill>
                        <a:srgbClr val="D9D2C7"/>
                      </a:solidFill>
                      <a:prstDash val="solid"/>
                      <a:round/>
                      <a:headEnd type="none" w="med" len="med"/>
                      <a:tailEnd type="none" w="med" len="med"/>
                    </a:lnR>
                    <a:lnT w="9525" cap="flat" cmpd="sng" algn="ctr">
                      <a:solidFill>
                        <a:srgbClr val="D9D2C7"/>
                      </a:solidFill>
                      <a:prstDash val="solid"/>
                      <a:round/>
                      <a:headEnd type="none" w="med" len="med"/>
                      <a:tailEnd type="none" w="med" len="med"/>
                    </a:lnT>
                    <a:lnB w="9525" cap="flat" cmpd="sng" algn="ctr">
                      <a:solidFill>
                        <a:srgbClr val="D9D2C7"/>
                      </a:solidFill>
                      <a:prstDash val="solid"/>
                      <a:round/>
                      <a:headEnd type="none" w="med" len="med"/>
                      <a:tailEnd type="none" w="med" len="med"/>
                    </a:lnB>
                    <a:solidFill>
                      <a:srgbClr val="FBFAF7"/>
                    </a:solidFill>
                  </a:tcPr>
                </a:tc>
                <a:tc>
                  <a:txBody>
                    <a:bodyPr/>
                    <a:lstStyle/>
                    <a:p>
                      <a:pPr marL="0" indent="0">
                        <a:buNone/>
                      </a:pPr>
                      <a:r>
                        <a:rPr lang="en-US" sz="1400" dirty="0">
                          <a:solidFill>
                            <a:srgbClr val="22383F"/>
                          </a:solidFill>
                          <a:latin typeface="Roboto" pitchFamily="34" charset="0"/>
                          <a:ea typeface="Roboto" pitchFamily="34" charset="-122"/>
                          <a:cs typeface="Roboto" pitchFamily="34" charset="-120"/>
                        </a:rPr>
                        <a:t>-411 ha/yr; no pre-2019 fit</a:t>
                      </a:r>
                      <a:endParaRPr lang="en-US" sz="1400" dirty="0">
                        <a:latin typeface="Roboto" charset="0"/>
                        <a:ea typeface="Roboto" charset="0"/>
                        <a:cs typeface="Roboto" charset="0"/>
                      </a:endParaRPr>
                    </a:p>
                  </a:txBody>
                  <a:tcPr marL="127000" marR="127000" marT="63500" marB="63500" anchor="ctr">
                    <a:lnL w="9525" cap="flat" cmpd="sng" algn="ctr">
                      <a:solidFill>
                        <a:srgbClr val="D9D2C7"/>
                      </a:solidFill>
                      <a:prstDash val="solid"/>
                      <a:round/>
                      <a:headEnd type="none" w="med" len="med"/>
                      <a:tailEnd type="none" w="med" len="med"/>
                    </a:lnL>
                    <a:lnR w="9525" cap="flat" cmpd="sng" algn="ctr">
                      <a:solidFill>
                        <a:srgbClr val="D9D2C7"/>
                      </a:solidFill>
                      <a:prstDash val="solid"/>
                      <a:round/>
                      <a:headEnd type="none" w="med" len="med"/>
                      <a:tailEnd type="none" w="med" len="med"/>
                    </a:lnR>
                    <a:lnT w="9525" cap="flat" cmpd="sng" algn="ctr">
                      <a:solidFill>
                        <a:srgbClr val="D9D2C7"/>
                      </a:solidFill>
                      <a:prstDash val="solid"/>
                      <a:round/>
                      <a:headEnd type="none" w="med" len="med"/>
                      <a:tailEnd type="none" w="med" len="med"/>
                    </a:lnT>
                    <a:lnB w="9525" cap="flat" cmpd="sng" algn="ctr">
                      <a:solidFill>
                        <a:srgbClr val="D9D2C7"/>
                      </a:solidFill>
                      <a:prstDash val="solid"/>
                      <a:round/>
                      <a:headEnd type="none" w="med" len="med"/>
                      <a:tailEnd type="none" w="med" len="med"/>
                    </a:lnB>
                    <a:solidFill>
                      <a:srgbClr val="FBFAF7"/>
                    </a:solidFill>
                  </a:tcPr>
                </a:tc>
                <a:tc>
                  <a:txBody>
                    <a:bodyPr/>
                    <a:lstStyle/>
                    <a:p>
                      <a:pPr marL="0" indent="0">
                        <a:buNone/>
                      </a:pPr>
                      <a:r>
                        <a:rPr lang="en-US" sz="1400" dirty="0">
                          <a:solidFill>
                            <a:srgbClr val="8A5F00"/>
                          </a:solidFill>
                          <a:latin typeface="Roboto Medium" pitchFamily="34" charset="0"/>
                          <a:ea typeface="Roboto Medium" pitchFamily="34" charset="-122"/>
                          <a:cs typeface="Roboto Medium" pitchFamily="34" charset="-120"/>
                        </a:rPr>
                        <a:t>Weak</a:t>
                      </a:r>
                      <a:endParaRPr lang="en-US" sz="1400" dirty="0">
                        <a:latin typeface="Roboto Medium" charset="0"/>
                        <a:ea typeface="Roboto Medium" charset="0"/>
                        <a:cs typeface="Roboto Medium" charset="0"/>
                      </a:endParaRPr>
                    </a:p>
                  </a:txBody>
                  <a:tcPr marL="127000" marR="127000" marT="63500" marB="63500" anchor="ctr">
                    <a:lnL w="9525" cap="flat" cmpd="sng" algn="ctr">
                      <a:solidFill>
                        <a:srgbClr val="D9D2C7"/>
                      </a:solidFill>
                      <a:prstDash val="solid"/>
                      <a:round/>
                      <a:headEnd type="none" w="med" len="med"/>
                      <a:tailEnd type="none" w="med" len="med"/>
                    </a:lnL>
                    <a:lnR w="9525" cap="flat" cmpd="sng" algn="ctr">
                      <a:solidFill>
                        <a:srgbClr val="D9D2C7"/>
                      </a:solidFill>
                      <a:prstDash val="solid"/>
                      <a:round/>
                      <a:headEnd type="none" w="med" len="med"/>
                      <a:tailEnd type="none" w="med" len="med"/>
                    </a:lnR>
                    <a:lnT w="9525" cap="flat" cmpd="sng" algn="ctr">
                      <a:solidFill>
                        <a:srgbClr val="D9D2C7"/>
                      </a:solidFill>
                      <a:prstDash val="solid"/>
                      <a:round/>
                      <a:headEnd type="none" w="med" len="med"/>
                      <a:tailEnd type="none" w="med" len="med"/>
                    </a:lnT>
                    <a:lnB w="9525" cap="flat" cmpd="sng" algn="ctr">
                      <a:solidFill>
                        <a:srgbClr val="D9D2C7"/>
                      </a:solidFill>
                      <a:prstDash val="solid"/>
                      <a:round/>
                      <a:headEnd type="none" w="med" len="med"/>
                      <a:tailEnd type="none" w="med" len="med"/>
                    </a:lnB>
                    <a:solidFill>
                      <a:srgbClr val="FBFAF7"/>
                    </a:solidFill>
                  </a:tcPr>
                </a:tc>
                <a:extLst>
                  <a:ext uri="{0D108BD9-81ED-4DB2-BD59-A6C34878D82A}">
                    <a16:rowId xmlns:a16="http://schemas.microsoft.com/office/drawing/2014/main" val="10002"/>
                  </a:ext>
                </a:extLst>
              </a:tr>
              <a:tr h="603504">
                <a:tc>
                  <a:txBody>
                    <a:bodyPr/>
                    <a:lstStyle/>
                    <a:p>
                      <a:pPr marL="0" indent="0">
                        <a:buNone/>
                      </a:pPr>
                      <a:r>
                        <a:rPr lang="en-US" sz="1400" dirty="0">
                          <a:solidFill>
                            <a:srgbClr val="22383F"/>
                          </a:solidFill>
                          <a:latin typeface="Roboto" pitchFamily="34" charset="0"/>
                          <a:ea typeface="Roboto" pitchFamily="34" charset="-122"/>
                          <a:cs typeface="Roboto" pitchFamily="34" charset="-120"/>
                        </a:rPr>
                        <a:t>3  Rule-based twins</a:t>
                      </a:r>
                      <a:endParaRPr lang="en-US" sz="1400" dirty="0">
                        <a:latin typeface="Roboto" charset="0"/>
                        <a:ea typeface="Roboto" charset="0"/>
                        <a:cs typeface="Roboto" charset="0"/>
                      </a:endParaRPr>
                    </a:p>
                  </a:txBody>
                  <a:tcPr marL="127000" marR="127000" marT="63500" marB="63500" anchor="ctr">
                    <a:lnL w="9525" cap="flat" cmpd="sng" algn="ctr">
                      <a:solidFill>
                        <a:srgbClr val="D9D2C7"/>
                      </a:solidFill>
                      <a:prstDash val="solid"/>
                      <a:round/>
                      <a:headEnd type="none" w="med" len="med"/>
                      <a:tailEnd type="none" w="med" len="med"/>
                    </a:lnL>
                    <a:lnR w="9525" cap="flat" cmpd="sng" algn="ctr">
                      <a:solidFill>
                        <a:srgbClr val="D9D2C7"/>
                      </a:solidFill>
                      <a:prstDash val="solid"/>
                      <a:round/>
                      <a:headEnd type="none" w="med" len="med"/>
                      <a:tailEnd type="none" w="med" len="med"/>
                    </a:lnR>
                    <a:lnT w="9525" cap="flat" cmpd="sng" algn="ctr">
                      <a:solidFill>
                        <a:srgbClr val="D9D2C7"/>
                      </a:solidFill>
                      <a:prstDash val="solid"/>
                      <a:round/>
                      <a:headEnd type="none" w="med" len="med"/>
                      <a:tailEnd type="none" w="med" len="med"/>
                    </a:lnT>
                    <a:lnB w="9525" cap="flat" cmpd="sng" algn="ctr">
                      <a:solidFill>
                        <a:srgbClr val="D9D2C7"/>
                      </a:solidFill>
                      <a:prstDash val="solid"/>
                      <a:round/>
                      <a:headEnd type="none" w="med" len="med"/>
                      <a:tailEnd type="none" w="med" len="med"/>
                    </a:lnB>
                    <a:solidFill>
                      <a:srgbClr val="FBFAF7"/>
                    </a:solidFill>
                  </a:tcPr>
                </a:tc>
                <a:tc>
                  <a:txBody>
                    <a:bodyPr/>
                    <a:lstStyle/>
                    <a:p>
                      <a:pPr marL="0" indent="0">
                        <a:buNone/>
                      </a:pPr>
                      <a:r>
                        <a:rPr lang="en-US" sz="1400" dirty="0">
                          <a:solidFill>
                            <a:srgbClr val="22383F"/>
                          </a:solidFill>
                          <a:latin typeface="Roboto" pitchFamily="34" charset="0"/>
                          <a:ea typeface="Roboto" pitchFamily="34" charset="-122"/>
                          <a:cs typeface="Roboto" pitchFamily="34" charset="-120"/>
                        </a:rPr>
                        <a:t>Amanã and Tapajós (Brazil)</a:t>
                      </a:r>
                      <a:endParaRPr lang="en-US" sz="1400" dirty="0">
                        <a:latin typeface="Roboto" charset="0"/>
                        <a:ea typeface="Roboto" charset="0"/>
                        <a:cs typeface="Roboto" charset="0"/>
                      </a:endParaRPr>
                    </a:p>
                  </a:txBody>
                  <a:tcPr marL="127000" marR="127000" marT="63500" marB="63500" anchor="ctr">
                    <a:lnL w="9525" cap="flat" cmpd="sng" algn="ctr">
                      <a:solidFill>
                        <a:srgbClr val="D9D2C7"/>
                      </a:solidFill>
                      <a:prstDash val="solid"/>
                      <a:round/>
                      <a:headEnd type="none" w="med" len="med"/>
                      <a:tailEnd type="none" w="med" len="med"/>
                    </a:lnL>
                    <a:lnR w="9525" cap="flat" cmpd="sng" algn="ctr">
                      <a:solidFill>
                        <a:srgbClr val="D9D2C7"/>
                      </a:solidFill>
                      <a:prstDash val="solid"/>
                      <a:round/>
                      <a:headEnd type="none" w="med" len="med"/>
                      <a:tailEnd type="none" w="med" len="med"/>
                    </a:lnR>
                    <a:lnT w="9525" cap="flat" cmpd="sng" algn="ctr">
                      <a:solidFill>
                        <a:srgbClr val="D9D2C7"/>
                      </a:solidFill>
                      <a:prstDash val="solid"/>
                      <a:round/>
                      <a:headEnd type="none" w="med" len="med"/>
                      <a:tailEnd type="none" w="med" len="med"/>
                    </a:lnT>
                    <a:lnB w="9525" cap="flat" cmpd="sng" algn="ctr">
                      <a:solidFill>
                        <a:srgbClr val="D9D2C7"/>
                      </a:solidFill>
                      <a:prstDash val="solid"/>
                      <a:round/>
                      <a:headEnd type="none" w="med" len="med"/>
                      <a:tailEnd type="none" w="med" len="med"/>
                    </a:lnB>
                    <a:solidFill>
                      <a:srgbClr val="FBFAF7"/>
                    </a:solidFill>
                  </a:tcPr>
                </a:tc>
                <a:tc>
                  <a:txBody>
                    <a:bodyPr/>
                    <a:lstStyle/>
                    <a:p>
                      <a:pPr marL="0" indent="0">
                        <a:buNone/>
                      </a:pPr>
                      <a:r>
                        <a:rPr lang="en-US" sz="1400" dirty="0">
                          <a:solidFill>
                            <a:srgbClr val="22383F"/>
                          </a:solidFill>
                          <a:latin typeface="Roboto" pitchFamily="34" charset="0"/>
                          <a:ea typeface="Roboto" pitchFamily="34" charset="-122"/>
                          <a:cs typeface="Roboto" pitchFamily="34" charset="-120"/>
                        </a:rPr>
                        <a:t>40% of the twins' pace; different pre-trends</a:t>
                      </a:r>
                      <a:endParaRPr lang="en-US" sz="1400" dirty="0">
                        <a:latin typeface="Roboto" charset="0"/>
                        <a:ea typeface="Roboto" charset="0"/>
                        <a:cs typeface="Roboto" charset="0"/>
                      </a:endParaRPr>
                    </a:p>
                  </a:txBody>
                  <a:tcPr marL="127000" marR="127000" marT="63500" marB="63500" anchor="ctr">
                    <a:lnL w="9525" cap="flat" cmpd="sng" algn="ctr">
                      <a:solidFill>
                        <a:srgbClr val="D9D2C7"/>
                      </a:solidFill>
                      <a:prstDash val="solid"/>
                      <a:round/>
                      <a:headEnd type="none" w="med" len="med"/>
                      <a:tailEnd type="none" w="med" len="med"/>
                    </a:lnL>
                    <a:lnR w="9525" cap="flat" cmpd="sng" algn="ctr">
                      <a:solidFill>
                        <a:srgbClr val="D9D2C7"/>
                      </a:solidFill>
                      <a:prstDash val="solid"/>
                      <a:round/>
                      <a:headEnd type="none" w="med" len="med"/>
                      <a:tailEnd type="none" w="med" len="med"/>
                    </a:lnR>
                    <a:lnT w="9525" cap="flat" cmpd="sng" algn="ctr">
                      <a:solidFill>
                        <a:srgbClr val="D9D2C7"/>
                      </a:solidFill>
                      <a:prstDash val="solid"/>
                      <a:round/>
                      <a:headEnd type="none" w="med" len="med"/>
                      <a:tailEnd type="none" w="med" len="med"/>
                    </a:lnT>
                    <a:lnB w="9525" cap="flat" cmpd="sng" algn="ctr">
                      <a:solidFill>
                        <a:srgbClr val="D9D2C7"/>
                      </a:solidFill>
                      <a:prstDash val="solid"/>
                      <a:round/>
                      <a:headEnd type="none" w="med" len="med"/>
                      <a:tailEnd type="none" w="med" len="med"/>
                    </a:lnB>
                    <a:solidFill>
                      <a:srgbClr val="FBFAF7"/>
                    </a:solidFill>
                  </a:tcPr>
                </a:tc>
                <a:tc>
                  <a:txBody>
                    <a:bodyPr/>
                    <a:lstStyle/>
                    <a:p>
                      <a:pPr marL="0" indent="0">
                        <a:buNone/>
                      </a:pPr>
                      <a:r>
                        <a:rPr lang="en-US" sz="1400" dirty="0">
                          <a:solidFill>
                            <a:srgbClr val="8A5F00"/>
                          </a:solidFill>
                          <a:latin typeface="Roboto Medium" pitchFamily="34" charset="0"/>
                          <a:ea typeface="Roboto Medium" pitchFamily="34" charset="-122"/>
                          <a:cs typeface="Roboto Medium" pitchFamily="34" charset="-120"/>
                        </a:rPr>
                        <a:t>Weak</a:t>
                      </a:r>
                      <a:endParaRPr lang="en-US" sz="1400" dirty="0">
                        <a:latin typeface="Roboto Medium" charset="0"/>
                        <a:ea typeface="Roboto Medium" charset="0"/>
                        <a:cs typeface="Roboto Medium" charset="0"/>
                      </a:endParaRPr>
                    </a:p>
                  </a:txBody>
                  <a:tcPr marL="127000" marR="127000" marT="63500" marB="63500" anchor="ctr">
                    <a:lnL w="9525" cap="flat" cmpd="sng" algn="ctr">
                      <a:solidFill>
                        <a:srgbClr val="D9D2C7"/>
                      </a:solidFill>
                      <a:prstDash val="solid"/>
                      <a:round/>
                      <a:headEnd type="none" w="med" len="med"/>
                      <a:tailEnd type="none" w="med" len="med"/>
                    </a:lnL>
                    <a:lnR w="9525" cap="flat" cmpd="sng" algn="ctr">
                      <a:solidFill>
                        <a:srgbClr val="D9D2C7"/>
                      </a:solidFill>
                      <a:prstDash val="solid"/>
                      <a:round/>
                      <a:headEnd type="none" w="med" len="med"/>
                      <a:tailEnd type="none" w="med" len="med"/>
                    </a:lnR>
                    <a:lnT w="9525" cap="flat" cmpd="sng" algn="ctr">
                      <a:solidFill>
                        <a:srgbClr val="D9D2C7"/>
                      </a:solidFill>
                      <a:prstDash val="solid"/>
                      <a:round/>
                      <a:headEnd type="none" w="med" len="med"/>
                      <a:tailEnd type="none" w="med" len="med"/>
                    </a:lnT>
                    <a:lnB w="9525" cap="flat" cmpd="sng" algn="ctr">
                      <a:solidFill>
                        <a:srgbClr val="D9D2C7"/>
                      </a:solidFill>
                      <a:prstDash val="solid"/>
                      <a:round/>
                      <a:headEnd type="none" w="med" len="med"/>
                      <a:tailEnd type="none" w="med" len="med"/>
                    </a:lnB>
                    <a:solidFill>
                      <a:srgbClr val="FBFAF7"/>
                    </a:solidFill>
                  </a:tcPr>
                </a:tc>
                <a:extLst>
                  <a:ext uri="{0D108BD9-81ED-4DB2-BD59-A6C34878D82A}">
                    <a16:rowId xmlns:a16="http://schemas.microsoft.com/office/drawing/2014/main" val="10003"/>
                  </a:ext>
                </a:extLst>
              </a:tr>
              <a:tr h="603504">
                <a:tc>
                  <a:txBody>
                    <a:bodyPr/>
                    <a:lstStyle/>
                    <a:p>
                      <a:pPr marL="0" indent="0">
                        <a:buNone/>
                      </a:pPr>
                      <a:r>
                        <a:rPr lang="en-US" sz="1400" dirty="0">
                          <a:solidFill>
                            <a:srgbClr val="22383F"/>
                          </a:solidFill>
                          <a:latin typeface="Roboto" pitchFamily="34" charset="0"/>
                          <a:ea typeface="Roboto" pitchFamily="34" charset="-122"/>
                          <a:cs typeface="Roboto" pitchFamily="34" charset="-120"/>
                        </a:rPr>
                        <a:t>4  Spatial discontinuity</a:t>
                      </a:r>
                      <a:endParaRPr lang="en-US" sz="1400" dirty="0">
                        <a:latin typeface="Roboto" charset="0"/>
                        <a:ea typeface="Roboto" charset="0"/>
                        <a:cs typeface="Roboto" charset="0"/>
                      </a:endParaRPr>
                    </a:p>
                  </a:txBody>
                  <a:tcPr marL="127000" marR="127000" marT="63500" marB="63500" anchor="ctr">
                    <a:lnL w="9525" cap="flat" cmpd="sng" algn="ctr">
                      <a:solidFill>
                        <a:srgbClr val="D9D2C7"/>
                      </a:solidFill>
                      <a:prstDash val="solid"/>
                      <a:round/>
                      <a:headEnd type="none" w="med" len="med"/>
                      <a:tailEnd type="none" w="med" len="med"/>
                    </a:lnL>
                    <a:lnR w="9525" cap="flat" cmpd="sng" algn="ctr">
                      <a:solidFill>
                        <a:srgbClr val="D9D2C7"/>
                      </a:solidFill>
                      <a:prstDash val="solid"/>
                      <a:round/>
                      <a:headEnd type="none" w="med" len="med"/>
                      <a:tailEnd type="none" w="med" len="med"/>
                    </a:lnR>
                    <a:lnT w="9525" cap="flat" cmpd="sng" algn="ctr">
                      <a:solidFill>
                        <a:srgbClr val="D9D2C7"/>
                      </a:solidFill>
                      <a:prstDash val="solid"/>
                      <a:round/>
                      <a:headEnd type="none" w="med" len="med"/>
                      <a:tailEnd type="none" w="med" len="med"/>
                    </a:lnT>
                    <a:lnB w="9525" cap="flat" cmpd="sng" algn="ctr">
                      <a:solidFill>
                        <a:srgbClr val="D9D2C7"/>
                      </a:solidFill>
                      <a:prstDash val="solid"/>
                      <a:round/>
                      <a:headEnd type="none" w="med" len="med"/>
                      <a:tailEnd type="none" w="med" len="med"/>
                    </a:lnB>
                    <a:solidFill>
                      <a:srgbClr val="FBFAF7"/>
                    </a:solidFill>
                  </a:tcPr>
                </a:tc>
                <a:tc>
                  <a:txBody>
                    <a:bodyPr/>
                    <a:lstStyle/>
                    <a:p>
                      <a:pPr marL="0" indent="0">
                        <a:buNone/>
                      </a:pPr>
                      <a:r>
                        <a:rPr lang="en-US" sz="1400" dirty="0">
                          <a:solidFill>
                            <a:srgbClr val="22383F"/>
                          </a:solidFill>
                          <a:latin typeface="Roboto" pitchFamily="34" charset="0"/>
                          <a:ea typeface="Roboto" pitchFamily="34" charset="-122"/>
                          <a:cs typeface="Roboto" pitchFamily="34" charset="-120"/>
                        </a:rPr>
                        <a:t>Either side of the road</a:t>
                      </a:r>
                      <a:endParaRPr lang="en-US" sz="1400" dirty="0">
                        <a:latin typeface="Roboto" charset="0"/>
                        <a:ea typeface="Roboto" charset="0"/>
                        <a:cs typeface="Roboto" charset="0"/>
                      </a:endParaRPr>
                    </a:p>
                  </a:txBody>
                  <a:tcPr marL="127000" marR="127000" marT="63500" marB="63500" anchor="ctr">
                    <a:lnL w="9525" cap="flat" cmpd="sng" algn="ctr">
                      <a:solidFill>
                        <a:srgbClr val="D9D2C7"/>
                      </a:solidFill>
                      <a:prstDash val="solid"/>
                      <a:round/>
                      <a:headEnd type="none" w="med" len="med"/>
                      <a:tailEnd type="none" w="med" len="med"/>
                    </a:lnL>
                    <a:lnR w="9525" cap="flat" cmpd="sng" algn="ctr">
                      <a:solidFill>
                        <a:srgbClr val="D9D2C7"/>
                      </a:solidFill>
                      <a:prstDash val="solid"/>
                      <a:round/>
                      <a:headEnd type="none" w="med" len="med"/>
                      <a:tailEnd type="none" w="med" len="med"/>
                    </a:lnR>
                    <a:lnT w="9525" cap="flat" cmpd="sng" algn="ctr">
                      <a:solidFill>
                        <a:srgbClr val="D9D2C7"/>
                      </a:solidFill>
                      <a:prstDash val="solid"/>
                      <a:round/>
                      <a:headEnd type="none" w="med" len="med"/>
                      <a:tailEnd type="none" w="med" len="med"/>
                    </a:lnT>
                    <a:lnB w="9525" cap="flat" cmpd="sng" algn="ctr">
                      <a:solidFill>
                        <a:srgbClr val="D9D2C7"/>
                      </a:solidFill>
                      <a:prstDash val="solid"/>
                      <a:round/>
                      <a:headEnd type="none" w="med" len="med"/>
                      <a:tailEnd type="none" w="med" len="med"/>
                    </a:lnB>
                    <a:solidFill>
                      <a:srgbClr val="FBFAF7"/>
                    </a:solidFill>
                  </a:tcPr>
                </a:tc>
                <a:tc>
                  <a:txBody>
                    <a:bodyPr/>
                    <a:lstStyle/>
                    <a:p>
                      <a:pPr marL="0" indent="0">
                        <a:buNone/>
                      </a:pPr>
                      <a:r>
                        <a:rPr lang="en-US" sz="1400" dirty="0">
                          <a:solidFill>
                            <a:srgbClr val="22383F"/>
                          </a:solidFill>
                          <a:latin typeface="Roboto" pitchFamily="34" charset="0"/>
                          <a:ea typeface="Roboto" pitchFamily="34" charset="-122"/>
                          <a:cs typeface="Roboto" pitchFamily="34" charset="-120"/>
                        </a:rPr>
                        <a:t>+2.1 pts north (p = 0.08)</a:t>
                      </a:r>
                      <a:endParaRPr lang="en-US" sz="1400" dirty="0">
                        <a:latin typeface="Roboto" charset="0"/>
                        <a:ea typeface="Roboto" charset="0"/>
                        <a:cs typeface="Roboto" charset="0"/>
                      </a:endParaRPr>
                    </a:p>
                  </a:txBody>
                  <a:tcPr marL="127000" marR="127000" marT="63500" marB="63500" anchor="ctr">
                    <a:lnL w="9525" cap="flat" cmpd="sng" algn="ctr">
                      <a:solidFill>
                        <a:srgbClr val="D9D2C7"/>
                      </a:solidFill>
                      <a:prstDash val="solid"/>
                      <a:round/>
                      <a:headEnd type="none" w="med" len="med"/>
                      <a:tailEnd type="none" w="med" len="med"/>
                    </a:lnL>
                    <a:lnR w="9525" cap="flat" cmpd="sng" algn="ctr">
                      <a:solidFill>
                        <a:srgbClr val="D9D2C7"/>
                      </a:solidFill>
                      <a:prstDash val="solid"/>
                      <a:round/>
                      <a:headEnd type="none" w="med" len="med"/>
                      <a:tailEnd type="none" w="med" len="med"/>
                    </a:lnR>
                    <a:lnT w="9525" cap="flat" cmpd="sng" algn="ctr">
                      <a:solidFill>
                        <a:srgbClr val="D9D2C7"/>
                      </a:solidFill>
                      <a:prstDash val="solid"/>
                      <a:round/>
                      <a:headEnd type="none" w="med" len="med"/>
                      <a:tailEnd type="none" w="med" len="med"/>
                    </a:lnT>
                    <a:lnB w="9525" cap="flat" cmpd="sng" algn="ctr">
                      <a:solidFill>
                        <a:srgbClr val="D9D2C7"/>
                      </a:solidFill>
                      <a:prstDash val="solid"/>
                      <a:round/>
                      <a:headEnd type="none" w="med" len="med"/>
                      <a:tailEnd type="none" w="med" len="med"/>
                    </a:lnB>
                    <a:solidFill>
                      <a:srgbClr val="FBFAF7"/>
                    </a:solidFill>
                  </a:tcPr>
                </a:tc>
                <a:tc>
                  <a:txBody>
                    <a:bodyPr/>
                    <a:lstStyle/>
                    <a:p>
                      <a:pPr marL="0" indent="0">
                        <a:buNone/>
                      </a:pPr>
                      <a:r>
                        <a:rPr lang="en-US" sz="1400" dirty="0">
                          <a:solidFill>
                            <a:srgbClr val="8A5F00"/>
                          </a:solidFill>
                          <a:latin typeface="Roboto Medium" pitchFamily="34" charset="0"/>
                          <a:ea typeface="Roboto Medium" pitchFamily="34" charset="-122"/>
                          <a:cs typeface="Roboto Medium" pitchFamily="34" charset="-120"/>
                        </a:rPr>
                        <a:t>Borderline</a:t>
                      </a:r>
                      <a:endParaRPr lang="en-US" sz="1400" dirty="0">
                        <a:latin typeface="Roboto Medium" charset="0"/>
                        <a:ea typeface="Roboto Medium" charset="0"/>
                        <a:cs typeface="Roboto Medium" charset="0"/>
                      </a:endParaRPr>
                    </a:p>
                  </a:txBody>
                  <a:tcPr marL="127000" marR="127000" marT="63500" marB="63500" anchor="ctr">
                    <a:lnL w="9525" cap="flat" cmpd="sng" algn="ctr">
                      <a:solidFill>
                        <a:srgbClr val="D9D2C7"/>
                      </a:solidFill>
                      <a:prstDash val="solid"/>
                      <a:round/>
                      <a:headEnd type="none" w="med" len="med"/>
                      <a:tailEnd type="none" w="med" len="med"/>
                    </a:lnL>
                    <a:lnR w="9525" cap="flat" cmpd="sng" algn="ctr">
                      <a:solidFill>
                        <a:srgbClr val="D9D2C7"/>
                      </a:solidFill>
                      <a:prstDash val="solid"/>
                      <a:round/>
                      <a:headEnd type="none" w="med" len="med"/>
                      <a:tailEnd type="none" w="med" len="med"/>
                    </a:lnR>
                    <a:lnT w="9525" cap="flat" cmpd="sng" algn="ctr">
                      <a:solidFill>
                        <a:srgbClr val="D9D2C7"/>
                      </a:solidFill>
                      <a:prstDash val="solid"/>
                      <a:round/>
                      <a:headEnd type="none" w="med" len="med"/>
                      <a:tailEnd type="none" w="med" len="med"/>
                    </a:lnT>
                    <a:lnB w="9525" cap="flat" cmpd="sng" algn="ctr">
                      <a:solidFill>
                        <a:srgbClr val="D9D2C7"/>
                      </a:solidFill>
                      <a:prstDash val="solid"/>
                      <a:round/>
                      <a:headEnd type="none" w="med" len="med"/>
                      <a:tailEnd type="none" w="med" len="med"/>
                    </a:lnB>
                    <a:solidFill>
                      <a:srgbClr val="FBFAF7"/>
                    </a:solidFill>
                  </a:tcPr>
                </a:tc>
                <a:extLst>
                  <a:ext uri="{0D108BD9-81ED-4DB2-BD59-A6C34878D82A}">
                    <a16:rowId xmlns:a16="http://schemas.microsoft.com/office/drawing/2014/main" val="10004"/>
                  </a:ext>
                </a:extLst>
              </a:tr>
              <a:tr h="603504">
                <a:tc>
                  <a:txBody>
                    <a:bodyPr/>
                    <a:lstStyle/>
                    <a:p>
                      <a:pPr marL="0" indent="0">
                        <a:buNone/>
                      </a:pPr>
                      <a:r>
                        <a:rPr lang="en-US" sz="1400" dirty="0">
                          <a:solidFill>
                            <a:srgbClr val="22383F"/>
                          </a:solidFill>
                          <a:latin typeface="Roboto" pitchFamily="34" charset="0"/>
                          <a:ea typeface="Roboto" pitchFamily="34" charset="-122"/>
                          <a:cs typeface="Roboto" pitchFamily="34" charset="-120"/>
                        </a:rPr>
                        <a:t>5  Matching (7 methods)</a:t>
                      </a:r>
                      <a:endParaRPr lang="en-US" sz="1400" dirty="0">
                        <a:latin typeface="Roboto" charset="0"/>
                        <a:ea typeface="Roboto" charset="0"/>
                        <a:cs typeface="Roboto" charset="0"/>
                      </a:endParaRPr>
                    </a:p>
                  </a:txBody>
                  <a:tcPr marL="127000" marR="127000" marT="63500" marB="63500" anchor="ctr">
                    <a:lnL w="9525" cap="flat" cmpd="sng" algn="ctr">
                      <a:solidFill>
                        <a:srgbClr val="D9D2C7"/>
                      </a:solidFill>
                      <a:prstDash val="solid"/>
                      <a:round/>
                      <a:headEnd type="none" w="med" len="med"/>
                      <a:tailEnd type="none" w="med" len="med"/>
                    </a:lnL>
                    <a:lnR w="9525" cap="flat" cmpd="sng" algn="ctr">
                      <a:solidFill>
                        <a:srgbClr val="D9D2C7"/>
                      </a:solidFill>
                      <a:prstDash val="solid"/>
                      <a:round/>
                      <a:headEnd type="none" w="med" len="med"/>
                      <a:tailEnd type="none" w="med" len="med"/>
                    </a:lnR>
                    <a:lnT w="9525" cap="flat" cmpd="sng" algn="ctr">
                      <a:solidFill>
                        <a:srgbClr val="D9D2C7"/>
                      </a:solidFill>
                      <a:prstDash val="solid"/>
                      <a:round/>
                      <a:headEnd type="none" w="med" len="med"/>
                      <a:tailEnd type="none" w="med" len="med"/>
                    </a:lnT>
                    <a:lnB w="9525" cap="flat" cmpd="sng" algn="ctr">
                      <a:solidFill>
                        <a:srgbClr val="D9D2C7"/>
                      </a:solidFill>
                      <a:prstDash val="solid"/>
                      <a:round/>
                      <a:headEnd type="none" w="med" len="med"/>
                      <a:tailEnd type="none" w="med" len="med"/>
                    </a:lnB>
                    <a:solidFill>
                      <a:srgbClr val="FBFAF7"/>
                    </a:solidFill>
                  </a:tcPr>
                </a:tc>
                <a:tc>
                  <a:txBody>
                    <a:bodyPr/>
                    <a:lstStyle/>
                    <a:p>
                      <a:pPr marL="0" indent="0">
                        <a:buNone/>
                      </a:pPr>
                      <a:r>
                        <a:rPr lang="en-US" sz="1400" dirty="0">
                          <a:solidFill>
                            <a:srgbClr val="22383F"/>
                          </a:solidFill>
                          <a:latin typeface="Roboto" pitchFamily="34" charset="0"/>
                          <a:ea typeface="Roboto" pitchFamily="34" charset="-122"/>
                          <a:cs typeface="Roboto" pitchFamily="34" charset="-120"/>
                        </a:rPr>
                        <a:t>Areas picked by algorithm</a:t>
                      </a:r>
                      <a:endParaRPr lang="en-US" sz="1400" dirty="0">
                        <a:latin typeface="Roboto" charset="0"/>
                        <a:ea typeface="Roboto" charset="0"/>
                        <a:cs typeface="Roboto" charset="0"/>
                      </a:endParaRPr>
                    </a:p>
                  </a:txBody>
                  <a:tcPr marL="127000" marR="127000" marT="63500" marB="63500" anchor="ctr">
                    <a:lnL w="9525" cap="flat" cmpd="sng" algn="ctr">
                      <a:solidFill>
                        <a:srgbClr val="D9D2C7"/>
                      </a:solidFill>
                      <a:prstDash val="solid"/>
                      <a:round/>
                      <a:headEnd type="none" w="med" len="med"/>
                      <a:tailEnd type="none" w="med" len="med"/>
                    </a:lnL>
                    <a:lnR w="9525" cap="flat" cmpd="sng" algn="ctr">
                      <a:solidFill>
                        <a:srgbClr val="D9D2C7"/>
                      </a:solidFill>
                      <a:prstDash val="solid"/>
                      <a:round/>
                      <a:headEnd type="none" w="med" len="med"/>
                      <a:tailEnd type="none" w="med" len="med"/>
                    </a:lnR>
                    <a:lnT w="9525" cap="flat" cmpd="sng" algn="ctr">
                      <a:solidFill>
                        <a:srgbClr val="D9D2C7"/>
                      </a:solidFill>
                      <a:prstDash val="solid"/>
                      <a:round/>
                      <a:headEnd type="none" w="med" len="med"/>
                      <a:tailEnd type="none" w="med" len="med"/>
                    </a:lnT>
                    <a:lnB w="9525" cap="flat" cmpd="sng" algn="ctr">
                      <a:solidFill>
                        <a:srgbClr val="D9D2C7"/>
                      </a:solidFill>
                      <a:prstDash val="solid"/>
                      <a:round/>
                      <a:headEnd type="none" w="med" len="med"/>
                      <a:tailEnd type="none" w="med" len="med"/>
                    </a:lnB>
                    <a:solidFill>
                      <a:srgbClr val="FBFAF7"/>
                    </a:solidFill>
                  </a:tcPr>
                </a:tc>
                <a:tc>
                  <a:txBody>
                    <a:bodyPr/>
                    <a:lstStyle/>
                    <a:p>
                      <a:pPr marL="0" indent="0">
                        <a:buNone/>
                      </a:pPr>
                      <a:r>
                        <a:rPr lang="en-US" sz="1400" dirty="0">
                          <a:solidFill>
                            <a:srgbClr val="22383F"/>
                          </a:solidFill>
                          <a:latin typeface="Roboto" pitchFamily="34" charset="0"/>
                          <a:ea typeface="Roboto" pitchFamily="34" charset="-122"/>
                          <a:cs typeface="Roboto" pitchFamily="34" charset="-120"/>
                        </a:rPr>
                        <a:t>All slower; placebo p 0.19–0.57</a:t>
                      </a:r>
                      <a:endParaRPr lang="en-US" sz="1400" dirty="0">
                        <a:latin typeface="Roboto" charset="0"/>
                        <a:ea typeface="Roboto" charset="0"/>
                        <a:cs typeface="Roboto" charset="0"/>
                      </a:endParaRPr>
                    </a:p>
                  </a:txBody>
                  <a:tcPr marL="127000" marR="127000" marT="63500" marB="63500" anchor="ctr">
                    <a:lnL w="9525" cap="flat" cmpd="sng" algn="ctr">
                      <a:solidFill>
                        <a:srgbClr val="D9D2C7"/>
                      </a:solidFill>
                      <a:prstDash val="solid"/>
                      <a:round/>
                      <a:headEnd type="none" w="med" len="med"/>
                      <a:tailEnd type="none" w="med" len="med"/>
                    </a:lnL>
                    <a:lnR w="9525" cap="flat" cmpd="sng" algn="ctr">
                      <a:solidFill>
                        <a:srgbClr val="D9D2C7"/>
                      </a:solidFill>
                      <a:prstDash val="solid"/>
                      <a:round/>
                      <a:headEnd type="none" w="med" len="med"/>
                      <a:tailEnd type="none" w="med" len="med"/>
                    </a:lnR>
                    <a:lnT w="9525" cap="flat" cmpd="sng" algn="ctr">
                      <a:solidFill>
                        <a:srgbClr val="D9D2C7"/>
                      </a:solidFill>
                      <a:prstDash val="solid"/>
                      <a:round/>
                      <a:headEnd type="none" w="med" len="med"/>
                      <a:tailEnd type="none" w="med" len="med"/>
                    </a:lnT>
                    <a:lnB w="9525" cap="flat" cmpd="sng" algn="ctr">
                      <a:solidFill>
                        <a:srgbClr val="D9D2C7"/>
                      </a:solidFill>
                      <a:prstDash val="solid"/>
                      <a:round/>
                      <a:headEnd type="none" w="med" len="med"/>
                      <a:tailEnd type="none" w="med" len="med"/>
                    </a:lnB>
                    <a:solidFill>
                      <a:srgbClr val="FBFAF7"/>
                    </a:solidFill>
                  </a:tcPr>
                </a:tc>
                <a:tc>
                  <a:txBody>
                    <a:bodyPr/>
                    <a:lstStyle/>
                    <a:p>
                      <a:pPr marL="0" indent="0">
                        <a:buNone/>
                      </a:pPr>
                      <a:r>
                        <a:rPr lang="en-US" sz="1400" dirty="0">
                          <a:solidFill>
                            <a:srgbClr val="6C7B80"/>
                          </a:solidFill>
                          <a:latin typeface="Roboto Medium" pitchFamily="34" charset="0"/>
                          <a:ea typeface="Roboto Medium" pitchFamily="34" charset="-122"/>
                          <a:cs typeface="Roboto Medium" pitchFamily="34" charset="-120"/>
                        </a:rPr>
                        <a:t>Can't decide</a:t>
                      </a:r>
                      <a:endParaRPr lang="en-US" sz="1400" dirty="0">
                        <a:latin typeface="Roboto Medium" charset="0"/>
                        <a:ea typeface="Roboto Medium" charset="0"/>
                        <a:cs typeface="Roboto Medium" charset="0"/>
                      </a:endParaRPr>
                    </a:p>
                  </a:txBody>
                  <a:tcPr marL="127000" marR="127000" marT="63500" marB="63500" anchor="ctr">
                    <a:lnL w="9525" cap="flat" cmpd="sng" algn="ctr">
                      <a:solidFill>
                        <a:srgbClr val="D9D2C7"/>
                      </a:solidFill>
                      <a:prstDash val="solid"/>
                      <a:round/>
                      <a:headEnd type="none" w="med" len="med"/>
                      <a:tailEnd type="none" w="med" len="med"/>
                    </a:lnL>
                    <a:lnR w="9525" cap="flat" cmpd="sng" algn="ctr">
                      <a:solidFill>
                        <a:srgbClr val="D9D2C7"/>
                      </a:solidFill>
                      <a:prstDash val="solid"/>
                      <a:round/>
                      <a:headEnd type="none" w="med" len="med"/>
                      <a:tailEnd type="none" w="med" len="med"/>
                    </a:lnR>
                    <a:lnT w="9525" cap="flat" cmpd="sng" algn="ctr">
                      <a:solidFill>
                        <a:srgbClr val="D9D2C7"/>
                      </a:solidFill>
                      <a:prstDash val="solid"/>
                      <a:round/>
                      <a:headEnd type="none" w="med" len="med"/>
                      <a:tailEnd type="none" w="med" len="med"/>
                    </a:lnT>
                    <a:lnB w="9525" cap="flat" cmpd="sng" algn="ctr">
                      <a:solidFill>
                        <a:srgbClr val="D9D2C7"/>
                      </a:solidFill>
                      <a:prstDash val="solid"/>
                      <a:round/>
                      <a:headEnd type="none" w="med" len="med"/>
                      <a:tailEnd type="none" w="med" len="med"/>
                    </a:lnB>
                    <a:solidFill>
                      <a:srgbClr val="FBFAF7"/>
                    </a:solidFill>
                  </a:tcPr>
                </a:tc>
                <a:extLst>
                  <a:ext uri="{0D108BD9-81ED-4DB2-BD59-A6C34878D82A}">
                    <a16:rowId xmlns:a16="http://schemas.microsoft.com/office/drawing/2014/main" val="10005"/>
                  </a:ext>
                </a:extLst>
              </a:tr>
              <a:tr h="603504">
                <a:tc>
                  <a:txBody>
                    <a:bodyPr/>
                    <a:lstStyle/>
                    <a:p>
                      <a:pPr marL="0" indent="0">
                        <a:buNone/>
                      </a:pPr>
                      <a:r>
                        <a:rPr lang="en-US" sz="1400" dirty="0">
                          <a:solidFill>
                            <a:srgbClr val="22383F"/>
                          </a:solidFill>
                          <a:latin typeface="Roboto" pitchFamily="34" charset="0"/>
                          <a:ea typeface="Roboto" pitchFamily="34" charset="-122"/>
                          <a:cs typeface="Roboto" pitchFamily="34" charset="-120"/>
                        </a:rPr>
                        <a:t>6  Synthetic DiD</a:t>
                      </a:r>
                      <a:endParaRPr lang="en-US" sz="1400" dirty="0">
                        <a:latin typeface="Roboto" charset="0"/>
                        <a:ea typeface="Roboto" charset="0"/>
                        <a:cs typeface="Roboto" charset="0"/>
                      </a:endParaRPr>
                    </a:p>
                  </a:txBody>
                  <a:tcPr marL="127000" marR="127000" marT="63500" marB="63500" anchor="ctr">
                    <a:lnL w="9525" cap="flat" cmpd="sng" algn="ctr">
                      <a:solidFill>
                        <a:srgbClr val="D9D2C7"/>
                      </a:solidFill>
                      <a:prstDash val="solid"/>
                      <a:round/>
                      <a:headEnd type="none" w="med" len="med"/>
                      <a:tailEnd type="none" w="med" len="med"/>
                    </a:lnL>
                    <a:lnR w="9525" cap="flat" cmpd="sng" algn="ctr">
                      <a:solidFill>
                        <a:srgbClr val="D9D2C7"/>
                      </a:solidFill>
                      <a:prstDash val="solid"/>
                      <a:round/>
                      <a:headEnd type="none" w="med" len="med"/>
                      <a:tailEnd type="none" w="med" len="med"/>
                    </a:lnR>
                    <a:lnT w="9525" cap="flat" cmpd="sng" algn="ctr">
                      <a:solidFill>
                        <a:srgbClr val="D9D2C7"/>
                      </a:solidFill>
                      <a:prstDash val="solid"/>
                      <a:round/>
                      <a:headEnd type="none" w="med" len="med"/>
                      <a:tailEnd type="none" w="med" len="med"/>
                    </a:lnT>
                    <a:lnB w="9525" cap="flat" cmpd="sng" algn="ctr">
                      <a:solidFill>
                        <a:srgbClr val="D9D2C7"/>
                      </a:solidFill>
                      <a:prstDash val="solid"/>
                      <a:round/>
                      <a:headEnd type="none" w="med" len="med"/>
                      <a:tailEnd type="none" w="med" len="med"/>
                    </a:lnB>
                    <a:solidFill>
                      <a:srgbClr val="FBFAF7"/>
                    </a:solidFill>
                  </a:tcPr>
                </a:tc>
                <a:tc>
                  <a:txBody>
                    <a:bodyPr/>
                    <a:lstStyle/>
                    <a:p>
                      <a:pPr marL="0" indent="0">
                        <a:buNone/>
                      </a:pPr>
                      <a:r>
                        <a:rPr lang="en-US" sz="1400" dirty="0">
                          <a:solidFill>
                            <a:srgbClr val="22383F"/>
                          </a:solidFill>
                          <a:latin typeface="Roboto" pitchFamily="34" charset="0"/>
                          <a:ea typeface="Roboto" pitchFamily="34" charset="-122"/>
                          <a:cs typeface="Roboto" pitchFamily="34" charset="-120"/>
                        </a:rPr>
                        <a:t>Weighted, trend-matched zones</a:t>
                      </a:r>
                      <a:endParaRPr lang="en-US" sz="1400" dirty="0">
                        <a:latin typeface="Roboto" charset="0"/>
                        <a:ea typeface="Roboto" charset="0"/>
                        <a:cs typeface="Roboto" charset="0"/>
                      </a:endParaRPr>
                    </a:p>
                  </a:txBody>
                  <a:tcPr marL="127000" marR="127000" marT="63500" marB="63500" anchor="ctr">
                    <a:lnL w="9525" cap="flat" cmpd="sng" algn="ctr">
                      <a:solidFill>
                        <a:srgbClr val="D9D2C7"/>
                      </a:solidFill>
                      <a:prstDash val="solid"/>
                      <a:round/>
                      <a:headEnd type="none" w="med" len="med"/>
                      <a:tailEnd type="none" w="med" len="med"/>
                    </a:lnL>
                    <a:lnR w="9525" cap="flat" cmpd="sng" algn="ctr">
                      <a:solidFill>
                        <a:srgbClr val="D9D2C7"/>
                      </a:solidFill>
                      <a:prstDash val="solid"/>
                      <a:round/>
                      <a:headEnd type="none" w="med" len="med"/>
                      <a:tailEnd type="none" w="med" len="med"/>
                    </a:lnR>
                    <a:lnT w="9525" cap="flat" cmpd="sng" algn="ctr">
                      <a:solidFill>
                        <a:srgbClr val="D9D2C7"/>
                      </a:solidFill>
                      <a:prstDash val="solid"/>
                      <a:round/>
                      <a:headEnd type="none" w="med" len="med"/>
                      <a:tailEnd type="none" w="med" len="med"/>
                    </a:lnT>
                    <a:lnB w="9525" cap="flat" cmpd="sng" algn="ctr">
                      <a:solidFill>
                        <a:srgbClr val="D9D2C7"/>
                      </a:solidFill>
                      <a:prstDash val="solid"/>
                      <a:round/>
                      <a:headEnd type="none" w="med" len="med"/>
                      <a:tailEnd type="none" w="med" len="med"/>
                    </a:lnB>
                    <a:solidFill>
                      <a:srgbClr val="FBFAF7"/>
                    </a:solidFill>
                  </a:tcPr>
                </a:tc>
                <a:tc>
                  <a:txBody>
                    <a:bodyPr/>
                    <a:lstStyle/>
                    <a:p>
                      <a:pPr marL="0" indent="0">
                        <a:buNone/>
                      </a:pPr>
                      <a:r>
                        <a:rPr lang="en-US" sz="1400" dirty="0">
                          <a:solidFill>
                            <a:srgbClr val="22383F"/>
                          </a:solidFill>
                          <a:latin typeface="Roboto" pitchFamily="34" charset="0"/>
                          <a:ea typeface="Roboto" pitchFamily="34" charset="-122"/>
                          <a:cs typeface="Roboto" pitchFamily="34" charset="-120"/>
                        </a:rPr>
                        <a:t>-1,545 ha/yr; scaled rank 3 of 7</a:t>
                      </a:r>
                      <a:endParaRPr lang="en-US" sz="1400" dirty="0">
                        <a:latin typeface="Roboto" charset="0"/>
                        <a:ea typeface="Roboto" charset="0"/>
                        <a:cs typeface="Roboto" charset="0"/>
                      </a:endParaRPr>
                    </a:p>
                  </a:txBody>
                  <a:tcPr marL="127000" marR="127000" marT="63500" marB="63500" anchor="ctr">
                    <a:lnL w="9525" cap="flat" cmpd="sng" algn="ctr">
                      <a:solidFill>
                        <a:srgbClr val="D9D2C7"/>
                      </a:solidFill>
                      <a:prstDash val="solid"/>
                      <a:round/>
                      <a:headEnd type="none" w="med" len="med"/>
                      <a:tailEnd type="none" w="med" len="med"/>
                    </a:lnL>
                    <a:lnR w="9525" cap="flat" cmpd="sng" algn="ctr">
                      <a:solidFill>
                        <a:srgbClr val="D9D2C7"/>
                      </a:solidFill>
                      <a:prstDash val="solid"/>
                      <a:round/>
                      <a:headEnd type="none" w="med" len="med"/>
                      <a:tailEnd type="none" w="med" len="med"/>
                    </a:lnR>
                    <a:lnT w="9525" cap="flat" cmpd="sng" algn="ctr">
                      <a:solidFill>
                        <a:srgbClr val="D9D2C7"/>
                      </a:solidFill>
                      <a:prstDash val="solid"/>
                      <a:round/>
                      <a:headEnd type="none" w="med" len="med"/>
                      <a:tailEnd type="none" w="med" len="med"/>
                    </a:lnT>
                    <a:lnB w="9525" cap="flat" cmpd="sng" algn="ctr">
                      <a:solidFill>
                        <a:srgbClr val="D9D2C7"/>
                      </a:solidFill>
                      <a:prstDash val="solid"/>
                      <a:round/>
                      <a:headEnd type="none" w="med" len="med"/>
                      <a:tailEnd type="none" w="med" len="med"/>
                    </a:lnB>
                    <a:solidFill>
                      <a:srgbClr val="FBFAF7"/>
                    </a:solidFill>
                  </a:tcPr>
                </a:tc>
                <a:tc>
                  <a:txBody>
                    <a:bodyPr/>
                    <a:lstStyle/>
                    <a:p>
                      <a:pPr marL="0" indent="0">
                        <a:buNone/>
                      </a:pPr>
                      <a:r>
                        <a:rPr lang="en-US" sz="1400" dirty="0">
                          <a:solidFill>
                            <a:srgbClr val="3C7D2C"/>
                          </a:solidFill>
                          <a:latin typeface="Roboto Medium" pitchFamily="34" charset="0"/>
                          <a:ea typeface="Roboto Medium" pitchFamily="34" charset="-122"/>
                          <a:cs typeface="Roboto Medium" pitchFamily="34" charset="-120"/>
                        </a:rPr>
                        <a:t>Held up</a:t>
                      </a:r>
                      <a:endParaRPr lang="en-US" sz="1400" dirty="0">
                        <a:latin typeface="Roboto Medium" charset="0"/>
                        <a:ea typeface="Roboto Medium" charset="0"/>
                        <a:cs typeface="Roboto Medium" charset="0"/>
                      </a:endParaRPr>
                    </a:p>
                  </a:txBody>
                  <a:tcPr marL="127000" marR="127000" marT="63500" marB="63500" anchor="ctr">
                    <a:lnL w="9525" cap="flat" cmpd="sng" algn="ctr">
                      <a:solidFill>
                        <a:srgbClr val="D9D2C7"/>
                      </a:solidFill>
                      <a:prstDash val="solid"/>
                      <a:round/>
                      <a:headEnd type="none" w="med" len="med"/>
                      <a:tailEnd type="none" w="med" len="med"/>
                    </a:lnL>
                    <a:lnR w="9525" cap="flat" cmpd="sng" algn="ctr">
                      <a:solidFill>
                        <a:srgbClr val="D9D2C7"/>
                      </a:solidFill>
                      <a:prstDash val="solid"/>
                      <a:round/>
                      <a:headEnd type="none" w="med" len="med"/>
                      <a:tailEnd type="none" w="med" len="med"/>
                    </a:lnR>
                    <a:lnT w="9525" cap="flat" cmpd="sng" algn="ctr">
                      <a:solidFill>
                        <a:srgbClr val="D9D2C7"/>
                      </a:solidFill>
                      <a:prstDash val="solid"/>
                      <a:round/>
                      <a:headEnd type="none" w="med" len="med"/>
                      <a:tailEnd type="none" w="med" len="med"/>
                    </a:lnT>
                    <a:lnB w="9525" cap="flat" cmpd="sng" algn="ctr">
                      <a:solidFill>
                        <a:srgbClr val="D9D2C7"/>
                      </a:solidFill>
                      <a:prstDash val="solid"/>
                      <a:round/>
                      <a:headEnd type="none" w="med" len="med"/>
                      <a:tailEnd type="none" w="med" len="med"/>
                    </a:lnB>
                    <a:solidFill>
                      <a:srgbClr val="FBFAF7"/>
                    </a:solidFill>
                  </a:tcPr>
                </a:tc>
                <a:extLst>
                  <a:ext uri="{0D108BD9-81ED-4DB2-BD59-A6C34878D82A}">
                    <a16:rowId xmlns:a16="http://schemas.microsoft.com/office/drawing/2014/main" val="10006"/>
                  </a:ext>
                </a:extLst>
              </a:tr>
            </a:tbl>
          </a:graphicData>
        </a:graphic>
      </p:graphicFrame>
      <p:sp>
        <p:nvSpPr>
          <p:cNvPr id="25" name="Slide Number Placeholder 0"/>
          <p:cNvSpPr>
            <a:spLocks noGrp="1"/>
          </p:cNvSpPr>
          <p:nvPr>
            <p:ph type="sldNum" sz="quarter" idx="4294967295"/>
          </p:nvPr>
        </p:nvSpPr>
        <p:spPr>
          <a:xfrm>
            <a:off x="11140135" y="6510528"/>
            <a:ext cx="548640" cy="219456"/>
          </a:xfrm>
          <a:prstGeom prst="rect">
            <a:avLst/>
          </a:prstGeom>
          <a:extLst>
            <a:ext uri="{C572A759-6A51-4108-AA02-DFA0A04FC94B}">
              <ma14:wrappingTextBoxFlag xmlns="" xmlns:ma14="http://schemas.microsoft.com/office/mac/drawingml/2011/main" val="0"/>
            </a:ext>
          </a:extLst>
        </p:spPr>
        <p:txBody>
          <a:bodyPr/>
          <a:lstStyle>
            <a:lvl1pPr>
              <a:defRPr sz="900">
                <a:solidFill>
                  <a:srgbClr val="6C7B80"/>
                </a:solidFill>
                <a:latin typeface="Roboto"/>
                <a:ea typeface="Roboto"/>
                <a:cs typeface="Roboto"/>
              </a:defRPr>
            </a:lvl1pPr>
          </a:lstStyle>
          <a:p>
            <a:pPr algn="r"/>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502920" y="384048"/>
            <a:ext cx="2496312" cy="274320"/>
          </a:xfrm>
          <a:prstGeom prst="rect">
            <a:avLst/>
          </a:prstGeom>
          <a:noFill/>
          <a:ln/>
        </p:spPr>
        <p:txBody>
          <a:bodyPr wrap="square" lIns="0" tIns="0" rIns="0" bIns="0" rtlCol="0" anchor="ctr"/>
          <a:lstStyle/>
          <a:p>
            <a:pPr marL="0" indent="0">
              <a:buNone/>
            </a:pPr>
            <a:r>
              <a:rPr lang="en-US" sz="1200" kern="0" spc="220" dirty="0">
                <a:solidFill>
                  <a:srgbClr val="3C7D2C"/>
                </a:solidFill>
                <a:latin typeface="Roboto Medium" pitchFamily="34" charset="0"/>
                <a:ea typeface="Roboto Medium" pitchFamily="34" charset="-122"/>
                <a:cs typeface="Roboto Medium" pitchFamily="34" charset="-120"/>
              </a:rPr>
              <a:t>BACKUP · ESTIMATES</a:t>
            </a:r>
            <a:endParaRPr lang="en-US" sz="1200" dirty="0"/>
          </a:p>
        </p:txBody>
      </p:sp>
      <p:sp>
        <p:nvSpPr>
          <p:cNvPr id="3" name="Shape 1"/>
          <p:cNvSpPr/>
          <p:nvPr/>
        </p:nvSpPr>
        <p:spPr>
          <a:xfrm>
            <a:off x="3108960" y="521208"/>
            <a:ext cx="6202375" cy="0"/>
          </a:xfrm>
          <a:prstGeom prst="line">
            <a:avLst/>
          </a:prstGeom>
          <a:noFill/>
          <a:ln w="9525">
            <a:solidFill>
              <a:srgbClr val="3C7D2C">
                <a:alpha val="55000"/>
              </a:srgbClr>
            </a:solidFill>
            <a:prstDash val="solid"/>
          </a:ln>
        </p:spPr>
        <p:txBody>
          <a:bodyPr/>
          <a:lstStyle/>
          <a:p>
            <a:endParaRPr lang="en-US"/>
          </a:p>
        </p:txBody>
      </p:sp>
      <p:sp>
        <p:nvSpPr>
          <p:cNvPr id="4" name="claim-C"/>
          <p:cNvSpPr/>
          <p:nvPr/>
        </p:nvSpPr>
        <p:spPr>
          <a:xfrm>
            <a:off x="9539935" y="347472"/>
            <a:ext cx="2148840" cy="310896"/>
          </a:xfrm>
          <a:prstGeom prst="roundRect">
            <a:avLst>
              <a:gd name="adj" fmla="val 50000"/>
            </a:avLst>
          </a:prstGeom>
          <a:solidFill>
            <a:srgbClr val="F3E3E9"/>
          </a:solidFill>
          <a:ln w="12700">
            <a:solidFill>
              <a:srgbClr val="A42C58"/>
            </a:solidFill>
          </a:ln>
        </p:spPr>
        <p:txBody>
          <a:bodyPr wrap="square" lIns="0" tIns="0" rIns="0" bIns="0" rtlCol="0" anchor="ctr"/>
          <a:lstStyle/>
          <a:p>
            <a:pPr marL="0" indent="0" algn="ctr">
              <a:buNone/>
            </a:pPr>
            <a:r>
              <a:rPr lang="en-US" sz="1050" kern="0" spc="150" dirty="0">
                <a:solidFill>
                  <a:srgbClr val="A42C58"/>
                </a:solidFill>
                <a:latin typeface="Roboto Medium" pitchFamily="34" charset="0"/>
                <a:ea typeface="Roboto Medium" pitchFamily="34" charset="-122"/>
                <a:cs typeface="Roboto Medium" pitchFamily="34" charset="-120"/>
              </a:rPr>
              <a:t>CAUSAL · CONDITIONAL</a:t>
            </a:r>
            <a:endParaRPr lang="en-US" sz="1050" dirty="0"/>
          </a:p>
        </p:txBody>
      </p:sp>
      <p:sp>
        <p:nvSpPr>
          <p:cNvPr id="5" name="title"/>
          <p:cNvSpPr txBox="1"/>
          <p:nvPr/>
        </p:nvSpPr>
        <p:spPr>
          <a:xfrm>
            <a:off x="502920" y="731520"/>
            <a:ext cx="11185855" cy="475488"/>
          </a:xfrm>
          <a:prstGeom prst="rect">
            <a:avLst/>
          </a:prstGeom>
          <a:noFill/>
          <a:ln/>
        </p:spPr>
        <p:txBody>
          <a:bodyPr wrap="square" lIns="0" tIns="0" rIns="0" bIns="0" rtlCol="0" anchor="t"/>
          <a:lstStyle/>
          <a:p>
            <a:pPr marL="0" indent="0">
              <a:buNone/>
            </a:pPr>
            <a:r>
              <a:rPr lang="en-US" sz="2800" dirty="0">
                <a:solidFill>
                  <a:srgbClr val="22383F"/>
                </a:solidFill>
                <a:latin typeface="Roboto Light" pitchFamily="34" charset="0"/>
                <a:ea typeface="Roboto Light" pitchFamily="34" charset="-122"/>
                <a:cs typeface="Roboto Light" pitchFamily="34" charset="-120"/>
              </a:rPr>
              <a:t>Five estimates, one conditional range</a:t>
            </a:r>
            <a:endParaRPr lang="en-US" sz="2800" dirty="0"/>
          </a:p>
        </p:txBody>
      </p:sp>
      <p:sp>
        <p:nvSpPr>
          <p:cNvPr id="6" name="subtitle"/>
          <p:cNvSpPr txBox="1"/>
          <p:nvPr/>
        </p:nvSpPr>
        <p:spPr>
          <a:xfrm>
            <a:off x="502920" y="1261872"/>
            <a:ext cx="11185855" cy="274320"/>
          </a:xfrm>
          <a:prstGeom prst="rect">
            <a:avLst/>
          </a:prstGeom>
          <a:noFill/>
          <a:ln/>
        </p:spPr>
        <p:txBody>
          <a:bodyPr wrap="square" lIns="0" tIns="0" rIns="0" bIns="0" rtlCol="0" anchor="ctr"/>
          <a:lstStyle/>
          <a:p>
            <a:pPr marL="0" indent="0">
              <a:buNone/>
            </a:pPr>
            <a:r>
              <a:rPr lang="en-US" sz="1400" dirty="0">
                <a:solidFill>
                  <a:srgbClr val="4A5B60"/>
                </a:solidFill>
                <a:latin typeface="Roboto" pitchFamily="34" charset="0"/>
                <a:ea typeface="Roboto" pitchFamily="34" charset="-122"/>
                <a:cs typeface="Roboto" pitchFamily="34" charset="-120"/>
              </a:rPr>
              <a:t>Change in net new mining, Tambopata buffer zone, 2019–21, ha/yr</a:t>
            </a:r>
            <a:endParaRPr lang="en-US" sz="1400" dirty="0"/>
          </a:p>
        </p:txBody>
      </p:sp>
      <p:sp>
        <p:nvSpPr>
          <p:cNvPr id="7" name="plate"/>
          <p:cNvSpPr/>
          <p:nvPr/>
        </p:nvSpPr>
        <p:spPr>
          <a:xfrm>
            <a:off x="502920" y="1691640"/>
            <a:ext cx="11185855" cy="4663440"/>
          </a:xfrm>
          <a:prstGeom prst="rect">
            <a:avLst/>
          </a:prstGeom>
          <a:solidFill>
            <a:srgbClr val="FBFAF7"/>
          </a:solidFill>
          <a:ln w="9525">
            <a:solidFill>
              <a:srgbClr val="D9D2C7"/>
            </a:solidFill>
            <a:prstDash val="solid"/>
          </a:ln>
        </p:spPr>
        <p:txBody>
          <a:bodyPr/>
          <a:lstStyle/>
          <a:p>
            <a:endParaRPr lang="en-US"/>
          </a:p>
        </p:txBody>
      </p:sp>
      <p:pic>
        <p:nvPicPr>
          <p:cNvPr id="8" name="Image 0" descr="slide_07b_estimates.png"/>
          <p:cNvPicPr>
            <a:picLocks noChangeAspect="1"/>
          </p:cNvPicPr>
          <p:nvPr/>
        </p:nvPicPr>
        <p:blipFill>
          <a:blip r:embed="rId3"/>
          <a:stretch>
            <a:fillRect/>
          </a:stretch>
        </p:blipFill>
        <p:spPr>
          <a:xfrm>
            <a:off x="557784" y="1893336"/>
            <a:ext cx="11076127" cy="4260049"/>
          </a:xfrm>
          <a:prstGeom prst="rect">
            <a:avLst/>
          </a:prstGeom>
        </p:spPr>
      </p:pic>
      <p:sp>
        <p:nvSpPr>
          <p:cNvPr id="25" name="Slide Number Placeholder 0"/>
          <p:cNvSpPr>
            <a:spLocks noGrp="1"/>
          </p:cNvSpPr>
          <p:nvPr>
            <p:ph type="sldNum" sz="quarter" idx="4294967295"/>
          </p:nvPr>
        </p:nvSpPr>
        <p:spPr>
          <a:xfrm>
            <a:off x="11140135" y="6510528"/>
            <a:ext cx="548640" cy="219456"/>
          </a:xfrm>
          <a:prstGeom prst="rect">
            <a:avLst/>
          </a:prstGeom>
          <a:extLst>
            <a:ext uri="{C572A759-6A51-4108-AA02-DFA0A04FC94B}">
              <ma14:wrappingTextBoxFlag xmlns="" xmlns:ma14="http://schemas.microsoft.com/office/mac/drawingml/2011/main" val="0"/>
            </a:ext>
          </a:extLst>
        </p:spPr>
        <p:txBody>
          <a:bodyPr/>
          <a:lstStyle>
            <a:lvl1pPr>
              <a:defRPr sz="900">
                <a:solidFill>
                  <a:srgbClr val="6C7B80"/>
                </a:solidFill>
                <a:latin typeface="Roboto"/>
                <a:ea typeface="Roboto"/>
                <a:cs typeface="Roboto"/>
              </a:defRPr>
            </a:lvl1pPr>
          </a:lstStyle>
          <a:p>
            <a:pPr algn="r"/>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502920" y="384048"/>
            <a:ext cx="2990088" cy="274320"/>
          </a:xfrm>
          <a:prstGeom prst="rect">
            <a:avLst/>
          </a:prstGeom>
          <a:noFill/>
          <a:ln/>
        </p:spPr>
        <p:txBody>
          <a:bodyPr wrap="square" lIns="0" tIns="0" rIns="0" bIns="0" rtlCol="0" anchor="ctr"/>
          <a:lstStyle/>
          <a:p>
            <a:pPr marL="0" indent="0">
              <a:buNone/>
            </a:pPr>
            <a:r>
              <a:rPr lang="en-US" sz="1200" kern="0" spc="220" dirty="0">
                <a:solidFill>
                  <a:srgbClr val="3C7D2C"/>
                </a:solidFill>
                <a:latin typeface="Roboto Medium" pitchFamily="34" charset="0"/>
                <a:ea typeface="Roboto Medium" pitchFamily="34" charset="-122"/>
                <a:cs typeface="Roboto Medium" pitchFamily="34" charset="-120"/>
              </a:rPr>
              <a:t>BACKUP · PLACEBO TESTS</a:t>
            </a:r>
            <a:endParaRPr lang="en-US" sz="1200" dirty="0"/>
          </a:p>
        </p:txBody>
      </p:sp>
      <p:sp>
        <p:nvSpPr>
          <p:cNvPr id="3" name="Shape 1"/>
          <p:cNvSpPr/>
          <p:nvPr/>
        </p:nvSpPr>
        <p:spPr>
          <a:xfrm>
            <a:off x="3602736" y="521208"/>
            <a:ext cx="5708599" cy="0"/>
          </a:xfrm>
          <a:prstGeom prst="line">
            <a:avLst/>
          </a:prstGeom>
          <a:noFill/>
          <a:ln w="9525">
            <a:solidFill>
              <a:srgbClr val="3C7D2C">
                <a:alpha val="55000"/>
              </a:srgbClr>
            </a:solidFill>
            <a:prstDash val="solid"/>
          </a:ln>
        </p:spPr>
        <p:txBody>
          <a:bodyPr/>
          <a:lstStyle/>
          <a:p>
            <a:endParaRPr lang="en-US"/>
          </a:p>
        </p:txBody>
      </p:sp>
      <p:sp>
        <p:nvSpPr>
          <p:cNvPr id="4" name="claim-D"/>
          <p:cNvSpPr/>
          <p:nvPr/>
        </p:nvSpPr>
        <p:spPr>
          <a:xfrm>
            <a:off x="9539935" y="347472"/>
            <a:ext cx="2148840" cy="310896"/>
          </a:xfrm>
          <a:prstGeom prst="roundRect">
            <a:avLst>
              <a:gd name="adj" fmla="val 50000"/>
            </a:avLst>
          </a:prstGeom>
          <a:ln w="12700">
            <a:solidFill>
              <a:srgbClr val="2B6A8A"/>
            </a:solidFill>
          </a:ln>
        </p:spPr>
        <p:txBody>
          <a:bodyPr wrap="square" lIns="0" tIns="0" rIns="0" bIns="0" rtlCol="0" anchor="ctr"/>
          <a:lstStyle/>
          <a:p>
            <a:pPr marL="0" indent="0" algn="ctr">
              <a:buNone/>
            </a:pPr>
            <a:r>
              <a:rPr lang="en-US" sz="1050" kern="0" spc="150" dirty="0">
                <a:solidFill>
                  <a:srgbClr val="2B6A8A"/>
                </a:solidFill>
                <a:latin typeface="Roboto Medium" pitchFamily="34" charset="0"/>
                <a:ea typeface="Roboto Medium" pitchFamily="34" charset="-122"/>
                <a:cs typeface="Roboto Medium" pitchFamily="34" charset="-120"/>
              </a:rPr>
              <a:t>DESCRIPTION</a:t>
            </a:r>
            <a:endParaRPr lang="en-US" sz="1050" dirty="0"/>
          </a:p>
        </p:txBody>
      </p:sp>
      <p:sp>
        <p:nvSpPr>
          <p:cNvPr id="5" name="title"/>
          <p:cNvSpPr txBox="1"/>
          <p:nvPr/>
        </p:nvSpPr>
        <p:spPr>
          <a:xfrm>
            <a:off x="502920" y="731520"/>
            <a:ext cx="11185855" cy="475488"/>
          </a:xfrm>
          <a:prstGeom prst="rect">
            <a:avLst/>
          </a:prstGeom>
          <a:noFill/>
          <a:ln/>
        </p:spPr>
        <p:txBody>
          <a:bodyPr wrap="square" lIns="0" tIns="0" rIns="0" bIns="0" rtlCol="0" anchor="t"/>
          <a:lstStyle/>
          <a:p>
            <a:pPr marL="0" indent="0">
              <a:buNone/>
            </a:pPr>
            <a:r>
              <a:rPr lang="en-US" sz="2800" dirty="0">
                <a:solidFill>
                  <a:srgbClr val="22383F"/>
                </a:solidFill>
                <a:latin typeface="Roboto Light" pitchFamily="34" charset="0"/>
                <a:ea typeface="Roboto Light" pitchFamily="34" charset="-122"/>
                <a:cs typeface="Roboto Light" pitchFamily="34" charset="-120"/>
              </a:rPr>
              <a:t>How a fake test shows if the real result stands out</a:t>
            </a:r>
            <a:endParaRPr lang="en-US" sz="2800" dirty="0"/>
          </a:p>
        </p:txBody>
      </p:sp>
      <p:sp>
        <p:nvSpPr>
          <p:cNvPr id="6" name="plate"/>
          <p:cNvSpPr/>
          <p:nvPr/>
        </p:nvSpPr>
        <p:spPr>
          <a:xfrm>
            <a:off x="502920" y="1691640"/>
            <a:ext cx="11185855" cy="4663440"/>
          </a:xfrm>
          <a:prstGeom prst="rect">
            <a:avLst/>
          </a:prstGeom>
          <a:solidFill>
            <a:srgbClr val="FBFAF7"/>
          </a:solidFill>
          <a:ln w="9525">
            <a:solidFill>
              <a:srgbClr val="D9D2C7"/>
            </a:solidFill>
            <a:prstDash val="solid"/>
          </a:ln>
        </p:spPr>
        <p:txBody>
          <a:bodyPr/>
          <a:lstStyle/>
          <a:p>
            <a:endParaRPr lang="en-US"/>
          </a:p>
        </p:txBody>
      </p:sp>
      <p:pic>
        <p:nvPicPr>
          <p:cNvPr id="7" name="Image 0" descr="fig_placebo_explainer.png"/>
          <p:cNvPicPr>
            <a:picLocks noChangeAspect="1"/>
          </p:cNvPicPr>
          <p:nvPr/>
        </p:nvPicPr>
        <p:blipFill>
          <a:blip r:embed="rId3"/>
          <a:stretch>
            <a:fillRect/>
          </a:stretch>
        </p:blipFill>
        <p:spPr>
          <a:xfrm>
            <a:off x="2421919" y="1737360"/>
            <a:ext cx="7347857" cy="4572000"/>
          </a:xfrm>
          <a:prstGeom prst="rect">
            <a:avLst/>
          </a:prstGeom>
        </p:spPr>
      </p:pic>
      <p:sp>
        <p:nvSpPr>
          <p:cNvPr id="25" name="Slide Number Placeholder 0"/>
          <p:cNvSpPr>
            <a:spLocks noGrp="1"/>
          </p:cNvSpPr>
          <p:nvPr>
            <p:ph type="sldNum" sz="quarter" idx="4294967295"/>
          </p:nvPr>
        </p:nvSpPr>
        <p:spPr>
          <a:xfrm>
            <a:off x="11140135" y="6510528"/>
            <a:ext cx="548640" cy="219456"/>
          </a:xfrm>
          <a:prstGeom prst="rect">
            <a:avLst/>
          </a:prstGeom>
          <a:extLst>
            <a:ext uri="{C572A759-6A51-4108-AA02-DFA0A04FC94B}">
              <ma14:wrappingTextBoxFlag xmlns="" xmlns:ma14="http://schemas.microsoft.com/office/mac/drawingml/2011/main" val="0"/>
            </a:ext>
          </a:extLst>
        </p:spPr>
        <p:txBody>
          <a:bodyPr/>
          <a:lstStyle>
            <a:lvl1pPr>
              <a:defRPr sz="900">
                <a:solidFill>
                  <a:srgbClr val="6C7B80"/>
                </a:solidFill>
                <a:latin typeface="Roboto"/>
                <a:ea typeface="Roboto"/>
                <a:cs typeface="Roboto"/>
              </a:defRPr>
            </a:lvl1pPr>
          </a:lstStyle>
          <a:p>
            <a:pPr algn="r"/>
            <a:fld id="{F7021451-1387-4CA6-816F-3879F97B5CBC}" type="slidenum">
              <a:rPr lang="en-US" b="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502920" y="384048"/>
            <a:ext cx="2125980" cy="274320"/>
          </a:xfrm>
          <a:prstGeom prst="rect">
            <a:avLst/>
          </a:prstGeom>
          <a:noFill/>
          <a:ln/>
        </p:spPr>
        <p:txBody>
          <a:bodyPr wrap="square" lIns="0" tIns="0" rIns="0" bIns="0" rtlCol="0" anchor="ctr"/>
          <a:lstStyle/>
          <a:p>
            <a:pPr marL="0" indent="0">
              <a:buNone/>
            </a:pPr>
            <a:r>
              <a:rPr lang="en-US" sz="1200" kern="0" spc="220" dirty="0">
                <a:solidFill>
                  <a:srgbClr val="3C7D2C"/>
                </a:solidFill>
                <a:latin typeface="Roboto Medium" pitchFamily="34" charset="0"/>
                <a:ea typeface="Roboto Medium" pitchFamily="34" charset="-122"/>
                <a:cs typeface="Roboto Medium" pitchFamily="34" charset="-120"/>
              </a:rPr>
              <a:t>BACKUP · TIMING</a:t>
            </a:r>
            <a:endParaRPr lang="en-US" sz="1200" dirty="0"/>
          </a:p>
        </p:txBody>
      </p:sp>
      <p:sp>
        <p:nvSpPr>
          <p:cNvPr id="3" name="Shape 1"/>
          <p:cNvSpPr/>
          <p:nvPr/>
        </p:nvSpPr>
        <p:spPr>
          <a:xfrm>
            <a:off x="2738628" y="521208"/>
            <a:ext cx="6572707" cy="0"/>
          </a:xfrm>
          <a:prstGeom prst="line">
            <a:avLst/>
          </a:prstGeom>
          <a:noFill/>
          <a:ln w="9525">
            <a:solidFill>
              <a:srgbClr val="3C7D2C">
                <a:alpha val="55000"/>
              </a:srgbClr>
            </a:solidFill>
            <a:prstDash val="solid"/>
          </a:ln>
        </p:spPr>
        <p:txBody>
          <a:bodyPr/>
          <a:lstStyle/>
          <a:p>
            <a:endParaRPr lang="en-US"/>
          </a:p>
        </p:txBody>
      </p:sp>
      <p:sp>
        <p:nvSpPr>
          <p:cNvPr id="4" name="claim-D"/>
          <p:cNvSpPr/>
          <p:nvPr/>
        </p:nvSpPr>
        <p:spPr>
          <a:xfrm>
            <a:off x="9539935" y="347472"/>
            <a:ext cx="2148840" cy="310896"/>
          </a:xfrm>
          <a:prstGeom prst="roundRect">
            <a:avLst>
              <a:gd name="adj" fmla="val 50000"/>
            </a:avLst>
          </a:prstGeom>
          <a:ln w="12700">
            <a:solidFill>
              <a:srgbClr val="2B6A8A"/>
            </a:solidFill>
          </a:ln>
        </p:spPr>
        <p:txBody>
          <a:bodyPr wrap="square" lIns="0" tIns="0" rIns="0" bIns="0" rtlCol="0" anchor="ctr"/>
          <a:lstStyle/>
          <a:p>
            <a:pPr marL="0" indent="0" algn="ctr">
              <a:buNone/>
            </a:pPr>
            <a:r>
              <a:rPr lang="en-US" sz="1050" kern="0" spc="150" dirty="0">
                <a:solidFill>
                  <a:srgbClr val="2B6A8A"/>
                </a:solidFill>
                <a:latin typeface="Roboto Medium" pitchFamily="34" charset="0"/>
                <a:ea typeface="Roboto Medium" pitchFamily="34" charset="-122"/>
                <a:cs typeface="Roboto Medium" pitchFamily="34" charset="-120"/>
              </a:rPr>
              <a:t>DESCRIPTION</a:t>
            </a:r>
            <a:endParaRPr lang="en-US" sz="1050" dirty="0"/>
          </a:p>
        </p:txBody>
      </p:sp>
      <p:sp>
        <p:nvSpPr>
          <p:cNvPr id="5" name="title"/>
          <p:cNvSpPr txBox="1"/>
          <p:nvPr/>
        </p:nvSpPr>
        <p:spPr>
          <a:xfrm>
            <a:off x="502920" y="731520"/>
            <a:ext cx="11185855" cy="475488"/>
          </a:xfrm>
          <a:prstGeom prst="rect">
            <a:avLst/>
          </a:prstGeom>
          <a:noFill/>
          <a:ln/>
        </p:spPr>
        <p:txBody>
          <a:bodyPr wrap="square" lIns="0" tIns="0" rIns="0" bIns="0" rtlCol="0" anchor="t"/>
          <a:lstStyle/>
          <a:p>
            <a:pPr marL="0" indent="0">
              <a:buNone/>
            </a:pPr>
            <a:r>
              <a:rPr lang="en-US" sz="2800" dirty="0">
                <a:solidFill>
                  <a:srgbClr val="22383F"/>
                </a:solidFill>
                <a:latin typeface="Roboto Light" pitchFamily="34" charset="0"/>
                <a:ea typeface="Roboto Light" pitchFamily="34" charset="-122"/>
                <a:cs typeface="Roboto Light" pitchFamily="34" charset="-120"/>
              </a:rPr>
              <a:t>Clearing in La Pampa went on through 2019</a:t>
            </a:r>
            <a:endParaRPr lang="en-US" sz="2800" dirty="0"/>
          </a:p>
        </p:txBody>
      </p:sp>
      <p:sp>
        <p:nvSpPr>
          <p:cNvPr id="6" name="plate"/>
          <p:cNvSpPr/>
          <p:nvPr/>
        </p:nvSpPr>
        <p:spPr>
          <a:xfrm>
            <a:off x="502920" y="1691640"/>
            <a:ext cx="11185855" cy="4663440"/>
          </a:xfrm>
          <a:prstGeom prst="rect">
            <a:avLst/>
          </a:prstGeom>
          <a:solidFill>
            <a:srgbClr val="FBFAF7"/>
          </a:solidFill>
          <a:ln w="9525">
            <a:solidFill>
              <a:srgbClr val="D9D2C7"/>
            </a:solidFill>
            <a:prstDash val="solid"/>
          </a:ln>
        </p:spPr>
        <p:txBody>
          <a:bodyPr/>
          <a:lstStyle/>
          <a:p>
            <a:endParaRPr lang="en-US"/>
          </a:p>
        </p:txBody>
      </p:sp>
      <p:pic>
        <p:nvPicPr>
          <p:cNvPr id="7" name="Image 0" descr="fig_v2_glad_quarterly.png"/>
          <p:cNvPicPr>
            <a:picLocks noChangeAspect="1"/>
          </p:cNvPicPr>
          <p:nvPr/>
        </p:nvPicPr>
        <p:blipFill>
          <a:blip r:embed="rId3"/>
          <a:stretch>
            <a:fillRect/>
          </a:stretch>
        </p:blipFill>
        <p:spPr>
          <a:xfrm>
            <a:off x="3586823" y="1737360"/>
            <a:ext cx="5018049" cy="4572000"/>
          </a:xfrm>
          <a:prstGeom prst="rect">
            <a:avLst/>
          </a:prstGeom>
        </p:spPr>
      </p:pic>
      <p:sp>
        <p:nvSpPr>
          <p:cNvPr id="25" name="Slide Number Placeholder 0"/>
          <p:cNvSpPr>
            <a:spLocks noGrp="1"/>
          </p:cNvSpPr>
          <p:nvPr>
            <p:ph type="sldNum" sz="quarter" idx="4294967295"/>
          </p:nvPr>
        </p:nvSpPr>
        <p:spPr>
          <a:xfrm>
            <a:off x="11140135" y="6510528"/>
            <a:ext cx="548640" cy="219456"/>
          </a:xfrm>
          <a:prstGeom prst="rect">
            <a:avLst/>
          </a:prstGeom>
          <a:extLst>
            <a:ext uri="{C572A759-6A51-4108-AA02-DFA0A04FC94B}">
              <ma14:wrappingTextBoxFlag xmlns="" xmlns:ma14="http://schemas.microsoft.com/office/mac/drawingml/2011/main" val="0"/>
            </a:ext>
          </a:extLst>
        </p:spPr>
        <p:txBody>
          <a:bodyPr/>
          <a:lstStyle>
            <a:lvl1pPr>
              <a:defRPr sz="900">
                <a:solidFill>
                  <a:srgbClr val="6C7B80"/>
                </a:solidFill>
                <a:latin typeface="Roboto"/>
                <a:ea typeface="Roboto"/>
                <a:cs typeface="Roboto"/>
              </a:defRPr>
            </a:lvl1pPr>
          </a:lstStyle>
          <a:p>
            <a:pPr algn="r"/>
            <a:fld id="{F7021451-1387-4CA6-816F-3879F97B5CBC}" type="slidenum">
              <a:rPr lang="en-US" b="0"/>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502920" y="384048"/>
            <a:ext cx="2002536" cy="274320"/>
          </a:xfrm>
          <a:prstGeom prst="rect">
            <a:avLst/>
          </a:prstGeom>
          <a:noFill/>
          <a:ln/>
        </p:spPr>
        <p:txBody>
          <a:bodyPr wrap="square" lIns="0" tIns="0" rIns="0" bIns="0" rtlCol="0" anchor="ctr"/>
          <a:lstStyle/>
          <a:p>
            <a:pPr marL="0" indent="0">
              <a:buNone/>
            </a:pPr>
            <a:r>
              <a:rPr lang="en-US" sz="1200" kern="0" spc="220" dirty="0">
                <a:solidFill>
                  <a:srgbClr val="3C7D2C"/>
                </a:solidFill>
                <a:latin typeface="Roboto Medium" pitchFamily="34" charset="0"/>
                <a:ea typeface="Roboto Medium" pitchFamily="34" charset="-122"/>
                <a:cs typeface="Roboto Medium" pitchFamily="34" charset="-120"/>
              </a:rPr>
              <a:t>BACKUP · DEPTH</a:t>
            </a:r>
            <a:endParaRPr lang="en-US" sz="1200" dirty="0"/>
          </a:p>
        </p:txBody>
      </p:sp>
      <p:sp>
        <p:nvSpPr>
          <p:cNvPr id="3" name="Shape 1"/>
          <p:cNvSpPr/>
          <p:nvPr/>
        </p:nvSpPr>
        <p:spPr>
          <a:xfrm>
            <a:off x="2615184" y="521208"/>
            <a:ext cx="6696151" cy="0"/>
          </a:xfrm>
          <a:prstGeom prst="line">
            <a:avLst/>
          </a:prstGeom>
          <a:noFill/>
          <a:ln w="9525">
            <a:solidFill>
              <a:srgbClr val="3C7D2C">
                <a:alpha val="55000"/>
              </a:srgbClr>
            </a:solidFill>
            <a:prstDash val="solid"/>
          </a:ln>
        </p:spPr>
        <p:txBody>
          <a:bodyPr/>
          <a:lstStyle/>
          <a:p>
            <a:endParaRPr lang="en-US"/>
          </a:p>
        </p:txBody>
      </p:sp>
      <p:sp>
        <p:nvSpPr>
          <p:cNvPr id="4" name="claim-D"/>
          <p:cNvSpPr/>
          <p:nvPr/>
        </p:nvSpPr>
        <p:spPr>
          <a:xfrm>
            <a:off x="9539935" y="347472"/>
            <a:ext cx="2148840" cy="310896"/>
          </a:xfrm>
          <a:prstGeom prst="roundRect">
            <a:avLst>
              <a:gd name="adj" fmla="val 50000"/>
            </a:avLst>
          </a:prstGeom>
          <a:ln w="12700">
            <a:solidFill>
              <a:srgbClr val="2B6A8A"/>
            </a:solidFill>
          </a:ln>
        </p:spPr>
        <p:txBody>
          <a:bodyPr wrap="square" lIns="0" tIns="0" rIns="0" bIns="0" rtlCol="0" anchor="ctr"/>
          <a:lstStyle/>
          <a:p>
            <a:pPr marL="0" indent="0" algn="ctr">
              <a:buNone/>
            </a:pPr>
            <a:r>
              <a:rPr lang="en-US" sz="1050" kern="0" spc="150" dirty="0">
                <a:solidFill>
                  <a:srgbClr val="2B6A8A"/>
                </a:solidFill>
                <a:latin typeface="Roboto Medium" pitchFamily="34" charset="0"/>
                <a:ea typeface="Roboto Medium" pitchFamily="34" charset="-122"/>
                <a:cs typeface="Roboto Medium" pitchFamily="34" charset="-120"/>
              </a:rPr>
              <a:t>DESCRIPTION</a:t>
            </a:r>
            <a:endParaRPr lang="en-US" sz="1050" dirty="0"/>
          </a:p>
        </p:txBody>
      </p:sp>
      <p:sp>
        <p:nvSpPr>
          <p:cNvPr id="5" name="title"/>
          <p:cNvSpPr txBox="1"/>
          <p:nvPr/>
        </p:nvSpPr>
        <p:spPr>
          <a:xfrm>
            <a:off x="502920" y="731520"/>
            <a:ext cx="11185855" cy="475488"/>
          </a:xfrm>
          <a:prstGeom prst="rect">
            <a:avLst/>
          </a:prstGeom>
          <a:noFill/>
          <a:ln/>
        </p:spPr>
        <p:txBody>
          <a:bodyPr wrap="square" lIns="0" tIns="0" rIns="0" bIns="0" rtlCol="0" anchor="t"/>
          <a:lstStyle/>
          <a:p>
            <a:pPr marL="0" indent="0">
              <a:buNone/>
            </a:pPr>
            <a:r>
              <a:rPr lang="en-US" sz="2800" dirty="0">
                <a:solidFill>
                  <a:srgbClr val="22383F"/>
                </a:solidFill>
                <a:latin typeface="Roboto Light" pitchFamily="34" charset="0"/>
                <a:ea typeface="Roboto Light" pitchFamily="34" charset="-122"/>
                <a:cs typeface="Roboto Light" pitchFamily="34" charset="-120"/>
              </a:rPr>
              <a:t>New mining hugged the road, then spread deeper</a:t>
            </a:r>
            <a:endParaRPr lang="en-US" sz="2800" dirty="0"/>
          </a:p>
        </p:txBody>
      </p:sp>
      <p:sp>
        <p:nvSpPr>
          <p:cNvPr id="6" name="plate"/>
          <p:cNvSpPr/>
          <p:nvPr/>
        </p:nvSpPr>
        <p:spPr>
          <a:xfrm>
            <a:off x="502920" y="1691640"/>
            <a:ext cx="11185855" cy="4663440"/>
          </a:xfrm>
          <a:prstGeom prst="rect">
            <a:avLst/>
          </a:prstGeom>
          <a:solidFill>
            <a:srgbClr val="FBFAF7"/>
          </a:solidFill>
          <a:ln w="9525">
            <a:solidFill>
              <a:srgbClr val="D9D2C7"/>
            </a:solidFill>
            <a:prstDash val="solid"/>
          </a:ln>
        </p:spPr>
        <p:txBody>
          <a:bodyPr/>
          <a:lstStyle/>
          <a:p>
            <a:endParaRPr lang="en-US"/>
          </a:p>
        </p:txBody>
      </p:sp>
      <p:pic>
        <p:nvPicPr>
          <p:cNvPr id="7" name="Image 0" descr="fig_v2_depth.png"/>
          <p:cNvPicPr>
            <a:picLocks noChangeAspect="1"/>
          </p:cNvPicPr>
          <p:nvPr/>
        </p:nvPicPr>
        <p:blipFill>
          <a:blip r:embed="rId3"/>
          <a:stretch>
            <a:fillRect/>
          </a:stretch>
        </p:blipFill>
        <p:spPr>
          <a:xfrm>
            <a:off x="1419939" y="1737360"/>
            <a:ext cx="9351818" cy="4572000"/>
          </a:xfrm>
          <a:prstGeom prst="rect">
            <a:avLst/>
          </a:prstGeom>
        </p:spPr>
      </p:pic>
      <p:sp>
        <p:nvSpPr>
          <p:cNvPr id="25" name="Slide Number Placeholder 0"/>
          <p:cNvSpPr>
            <a:spLocks noGrp="1"/>
          </p:cNvSpPr>
          <p:nvPr>
            <p:ph type="sldNum" sz="quarter" idx="4294967295"/>
          </p:nvPr>
        </p:nvSpPr>
        <p:spPr>
          <a:xfrm>
            <a:off x="11140135" y="6510528"/>
            <a:ext cx="548640" cy="219456"/>
          </a:xfrm>
          <a:prstGeom prst="rect">
            <a:avLst/>
          </a:prstGeom>
          <a:extLst>
            <a:ext uri="{C572A759-6A51-4108-AA02-DFA0A04FC94B}">
              <ma14:wrappingTextBoxFlag xmlns="" xmlns:ma14="http://schemas.microsoft.com/office/mac/drawingml/2011/main" val="0"/>
            </a:ext>
          </a:extLst>
        </p:spPr>
        <p:txBody>
          <a:bodyPr/>
          <a:lstStyle>
            <a:lvl1pPr>
              <a:defRPr sz="900">
                <a:solidFill>
                  <a:srgbClr val="6C7B80"/>
                </a:solidFill>
                <a:latin typeface="Roboto"/>
                <a:ea typeface="Roboto"/>
                <a:cs typeface="Roboto"/>
              </a:defRPr>
            </a:lvl1pPr>
          </a:lstStyle>
          <a:p>
            <a:pPr algn="r"/>
            <a:fld id="{F7021451-1387-4CA6-816F-3879F97B5CBC}" type="slidenum">
              <a:rPr lang="en-US" b="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502920" y="384048"/>
            <a:ext cx="2372868" cy="274320"/>
          </a:xfrm>
          <a:prstGeom prst="rect">
            <a:avLst/>
          </a:prstGeom>
          <a:noFill/>
          <a:ln/>
        </p:spPr>
        <p:txBody>
          <a:bodyPr wrap="square" lIns="0" tIns="0" rIns="0" bIns="0" rtlCol="0" anchor="ctr"/>
          <a:lstStyle/>
          <a:p>
            <a:pPr marL="0" indent="0">
              <a:buNone/>
            </a:pPr>
            <a:r>
              <a:rPr lang="en-US" sz="1200" kern="0" spc="220" dirty="0">
                <a:solidFill>
                  <a:srgbClr val="3C7D2C"/>
                </a:solidFill>
                <a:latin typeface="Roboto Medium" pitchFamily="34" charset="0"/>
                <a:ea typeface="Roboto Medium" pitchFamily="34" charset="-122"/>
                <a:cs typeface="Roboto Medium" pitchFamily="34" charset="-120"/>
              </a:rPr>
              <a:t>BACKUP · LEGALITY</a:t>
            </a:r>
            <a:endParaRPr lang="en-US" sz="1200" dirty="0"/>
          </a:p>
        </p:txBody>
      </p:sp>
      <p:sp>
        <p:nvSpPr>
          <p:cNvPr id="3" name="Shape 1"/>
          <p:cNvSpPr/>
          <p:nvPr/>
        </p:nvSpPr>
        <p:spPr>
          <a:xfrm>
            <a:off x="2985516" y="521208"/>
            <a:ext cx="6325819" cy="0"/>
          </a:xfrm>
          <a:prstGeom prst="line">
            <a:avLst/>
          </a:prstGeom>
          <a:noFill/>
          <a:ln w="9525">
            <a:solidFill>
              <a:srgbClr val="3C7D2C">
                <a:alpha val="55000"/>
              </a:srgbClr>
            </a:solidFill>
            <a:prstDash val="solid"/>
          </a:ln>
        </p:spPr>
        <p:txBody>
          <a:bodyPr/>
          <a:lstStyle/>
          <a:p>
            <a:endParaRPr lang="en-US"/>
          </a:p>
        </p:txBody>
      </p:sp>
      <p:sp>
        <p:nvSpPr>
          <p:cNvPr id="4" name="claim-D"/>
          <p:cNvSpPr/>
          <p:nvPr/>
        </p:nvSpPr>
        <p:spPr>
          <a:xfrm>
            <a:off x="9539935" y="347472"/>
            <a:ext cx="2148840" cy="310896"/>
          </a:xfrm>
          <a:prstGeom prst="roundRect">
            <a:avLst>
              <a:gd name="adj" fmla="val 50000"/>
            </a:avLst>
          </a:prstGeom>
          <a:ln w="12700">
            <a:solidFill>
              <a:srgbClr val="2B6A8A"/>
            </a:solidFill>
          </a:ln>
        </p:spPr>
        <p:txBody>
          <a:bodyPr wrap="square" lIns="0" tIns="0" rIns="0" bIns="0" rtlCol="0" anchor="ctr"/>
          <a:lstStyle/>
          <a:p>
            <a:pPr marL="0" indent="0" algn="ctr">
              <a:buNone/>
            </a:pPr>
            <a:r>
              <a:rPr lang="en-US" sz="1050" kern="0" spc="150" dirty="0">
                <a:solidFill>
                  <a:srgbClr val="2B6A8A"/>
                </a:solidFill>
                <a:latin typeface="Roboto Medium" pitchFamily="34" charset="0"/>
                <a:ea typeface="Roboto Medium" pitchFamily="34" charset="-122"/>
                <a:cs typeface="Roboto Medium" pitchFamily="34" charset="-120"/>
              </a:rPr>
              <a:t>DESCRIPTION</a:t>
            </a:r>
            <a:endParaRPr lang="en-US" sz="1050" dirty="0"/>
          </a:p>
        </p:txBody>
      </p:sp>
      <p:sp>
        <p:nvSpPr>
          <p:cNvPr id="5" name="title"/>
          <p:cNvSpPr txBox="1"/>
          <p:nvPr/>
        </p:nvSpPr>
        <p:spPr>
          <a:xfrm>
            <a:off x="502920" y="731520"/>
            <a:ext cx="11185855" cy="475488"/>
          </a:xfrm>
          <a:prstGeom prst="rect">
            <a:avLst/>
          </a:prstGeom>
          <a:noFill/>
          <a:ln/>
        </p:spPr>
        <p:txBody>
          <a:bodyPr wrap="square" lIns="0" tIns="0" rIns="0" bIns="0" rtlCol="0" anchor="t"/>
          <a:lstStyle/>
          <a:p>
            <a:pPr marL="0" indent="0">
              <a:buNone/>
            </a:pPr>
            <a:r>
              <a:rPr lang="en-US" sz="2800" dirty="0">
                <a:solidFill>
                  <a:srgbClr val="22383F"/>
                </a:solidFill>
                <a:latin typeface="Roboto Light" pitchFamily="34" charset="0"/>
                <a:ea typeface="Roboto Light" pitchFamily="34" charset="-122"/>
                <a:cs typeface="Roboto Light" pitchFamily="34" charset="-120"/>
              </a:rPr>
              <a:t>Presumed-illegal new mining fell; grey zones grew</a:t>
            </a:r>
            <a:endParaRPr lang="en-US" sz="2800" dirty="0"/>
          </a:p>
        </p:txBody>
      </p:sp>
      <p:sp>
        <p:nvSpPr>
          <p:cNvPr id="6" name="plate"/>
          <p:cNvSpPr/>
          <p:nvPr/>
        </p:nvSpPr>
        <p:spPr>
          <a:xfrm>
            <a:off x="502920" y="1691640"/>
            <a:ext cx="11185855" cy="4663440"/>
          </a:xfrm>
          <a:prstGeom prst="rect">
            <a:avLst/>
          </a:prstGeom>
          <a:solidFill>
            <a:srgbClr val="FBFAF7"/>
          </a:solidFill>
          <a:ln w="9525">
            <a:solidFill>
              <a:srgbClr val="D9D2C7"/>
            </a:solidFill>
            <a:prstDash val="solid"/>
          </a:ln>
        </p:spPr>
        <p:txBody>
          <a:bodyPr/>
          <a:lstStyle/>
          <a:p>
            <a:endParaRPr lang="en-US"/>
          </a:p>
        </p:txBody>
      </p:sp>
      <p:pic>
        <p:nvPicPr>
          <p:cNvPr id="7" name="Image 0" descr="fig_v2_legality.png"/>
          <p:cNvPicPr>
            <a:picLocks noChangeAspect="1"/>
          </p:cNvPicPr>
          <p:nvPr/>
        </p:nvPicPr>
        <p:blipFill>
          <a:blip r:embed="rId3"/>
          <a:stretch>
            <a:fillRect/>
          </a:stretch>
        </p:blipFill>
        <p:spPr>
          <a:xfrm>
            <a:off x="1623239" y="1737360"/>
            <a:ext cx="8945217" cy="4572000"/>
          </a:xfrm>
          <a:prstGeom prst="rect">
            <a:avLst/>
          </a:prstGeom>
        </p:spPr>
      </p:pic>
      <p:sp>
        <p:nvSpPr>
          <p:cNvPr id="25" name="Slide Number Placeholder 0"/>
          <p:cNvSpPr>
            <a:spLocks noGrp="1"/>
          </p:cNvSpPr>
          <p:nvPr>
            <p:ph type="sldNum" sz="quarter" idx="4294967295"/>
          </p:nvPr>
        </p:nvSpPr>
        <p:spPr>
          <a:xfrm>
            <a:off x="11140135" y="6510528"/>
            <a:ext cx="548640" cy="219456"/>
          </a:xfrm>
          <a:prstGeom prst="rect">
            <a:avLst/>
          </a:prstGeom>
          <a:extLst>
            <a:ext uri="{C572A759-6A51-4108-AA02-DFA0A04FC94B}">
              <ma14:wrappingTextBoxFlag xmlns="" xmlns:ma14="http://schemas.microsoft.com/office/mac/drawingml/2011/main" val="0"/>
            </a:ext>
          </a:extLst>
        </p:spPr>
        <p:txBody>
          <a:bodyPr/>
          <a:lstStyle>
            <a:lvl1pPr>
              <a:defRPr sz="900">
                <a:solidFill>
                  <a:srgbClr val="6C7B80"/>
                </a:solidFill>
                <a:latin typeface="Roboto"/>
                <a:ea typeface="Roboto"/>
                <a:cs typeface="Roboto"/>
              </a:defRPr>
            </a:lvl1pPr>
          </a:lstStyle>
          <a:p>
            <a:pPr algn="r"/>
            <a:fld id="{F7021451-1387-4CA6-816F-3879F97B5CBC}" type="slidenum">
              <a:rPr lang="en-US" b="0"/>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txBox="1"/>
          <p:nvPr/>
        </p:nvSpPr>
        <p:spPr>
          <a:xfrm>
            <a:off x="502920" y="384048"/>
            <a:ext cx="2990088" cy="274320"/>
          </a:xfrm>
          <a:prstGeom prst="rect">
            <a:avLst/>
          </a:prstGeom>
          <a:noFill/>
          <a:ln/>
        </p:spPr>
        <p:txBody>
          <a:bodyPr wrap="square" lIns="0" tIns="0" rIns="0" bIns="0" rtlCol="0" anchor="ctr"/>
          <a:lstStyle/>
          <a:p>
            <a:pPr marL="0" indent="0">
              <a:buNone/>
            </a:pPr>
            <a:r>
              <a:rPr lang="en-US" sz="1200" kern="0" spc="220" dirty="0">
                <a:solidFill>
                  <a:srgbClr val="3C7D2C"/>
                </a:solidFill>
                <a:latin typeface="Roboto Medium" pitchFamily="34" charset="0"/>
                <a:ea typeface="Roboto Medium" pitchFamily="34" charset="-122"/>
                <a:cs typeface="Roboto Medium" pitchFamily="34" charset="-120"/>
              </a:rPr>
              <a:t>BACKUP · DECLARED GOLD</a:t>
            </a:r>
            <a:endParaRPr lang="en-US" sz="1200" dirty="0"/>
          </a:p>
        </p:txBody>
      </p:sp>
      <p:sp>
        <p:nvSpPr>
          <p:cNvPr id="3" name="Shape 1"/>
          <p:cNvSpPr/>
          <p:nvPr/>
        </p:nvSpPr>
        <p:spPr>
          <a:xfrm>
            <a:off x="3602736" y="521208"/>
            <a:ext cx="5708599" cy="0"/>
          </a:xfrm>
          <a:prstGeom prst="line">
            <a:avLst/>
          </a:prstGeom>
          <a:noFill/>
          <a:ln w="9525">
            <a:solidFill>
              <a:srgbClr val="3C7D2C">
                <a:alpha val="55000"/>
              </a:srgbClr>
            </a:solidFill>
            <a:prstDash val="solid"/>
          </a:ln>
        </p:spPr>
        <p:txBody>
          <a:bodyPr/>
          <a:lstStyle/>
          <a:p>
            <a:endParaRPr lang="en-US"/>
          </a:p>
        </p:txBody>
      </p:sp>
      <p:sp>
        <p:nvSpPr>
          <p:cNvPr id="4" name="claim-D"/>
          <p:cNvSpPr/>
          <p:nvPr/>
        </p:nvSpPr>
        <p:spPr>
          <a:xfrm>
            <a:off x="9539935" y="347472"/>
            <a:ext cx="2148840" cy="310896"/>
          </a:xfrm>
          <a:prstGeom prst="roundRect">
            <a:avLst>
              <a:gd name="adj" fmla="val 50000"/>
            </a:avLst>
          </a:prstGeom>
          <a:ln w="12700">
            <a:solidFill>
              <a:srgbClr val="2B6A8A"/>
            </a:solidFill>
          </a:ln>
        </p:spPr>
        <p:txBody>
          <a:bodyPr wrap="square" lIns="0" tIns="0" rIns="0" bIns="0" rtlCol="0" anchor="ctr"/>
          <a:lstStyle/>
          <a:p>
            <a:pPr marL="0" indent="0" algn="ctr">
              <a:buNone/>
            </a:pPr>
            <a:r>
              <a:rPr lang="en-US" sz="1050" kern="0" spc="150" dirty="0">
                <a:solidFill>
                  <a:srgbClr val="2B6A8A"/>
                </a:solidFill>
                <a:latin typeface="Roboto Medium" pitchFamily="34" charset="0"/>
                <a:ea typeface="Roboto Medium" pitchFamily="34" charset="-122"/>
                <a:cs typeface="Roboto Medium" pitchFamily="34" charset="-120"/>
              </a:rPr>
              <a:t>DESCRIPTION</a:t>
            </a:r>
            <a:endParaRPr lang="en-US" sz="1050" dirty="0"/>
          </a:p>
        </p:txBody>
      </p:sp>
      <p:sp>
        <p:nvSpPr>
          <p:cNvPr id="5" name="title"/>
          <p:cNvSpPr txBox="1"/>
          <p:nvPr/>
        </p:nvSpPr>
        <p:spPr>
          <a:xfrm>
            <a:off x="502920" y="731520"/>
            <a:ext cx="11185855" cy="475488"/>
          </a:xfrm>
          <a:prstGeom prst="rect">
            <a:avLst/>
          </a:prstGeom>
          <a:noFill/>
          <a:ln/>
        </p:spPr>
        <p:txBody>
          <a:bodyPr wrap="square" lIns="0" tIns="0" rIns="0" bIns="0" rtlCol="0" anchor="t"/>
          <a:lstStyle/>
          <a:p>
            <a:pPr marL="0" indent="0">
              <a:buNone/>
            </a:pPr>
            <a:r>
              <a:rPr lang="en-US" sz="2800" dirty="0">
                <a:solidFill>
                  <a:srgbClr val="22383F"/>
                </a:solidFill>
                <a:latin typeface="Roboto Light" pitchFamily="34" charset="0"/>
                <a:ea typeface="Roboto Light" pitchFamily="34" charset="-122"/>
                <a:cs typeface="Roboto Light" pitchFamily="34" charset="-120"/>
              </a:rPr>
              <a:t>The official gold drop is a definition change</a:t>
            </a:r>
            <a:endParaRPr lang="en-US" sz="2800" dirty="0"/>
          </a:p>
        </p:txBody>
      </p:sp>
      <p:sp>
        <p:nvSpPr>
          <p:cNvPr id="6" name="plate"/>
          <p:cNvSpPr/>
          <p:nvPr/>
        </p:nvSpPr>
        <p:spPr>
          <a:xfrm>
            <a:off x="502920" y="1691640"/>
            <a:ext cx="11185855" cy="4663440"/>
          </a:xfrm>
          <a:prstGeom prst="rect">
            <a:avLst/>
          </a:prstGeom>
          <a:solidFill>
            <a:srgbClr val="FBFAF7"/>
          </a:solidFill>
          <a:ln w="9525">
            <a:solidFill>
              <a:srgbClr val="D9D2C7"/>
            </a:solidFill>
            <a:prstDash val="solid"/>
          </a:ln>
        </p:spPr>
        <p:txBody>
          <a:bodyPr/>
          <a:lstStyle/>
          <a:p>
            <a:endParaRPr lang="en-US"/>
          </a:p>
        </p:txBody>
      </p:sp>
      <p:pic>
        <p:nvPicPr>
          <p:cNvPr id="7" name="Image 0" descr="fig_peru_gold_definition.png"/>
          <p:cNvPicPr>
            <a:picLocks noChangeAspect="1"/>
          </p:cNvPicPr>
          <p:nvPr/>
        </p:nvPicPr>
        <p:blipFill>
          <a:blip r:embed="rId3"/>
          <a:stretch>
            <a:fillRect/>
          </a:stretch>
        </p:blipFill>
        <p:spPr>
          <a:xfrm>
            <a:off x="1623239" y="1737360"/>
            <a:ext cx="8945217" cy="4572000"/>
          </a:xfrm>
          <a:prstGeom prst="rect">
            <a:avLst/>
          </a:prstGeom>
        </p:spPr>
      </p:pic>
      <p:sp>
        <p:nvSpPr>
          <p:cNvPr id="25" name="Slide Number Placeholder 0"/>
          <p:cNvSpPr>
            <a:spLocks noGrp="1"/>
          </p:cNvSpPr>
          <p:nvPr>
            <p:ph type="sldNum" sz="quarter" idx="4294967295"/>
          </p:nvPr>
        </p:nvSpPr>
        <p:spPr>
          <a:xfrm>
            <a:off x="11140135" y="6510528"/>
            <a:ext cx="548640" cy="219456"/>
          </a:xfrm>
          <a:prstGeom prst="rect">
            <a:avLst/>
          </a:prstGeom>
          <a:extLst>
            <a:ext uri="{C572A759-6A51-4108-AA02-DFA0A04FC94B}">
              <ma14:wrappingTextBoxFlag xmlns="" xmlns:ma14="http://schemas.microsoft.com/office/mac/drawingml/2011/main" val="0"/>
            </a:ext>
          </a:extLst>
        </p:spPr>
        <p:txBody>
          <a:bodyPr/>
          <a:lstStyle>
            <a:lvl1pPr>
              <a:defRPr sz="900">
                <a:solidFill>
                  <a:srgbClr val="6C7B80"/>
                </a:solidFill>
                <a:latin typeface="Roboto"/>
                <a:ea typeface="Roboto"/>
                <a:cs typeface="Roboto"/>
              </a:defRPr>
            </a:lvl1pPr>
          </a:lstStyle>
          <a:p>
            <a:pPr algn="r"/>
            <a:fld id="{F7021451-1387-4CA6-816F-3879F97B5CBC}" type="slidenum">
              <a:rPr lang="en-US" b="0"/>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502920" y="384048"/>
            <a:ext cx="2002536" cy="274320"/>
          </a:xfrm>
          <a:prstGeom prst="rect">
            <a:avLst/>
          </a:prstGeom>
          <a:noFill/>
          <a:ln/>
        </p:spPr>
        <p:txBody>
          <a:bodyPr wrap="square" lIns="0" tIns="0" rIns="0" bIns="0" rtlCol="0" anchor="ctr"/>
          <a:lstStyle/>
          <a:p>
            <a:pPr marL="0" indent="0">
              <a:buNone/>
            </a:pPr>
            <a:r>
              <a:rPr lang="en-US" sz="1200" kern="0" spc="220" dirty="0">
                <a:solidFill>
                  <a:srgbClr val="3C7D2C"/>
                </a:solidFill>
                <a:latin typeface="Roboto Medium" pitchFamily="34" charset="0"/>
                <a:ea typeface="Roboto Medium" pitchFamily="34" charset="-122"/>
                <a:cs typeface="Roboto Medium" pitchFamily="34" charset="-120"/>
              </a:rPr>
              <a:t>BACKUP · MONEY</a:t>
            </a:r>
            <a:endParaRPr lang="en-US" sz="1200" dirty="0"/>
          </a:p>
        </p:txBody>
      </p:sp>
      <p:sp>
        <p:nvSpPr>
          <p:cNvPr id="3" name="Shape 1"/>
          <p:cNvSpPr/>
          <p:nvPr/>
        </p:nvSpPr>
        <p:spPr>
          <a:xfrm>
            <a:off x="2615184" y="521208"/>
            <a:ext cx="6696151" cy="0"/>
          </a:xfrm>
          <a:prstGeom prst="line">
            <a:avLst/>
          </a:prstGeom>
          <a:noFill/>
          <a:ln w="9525">
            <a:solidFill>
              <a:srgbClr val="3C7D2C">
                <a:alpha val="55000"/>
              </a:srgbClr>
            </a:solidFill>
            <a:prstDash val="solid"/>
          </a:ln>
        </p:spPr>
        <p:txBody>
          <a:bodyPr/>
          <a:lstStyle/>
          <a:p>
            <a:endParaRPr lang="en-US"/>
          </a:p>
        </p:txBody>
      </p:sp>
      <p:sp>
        <p:nvSpPr>
          <p:cNvPr id="4" name="claim-P"/>
          <p:cNvSpPr/>
          <p:nvPr/>
        </p:nvSpPr>
        <p:spPr>
          <a:xfrm>
            <a:off x="9539935" y="347472"/>
            <a:ext cx="2148840" cy="310896"/>
          </a:xfrm>
          <a:prstGeom prst="roundRect">
            <a:avLst>
              <a:gd name="adj" fmla="val 50000"/>
            </a:avLst>
          </a:prstGeom>
          <a:ln w="12700">
            <a:solidFill>
              <a:srgbClr val="8A5F00"/>
            </a:solidFill>
          </a:ln>
        </p:spPr>
        <p:txBody>
          <a:bodyPr wrap="square" lIns="0" tIns="0" rIns="0" bIns="0" rtlCol="0" anchor="ctr"/>
          <a:lstStyle/>
          <a:p>
            <a:pPr marL="0" indent="0" algn="ctr">
              <a:buNone/>
            </a:pPr>
            <a:r>
              <a:rPr lang="en-US" sz="1050" kern="0" spc="150" dirty="0">
                <a:solidFill>
                  <a:srgbClr val="8A5F00"/>
                </a:solidFill>
                <a:latin typeface="Roboto Medium" pitchFamily="34" charset="0"/>
                <a:ea typeface="Roboto Medium" pitchFamily="34" charset="-122"/>
                <a:cs typeface="Roboto Medium" pitchFamily="34" charset="-120"/>
              </a:rPr>
              <a:t>PREDICTION</a:t>
            </a:r>
            <a:endParaRPr lang="en-US" sz="1050" dirty="0"/>
          </a:p>
        </p:txBody>
      </p:sp>
      <p:sp>
        <p:nvSpPr>
          <p:cNvPr id="5" name="title"/>
          <p:cNvSpPr txBox="1"/>
          <p:nvPr/>
        </p:nvSpPr>
        <p:spPr>
          <a:xfrm>
            <a:off x="502920" y="731520"/>
            <a:ext cx="11185855" cy="475488"/>
          </a:xfrm>
          <a:prstGeom prst="rect">
            <a:avLst/>
          </a:prstGeom>
          <a:noFill/>
          <a:ln/>
        </p:spPr>
        <p:txBody>
          <a:bodyPr wrap="square" lIns="0" tIns="0" rIns="0" bIns="0" rtlCol="0" anchor="t"/>
          <a:lstStyle/>
          <a:p>
            <a:pPr marL="0" indent="0">
              <a:buNone/>
            </a:pPr>
            <a:r>
              <a:rPr lang="en-US" sz="2800" dirty="0">
                <a:solidFill>
                  <a:srgbClr val="22383F"/>
                </a:solidFill>
                <a:latin typeface="Roboto Light" pitchFamily="34" charset="0"/>
                <a:ea typeface="Roboto Light" pitchFamily="34" charset="-122"/>
                <a:cs typeface="Roboto Light" pitchFamily="34" charset="-120"/>
              </a:rPr>
              <a:t>Gold and its damage dwarf enforcement money</a:t>
            </a:r>
            <a:endParaRPr lang="en-US" sz="2800" dirty="0"/>
          </a:p>
        </p:txBody>
      </p:sp>
      <p:sp>
        <p:nvSpPr>
          <p:cNvPr id="6" name="plate"/>
          <p:cNvSpPr/>
          <p:nvPr/>
        </p:nvSpPr>
        <p:spPr>
          <a:xfrm>
            <a:off x="502920" y="1691640"/>
            <a:ext cx="11185855" cy="4663440"/>
          </a:xfrm>
          <a:prstGeom prst="rect">
            <a:avLst/>
          </a:prstGeom>
          <a:solidFill>
            <a:srgbClr val="FBFAF7"/>
          </a:solidFill>
          <a:ln w="9525">
            <a:solidFill>
              <a:srgbClr val="D9D2C7"/>
            </a:solidFill>
            <a:prstDash val="solid"/>
          </a:ln>
        </p:spPr>
        <p:txBody>
          <a:bodyPr/>
          <a:lstStyle/>
          <a:p>
            <a:endParaRPr lang="en-US"/>
          </a:p>
        </p:txBody>
      </p:sp>
      <p:pic>
        <p:nvPicPr>
          <p:cNvPr id="7" name="Image 0" descr="fig_v2_economics.png"/>
          <p:cNvPicPr>
            <a:picLocks noChangeAspect="1"/>
          </p:cNvPicPr>
          <p:nvPr/>
        </p:nvPicPr>
        <p:blipFill>
          <a:blip r:embed="rId3"/>
          <a:stretch>
            <a:fillRect/>
          </a:stretch>
        </p:blipFill>
        <p:spPr>
          <a:xfrm>
            <a:off x="1897072" y="1737360"/>
            <a:ext cx="8397551" cy="4572000"/>
          </a:xfrm>
          <a:prstGeom prst="rect">
            <a:avLst/>
          </a:prstGeom>
        </p:spPr>
      </p:pic>
      <p:sp>
        <p:nvSpPr>
          <p:cNvPr id="25" name="Slide Number Placeholder 0"/>
          <p:cNvSpPr>
            <a:spLocks noGrp="1"/>
          </p:cNvSpPr>
          <p:nvPr>
            <p:ph type="sldNum" sz="quarter" idx="4294967295"/>
          </p:nvPr>
        </p:nvSpPr>
        <p:spPr>
          <a:xfrm>
            <a:off x="11140135" y="6510528"/>
            <a:ext cx="548640" cy="219456"/>
          </a:xfrm>
          <a:prstGeom prst="rect">
            <a:avLst/>
          </a:prstGeom>
          <a:extLst>
            <a:ext uri="{C572A759-6A51-4108-AA02-DFA0A04FC94B}">
              <ma14:wrappingTextBoxFlag xmlns="" xmlns:ma14="http://schemas.microsoft.com/office/mac/drawingml/2011/main" val="0"/>
            </a:ext>
          </a:extLst>
        </p:spPr>
        <p:txBody>
          <a:bodyPr/>
          <a:lstStyle>
            <a:lvl1pPr>
              <a:defRPr sz="900">
                <a:solidFill>
                  <a:srgbClr val="6C7B80"/>
                </a:solidFill>
                <a:latin typeface="Roboto"/>
                <a:ea typeface="Roboto"/>
                <a:cs typeface="Roboto"/>
              </a:defRPr>
            </a:lvl1pPr>
          </a:lstStyle>
          <a:p>
            <a:pPr algn="r"/>
            <a:fld id="{F7021451-1387-4CA6-816F-3879F97B5CBC}" type="slidenum">
              <a:rPr lang="en-US" b="0"/>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txBox="1"/>
          <p:nvPr/>
        </p:nvSpPr>
        <p:spPr>
          <a:xfrm>
            <a:off x="502920" y="384048"/>
            <a:ext cx="2372868" cy="274320"/>
          </a:xfrm>
          <a:prstGeom prst="rect">
            <a:avLst/>
          </a:prstGeom>
          <a:noFill/>
          <a:ln/>
        </p:spPr>
        <p:txBody>
          <a:bodyPr wrap="square" lIns="0" tIns="0" rIns="0" bIns="0" rtlCol="0" anchor="ctr"/>
          <a:lstStyle/>
          <a:p>
            <a:pPr marL="0" indent="0">
              <a:buNone/>
            </a:pPr>
            <a:r>
              <a:rPr lang="en-US" sz="1200" kern="0" spc="220" dirty="0">
                <a:solidFill>
                  <a:srgbClr val="3C7D2C"/>
                </a:solidFill>
                <a:latin typeface="Roboto Medium" pitchFamily="34" charset="0"/>
                <a:ea typeface="Roboto Medium" pitchFamily="34" charset="-122"/>
                <a:cs typeface="Roboto Medium" pitchFamily="34" charset="-120"/>
              </a:rPr>
              <a:t>BACKUP · RISK MAP</a:t>
            </a:r>
            <a:endParaRPr lang="en-US" sz="1200" dirty="0"/>
          </a:p>
        </p:txBody>
      </p:sp>
      <p:sp>
        <p:nvSpPr>
          <p:cNvPr id="3" name="Shape 1"/>
          <p:cNvSpPr/>
          <p:nvPr/>
        </p:nvSpPr>
        <p:spPr>
          <a:xfrm>
            <a:off x="2985516" y="521208"/>
            <a:ext cx="6325819" cy="0"/>
          </a:xfrm>
          <a:prstGeom prst="line">
            <a:avLst/>
          </a:prstGeom>
          <a:noFill/>
          <a:ln w="9525">
            <a:solidFill>
              <a:srgbClr val="3C7D2C">
                <a:alpha val="55000"/>
              </a:srgbClr>
            </a:solidFill>
            <a:prstDash val="solid"/>
          </a:ln>
        </p:spPr>
        <p:txBody>
          <a:bodyPr/>
          <a:lstStyle/>
          <a:p>
            <a:endParaRPr lang="en-US"/>
          </a:p>
        </p:txBody>
      </p:sp>
      <p:sp>
        <p:nvSpPr>
          <p:cNvPr id="4" name="claim-P"/>
          <p:cNvSpPr/>
          <p:nvPr/>
        </p:nvSpPr>
        <p:spPr>
          <a:xfrm>
            <a:off x="9539935" y="347472"/>
            <a:ext cx="2148840" cy="310896"/>
          </a:xfrm>
          <a:prstGeom prst="roundRect">
            <a:avLst>
              <a:gd name="adj" fmla="val 50000"/>
            </a:avLst>
          </a:prstGeom>
          <a:ln w="12700">
            <a:solidFill>
              <a:srgbClr val="8A5F00"/>
            </a:solidFill>
          </a:ln>
        </p:spPr>
        <p:txBody>
          <a:bodyPr wrap="square" lIns="0" tIns="0" rIns="0" bIns="0" rtlCol="0" anchor="ctr"/>
          <a:lstStyle/>
          <a:p>
            <a:pPr marL="0" indent="0" algn="ctr">
              <a:buNone/>
            </a:pPr>
            <a:r>
              <a:rPr lang="en-US" sz="1050" kern="0" spc="150" dirty="0">
                <a:solidFill>
                  <a:srgbClr val="8A5F00"/>
                </a:solidFill>
                <a:latin typeface="Roboto Medium" pitchFamily="34" charset="0"/>
                <a:ea typeface="Roboto Medium" pitchFamily="34" charset="-122"/>
                <a:cs typeface="Roboto Medium" pitchFamily="34" charset="-120"/>
              </a:rPr>
              <a:t>PREDICTION</a:t>
            </a:r>
            <a:endParaRPr lang="en-US" sz="1050" dirty="0"/>
          </a:p>
        </p:txBody>
      </p:sp>
      <p:sp>
        <p:nvSpPr>
          <p:cNvPr id="5" name="title"/>
          <p:cNvSpPr txBox="1"/>
          <p:nvPr/>
        </p:nvSpPr>
        <p:spPr>
          <a:xfrm>
            <a:off x="502920" y="731520"/>
            <a:ext cx="11185855" cy="475488"/>
          </a:xfrm>
          <a:prstGeom prst="rect">
            <a:avLst/>
          </a:prstGeom>
          <a:noFill/>
          <a:ln/>
        </p:spPr>
        <p:txBody>
          <a:bodyPr wrap="square" lIns="0" tIns="0" rIns="0" bIns="0" rtlCol="0" anchor="t"/>
          <a:lstStyle/>
          <a:p>
            <a:pPr marL="0" indent="0">
              <a:buNone/>
            </a:pPr>
            <a:r>
              <a:rPr lang="en-US" sz="2800" dirty="0">
                <a:solidFill>
                  <a:srgbClr val="22383F"/>
                </a:solidFill>
                <a:latin typeface="Roboto Light" pitchFamily="34" charset="0"/>
                <a:ea typeface="Roboto Light" pitchFamily="34" charset="-122"/>
                <a:cs typeface="Roboto Light" pitchFamily="34" charset="-120"/>
              </a:rPr>
              <a:t>Next new mining is likely next to old mining</a:t>
            </a:r>
            <a:endParaRPr lang="en-US" sz="2800" dirty="0"/>
          </a:p>
        </p:txBody>
      </p:sp>
      <p:sp>
        <p:nvSpPr>
          <p:cNvPr id="6" name="plate"/>
          <p:cNvSpPr/>
          <p:nvPr/>
        </p:nvSpPr>
        <p:spPr>
          <a:xfrm>
            <a:off x="502920" y="1691640"/>
            <a:ext cx="11185855" cy="4663440"/>
          </a:xfrm>
          <a:prstGeom prst="rect">
            <a:avLst/>
          </a:prstGeom>
          <a:solidFill>
            <a:srgbClr val="FBFAF7"/>
          </a:solidFill>
          <a:ln w="9525">
            <a:solidFill>
              <a:srgbClr val="D9D2C7"/>
            </a:solidFill>
            <a:prstDash val="solid"/>
          </a:ln>
        </p:spPr>
        <p:txBody>
          <a:bodyPr/>
          <a:lstStyle/>
          <a:p>
            <a:endParaRPr lang="en-US"/>
          </a:p>
        </p:txBody>
      </p:sp>
      <p:pic>
        <p:nvPicPr>
          <p:cNvPr id="7" name="Image 0" descr="fig_v2_risk_map.png"/>
          <p:cNvPicPr>
            <a:picLocks noChangeAspect="1"/>
          </p:cNvPicPr>
          <p:nvPr/>
        </p:nvPicPr>
        <p:blipFill>
          <a:blip r:embed="rId3"/>
          <a:stretch>
            <a:fillRect/>
          </a:stretch>
        </p:blipFill>
        <p:spPr>
          <a:xfrm>
            <a:off x="3114108" y="1737360"/>
            <a:ext cx="5963478" cy="4572000"/>
          </a:xfrm>
          <a:prstGeom prst="rect">
            <a:avLst/>
          </a:prstGeom>
        </p:spPr>
      </p:pic>
      <p:sp>
        <p:nvSpPr>
          <p:cNvPr id="25" name="Slide Number Placeholder 0"/>
          <p:cNvSpPr>
            <a:spLocks noGrp="1"/>
          </p:cNvSpPr>
          <p:nvPr>
            <p:ph type="sldNum" sz="quarter" idx="4294967295"/>
          </p:nvPr>
        </p:nvSpPr>
        <p:spPr>
          <a:xfrm>
            <a:off x="11140135" y="6510528"/>
            <a:ext cx="548640" cy="219456"/>
          </a:xfrm>
          <a:prstGeom prst="rect">
            <a:avLst/>
          </a:prstGeom>
          <a:extLst>
            <a:ext uri="{C572A759-6A51-4108-AA02-DFA0A04FC94B}">
              <ma14:wrappingTextBoxFlag xmlns="" xmlns:ma14="http://schemas.microsoft.com/office/mac/drawingml/2011/main" val="0"/>
            </a:ext>
          </a:extLst>
        </p:spPr>
        <p:txBody>
          <a:bodyPr/>
          <a:lstStyle>
            <a:lvl1pPr>
              <a:defRPr sz="900">
                <a:solidFill>
                  <a:srgbClr val="6C7B80"/>
                </a:solidFill>
                <a:latin typeface="Roboto"/>
                <a:ea typeface="Roboto"/>
                <a:cs typeface="Roboto"/>
              </a:defRPr>
            </a:lvl1pPr>
          </a:lstStyle>
          <a:p>
            <a:pPr algn="r"/>
            <a:fld id="{F7021451-1387-4CA6-816F-3879F97B5CBC}" type="slidenum">
              <a:rPr lang="en-US" b="0"/>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txBox="1"/>
          <p:nvPr/>
        </p:nvSpPr>
        <p:spPr>
          <a:xfrm>
            <a:off x="502920" y="384048"/>
            <a:ext cx="2866644" cy="274320"/>
          </a:xfrm>
          <a:prstGeom prst="rect">
            <a:avLst/>
          </a:prstGeom>
          <a:noFill/>
          <a:ln/>
        </p:spPr>
        <p:txBody>
          <a:bodyPr wrap="square" lIns="0" tIns="0" rIns="0" bIns="0" rtlCol="0" anchor="ctr"/>
          <a:lstStyle/>
          <a:p>
            <a:pPr marL="0" indent="0">
              <a:buNone/>
            </a:pPr>
            <a:r>
              <a:rPr lang="en-US" sz="1200" kern="0" spc="220" dirty="0">
                <a:solidFill>
                  <a:srgbClr val="3C7D2C"/>
                </a:solidFill>
                <a:latin typeface="Roboto Medium" pitchFamily="34" charset="0"/>
                <a:ea typeface="Roboto Medium" pitchFamily="34" charset="-122"/>
                <a:cs typeface="Roboto Medium" pitchFamily="34" charset="-120"/>
              </a:rPr>
              <a:t>BACKUP · BRAZIL TWINS</a:t>
            </a:r>
            <a:endParaRPr lang="en-US" sz="1200" dirty="0"/>
          </a:p>
        </p:txBody>
      </p:sp>
      <p:sp>
        <p:nvSpPr>
          <p:cNvPr id="3" name="Shape 1"/>
          <p:cNvSpPr/>
          <p:nvPr/>
        </p:nvSpPr>
        <p:spPr>
          <a:xfrm>
            <a:off x="3479292" y="521208"/>
            <a:ext cx="5832043" cy="0"/>
          </a:xfrm>
          <a:prstGeom prst="line">
            <a:avLst/>
          </a:prstGeom>
          <a:noFill/>
          <a:ln w="9525">
            <a:solidFill>
              <a:srgbClr val="3C7D2C">
                <a:alpha val="55000"/>
              </a:srgbClr>
            </a:solidFill>
            <a:prstDash val="solid"/>
          </a:ln>
        </p:spPr>
        <p:txBody>
          <a:bodyPr/>
          <a:lstStyle/>
          <a:p>
            <a:endParaRPr lang="en-US"/>
          </a:p>
        </p:txBody>
      </p:sp>
      <p:sp>
        <p:nvSpPr>
          <p:cNvPr id="4" name="claim-D"/>
          <p:cNvSpPr/>
          <p:nvPr/>
        </p:nvSpPr>
        <p:spPr>
          <a:xfrm>
            <a:off x="9539935" y="347472"/>
            <a:ext cx="2148840" cy="310896"/>
          </a:xfrm>
          <a:prstGeom prst="roundRect">
            <a:avLst>
              <a:gd name="adj" fmla="val 50000"/>
            </a:avLst>
          </a:prstGeom>
          <a:ln w="12700">
            <a:solidFill>
              <a:srgbClr val="2B6A8A"/>
            </a:solidFill>
          </a:ln>
        </p:spPr>
        <p:txBody>
          <a:bodyPr wrap="square" lIns="0" tIns="0" rIns="0" bIns="0" rtlCol="0" anchor="ctr"/>
          <a:lstStyle/>
          <a:p>
            <a:pPr marL="0" indent="0" algn="ctr">
              <a:buNone/>
            </a:pPr>
            <a:r>
              <a:rPr lang="en-US" sz="1050" kern="0" spc="150" dirty="0">
                <a:solidFill>
                  <a:srgbClr val="2B6A8A"/>
                </a:solidFill>
                <a:latin typeface="Roboto Medium" pitchFamily="34" charset="0"/>
                <a:ea typeface="Roboto Medium" pitchFamily="34" charset="-122"/>
                <a:cs typeface="Roboto Medium" pitchFamily="34" charset="-120"/>
              </a:rPr>
              <a:t>DESCRIPTION</a:t>
            </a:r>
            <a:endParaRPr lang="en-US" sz="1050" dirty="0"/>
          </a:p>
        </p:txBody>
      </p:sp>
      <p:sp>
        <p:nvSpPr>
          <p:cNvPr id="5" name="title"/>
          <p:cNvSpPr txBox="1"/>
          <p:nvPr/>
        </p:nvSpPr>
        <p:spPr>
          <a:xfrm>
            <a:off x="502920" y="731520"/>
            <a:ext cx="11185855" cy="475488"/>
          </a:xfrm>
          <a:prstGeom prst="rect">
            <a:avLst/>
          </a:prstGeom>
          <a:noFill/>
          <a:ln/>
        </p:spPr>
        <p:txBody>
          <a:bodyPr wrap="square" lIns="0" tIns="0" rIns="0" bIns="0" rtlCol="0" anchor="t"/>
          <a:lstStyle/>
          <a:p>
            <a:pPr marL="0" indent="0">
              <a:buNone/>
            </a:pPr>
            <a:r>
              <a:rPr lang="en-US" sz="2800" dirty="0">
                <a:solidFill>
                  <a:srgbClr val="22383F"/>
                </a:solidFill>
                <a:latin typeface="Roboto Light" pitchFamily="34" charset="0"/>
                <a:ea typeface="Roboto Light" pitchFamily="34" charset="-122"/>
                <a:cs typeface="Roboto Light" pitchFamily="34" charset="-120"/>
              </a:rPr>
              <a:t>The Brazilian twins fail the pre-trend test</a:t>
            </a:r>
            <a:endParaRPr lang="en-US" sz="2800" dirty="0"/>
          </a:p>
        </p:txBody>
      </p:sp>
      <p:sp>
        <p:nvSpPr>
          <p:cNvPr id="6" name="subtitle"/>
          <p:cNvSpPr txBox="1"/>
          <p:nvPr/>
        </p:nvSpPr>
        <p:spPr>
          <a:xfrm>
            <a:off x="502920" y="1261872"/>
            <a:ext cx="11185855" cy="274320"/>
          </a:xfrm>
          <a:prstGeom prst="rect">
            <a:avLst/>
          </a:prstGeom>
          <a:noFill/>
          <a:ln/>
        </p:spPr>
        <p:txBody>
          <a:bodyPr wrap="square" lIns="0" tIns="0" rIns="0" bIns="0" rtlCol="0" anchor="ctr"/>
          <a:lstStyle/>
          <a:p>
            <a:pPr marL="0" indent="0">
              <a:buNone/>
            </a:pPr>
            <a:r>
              <a:rPr lang="en-US" sz="1400" dirty="0">
                <a:solidFill>
                  <a:srgbClr val="4A5B60"/>
                </a:solidFill>
                <a:latin typeface="Roboto" pitchFamily="34" charset="0"/>
                <a:ea typeface="Roboto" pitchFamily="34" charset="-122"/>
                <a:cs typeface="Roboto" pitchFamily="34" charset="-120"/>
              </a:rPr>
              <a:t>Mining area before 2019 (index 2018 = 100) · new mining 2019–21, % of 2018 area</a:t>
            </a:r>
            <a:endParaRPr lang="en-US" sz="1400" dirty="0"/>
          </a:p>
        </p:txBody>
      </p:sp>
      <p:sp>
        <p:nvSpPr>
          <p:cNvPr id="7" name="plate"/>
          <p:cNvSpPr/>
          <p:nvPr/>
        </p:nvSpPr>
        <p:spPr>
          <a:xfrm>
            <a:off x="502920" y="1691640"/>
            <a:ext cx="11185855" cy="4663440"/>
          </a:xfrm>
          <a:prstGeom prst="rect">
            <a:avLst/>
          </a:prstGeom>
          <a:solidFill>
            <a:srgbClr val="FBFAF7"/>
          </a:solidFill>
          <a:ln w="9525">
            <a:solidFill>
              <a:srgbClr val="D9D2C7"/>
            </a:solidFill>
            <a:prstDash val="solid"/>
          </a:ln>
        </p:spPr>
        <p:txBody>
          <a:bodyPr/>
          <a:lstStyle/>
          <a:p>
            <a:endParaRPr lang="en-US"/>
          </a:p>
        </p:txBody>
      </p:sp>
      <p:pic>
        <p:nvPicPr>
          <p:cNvPr id="8" name="Image 0" descr="slide_08_brazil_twins.png"/>
          <p:cNvPicPr>
            <a:picLocks noChangeAspect="1"/>
          </p:cNvPicPr>
          <p:nvPr/>
        </p:nvPicPr>
        <p:blipFill>
          <a:blip r:embed="rId3"/>
          <a:stretch>
            <a:fillRect/>
          </a:stretch>
        </p:blipFill>
        <p:spPr>
          <a:xfrm>
            <a:off x="557784" y="1893336"/>
            <a:ext cx="11076127" cy="4260049"/>
          </a:xfrm>
          <a:prstGeom prst="rect">
            <a:avLst/>
          </a:prstGeom>
        </p:spPr>
      </p:pic>
      <p:sp>
        <p:nvSpPr>
          <p:cNvPr id="25" name="Slide Number Placeholder 0"/>
          <p:cNvSpPr>
            <a:spLocks noGrp="1"/>
          </p:cNvSpPr>
          <p:nvPr>
            <p:ph type="sldNum" sz="quarter" idx="4294967295"/>
          </p:nvPr>
        </p:nvSpPr>
        <p:spPr>
          <a:xfrm>
            <a:off x="11140135" y="6510528"/>
            <a:ext cx="548640" cy="219456"/>
          </a:xfrm>
          <a:prstGeom prst="rect">
            <a:avLst/>
          </a:prstGeom>
          <a:extLst>
            <a:ext uri="{C572A759-6A51-4108-AA02-DFA0A04FC94B}">
              <ma14:wrappingTextBoxFlag xmlns="" xmlns:ma14="http://schemas.microsoft.com/office/mac/drawingml/2011/main" val="0"/>
            </a:ext>
          </a:extLst>
        </p:spPr>
        <p:txBody>
          <a:bodyPr/>
          <a:lstStyle>
            <a:lvl1pPr>
              <a:defRPr sz="900">
                <a:solidFill>
                  <a:srgbClr val="6C7B80"/>
                </a:solidFill>
                <a:latin typeface="Roboto"/>
                <a:ea typeface="Roboto"/>
                <a:cs typeface="Roboto"/>
              </a:defRPr>
            </a:lvl1pPr>
          </a:lstStyle>
          <a:p>
            <a:pPr algn="r"/>
            <a:fld id="{F7021451-1387-4CA6-816F-3879F97B5CBC}" type="slidenum">
              <a:rPr lang="en-US" b="0"/>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txBox="1"/>
          <p:nvPr/>
        </p:nvSpPr>
        <p:spPr>
          <a:xfrm>
            <a:off x="502920" y="384048"/>
            <a:ext cx="2125980" cy="274320"/>
          </a:xfrm>
          <a:prstGeom prst="rect">
            <a:avLst/>
          </a:prstGeom>
          <a:noFill/>
          <a:ln/>
        </p:spPr>
        <p:txBody>
          <a:bodyPr wrap="square" lIns="0" tIns="0" rIns="0" bIns="0" rtlCol="0" anchor="ctr"/>
          <a:lstStyle/>
          <a:p>
            <a:pPr marL="0" indent="0">
              <a:buNone/>
            </a:pPr>
            <a:r>
              <a:rPr lang="en-US" sz="1200" kern="0" spc="220" dirty="0">
                <a:solidFill>
                  <a:srgbClr val="3C7D2C"/>
                </a:solidFill>
                <a:latin typeface="Roboto Medium" pitchFamily="34" charset="0"/>
                <a:ea typeface="Roboto Medium" pitchFamily="34" charset="-122"/>
                <a:cs typeface="Roboto Medium" pitchFamily="34" charset="-120"/>
              </a:rPr>
              <a:t>BACKUP · BRAZIL</a:t>
            </a:r>
            <a:endParaRPr lang="en-US" sz="1200" dirty="0"/>
          </a:p>
        </p:txBody>
      </p:sp>
      <p:sp>
        <p:nvSpPr>
          <p:cNvPr id="3" name="Shape 1"/>
          <p:cNvSpPr/>
          <p:nvPr/>
        </p:nvSpPr>
        <p:spPr>
          <a:xfrm>
            <a:off x="2738628" y="521208"/>
            <a:ext cx="6572707" cy="0"/>
          </a:xfrm>
          <a:prstGeom prst="line">
            <a:avLst/>
          </a:prstGeom>
          <a:noFill/>
          <a:ln w="9525">
            <a:solidFill>
              <a:srgbClr val="3C7D2C">
                <a:alpha val="55000"/>
              </a:srgbClr>
            </a:solidFill>
            <a:prstDash val="solid"/>
          </a:ln>
        </p:spPr>
        <p:txBody>
          <a:bodyPr/>
          <a:lstStyle/>
          <a:p>
            <a:endParaRPr lang="en-US"/>
          </a:p>
        </p:txBody>
      </p:sp>
      <p:sp>
        <p:nvSpPr>
          <p:cNvPr id="4" name="claim-D"/>
          <p:cNvSpPr/>
          <p:nvPr/>
        </p:nvSpPr>
        <p:spPr>
          <a:xfrm>
            <a:off x="9539935" y="347472"/>
            <a:ext cx="2148840" cy="310896"/>
          </a:xfrm>
          <a:prstGeom prst="roundRect">
            <a:avLst>
              <a:gd name="adj" fmla="val 50000"/>
            </a:avLst>
          </a:prstGeom>
          <a:ln w="12700">
            <a:solidFill>
              <a:srgbClr val="2B6A8A"/>
            </a:solidFill>
          </a:ln>
        </p:spPr>
        <p:txBody>
          <a:bodyPr wrap="square" lIns="0" tIns="0" rIns="0" bIns="0" rtlCol="0" anchor="ctr"/>
          <a:lstStyle/>
          <a:p>
            <a:pPr marL="0" indent="0" algn="ctr">
              <a:buNone/>
            </a:pPr>
            <a:r>
              <a:rPr lang="en-US" sz="1050" kern="0" spc="150" dirty="0">
                <a:solidFill>
                  <a:srgbClr val="2B6A8A"/>
                </a:solidFill>
                <a:latin typeface="Roboto Medium" pitchFamily="34" charset="0"/>
                <a:ea typeface="Roboto Medium" pitchFamily="34" charset="-122"/>
                <a:cs typeface="Roboto Medium" pitchFamily="34" charset="-120"/>
              </a:rPr>
              <a:t>DESCRIPTION</a:t>
            </a:r>
            <a:endParaRPr lang="en-US" sz="1050" dirty="0"/>
          </a:p>
        </p:txBody>
      </p:sp>
      <p:sp>
        <p:nvSpPr>
          <p:cNvPr id="5" name="title"/>
          <p:cNvSpPr txBox="1"/>
          <p:nvPr/>
        </p:nvSpPr>
        <p:spPr>
          <a:xfrm>
            <a:off x="502920" y="731520"/>
            <a:ext cx="11185855" cy="475488"/>
          </a:xfrm>
          <a:prstGeom prst="rect">
            <a:avLst/>
          </a:prstGeom>
          <a:noFill/>
          <a:ln/>
        </p:spPr>
        <p:txBody>
          <a:bodyPr wrap="square" lIns="0" tIns="0" rIns="0" bIns="0" rtlCol="0" anchor="t"/>
          <a:lstStyle/>
          <a:p>
            <a:pPr marL="0" indent="0">
              <a:buNone/>
            </a:pPr>
            <a:r>
              <a:rPr lang="en-US" sz="2800" dirty="0">
                <a:solidFill>
                  <a:srgbClr val="22383F"/>
                </a:solidFill>
                <a:latin typeface="Roboto Light" pitchFamily="34" charset="0"/>
                <a:ea typeface="Roboto Light" pitchFamily="34" charset="-122"/>
                <a:cs typeface="Roboto Light" pitchFamily="34" charset="-120"/>
              </a:rPr>
              <a:t>Brazil: falls, but not after each operation</a:t>
            </a:r>
            <a:endParaRPr lang="en-US" sz="2800" dirty="0"/>
          </a:p>
        </p:txBody>
      </p:sp>
      <p:sp>
        <p:nvSpPr>
          <p:cNvPr id="6" name="Text 4"/>
          <p:cNvSpPr txBox="1"/>
          <p:nvPr/>
        </p:nvSpPr>
        <p:spPr>
          <a:xfrm>
            <a:off x="502920" y="1691640"/>
            <a:ext cx="3429000" cy="256032"/>
          </a:xfrm>
          <a:prstGeom prst="rect">
            <a:avLst/>
          </a:prstGeom>
          <a:noFill/>
          <a:ln/>
        </p:spPr>
        <p:txBody>
          <a:bodyPr wrap="square" lIns="0" tIns="0" rIns="0" bIns="0" rtlCol="0" anchor="ctr"/>
          <a:lstStyle/>
          <a:p>
            <a:pPr marL="0" indent="0">
              <a:buNone/>
            </a:pPr>
            <a:r>
              <a:rPr lang="en-US" sz="1100" kern="0" spc="200" dirty="0">
                <a:solidFill>
                  <a:srgbClr val="4A5B60"/>
                </a:solidFill>
                <a:latin typeface="Roboto Medium" pitchFamily="34" charset="0"/>
                <a:ea typeface="Roboto Medium" pitchFamily="34" charset="-122"/>
                <a:cs typeface="Roboto Medium" pitchFamily="34" charset="-120"/>
              </a:rPr>
              <a:t>YANOMAMI, FIRST-TIME MINING</a:t>
            </a:r>
            <a:endParaRPr lang="en-US" sz="1100" dirty="0"/>
          </a:p>
        </p:txBody>
      </p:sp>
      <p:sp>
        <p:nvSpPr>
          <p:cNvPr id="7" name="Text 5"/>
          <p:cNvSpPr txBox="1"/>
          <p:nvPr/>
        </p:nvSpPr>
        <p:spPr>
          <a:xfrm>
            <a:off x="502920" y="2002536"/>
            <a:ext cx="3429000" cy="777240"/>
          </a:xfrm>
          <a:prstGeom prst="rect">
            <a:avLst/>
          </a:prstGeom>
          <a:noFill/>
          <a:ln/>
        </p:spPr>
        <p:txBody>
          <a:bodyPr wrap="square" lIns="0" tIns="0" rIns="0" bIns="0" rtlCol="0" anchor="t"/>
          <a:lstStyle/>
          <a:p>
            <a:pPr marL="0" indent="0">
              <a:buNone/>
            </a:pPr>
            <a:r>
              <a:rPr lang="en-US" sz="4000" dirty="0">
                <a:solidFill>
                  <a:srgbClr val="22383F"/>
                </a:solidFill>
                <a:latin typeface="Roboto Light" pitchFamily="34" charset="0"/>
                <a:ea typeface="Roboto Light" pitchFamily="34" charset="-122"/>
                <a:cs typeface="Roboto Light" pitchFamily="34" charset="-120"/>
              </a:rPr>
              <a:t>518 → 458</a:t>
            </a:r>
            <a:endParaRPr lang="en-US" sz="4000" dirty="0"/>
          </a:p>
        </p:txBody>
      </p:sp>
      <p:sp>
        <p:nvSpPr>
          <p:cNvPr id="8" name="Text 6"/>
          <p:cNvSpPr txBox="1"/>
          <p:nvPr/>
        </p:nvSpPr>
        <p:spPr>
          <a:xfrm>
            <a:off x="502920" y="2807208"/>
            <a:ext cx="3429000" cy="822960"/>
          </a:xfrm>
          <a:prstGeom prst="rect">
            <a:avLst/>
          </a:prstGeom>
          <a:noFill/>
          <a:ln/>
        </p:spPr>
        <p:txBody>
          <a:bodyPr wrap="square" lIns="0" tIns="0" rIns="0" bIns="0" rtlCol="0" anchor="t"/>
          <a:lstStyle/>
          <a:p>
            <a:pPr marL="0" indent="0">
              <a:buNone/>
            </a:pPr>
            <a:r>
              <a:rPr lang="en-US" sz="1400" dirty="0">
                <a:solidFill>
                  <a:srgbClr val="4A5B60"/>
                </a:solidFill>
                <a:latin typeface="Roboto" pitchFamily="34" charset="0"/>
                <a:ea typeface="Roboto" pitchFamily="34" charset="-122"/>
                <a:cs typeface="Roboto" pitchFamily="34" charset="-120"/>
              </a:rPr>
              <a:t>ha/yr, 2019–22 → 2023–25</a:t>
            </a:r>
            <a:endParaRPr lang="en-US" sz="1400" dirty="0"/>
          </a:p>
        </p:txBody>
      </p:sp>
      <p:sp>
        <p:nvSpPr>
          <p:cNvPr id="9" name="Shape 7"/>
          <p:cNvSpPr/>
          <p:nvPr/>
        </p:nvSpPr>
        <p:spPr>
          <a:xfrm>
            <a:off x="4096512" y="1691640"/>
            <a:ext cx="0" cy="2194560"/>
          </a:xfrm>
          <a:prstGeom prst="line">
            <a:avLst/>
          </a:prstGeom>
          <a:noFill/>
          <a:ln w="9525">
            <a:solidFill>
              <a:srgbClr val="D9D2C7"/>
            </a:solidFill>
            <a:prstDash val="solid"/>
          </a:ln>
        </p:spPr>
        <p:txBody>
          <a:bodyPr/>
          <a:lstStyle/>
          <a:p>
            <a:endParaRPr lang="en-US"/>
          </a:p>
        </p:txBody>
      </p:sp>
      <p:sp>
        <p:nvSpPr>
          <p:cNvPr id="10" name="Text 8"/>
          <p:cNvSpPr txBox="1"/>
          <p:nvPr/>
        </p:nvSpPr>
        <p:spPr>
          <a:xfrm>
            <a:off x="4279392" y="1691640"/>
            <a:ext cx="3429000" cy="256032"/>
          </a:xfrm>
          <a:prstGeom prst="rect">
            <a:avLst/>
          </a:prstGeom>
          <a:noFill/>
          <a:ln/>
        </p:spPr>
        <p:txBody>
          <a:bodyPr wrap="square" lIns="0" tIns="0" rIns="0" bIns="0" rtlCol="0" anchor="ctr"/>
          <a:lstStyle/>
          <a:p>
            <a:pPr marL="0" indent="0">
              <a:buNone/>
            </a:pPr>
            <a:r>
              <a:rPr lang="en-US" sz="1100" kern="0" spc="200" dirty="0">
                <a:solidFill>
                  <a:srgbClr val="4A5B60"/>
                </a:solidFill>
                <a:latin typeface="Roboto Medium" pitchFamily="34" charset="0"/>
                <a:ea typeface="Roboto Medium" pitchFamily="34" charset="-122"/>
                <a:cs typeface="Roboto Medium" pitchFamily="34" charset="-120"/>
              </a:rPr>
              <a:t>STAGGERED DID, 24 TERRITORIES</a:t>
            </a:r>
            <a:endParaRPr lang="en-US" sz="1100" dirty="0"/>
          </a:p>
        </p:txBody>
      </p:sp>
      <p:sp>
        <p:nvSpPr>
          <p:cNvPr id="11" name="Text 9"/>
          <p:cNvSpPr txBox="1"/>
          <p:nvPr/>
        </p:nvSpPr>
        <p:spPr>
          <a:xfrm>
            <a:off x="4279392" y="2002536"/>
            <a:ext cx="3429000" cy="777240"/>
          </a:xfrm>
          <a:prstGeom prst="rect">
            <a:avLst/>
          </a:prstGeom>
          <a:noFill/>
          <a:ln/>
        </p:spPr>
        <p:txBody>
          <a:bodyPr wrap="square" lIns="0" tIns="0" rIns="0" bIns="0" rtlCol="0" anchor="t"/>
          <a:lstStyle/>
          <a:p>
            <a:pPr marL="0" indent="0">
              <a:buNone/>
            </a:pPr>
            <a:r>
              <a:rPr lang="en-US" sz="4000" dirty="0">
                <a:solidFill>
                  <a:srgbClr val="22383F"/>
                </a:solidFill>
                <a:latin typeface="Roboto Light" pitchFamily="34" charset="0"/>
                <a:ea typeface="Roboto Light" pitchFamily="34" charset="-122"/>
                <a:cs typeface="Roboto Light" pitchFamily="34" charset="-120"/>
              </a:rPr>
              <a:t>+0.26</a:t>
            </a:r>
            <a:endParaRPr lang="en-US" sz="4000" dirty="0"/>
          </a:p>
        </p:txBody>
      </p:sp>
      <p:sp>
        <p:nvSpPr>
          <p:cNvPr id="12" name="Text 10"/>
          <p:cNvSpPr txBox="1"/>
          <p:nvPr/>
        </p:nvSpPr>
        <p:spPr>
          <a:xfrm>
            <a:off x="4279392" y="2807208"/>
            <a:ext cx="3429000" cy="822960"/>
          </a:xfrm>
          <a:prstGeom prst="rect">
            <a:avLst/>
          </a:prstGeom>
          <a:noFill/>
          <a:ln/>
        </p:spPr>
        <p:txBody>
          <a:bodyPr wrap="square" lIns="0" tIns="0" rIns="0" bIns="0" rtlCol="0" anchor="t"/>
          <a:lstStyle/>
          <a:p>
            <a:pPr marL="0" indent="0">
              <a:buNone/>
            </a:pPr>
            <a:r>
              <a:rPr lang="en-US" sz="1400" dirty="0">
                <a:solidFill>
                  <a:srgbClr val="4A5B60"/>
                </a:solidFill>
                <a:latin typeface="Roboto" pitchFamily="34" charset="0"/>
                <a:ea typeface="Roboto" pitchFamily="34" charset="-122"/>
                <a:cs typeface="Roboto" pitchFamily="34" charset="-120"/>
              </a:rPr>
              <a:t>log points, p = 0.44: wrong sign</a:t>
            </a:r>
            <a:endParaRPr lang="en-US" sz="1400" dirty="0"/>
          </a:p>
        </p:txBody>
      </p:sp>
      <p:sp>
        <p:nvSpPr>
          <p:cNvPr id="13" name="Shape 11"/>
          <p:cNvSpPr/>
          <p:nvPr/>
        </p:nvSpPr>
        <p:spPr>
          <a:xfrm>
            <a:off x="7872984" y="1691640"/>
            <a:ext cx="0" cy="2194560"/>
          </a:xfrm>
          <a:prstGeom prst="line">
            <a:avLst/>
          </a:prstGeom>
          <a:noFill/>
          <a:ln w="9525">
            <a:solidFill>
              <a:srgbClr val="D9D2C7"/>
            </a:solidFill>
            <a:prstDash val="solid"/>
          </a:ln>
        </p:spPr>
        <p:txBody>
          <a:bodyPr/>
          <a:lstStyle/>
          <a:p>
            <a:endParaRPr lang="en-US"/>
          </a:p>
        </p:txBody>
      </p:sp>
      <p:sp>
        <p:nvSpPr>
          <p:cNvPr id="14" name="Text 12"/>
          <p:cNvSpPr txBox="1"/>
          <p:nvPr/>
        </p:nvSpPr>
        <p:spPr>
          <a:xfrm>
            <a:off x="8055864" y="1691640"/>
            <a:ext cx="3429000" cy="256032"/>
          </a:xfrm>
          <a:prstGeom prst="rect">
            <a:avLst/>
          </a:prstGeom>
          <a:noFill/>
          <a:ln/>
        </p:spPr>
        <p:txBody>
          <a:bodyPr wrap="square" lIns="0" tIns="0" rIns="0" bIns="0" rtlCol="0" anchor="ctr"/>
          <a:lstStyle/>
          <a:p>
            <a:pPr marL="0" indent="0">
              <a:buNone/>
            </a:pPr>
            <a:r>
              <a:rPr lang="en-US" sz="1100" kern="0" spc="200" dirty="0">
                <a:solidFill>
                  <a:srgbClr val="4A5B60"/>
                </a:solidFill>
                <a:latin typeface="Roboto Medium" pitchFamily="34" charset="0"/>
                <a:ea typeface="Roboto Medium" pitchFamily="34" charset="-122"/>
                <a:cs typeface="Roboto Medium" pitchFamily="34" charset="-120"/>
              </a:rPr>
              <a:t>NATIONAL REFORMS, JAN 2023</a:t>
            </a:r>
            <a:endParaRPr lang="en-US" sz="1100" dirty="0"/>
          </a:p>
        </p:txBody>
      </p:sp>
      <p:sp>
        <p:nvSpPr>
          <p:cNvPr id="15" name="Text 13"/>
          <p:cNvSpPr txBox="1"/>
          <p:nvPr/>
        </p:nvSpPr>
        <p:spPr>
          <a:xfrm>
            <a:off x="8055864" y="2002536"/>
            <a:ext cx="3429000" cy="777240"/>
          </a:xfrm>
          <a:prstGeom prst="rect">
            <a:avLst/>
          </a:prstGeom>
          <a:noFill/>
          <a:ln/>
        </p:spPr>
        <p:txBody>
          <a:bodyPr wrap="square" lIns="0" tIns="0" rIns="0" bIns="0" rtlCol="0" anchor="t"/>
          <a:lstStyle/>
          <a:p>
            <a:pPr marL="0" indent="0">
              <a:buNone/>
            </a:pPr>
            <a:r>
              <a:rPr lang="en-US" sz="4000" dirty="0">
                <a:solidFill>
                  <a:srgbClr val="22383F"/>
                </a:solidFill>
                <a:latin typeface="Roboto Light" pitchFamily="34" charset="0"/>
                <a:ea typeface="Roboto Light" pitchFamily="34" charset="-122"/>
                <a:cs typeface="Roboto Light" pitchFamily="34" charset="-120"/>
              </a:rPr>
              <a:t>All at once</a:t>
            </a:r>
            <a:endParaRPr lang="en-US" sz="4000" dirty="0"/>
          </a:p>
        </p:txBody>
      </p:sp>
      <p:sp>
        <p:nvSpPr>
          <p:cNvPr id="16" name="Text 14"/>
          <p:cNvSpPr txBox="1"/>
          <p:nvPr/>
        </p:nvSpPr>
        <p:spPr>
          <a:xfrm>
            <a:off x="8055864" y="2807208"/>
            <a:ext cx="3429000" cy="822960"/>
          </a:xfrm>
          <a:prstGeom prst="rect">
            <a:avLst/>
          </a:prstGeom>
          <a:noFill/>
          <a:ln/>
        </p:spPr>
        <p:txBody>
          <a:bodyPr wrap="square" lIns="0" tIns="0" rIns="0" bIns="0" rtlCol="0" anchor="t"/>
          <a:lstStyle/>
          <a:p>
            <a:pPr marL="0" indent="0">
              <a:buNone/>
            </a:pPr>
            <a:r>
              <a:rPr lang="en-US" sz="1400" dirty="0">
                <a:solidFill>
                  <a:srgbClr val="4A5B60"/>
                </a:solidFill>
                <a:latin typeface="Roboto" pitchFamily="34" charset="0"/>
                <a:ea typeface="Roboto" pitchFamily="34" charset="-122"/>
                <a:cs typeface="Roboto" pitchFamily="34" charset="-120"/>
              </a:rPr>
              <a:t>new rules on gold sales hit every territory</a:t>
            </a:r>
            <a:endParaRPr lang="en-US" sz="1400" dirty="0"/>
          </a:p>
        </p:txBody>
      </p:sp>
      <p:sp>
        <p:nvSpPr>
          <p:cNvPr id="17" name="plate"/>
          <p:cNvSpPr/>
          <p:nvPr/>
        </p:nvSpPr>
        <p:spPr>
          <a:xfrm>
            <a:off x="502920" y="4343400"/>
            <a:ext cx="11185855" cy="1097280"/>
          </a:xfrm>
          <a:prstGeom prst="rect">
            <a:avLst/>
          </a:prstGeom>
          <a:solidFill>
            <a:srgbClr val="FBFAF7"/>
          </a:solidFill>
          <a:ln w="9525">
            <a:solidFill>
              <a:srgbClr val="D9D2C7"/>
            </a:solidFill>
            <a:prstDash val="solid"/>
          </a:ln>
        </p:spPr>
        <p:txBody>
          <a:bodyPr/>
          <a:lstStyle/>
          <a:p>
            <a:endParaRPr lang="en-US"/>
          </a:p>
        </p:txBody>
      </p:sp>
      <p:sp>
        <p:nvSpPr>
          <p:cNvPr id="18" name="Text 16"/>
          <p:cNvSpPr txBox="1"/>
          <p:nvPr/>
        </p:nvSpPr>
        <p:spPr>
          <a:xfrm>
            <a:off x="731520" y="4343400"/>
            <a:ext cx="10728655" cy="1097280"/>
          </a:xfrm>
          <a:prstGeom prst="rect">
            <a:avLst/>
          </a:prstGeom>
          <a:noFill/>
          <a:ln/>
        </p:spPr>
        <p:txBody>
          <a:bodyPr wrap="square" lIns="0" tIns="0" rIns="0" bIns="0" rtlCol="0" anchor="ctr"/>
          <a:lstStyle/>
          <a:p>
            <a:pPr marL="0" indent="0">
              <a:buNone/>
            </a:pPr>
            <a:r>
              <a:rPr lang="en-US" sz="2000" dirty="0">
                <a:solidFill>
                  <a:srgbClr val="22383F"/>
                </a:solidFill>
                <a:latin typeface="Roboto Light" pitchFamily="34" charset="0"/>
                <a:ea typeface="Roboto Light" pitchFamily="34" charset="-122"/>
                <a:cs typeface="Roboto Light" pitchFamily="34" charset="-120"/>
              </a:rPr>
              <a:t>Consistent with 'enforcement plus gold tracing goes with less mining'. Our test can't confirm it.</a:t>
            </a:r>
            <a:endParaRPr lang="en-US" sz="2000" dirty="0"/>
          </a:p>
        </p:txBody>
      </p:sp>
      <p:sp>
        <p:nvSpPr>
          <p:cNvPr id="25" name="Slide Number Placeholder 0"/>
          <p:cNvSpPr>
            <a:spLocks noGrp="1"/>
          </p:cNvSpPr>
          <p:nvPr>
            <p:ph type="sldNum" sz="quarter" idx="4294967295"/>
          </p:nvPr>
        </p:nvSpPr>
        <p:spPr>
          <a:xfrm>
            <a:off x="11140135" y="6510528"/>
            <a:ext cx="548640" cy="219456"/>
          </a:xfrm>
          <a:prstGeom prst="rect">
            <a:avLst/>
          </a:prstGeom>
          <a:extLst>
            <a:ext uri="{C572A759-6A51-4108-AA02-DFA0A04FC94B}">
              <ma14:wrappingTextBoxFlag xmlns="" xmlns:ma14="http://schemas.microsoft.com/office/mac/drawingml/2011/main" val="0"/>
            </a:ext>
          </a:extLst>
        </p:spPr>
        <p:txBody>
          <a:bodyPr/>
          <a:lstStyle>
            <a:lvl1pPr>
              <a:defRPr sz="900">
                <a:solidFill>
                  <a:srgbClr val="6C7B80"/>
                </a:solidFill>
                <a:latin typeface="Roboto"/>
                <a:ea typeface="Roboto"/>
                <a:cs typeface="Roboto"/>
              </a:defRPr>
            </a:lvl1pPr>
          </a:lstStyle>
          <a:p>
            <a:pPr algn="r"/>
            <a:fld id="{F7021451-1387-4CA6-816F-3879F97B5CBC}" type="slidenum">
              <a:rPr lang="en-US" b="0"/>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txBox="1"/>
          <p:nvPr/>
        </p:nvSpPr>
        <p:spPr>
          <a:xfrm>
            <a:off x="502920" y="384048"/>
            <a:ext cx="2496312" cy="274320"/>
          </a:xfrm>
          <a:prstGeom prst="rect">
            <a:avLst/>
          </a:prstGeom>
          <a:noFill/>
          <a:ln/>
        </p:spPr>
        <p:txBody>
          <a:bodyPr wrap="square" lIns="0" tIns="0" rIns="0" bIns="0" rtlCol="0" anchor="ctr"/>
          <a:lstStyle/>
          <a:p>
            <a:pPr marL="0" indent="0">
              <a:buNone/>
            </a:pPr>
            <a:r>
              <a:rPr lang="en-US" sz="1200" kern="0" spc="220" dirty="0">
                <a:solidFill>
                  <a:srgbClr val="3C7D2C"/>
                </a:solidFill>
                <a:latin typeface="Roboto Medium" pitchFamily="34" charset="0"/>
                <a:ea typeface="Roboto Medium" pitchFamily="34" charset="-122"/>
                <a:cs typeface="Roboto Medium" pitchFamily="34" charset="-120"/>
              </a:rPr>
              <a:t>BACKUP · MAP VIDEO</a:t>
            </a:r>
            <a:endParaRPr lang="en-US" sz="1200" dirty="0"/>
          </a:p>
        </p:txBody>
      </p:sp>
      <p:sp>
        <p:nvSpPr>
          <p:cNvPr id="3" name="Shape 1"/>
          <p:cNvSpPr/>
          <p:nvPr/>
        </p:nvSpPr>
        <p:spPr>
          <a:xfrm>
            <a:off x="3108960" y="521208"/>
            <a:ext cx="6202375" cy="0"/>
          </a:xfrm>
          <a:prstGeom prst="line">
            <a:avLst/>
          </a:prstGeom>
          <a:noFill/>
          <a:ln w="9525">
            <a:solidFill>
              <a:srgbClr val="3C7D2C">
                <a:alpha val="55000"/>
              </a:srgbClr>
            </a:solidFill>
            <a:prstDash val="solid"/>
          </a:ln>
        </p:spPr>
        <p:txBody>
          <a:bodyPr/>
          <a:lstStyle/>
          <a:p>
            <a:endParaRPr lang="en-US"/>
          </a:p>
        </p:txBody>
      </p:sp>
      <p:sp>
        <p:nvSpPr>
          <p:cNvPr id="4" name="claim-D"/>
          <p:cNvSpPr/>
          <p:nvPr/>
        </p:nvSpPr>
        <p:spPr>
          <a:xfrm>
            <a:off x="9539935" y="347472"/>
            <a:ext cx="2148840" cy="310896"/>
          </a:xfrm>
          <a:prstGeom prst="roundRect">
            <a:avLst>
              <a:gd name="adj" fmla="val 50000"/>
            </a:avLst>
          </a:prstGeom>
          <a:ln w="12700">
            <a:solidFill>
              <a:srgbClr val="2B6A8A"/>
            </a:solidFill>
          </a:ln>
        </p:spPr>
        <p:txBody>
          <a:bodyPr wrap="square" lIns="0" tIns="0" rIns="0" bIns="0" rtlCol="0" anchor="ctr"/>
          <a:lstStyle/>
          <a:p>
            <a:pPr marL="0" indent="0" algn="ctr">
              <a:buNone/>
            </a:pPr>
            <a:r>
              <a:rPr lang="en-US" sz="1050" kern="0" spc="150" dirty="0">
                <a:solidFill>
                  <a:srgbClr val="2B6A8A"/>
                </a:solidFill>
                <a:latin typeface="Roboto Medium" pitchFamily="34" charset="0"/>
                <a:ea typeface="Roboto Medium" pitchFamily="34" charset="-122"/>
                <a:cs typeface="Roboto Medium" pitchFamily="34" charset="-120"/>
              </a:rPr>
              <a:t>DESCRIPTION</a:t>
            </a:r>
            <a:endParaRPr lang="en-US" sz="1050" dirty="0"/>
          </a:p>
        </p:txBody>
      </p:sp>
      <p:sp>
        <p:nvSpPr>
          <p:cNvPr id="5" name="title"/>
          <p:cNvSpPr txBox="1"/>
          <p:nvPr/>
        </p:nvSpPr>
        <p:spPr>
          <a:xfrm>
            <a:off x="502920" y="731520"/>
            <a:ext cx="11185855" cy="475488"/>
          </a:xfrm>
          <a:prstGeom prst="rect">
            <a:avLst/>
          </a:prstGeom>
          <a:noFill/>
          <a:ln/>
        </p:spPr>
        <p:txBody>
          <a:bodyPr wrap="square" lIns="0" tIns="0" rIns="0" bIns="0" rtlCol="0" anchor="t"/>
          <a:lstStyle/>
          <a:p>
            <a:pPr marL="0" indent="0">
              <a:buNone/>
            </a:pPr>
            <a:r>
              <a:rPr lang="en-US" sz="2800" dirty="0">
                <a:solidFill>
                  <a:srgbClr val="22383F"/>
                </a:solidFill>
                <a:latin typeface="Roboto Light" pitchFamily="34" charset="0"/>
                <a:ea typeface="Roboto Light" pitchFamily="34" charset="-122"/>
                <a:cs typeface="Roboto Light" pitchFamily="34" charset="-120"/>
              </a:rPr>
              <a:t>The five map layers as one video</a:t>
            </a:r>
            <a:endParaRPr lang="en-US" sz="2800" dirty="0"/>
          </a:p>
        </p:txBody>
      </p:sp>
      <p:pic>
        <p:nvPicPr>
          <p:cNvPr id="6" name="Media 0">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1950568" y="1691640"/>
            <a:ext cx="8290560" cy="4663440"/>
          </a:xfrm>
          <a:prstGeom prst="rect">
            <a:avLst/>
          </a:prstGeom>
        </p:spPr>
      </p:pic>
      <p:sp>
        <p:nvSpPr>
          <p:cNvPr id="25" name="Slide Number Placeholder 0"/>
          <p:cNvSpPr>
            <a:spLocks noGrp="1"/>
          </p:cNvSpPr>
          <p:nvPr>
            <p:ph type="sldNum" sz="quarter" idx="4294967295"/>
          </p:nvPr>
        </p:nvSpPr>
        <p:spPr>
          <a:xfrm>
            <a:off x="11140135" y="6510528"/>
            <a:ext cx="548640" cy="219456"/>
          </a:xfrm>
          <a:prstGeom prst="rect">
            <a:avLst/>
          </a:prstGeom>
          <a:extLst>
            <a:ext uri="{C572A759-6A51-4108-AA02-DFA0A04FC94B}">
              <ma14:wrappingTextBoxFlag xmlns="" xmlns:ma14="http://schemas.microsoft.com/office/mac/drawingml/2011/main" val="0"/>
            </a:ext>
          </a:extLst>
        </p:spPr>
        <p:txBody>
          <a:bodyPr/>
          <a:lstStyle>
            <a:lvl1pPr>
              <a:defRPr sz="900">
                <a:solidFill>
                  <a:srgbClr val="6C7B80"/>
                </a:solidFill>
                <a:latin typeface="Roboto"/>
                <a:ea typeface="Roboto"/>
                <a:cs typeface="Roboto"/>
              </a:defRPr>
            </a:lvl1pPr>
          </a:lstStyle>
          <a:p>
            <a:pPr algn="r"/>
            <a:fld id="{F7021451-1387-4CA6-816F-3879F97B5CBC}" type="slidenum">
              <a:rPr lang="en-US" b="0"/>
              <a:t>36</a:t>
            </a:fld>
            <a:endParaRPr lang="en-US"/>
          </a:p>
        </p:txBody>
      </p:sp>
    </p:spTree>
  </p:cSld>
  <p:clrMapOvr>
    <a:masterClrMapping/>
  </p:clrMapOvr>
</p:sld>
</file>

<file path=ppt/theme/theme1.xml><?xml version="1.0" encoding="utf-8"?>
<a:theme xmlns:a="http://schemas.openxmlformats.org/drawingml/2006/main" name="FZS student deck">
  <a:themeElements>
    <a:clrScheme name="FZS student deck">
      <a:dk1>
        <a:srgbClr val="22383F"/>
      </a:dk1>
      <a:lt1>
        <a:srgbClr val="FFFFFF"/>
      </a:lt1>
      <a:dk2>
        <a:srgbClr val="243B42"/>
      </a:dk2>
      <a:lt2>
        <a:srgbClr val="F2EFEA"/>
      </a:lt2>
      <a:accent1>
        <a:srgbClr val="3C7D2C"/>
      </a:accent1>
      <a:accent2>
        <a:srgbClr val="B9C94F"/>
      </a:accent2>
      <a:accent3>
        <a:srgbClr val="A42C58"/>
      </a:accent3>
      <a:accent4>
        <a:srgbClr val="D0692F"/>
      </a:accent4>
      <a:accent5>
        <a:srgbClr val="2B74A6"/>
      </a:accent5>
      <a:accent6>
        <a:srgbClr val="858D90"/>
      </a:accent6>
      <a:hlink>
        <a:srgbClr val="2B74A6"/>
      </a:hlink>
      <a:folHlink>
        <a:srgbClr val="6A5ACD"/>
      </a:folHlink>
    </a:clrScheme>
    <a:fontScheme name="FZS student deck">
      <a:majorFont>
        <a:latin typeface="Roboto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Robot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4834</Words>
  <Application>Microsoft Macintosh PowerPoint</Application>
  <PresentationFormat>Widescreen</PresentationFormat>
  <Paragraphs>402</Paragraphs>
  <Slides>36</Slides>
  <Notes>36</Notes>
  <HiddenSlides>0</HiddenSlides>
  <MMClips>2</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36</vt:i4>
      </vt:variant>
    </vt:vector>
  </HeadingPairs>
  <TitlesOfParts>
    <vt:vector size="42" baseType="lpstr">
      <vt:lpstr>Arial</vt:lpstr>
      <vt:lpstr>Calibri</vt:lpstr>
      <vt:lpstr>Roboto</vt:lpstr>
      <vt:lpstr>Roboto Light</vt:lpstr>
      <vt:lpstr>Roboto Medium</vt:lpstr>
      <vt:lpstr>FZS student deck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Data for Good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When the patrols leave: Operation Mercurio and FZS</dc:title>
  <dc:subject>PptxGenJS Presentation</dc:subject>
  <dc:creator>Group Giant Anteater</dc:creator>
  <cp:lastModifiedBy>Schmid, Sebastian</cp:lastModifiedBy>
  <cp:revision>30</cp:revision>
  <dcterms:created xsi:type="dcterms:W3CDTF">2026-10-13T13:13:08Z</dcterms:created>
  <dcterms:modified xsi:type="dcterms:W3CDTF">2026-10-15T18:24:17Z</dcterms:modified>
</cp:coreProperties>
</file>