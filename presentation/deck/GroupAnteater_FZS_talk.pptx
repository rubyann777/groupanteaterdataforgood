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2db3a21-5b4e-b76a-5af6-4a0f99c55470}">
          <p14:sldIdLst>
            <p14:sldId id="256"/>
          </p14:sldIdLst>
        </p14:section>
        <p14:section name="Question" id="{e0b8272c-374a-3a25-45b2-5dccd3413612}">
          <p14:sldIdLst>
            <p14:sldId id="257"/>
            <p14:sldId id="258"/>
          </p14:sldIdLst>
        </p14:section>
        <p14:section name="Where" id="{09e853ca-fa2a-1b63-fcd8-1fb8e548471c}">
          <p14:sldIdLst>
            <p14:sldId id="259"/>
            <p14:sldId id="260"/>
          </p14:sldIdLst>
        </p14:section>
        <p14:section name="What happened" id="{64e9cd6c-b67b-9151-eb87-c44303f3b6b5}">
          <p14:sldIdLst>
            <p14:sldId id="261"/>
            <p14:sldId id="262"/>
            <p14:sldId id="263"/>
            <p14:sldId id="264"/>
            <p14:sldId id="265"/>
            <p14:sldId id="266"/>
          </p14:sldIdLst>
        </p14:section>
        <p14:section name="Is it causal?" id="{52439e2b-5fe5-cd78-77e5-71edf692569a}">
          <p14:sldIdLst>
            <p14:sldId id="267"/>
          </p14:sldIdLst>
        </p14:section>
        <p14:section name="Limits" id="{7f100cdd-5746-5b68-4de9-f9763d1f9a86}">
          <p14:sldIdLst>
            <p14:sldId id="268"/>
          </p14:sldIdLst>
        </p14:section>
        <p14:section name="For FZS" id="{decbac32-1f29-f07c-4418-415c34d2812e}">
          <p14:sldIdLst>
            <p14:sldId id="269"/>
          </p14:sldIdLst>
        </p14:section>
        <p14:section name="Closing" id="{58f45c9b-d086-32a4-c5d3-d168e05c99c9}">
          <p14:sldIdLst>
            <p14:sldId id="270"/>
          </p14:sldIdLst>
        </p14:section>
        <p14:section name="Backup" id="{af12bbcf-1569-7157-8907-b41f555148c0}">
          <p14:sldIdLst>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Good morning, we are Group Giant Anteater. [Names.]
Two facts about our animal. One: the giant anteater eats up to 35,000 ants and termites a day, with a tongue about 60 centimetres long that flicks up to 150 times a minute (Smithsonian's National Zoo; National Geographic).
Two, the one to remember: it spends only about a minute at each mound, never destroys the nest, moves on, and comes back later to feed again (National Geographic).
Hold on to that habit. It describes what we found for gold mining in La Pampa: hence the title, mining comes back for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FZS supports SERNANP's operations against illegal gold mining around Tambopata. Operations are expensive, and they end. So the practical question: what should FZS expect in the targeted area, and around it, once an operation is over?
Three possibilities: mining stops for good (deterrence), it moves next door (displacement), or it waits and comes back (delay). Inside the target alone these look the same, so we compare areas.
The answer up front, all description. One: net mining additions in the Tambopata buffer zone fell from about 1,640 to 163 hectares a year in 2019 to 2021. But a quarter to a half of that fall is pits going out of use, most of it in 2019; the rest is fewer new pits. Two: just across the road, in the legal corridor, net additions rose from about 60 to 395 hectares a year. Three: in the later years, 2022 to 2025, the buffer zone was back at about 1,829 hectares a year, much of it on old 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measure on every slide from here on: net mining additions, in hectares per year. It is simply the mining area this year minus last year, from the MapBiomas Peru satellite maps at 30 metres.
We split it into three parts, always in the same colours. Brown: new land, mined for the first time since 1985. Amber: re-mined, old pits mined again after a gap. Teal: stopped, pits that left the mining class, most often because they flooded or started to regrow. Net equals new plus re-mined minus stopped.
Why it matters: a fall in net additions can mean fewer new pits, or more pits going out of use. Those are different stories for FZS.
And the same zones everywhere: the Tambopata buffer zone as SERNANP draws it, La Pampa as its western part, the strip of legal corridor across the road, the Amarakaeri buffer zone as the less-treated comparison, and the whole department. Hectares measure mining activity, not the number of 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click to play. Step 1: the protected areas. Tambopata National Reserve in the south, the core FZS helps protect, ringed by its buffer zone. West: the Amarakaeri buffer zone. Pink outlines: native communities.
Step 2: the Interoceanic Highway runs right along the buffer zone. Blue lines are rivers: the gold here is alluvial, in the floodplains.
Step 3: the blue area is the mining corridor created by decree in 2012, D.L. 1100, where small-scale mining can be permitted. South of the road, in the buffer zone, the same work is a crime. Legality is about location: the satellite maps themselves cannot tell legal from illegal.
Step 4: in orange, La Pampa, the target of Operation Mercurio from February 2019, which we define as the buffer zone's part between 70.15 and 69.80 degrees west; there is no official boundary. The blue box just across the road is the part of the legal corridor directly opposite. Watch these two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click to play. Each year, brown pixels are land mined for the first time, amber are old pits mined again, teal are pits that stopped; grey is everything mapped as mining that year. On the right, the net additions per year for La Pampa and for the strip across the road, with the three parts.
Before 2019, brown dominates in La Pampa, south of the road. Watch 2019, the Mercurio year: new clearing did not fall in 2019 — about 1,533 hectares of new land in La Pampa, against 1,835 in 2018 — but land going out of use did: 1,495 hectares stopped. So net additions drop to 243.
In 2020 and 2021, La Pampa's net additions sit near zero while the strip across the road lights up. In the later years, amber appears: mining comes back, much of it on old pits. In 2025 the navy leaves the river posts.
The video ends with the caveat we repeat: satellites can't see river dredges or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first comparison, the course's: net mining additions in the Tambopata buffer zone, orange, and in the Amarakaeri buffer zone, green, our less-treated comparison.
In 2016 to 2018 Tambopata added about 1,640 hectares a year. In 2019 to 2021, Mercurio and what followed, only 163: a 90% fall. Amarakaeri went the other way, 289 to 574. The simple difference-in-differences is −1,762 hectares a year: a description, not yet a cause.
In the later years Tambopata was back at 1,829. The 2023 spike shows up in MapBiomas only, so we also report the later years without it: 1,251.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Now the same zones, split into the three parts, as period averages. The black bar is net.
In Tambopata, new land fell from 2,017 to 1,061 hectares a year: it roughly halved. At the same time stopped land, pits going out of use, nearly doubled, from 721 to 1,413. Depending on how we count map flicker, between 25% and 47% of the fall in net additions is that extra stopping, and 68% of the extra stopping happened in 2019.
In Amarakaeri, stopped land stayed flat (542 to 584). Why it matters: a net fall is not the same as fewer new pits. Part of what fell is old pits leaving the mining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Zoom into La Pampa itself, year by year. Brown up is new land, amber re-mined, teal down is stopped; the black line is net.
New clearing did not fall in 2019; land going out of use did. In 2019 La Pampa still added 1,533 hectares of new land, against 1,835 in 2018. But 1,495 hectares stopped, so net additions fell to 243. New land only drops from 2020, which is also the first COVID year.
Why it matters for FZS: in the first year of an operation, new pits keep opening at the edges while patrolled pits go quiet. That is why a monitoring ring around the operation matters, more on that in the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Left: the strip of legal corridor directly across the road from La Pampa. Net additions rose from about 60 hectares a year in 2016 to 2018 to 395 in 2019 to 2021, mostly new land.
Right: the whole department. Madre de Dios never fell: 3,610 → 4,639 → 12,047 hectares a year across the three periods. The legal corridor's share of the department's net additions went from 42% to 80%, then 68% in the later years.
Careful: the rise elsewhere in the department was 1.8 times the size of Tambopata's fall, so this is not just the same miners moving; new entrants and the gold price play a part. We cannot show it was the same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Back to the whole Tambopata buffer zone, 2010 to 2025. In the later years, 2022 to 2025, net additions were back at 1,829 hectares a year, 1,251 without the 2023 spike.
Much of it came back on old pits: re-mined land averaged 1,139 hectares a year, against 344 before. Forest-loss alerts do not see this, because there is no forest left to lose. MAAP #193 (2023) reports the same return to degraded land.
Note the wording: we call 2022 to 2025 the later years, because enforcement never simply stopped; it went on in waves: Plan Restauración in 2021 and a state of emergency from April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This is FZS's core area: the Tambopata National Reserve itself, not the buffer zone.
Net additions inside the reserve stayed small or negative for years; in 2019 to 2021 they averaged −33 hectares a year. In 2025 they jumped by 241 hectares, the year the navy left its river posts on the Malinowski for lack of funds. MAAP #241 (2026) reports about 500 hectares from late 2025 to February 2026.
The 2017 bar is an earlier jump; treat single years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one causal sentence we are willing to make, and it has an 'if'. If the comparison zones show what Tambopata would have done without the operation, then Mercurio and what followed lowered net additions in the buffer zone by about 1,453 to 1,663 hectares a year in 2019 to 2021. The low end is the model with zone and year effects across 15 Peruvian buffer zones; the high end the two-by-two against Amarakaeri with 2014 to 2018 as the base. Synthetic difference-in-differences lands in between, −1,544.
The bars show what the estimate is made of: less new land, and more stopped land: about 759 hectares a year of the M1 estimate is extra stopping. So part of the 'effect' is pits going out of use.
Right side: the ranks are not a significance test. In hectares Tambopata has the biggest fall of 15 zones, but it also has the biggest change in 2014, before Mercurio: the raw rank measures size. Scaled to each zone's own size it ranks 3 to 6 of 7, nothing special.
Read it as an upper bound: La Pampa was targeted at its peak, miners moving into the comparison zones widen the gap, and the fall coincides with COVID.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Every brief must say what satellites can't see. River dredges: MAAP counted 148 rising to 598 in La Pampa between 2021 and 2023. Mercury in rivers and fish. People: hectares measure mining activity, not the number of miners. And map flicker: 37% of the land that 'stopped' in 2019 to 2021 was mapped as mining again within two years, so some stopping is the classifier, or miners returning.
On the right, the direction of each bias. Targeted at its record peak, miners moving into comparison zones, size, and counting pits that stop as less mining all make the fall look bigger. The comparison zones' own operations and yearly maps blurring a February start push the other way.
So: read our fall as an upper bound, and the return as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Three recommendations. They build on this one case, so treat them as informed expectations, not proven rules.
One, stay after the sweep. Net additions stayed low only in 2019 to 2021; in the later years the buffer zone was back at about 1,829 hectares a year, and the 2025 incursion into the reserve came right after a withdrawal. Fund presence, not one-off operations.
Two, watch the ring around the enforcement zone in near real time. In 2019 new pits kept opening in La Pampa while patrolled pits stopped, and new mining rose across the road, from about 60 to 395 hectares a year net. A forest-loss alert system like GLAD or MAAP on a ring of a few kilometres around each operation catches the next pit before it is dug out. Add old pits to the watch list: alerts miss re-mining.
Three, hold the reserve's first kilometre and the river. 91% of first-time mining inside the reserve lies within one kilometre of its edge. Staff the Malinowski posts, and push gold traceability in the corridor.
What would let us say more: dated patrol records per zone from SERNANP or FZS, dredge counts, and mercury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Backup: six attempts, stopped land split, the road and cell designs, twins, Brazil, money and gold, definitions and data, map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zone-level designs hold, and only in hectares: scaled to size Tambopata is ordinary. The raw rank 1 of 15 also appears in 2014, before Mercurio, so it measures size, not significance. Synthetic control cannot fit Tambopata's size before 2019; the twins grew differently before 2019 and use another measure (Amazon Mining Watch new area, not net additions); the road discontinuity measures a swing, an upper bound because displacement breaks its no-spillover assumption; matching never beats chance and has no common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'stopped' means on the ground. Most stopped land becomes water (flooded pits) or regrows; a large share is mapped as mining again within two years: in the Tambopata buffer zone 37% for 2019–21. That is classifier flicker or miners returning; we have no image validation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regression discontinuity on net additions, as a difference in discontinuities. The road estimate is a swing (north up, south down), an upper bound because displacement breaks the no-spillover assumption.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1-km cell panel on net additions. The comparison cells hold almost no mining, so this is close to a before/after comparison.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Rule-based twins (Ruby's design), all chosen by one dating rule. Tambopata added new mining at 16% of the twins' mean pace in 2019–21 (41% without Munduruku). Different measure: Amazon Mining Watch new area, comparable to first-time mining, not net additions. Before 2019 the twins grew differently (pre-trends rejected), so they can't show the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Brazil is the mirror image: weaker federal enforcement in 2019–22, then targeted operations from 2023 (Yanomami from February 2023). Mining in indigenous lands boomed and then fell, but the operations came at the peak, and a national change in January 2023 (end of the gold 'good faith' rule, electronic invoices) hit all territories at once. A territory-level design cannot separate these, and the staggered estimate is not distinguishable from zero.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not a test. The PP 0128 budget booked in Madre de Dios jumped in 2019 and shrank after (a lower bound: national units book in Lima). The gold price rose about 2.7-fold from 2018 to 2025. La Pampa's net additions came back as money faded and the price rose; with 11 years and money that follows mining, we do not test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for questions. The course's statistics workbook numbers (1,640 → 163 ha/yr) are reproduced as checks; our numbers come from the rasters on one zone registry and differ in the last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steps as the map video on slide 4, as stills.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43B42"/>
        </a:solidFill>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indent="0" marL="0">
              <a:buNone/>
            </a:pPr>
            <a:r>
              <a:rPr lang="en-US" sz="900" spc="150" kern="0" dirty="0">
                <a:solidFill>
                  <a:srgbClr val="C3D0CF"/>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2EFEA"/>
        </a:solidFill>
      </p:bgPr>
    </p:bg>
    <p:spTree>
      <p:nvGrpSpPr>
        <p:cNvPr id="1" name=""/>
        <p:cNvGrpSpPr/>
        <p:nvPr/>
      </p:nvGrpSpPr>
      <p:grpSpPr>
        <a:xfrm>
          <a:off x="0" y="0"/>
          <a:ext cx="0" cy="0"/>
          <a:chOff x="0" y="0"/>
          <a:chExt cx="0" cy="0"/>
        </a:xfrm>
      </p:grpSpPr>
      <p:sp>
        <p:nvSpPr>
          <p:cNvPr id="2" name="Text 0"/>
          <p:cNvSpPr/>
          <p:nvPr/>
        </p:nvSpPr>
        <p:spPr>
          <a:xfrm>
            <a:off x="502920" y="6510528"/>
            <a:ext cx="8229600" cy="219456"/>
          </a:xfrm>
          <a:prstGeom prst="rect">
            <a:avLst/>
          </a:prstGeom>
          <a:noFill/>
          <a:ln/>
        </p:spPr>
        <p:txBody>
          <a:bodyPr wrap="square" lIns="0" tIns="0" rIns="0" bIns="0" rtlCol="0" anchor="ctr"/>
          <a:lstStyle/>
          <a:p>
            <a:pPr indent="0" marL="0">
              <a:buNone/>
            </a:pPr>
            <a:r>
              <a:rPr lang="en-US" sz="900" spc="150" kern="0" dirty="0">
                <a:solidFill>
                  <a:srgbClr val="6C7B80"/>
                </a:solidFill>
                <a:latin typeface="Roboto Medium" pitchFamily="34" charset="0"/>
                <a:ea typeface="Roboto Medium" pitchFamily="34" charset="-122"/>
                <a:cs typeface="Roboto Medium" pitchFamily="34" charset="-120"/>
              </a:rPr>
              <a:t>WHEN THE PATROLS LEAVE  ·  GROUP GIANT ANTEATER  ·  DATA FOR GOOD</a:t>
            </a:r>
            <a:endParaRPr lang="en-US" sz="9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3.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384048"/>
            <a:ext cx="3483864"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DATA FOR GOOD · QUESTION 2</a:t>
            </a:r>
            <a:endParaRPr lang="en-US" sz="1200" dirty="0"/>
          </a:p>
        </p:txBody>
      </p:sp>
      <p:sp>
        <p:nvSpPr>
          <p:cNvPr id="3" name="Shape 1"/>
          <p:cNvSpPr/>
          <p:nvPr/>
        </p:nvSpPr>
        <p:spPr>
          <a:xfrm>
            <a:off x="4096512" y="521208"/>
            <a:ext cx="7592263" cy="0"/>
          </a:xfrm>
          <a:prstGeom prst="line">
            <a:avLst/>
          </a:prstGeom>
          <a:noFill/>
          <a:ln w="9525">
            <a:solidFill>
              <a:srgbClr val="B9C94F">
                <a:alpha val="70000"/>
              </a:srgbClr>
            </a:solidFill>
            <a:prstDash val="solid"/>
          </a:ln>
        </p:spPr>
      </p:sp>
      <p:sp>
        <p:nvSpPr>
          <p:cNvPr id="4" name="title"/>
          <p:cNvSpPr txBox="1"/>
          <p:nvPr/>
        </p:nvSpPr>
        <p:spPr>
          <a:xfrm>
            <a:off x="502920" y="868680"/>
            <a:ext cx="6355080" cy="1554480"/>
          </a:xfrm>
          <a:prstGeom prst="rect">
            <a:avLst/>
          </a:prstGeom>
          <a:noFill/>
          <a:ln/>
        </p:spPr>
        <p:txBody>
          <a:bodyPr wrap="square" lIns="0" tIns="0" rIns="0" bIns="0" rtlCol="0" anchor="t"/>
          <a:lstStyle/>
          <a:p>
            <a:pPr indent="0" marL="0">
              <a:buNone/>
            </a:pPr>
            <a:r>
              <a:rPr lang="en-US" sz="3600" dirty="0">
                <a:solidFill>
                  <a:srgbClr val="F3F5F2"/>
                </a:solidFill>
                <a:latin typeface="Roboto Light" pitchFamily="34" charset="0"/>
                <a:ea typeface="Roboto Light" pitchFamily="34" charset="-122"/>
                <a:cs typeface="Roboto Light" pitchFamily="34" charset="-120"/>
              </a:rPr>
              <a:t>When the patrols leave,</a:t>
            </a:r>
            <a:endParaRPr lang="en-US" sz="3600" dirty="0"/>
          </a:p>
          <a:p>
            <a:pPr indent="0" marL="0">
              <a:buNone/>
            </a:pPr>
            <a:r>
              <a:rPr lang="en-US" sz="3600" dirty="0">
                <a:solidFill>
                  <a:srgbClr val="B9C94F"/>
                </a:solidFill>
                <a:latin typeface="Roboto Light" pitchFamily="34" charset="0"/>
                <a:ea typeface="Roboto Light" pitchFamily="34" charset="-122"/>
                <a:cs typeface="Roboto Light" pitchFamily="34" charset="-120"/>
              </a:rPr>
              <a:t>mining comes back for seconds.</a:t>
            </a:r>
            <a:endParaRPr lang="en-US" sz="3600" dirty="0"/>
          </a:p>
        </p:txBody>
      </p:sp>
      <p:sp>
        <p:nvSpPr>
          <p:cNvPr id="5" name="Text 3"/>
          <p:cNvSpPr txBox="1"/>
          <p:nvPr/>
        </p:nvSpPr>
        <p:spPr>
          <a:xfrm>
            <a:off x="502920" y="2697480"/>
            <a:ext cx="6035040" cy="685800"/>
          </a:xfrm>
          <a:prstGeom prst="rect">
            <a:avLst/>
          </a:prstGeom>
          <a:noFill/>
          <a:ln/>
        </p:spPr>
        <p:txBody>
          <a:bodyPr wrap="square" lIns="0" tIns="0" rIns="0" bIns="0" rtlCol="0" anchor="t"/>
          <a:lstStyle/>
          <a:p>
            <a:pPr indent="0" marL="0">
              <a:buNone/>
            </a:pPr>
            <a:r>
              <a:rPr lang="en-US" sz="1600" dirty="0">
                <a:solidFill>
                  <a:srgbClr val="C3D0CF"/>
                </a:solidFill>
                <a:latin typeface="Roboto" pitchFamily="34" charset="0"/>
                <a:ea typeface="Roboto" pitchFamily="34" charset="-122"/>
                <a:cs typeface="Roboto" pitchFamily="34" charset="-120"/>
              </a:rPr>
              <a:t>Operation Mercurio, La Pampa, from February 2019 · what it means for FZS in Tambopata</a:t>
            </a:r>
            <a:endParaRPr lang="en-US" sz="1600" dirty="0"/>
          </a:p>
        </p:txBody>
      </p:sp>
      <p:sp>
        <p:nvSpPr>
          <p:cNvPr id="6" name="Shape 4"/>
          <p:cNvSpPr/>
          <p:nvPr/>
        </p:nvSpPr>
        <p:spPr>
          <a:xfrm>
            <a:off x="502920" y="3611880"/>
            <a:ext cx="6126480" cy="0"/>
          </a:xfrm>
          <a:prstGeom prst="line">
            <a:avLst/>
          </a:prstGeom>
          <a:noFill/>
          <a:ln w="9525">
            <a:solidFill>
              <a:srgbClr val="FFFFFF">
                <a:alpha val="18000"/>
              </a:srgbClr>
            </a:solidFill>
            <a:prstDash val="solid"/>
          </a:ln>
        </p:spPr>
      </p:sp>
      <p:sp>
        <p:nvSpPr>
          <p:cNvPr id="7" name="Text 5"/>
          <p:cNvSpPr txBox="1"/>
          <p:nvPr/>
        </p:nvSpPr>
        <p:spPr>
          <a:xfrm>
            <a:off x="502920" y="3767328"/>
            <a:ext cx="6126480" cy="256032"/>
          </a:xfrm>
          <a:prstGeom prst="rect">
            <a:avLst/>
          </a:prstGeom>
          <a:noFill/>
          <a:ln/>
        </p:spPr>
        <p:txBody>
          <a:bodyPr wrap="square" lIns="0" tIns="0" rIns="0" bIns="0" rtlCol="0" anchor="ctr"/>
          <a:lstStyle/>
          <a:p>
            <a:pPr indent="0" marL="0">
              <a:buNone/>
            </a:pPr>
            <a:r>
              <a:rPr lang="en-US" sz="1100" spc="200" kern="0" dirty="0">
                <a:solidFill>
                  <a:srgbClr val="B9C94F"/>
                </a:solidFill>
                <a:latin typeface="Roboto Medium" pitchFamily="34" charset="0"/>
                <a:ea typeface="Roboto Medium" pitchFamily="34" charset="-122"/>
                <a:cs typeface="Roboto Medium" pitchFamily="34" charset="-120"/>
              </a:rPr>
              <a:t>TWO FACTS ABOUT OUR ANIMAL</a:t>
            </a:r>
            <a:endParaRPr lang="en-US" sz="1100" dirty="0"/>
          </a:p>
        </p:txBody>
      </p:sp>
      <p:sp>
        <p:nvSpPr>
          <p:cNvPr id="8" name="Text 6"/>
          <p:cNvSpPr txBox="1"/>
          <p:nvPr/>
        </p:nvSpPr>
        <p:spPr>
          <a:xfrm>
            <a:off x="502920" y="4114800"/>
            <a:ext cx="2926080" cy="548640"/>
          </a:xfrm>
          <a:prstGeom prst="rect">
            <a:avLst/>
          </a:prstGeom>
          <a:noFill/>
          <a:ln/>
        </p:spPr>
        <p:txBody>
          <a:bodyPr wrap="square" lIns="0" tIns="0" rIns="0" bIns="0" rtlCol="0" anchor="ctr"/>
          <a:lstStyle/>
          <a:p>
            <a:pPr indent="0" marL="0">
              <a:buNone/>
            </a:pPr>
            <a:r>
              <a:rPr lang="en-US" sz="3000" dirty="0">
                <a:solidFill>
                  <a:srgbClr val="B9C94F"/>
                </a:solidFill>
                <a:latin typeface="Roboto Light" pitchFamily="34" charset="0"/>
                <a:ea typeface="Roboto Light" pitchFamily="34" charset="-122"/>
                <a:cs typeface="Roboto Light" pitchFamily="34" charset="-120"/>
              </a:rPr>
              <a:t>35,000</a:t>
            </a:r>
            <a:endParaRPr lang="en-US" sz="3000" dirty="0"/>
          </a:p>
        </p:txBody>
      </p:sp>
      <p:sp>
        <p:nvSpPr>
          <p:cNvPr id="9" name="Text 7"/>
          <p:cNvSpPr txBox="1"/>
          <p:nvPr/>
        </p:nvSpPr>
        <p:spPr>
          <a:xfrm>
            <a:off x="502920" y="4681728"/>
            <a:ext cx="2880360" cy="868680"/>
          </a:xfrm>
          <a:prstGeom prst="rect">
            <a:avLst/>
          </a:prstGeom>
          <a:noFill/>
          <a:ln/>
        </p:spPr>
        <p:txBody>
          <a:bodyPr wrap="square" lIns="0" tIns="0" rIns="0" bIns="0" rtlCol="0" anchor="t"/>
          <a:lstStyle/>
          <a:p>
            <a:pPr indent="0" marL="0">
              <a:buNone/>
            </a:pPr>
            <a:r>
              <a:rPr lang="en-US" sz="1300" dirty="0">
                <a:solidFill>
                  <a:srgbClr val="C3D0CF"/>
                </a:solidFill>
                <a:latin typeface="Roboto" pitchFamily="34" charset="0"/>
                <a:ea typeface="Roboto" pitchFamily="34" charset="-122"/>
                <a:cs typeface="Roboto" pitchFamily="34" charset="-120"/>
              </a:rPr>
              <a:t>ants a day, with a 60 cm tongue flicking up to 150 times a minute</a:t>
            </a:r>
            <a:endParaRPr lang="en-US" sz="1300" dirty="0"/>
          </a:p>
        </p:txBody>
      </p:sp>
      <p:sp>
        <p:nvSpPr>
          <p:cNvPr id="10" name="Shape 8"/>
          <p:cNvSpPr/>
          <p:nvPr/>
        </p:nvSpPr>
        <p:spPr>
          <a:xfrm>
            <a:off x="3502152" y="4160520"/>
            <a:ext cx="0" cy="1417320"/>
          </a:xfrm>
          <a:prstGeom prst="line">
            <a:avLst/>
          </a:prstGeom>
          <a:noFill/>
          <a:ln w="9525">
            <a:solidFill>
              <a:srgbClr val="FFFFFF">
                <a:alpha val="18000"/>
              </a:srgbClr>
            </a:solidFill>
            <a:prstDash val="solid"/>
          </a:ln>
        </p:spPr>
      </p:sp>
      <p:sp>
        <p:nvSpPr>
          <p:cNvPr id="11" name="Text 9"/>
          <p:cNvSpPr txBox="1"/>
          <p:nvPr/>
        </p:nvSpPr>
        <p:spPr>
          <a:xfrm>
            <a:off x="3657600" y="4114800"/>
            <a:ext cx="2926080" cy="548640"/>
          </a:xfrm>
          <a:prstGeom prst="rect">
            <a:avLst/>
          </a:prstGeom>
          <a:noFill/>
          <a:ln/>
        </p:spPr>
        <p:txBody>
          <a:bodyPr wrap="square" lIns="0" tIns="0" rIns="0" bIns="0" rtlCol="0" anchor="ctr"/>
          <a:lstStyle/>
          <a:p>
            <a:pPr indent="0" marL="0">
              <a:buNone/>
            </a:pPr>
            <a:r>
              <a:rPr lang="en-US" sz="3000" dirty="0">
                <a:solidFill>
                  <a:srgbClr val="B9C94F"/>
                </a:solidFill>
                <a:latin typeface="Roboto Light" pitchFamily="34" charset="0"/>
                <a:ea typeface="Roboto Light" pitchFamily="34" charset="-122"/>
                <a:cs typeface="Roboto Light" pitchFamily="34" charset="-120"/>
              </a:rPr>
              <a:t>1 minute</a:t>
            </a:r>
            <a:endParaRPr lang="en-US" sz="3000" dirty="0"/>
          </a:p>
        </p:txBody>
      </p:sp>
      <p:sp>
        <p:nvSpPr>
          <p:cNvPr id="12" name="Text 10"/>
          <p:cNvSpPr txBox="1"/>
          <p:nvPr/>
        </p:nvSpPr>
        <p:spPr>
          <a:xfrm>
            <a:off x="3657600" y="4681728"/>
            <a:ext cx="2880360" cy="868680"/>
          </a:xfrm>
          <a:prstGeom prst="rect">
            <a:avLst/>
          </a:prstGeom>
          <a:noFill/>
          <a:ln/>
        </p:spPr>
        <p:txBody>
          <a:bodyPr wrap="square" lIns="0" tIns="0" rIns="0" bIns="0" rtlCol="0" anchor="t"/>
          <a:lstStyle/>
          <a:p>
            <a:pPr indent="0" marL="0">
              <a:buNone/>
            </a:pPr>
            <a:r>
              <a:rPr lang="en-US" sz="1300" dirty="0">
                <a:solidFill>
                  <a:srgbClr val="C3D0CF"/>
                </a:solidFill>
                <a:latin typeface="Roboto" pitchFamily="34" charset="0"/>
                <a:ea typeface="Roboto" pitchFamily="34" charset="-122"/>
                <a:cs typeface="Roboto" pitchFamily="34" charset="-120"/>
              </a:rPr>
              <a:t>per mound. It never destroys the nest: it moves on and comes back later</a:t>
            </a:r>
            <a:endParaRPr lang="en-US" sz="1300" dirty="0"/>
          </a:p>
        </p:txBody>
      </p:sp>
      <p:sp>
        <p:nvSpPr>
          <p:cNvPr id="13" name="Text 11"/>
          <p:cNvSpPr txBox="1"/>
          <p:nvPr/>
        </p:nvSpPr>
        <p:spPr>
          <a:xfrm>
            <a:off x="502920" y="5760720"/>
            <a:ext cx="6126480" cy="228600"/>
          </a:xfrm>
          <a:prstGeom prst="rect">
            <a:avLst/>
          </a:prstGeom>
          <a:noFill/>
          <a:ln/>
        </p:spPr>
        <p:txBody>
          <a:bodyPr wrap="square" lIns="0" tIns="0" rIns="0" bIns="0" rtlCol="0" anchor="ctr"/>
          <a:lstStyle/>
          <a:p>
            <a:pPr indent="0" marL="0">
              <a:buNone/>
            </a:pPr>
            <a:r>
              <a:rPr lang="en-US" sz="1000" dirty="0">
                <a:solidFill>
                  <a:srgbClr val="C3D0CF"/>
                </a:solidFill>
                <a:latin typeface="Roboto" pitchFamily="34" charset="0"/>
                <a:ea typeface="Roboto" pitchFamily="34" charset="-122"/>
                <a:cs typeface="Roboto" pitchFamily="34" charset="-120"/>
              </a:rPr>
              <a:t>Smithsonian's National Zoo; National Geographic</a:t>
            </a:r>
            <a:endParaRPr lang="en-US" sz="1000" dirty="0"/>
          </a:p>
        </p:txBody>
      </p:sp>
      <p:sp>
        <p:nvSpPr>
          <p:cNvPr id="14" name="photo-placeholder"/>
          <p:cNvSpPr/>
          <p:nvPr/>
        </p:nvSpPr>
        <p:spPr>
          <a:xfrm>
            <a:off x="7086600" y="384048"/>
            <a:ext cx="4602175" cy="5943600"/>
          </a:xfrm>
          <a:prstGeom prst="rect">
            <a:avLst/>
          </a:prstGeom>
          <a:solidFill>
            <a:srgbClr val="2E4850"/>
          </a:solidFill>
          <a:ln w="12700">
            <a:solidFill>
              <a:srgbClr val="3D555D"/>
            </a:solidFill>
            <a:prstDash val="dash"/>
          </a:ln>
        </p:spPr>
      </p:sp>
      <p:sp>
        <p:nvSpPr>
          <p:cNvPr id="15" name="Text 13"/>
          <p:cNvSpPr txBox="1"/>
          <p:nvPr/>
        </p:nvSpPr>
        <p:spPr>
          <a:xfrm>
            <a:off x="7086600" y="3081528"/>
            <a:ext cx="4602175" cy="548640"/>
          </a:xfrm>
          <a:prstGeom prst="rect">
            <a:avLst/>
          </a:prstGeom>
          <a:noFill/>
          <a:ln/>
        </p:spPr>
        <p:txBody>
          <a:bodyPr wrap="square" rtlCol="0" anchor="ctr"/>
          <a:lstStyle/>
          <a:p>
            <a:pPr algn="ctr" indent="0" marL="0">
              <a:buNone/>
            </a:pPr>
            <a:r>
              <a:rPr lang="en-US" sz="1300" i="1" dirty="0">
                <a:solidFill>
                  <a:srgbClr val="C3D0CF"/>
                </a:solidFill>
                <a:latin typeface="Roboto" pitchFamily="34" charset="0"/>
                <a:ea typeface="Roboto" pitchFamily="34" charset="-122"/>
                <a:cs typeface="Roboto" pitchFamily="34" charset="-120"/>
              </a:rPr>
              <a:t>Photo: giant anteater at a termite mound</a:t>
            </a:r>
            <a:endParaRPr lang="en-US" sz="13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01   </a:t>
            </a:r>
            <a:pPr indent="0" marL="0">
              <a:buNone/>
            </a:pPr>
            <a:r>
              <a:rPr lang="en-US" sz="1200" spc="220" kern="0" dirty="0">
                <a:solidFill>
                  <a:srgbClr val="B9C94F"/>
                </a:solidFill>
                <a:latin typeface="Roboto Medium" pitchFamily="34" charset="0"/>
                <a:ea typeface="Roboto Medium" pitchFamily="34" charset="-122"/>
                <a:cs typeface="Roboto Medium" pitchFamily="34" charset="-120"/>
              </a:rPr>
              <a:t>THE QUESTION</a:t>
            </a:r>
            <a:endParaRPr lang="en-US" sz="1200" dirty="0"/>
          </a:p>
        </p:txBody>
      </p:sp>
      <p:sp>
        <p:nvSpPr>
          <p:cNvPr id="3" name="Shape 1"/>
          <p:cNvSpPr/>
          <p:nvPr/>
        </p:nvSpPr>
        <p:spPr>
          <a:xfrm>
            <a:off x="2985516" y="521208"/>
            <a:ext cx="8703259" cy="0"/>
          </a:xfrm>
          <a:prstGeom prst="line">
            <a:avLst/>
          </a:prstGeom>
          <a:noFill/>
          <a:ln w="9525">
            <a:solidFill>
              <a:srgbClr val="B9C94F">
                <a:alpha val="70000"/>
              </a:srgbClr>
            </a:solidFill>
            <a:prstDash val="solid"/>
          </a:ln>
        </p:spPr>
      </p:sp>
      <p:sp>
        <p:nvSpPr>
          <p:cNvPr id="4"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FZS pays for operations. What happens when one ends?</a:t>
            </a:r>
            <a:endParaRPr lang="en-US" sz="2800" dirty="0"/>
          </a:p>
        </p:txBody>
      </p:sp>
      <p:sp>
        <p:nvSpPr>
          <p:cNvPr id="5"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Net mining additions, ha/yr · Tambopata buffer zone, La Pampa, Madre de Dios · 2016–18 vs 2019–21 vs 2022–25</a:t>
            </a:r>
            <a:endParaRPr lang="en-US" sz="1250" dirty="0"/>
          </a:p>
        </p:txBody>
      </p:sp>
      <p:sp>
        <p:nvSpPr>
          <p:cNvPr id="6" name="Text 4"/>
          <p:cNvSpPr txBox="1"/>
          <p:nvPr/>
        </p:nvSpPr>
        <p:spPr>
          <a:xfrm>
            <a:off x="502920" y="2011680"/>
            <a:ext cx="3657600"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WHAT WE FOUND</a:t>
            </a:r>
            <a:endParaRPr lang="en-US" sz="1200" dirty="0"/>
          </a:p>
        </p:txBody>
      </p:sp>
      <p:sp>
        <p:nvSpPr>
          <p:cNvPr id="7" name="Shape 5"/>
          <p:cNvSpPr/>
          <p:nvPr/>
        </p:nvSpPr>
        <p:spPr>
          <a:xfrm>
            <a:off x="502920" y="2468880"/>
            <a:ext cx="640080" cy="640080"/>
          </a:xfrm>
          <a:prstGeom prst="ellipse">
            <a:avLst/>
          </a:prstGeom>
          <a:solidFill>
            <a:srgbClr val="2E4850"/>
          </a:solidFill>
          <a:ln w="12700">
            <a:solidFill>
              <a:srgbClr val="B9C94F"/>
            </a:solidFill>
            <a:prstDash val="solid"/>
          </a:ln>
        </p:spPr>
      </p:sp>
      <p:pic>
        <p:nvPicPr>
          <p:cNvPr id="8" name="Image 0" descr="preencoded.png">    </p:cNvPr>
          <p:cNvPicPr>
            <a:picLocks noChangeAspect="1"/>
          </p:cNvPicPr>
          <p:nvPr/>
        </p:nvPicPr>
        <p:blipFill>
          <a:blip r:embed="rId1"/>
          <a:stretch>
            <a:fillRect/>
          </a:stretch>
        </p:blipFill>
        <p:spPr>
          <a:xfrm>
            <a:off x="649224" y="2615184"/>
            <a:ext cx="347472" cy="347472"/>
          </a:xfrm>
          <a:prstGeom prst="rect">
            <a:avLst/>
          </a:prstGeom>
        </p:spPr>
      </p:pic>
      <p:sp>
        <p:nvSpPr>
          <p:cNvPr id="9" name="Text 6"/>
          <p:cNvSpPr txBox="1"/>
          <p:nvPr/>
        </p:nvSpPr>
        <p:spPr>
          <a:xfrm>
            <a:off x="502920"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1 · IT FELL, LOCALLY</a:t>
            </a:r>
            <a:endParaRPr lang="en-US" sz="1100" dirty="0"/>
          </a:p>
        </p:txBody>
      </p:sp>
      <p:sp>
        <p:nvSpPr>
          <p:cNvPr id="10" name="Text 7"/>
          <p:cNvSpPr txBox="1"/>
          <p:nvPr/>
        </p:nvSpPr>
        <p:spPr>
          <a:xfrm>
            <a:off x="502920"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1,640 → 163</a:t>
            </a:r>
            <a:endParaRPr lang="en-US" sz="4000" dirty="0"/>
          </a:p>
        </p:txBody>
      </p:sp>
      <p:sp>
        <p:nvSpPr>
          <p:cNvPr id="11" name="Text 8"/>
          <p:cNvSpPr txBox="1"/>
          <p:nvPr/>
        </p:nvSpPr>
        <p:spPr>
          <a:xfrm>
            <a:off x="502920"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Tambopata buffer zone. 25%–47% of the fall: pits going out of use</a:t>
            </a:r>
            <a:endParaRPr lang="en-US" sz="1400" dirty="0"/>
          </a:p>
        </p:txBody>
      </p:sp>
      <p:sp>
        <p:nvSpPr>
          <p:cNvPr id="12" name="Shape 9"/>
          <p:cNvSpPr/>
          <p:nvPr/>
        </p:nvSpPr>
        <p:spPr>
          <a:xfrm>
            <a:off x="4096512" y="2468880"/>
            <a:ext cx="0" cy="3200400"/>
          </a:xfrm>
          <a:prstGeom prst="line">
            <a:avLst/>
          </a:prstGeom>
          <a:noFill/>
          <a:ln w="9525">
            <a:solidFill>
              <a:srgbClr val="FFFFFF">
                <a:alpha val="18000"/>
              </a:srgbClr>
            </a:solidFill>
            <a:prstDash val="solid"/>
          </a:ln>
        </p:spPr>
      </p:sp>
      <p:sp>
        <p:nvSpPr>
          <p:cNvPr id="13" name="Shape 10"/>
          <p:cNvSpPr/>
          <p:nvPr/>
        </p:nvSpPr>
        <p:spPr>
          <a:xfrm>
            <a:off x="4279392" y="2468880"/>
            <a:ext cx="640080" cy="640080"/>
          </a:xfrm>
          <a:prstGeom prst="ellipse">
            <a:avLst/>
          </a:prstGeom>
          <a:solidFill>
            <a:srgbClr val="2E4850"/>
          </a:solidFill>
          <a:ln w="12700">
            <a:solidFill>
              <a:srgbClr val="B9C94F"/>
            </a:solidFill>
            <a:prstDash val="solid"/>
          </a:ln>
        </p:spPr>
      </p:sp>
      <p:pic>
        <p:nvPicPr>
          <p:cNvPr id="14" name="Image 1" descr="preencoded.png">    </p:cNvPr>
          <p:cNvPicPr>
            <a:picLocks noChangeAspect="1"/>
          </p:cNvPicPr>
          <p:nvPr/>
        </p:nvPicPr>
        <p:blipFill>
          <a:blip r:embed="rId2"/>
          <a:stretch>
            <a:fillRect/>
          </a:stretch>
        </p:blipFill>
        <p:spPr>
          <a:xfrm>
            <a:off x="4425696" y="2615184"/>
            <a:ext cx="347472" cy="347472"/>
          </a:xfrm>
          <a:prstGeom prst="rect">
            <a:avLst/>
          </a:prstGeom>
        </p:spPr>
      </p:pic>
      <p:sp>
        <p:nvSpPr>
          <p:cNvPr id="15" name="Text 11"/>
          <p:cNvSpPr txBox="1"/>
          <p:nvPr/>
        </p:nvSpPr>
        <p:spPr>
          <a:xfrm>
            <a:off x="4279392"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2 · IT MOVED</a:t>
            </a:r>
            <a:endParaRPr lang="en-US" sz="1100" dirty="0"/>
          </a:p>
        </p:txBody>
      </p:sp>
      <p:sp>
        <p:nvSpPr>
          <p:cNvPr id="16" name="Text 12"/>
          <p:cNvSpPr txBox="1"/>
          <p:nvPr/>
        </p:nvSpPr>
        <p:spPr>
          <a:xfrm>
            <a:off x="4279392"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60 → 395</a:t>
            </a:r>
            <a:endParaRPr lang="en-US" sz="4000" dirty="0"/>
          </a:p>
        </p:txBody>
      </p:sp>
      <p:sp>
        <p:nvSpPr>
          <p:cNvPr id="17" name="Text 13"/>
          <p:cNvSpPr txBox="1"/>
          <p:nvPr/>
        </p:nvSpPr>
        <p:spPr>
          <a:xfrm>
            <a:off x="4279392"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just across the road, in the legal corridor</a:t>
            </a:r>
            <a:endParaRPr lang="en-US" sz="1400" dirty="0"/>
          </a:p>
        </p:txBody>
      </p:sp>
      <p:sp>
        <p:nvSpPr>
          <p:cNvPr id="18" name="Shape 14"/>
          <p:cNvSpPr/>
          <p:nvPr/>
        </p:nvSpPr>
        <p:spPr>
          <a:xfrm>
            <a:off x="7872984" y="2468880"/>
            <a:ext cx="0" cy="3200400"/>
          </a:xfrm>
          <a:prstGeom prst="line">
            <a:avLst/>
          </a:prstGeom>
          <a:noFill/>
          <a:ln w="9525">
            <a:solidFill>
              <a:srgbClr val="FFFFFF">
                <a:alpha val="18000"/>
              </a:srgbClr>
            </a:solidFill>
            <a:prstDash val="solid"/>
          </a:ln>
        </p:spPr>
      </p:sp>
      <p:sp>
        <p:nvSpPr>
          <p:cNvPr id="19" name="Shape 15"/>
          <p:cNvSpPr/>
          <p:nvPr/>
        </p:nvSpPr>
        <p:spPr>
          <a:xfrm>
            <a:off x="8055864" y="2468880"/>
            <a:ext cx="640080" cy="640080"/>
          </a:xfrm>
          <a:prstGeom prst="ellipse">
            <a:avLst/>
          </a:prstGeom>
          <a:solidFill>
            <a:srgbClr val="2E4850"/>
          </a:solidFill>
          <a:ln w="12700">
            <a:solidFill>
              <a:srgbClr val="B9C94F"/>
            </a:solidFill>
            <a:prstDash val="solid"/>
          </a:ln>
        </p:spPr>
      </p:sp>
      <p:pic>
        <p:nvPicPr>
          <p:cNvPr id="20" name="Image 2" descr="preencoded.png">    </p:cNvPr>
          <p:cNvPicPr>
            <a:picLocks noChangeAspect="1"/>
          </p:cNvPicPr>
          <p:nvPr/>
        </p:nvPicPr>
        <p:blipFill>
          <a:blip r:embed="rId3"/>
          <a:stretch>
            <a:fillRect/>
          </a:stretch>
        </p:blipFill>
        <p:spPr>
          <a:xfrm>
            <a:off x="8202168" y="2615184"/>
            <a:ext cx="347472" cy="347472"/>
          </a:xfrm>
          <a:prstGeom prst="rect">
            <a:avLst/>
          </a:prstGeom>
        </p:spPr>
      </p:pic>
      <p:sp>
        <p:nvSpPr>
          <p:cNvPr id="21" name="Text 16"/>
          <p:cNvSpPr txBox="1"/>
          <p:nvPr/>
        </p:nvSpPr>
        <p:spPr>
          <a:xfrm>
            <a:off x="8055864" y="3291840"/>
            <a:ext cx="3429000" cy="256032"/>
          </a:xfrm>
          <a:prstGeom prst="rect">
            <a:avLst/>
          </a:prstGeom>
          <a:noFill/>
          <a:ln/>
        </p:spPr>
        <p:txBody>
          <a:bodyPr wrap="square" lIns="0" tIns="0" rIns="0" bIns="0" rtlCol="0" anchor="ctr"/>
          <a:lstStyle/>
          <a:p>
            <a:pPr indent="0" marL="0">
              <a:buNone/>
            </a:pPr>
            <a:r>
              <a:rPr lang="en-US" sz="1100" spc="200" kern="0" dirty="0">
                <a:solidFill>
                  <a:srgbClr val="C3D0CF"/>
                </a:solidFill>
                <a:latin typeface="Roboto Medium" pitchFamily="34" charset="0"/>
                <a:ea typeface="Roboto Medium" pitchFamily="34" charset="-122"/>
                <a:cs typeface="Roboto Medium" pitchFamily="34" charset="-120"/>
              </a:rPr>
              <a:t>3 · IT CAME BACK</a:t>
            </a:r>
            <a:endParaRPr lang="en-US" sz="1100" dirty="0"/>
          </a:p>
        </p:txBody>
      </p:sp>
      <p:sp>
        <p:nvSpPr>
          <p:cNvPr id="22" name="Text 17"/>
          <p:cNvSpPr txBox="1"/>
          <p:nvPr/>
        </p:nvSpPr>
        <p:spPr>
          <a:xfrm>
            <a:off x="8055864" y="3602736"/>
            <a:ext cx="3429000" cy="777240"/>
          </a:xfrm>
          <a:prstGeom prst="rect">
            <a:avLst/>
          </a:prstGeom>
          <a:noFill/>
          <a:ln/>
        </p:spPr>
        <p:txBody>
          <a:bodyPr wrap="square" lIns="0" tIns="0" rIns="0" bIns="0" rtlCol="0" anchor="t"/>
          <a:lstStyle/>
          <a:p>
            <a:pPr indent="0" marL="0">
              <a:buNone/>
            </a:pPr>
            <a:r>
              <a:rPr lang="en-US" sz="4000" dirty="0">
                <a:solidFill>
                  <a:srgbClr val="B9C94F"/>
                </a:solidFill>
                <a:latin typeface="Roboto Light" pitchFamily="34" charset="0"/>
                <a:ea typeface="Roboto Light" pitchFamily="34" charset="-122"/>
                <a:cs typeface="Roboto Light" pitchFamily="34" charset="-120"/>
              </a:rPr>
              <a:t>1,829</a:t>
            </a:r>
            <a:endParaRPr lang="en-US" sz="4000" dirty="0"/>
          </a:p>
        </p:txBody>
      </p:sp>
      <p:sp>
        <p:nvSpPr>
          <p:cNvPr id="23" name="Text 18"/>
          <p:cNvSpPr txBox="1"/>
          <p:nvPr/>
        </p:nvSpPr>
        <p:spPr>
          <a:xfrm>
            <a:off x="8055864" y="4407408"/>
            <a:ext cx="3429000" cy="822960"/>
          </a:xfrm>
          <a:prstGeom prst="rect">
            <a:avLst/>
          </a:prstGeom>
          <a:noFill/>
          <a:ln/>
        </p:spPr>
        <p:txBody>
          <a:bodyPr wrap="square" lIns="0" tIns="0" rIns="0" bIns="0" rtlCol="0" anchor="t"/>
          <a:lstStyle/>
          <a:p>
            <a:pPr indent="0" marL="0">
              <a:buNone/>
            </a:pPr>
            <a:r>
              <a:rPr lang="en-US" sz="1400" dirty="0">
                <a:solidFill>
                  <a:srgbClr val="C3D0CF"/>
                </a:solidFill>
                <a:latin typeface="Roboto" pitchFamily="34" charset="0"/>
                <a:ea typeface="Roboto" pitchFamily="34" charset="-122"/>
                <a:cs typeface="Roboto" pitchFamily="34" charset="-120"/>
              </a:rPr>
              <a:t>ha/yr in the later years (2022–25), much of it on old pits</a:t>
            </a:r>
            <a:endParaRPr lang="en-US" sz="1400" dirty="0"/>
          </a:p>
        </p:txBody>
      </p:sp>
      <p:sp>
        <p:nvSpPr>
          <p:cNvPr id="24" name="Text 19"/>
          <p:cNvSpPr txBox="1"/>
          <p:nvPr/>
        </p:nvSpPr>
        <p:spPr>
          <a:xfrm>
            <a:off x="502920" y="5897880"/>
            <a:ext cx="11185855" cy="274320"/>
          </a:xfrm>
          <a:prstGeom prst="rect">
            <a:avLst/>
          </a:prstGeom>
          <a:noFill/>
          <a:ln/>
        </p:spPr>
        <p:txBody>
          <a:bodyPr wrap="square" lIns="0" tIns="0" rIns="0" bIns="0" rtlCol="0" anchor="ctr"/>
          <a:lstStyle/>
          <a:p>
            <a:pPr indent="0" marL="0">
              <a:buNone/>
            </a:pPr>
            <a:r>
              <a:rPr lang="en-US" sz="1200" dirty="0">
                <a:solidFill>
                  <a:srgbClr val="C3D0CF"/>
                </a:solidFill>
                <a:latin typeface="Roboto" pitchFamily="34" charset="0"/>
                <a:ea typeface="Roboto" pitchFamily="34" charset="-122"/>
                <a:cs typeface="Roboto" pitchFamily="34" charset="-120"/>
              </a:rPr>
              <a:t>All three: description. Net additions = new land + re-mined − stopped, from yearly 30-m satellite maps.</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84048"/>
            <a:ext cx="224942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ONE MEASURE</a:t>
            </a:r>
            <a:endParaRPr lang="en-US" sz="1200" dirty="0"/>
          </a:p>
        </p:txBody>
      </p:sp>
      <p:sp>
        <p:nvSpPr>
          <p:cNvPr id="3" name="Shape 1"/>
          <p:cNvSpPr/>
          <p:nvPr/>
        </p:nvSpPr>
        <p:spPr>
          <a:xfrm>
            <a:off x="2862072" y="521208"/>
            <a:ext cx="644926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One measure on every slide: net mining additions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additions (ha/yr) = new land + re-mined − stopped · per 30-m pixel, year t vs the years before · MapBiomas Peru Collection 4, 1985–2025</a:t>
            </a:r>
            <a:endParaRPr lang="en-US" sz="1250" dirty="0"/>
          </a:p>
        </p:txBody>
      </p:sp>
      <p:sp>
        <p:nvSpPr>
          <p:cNvPr id="7" name="Text 5"/>
          <p:cNvSpPr txBox="1"/>
          <p:nvPr/>
        </p:nvSpPr>
        <p:spPr>
          <a:xfrm>
            <a:off x="2834640" y="1828800"/>
            <a:ext cx="731520" cy="228600"/>
          </a:xfrm>
          <a:prstGeom prst="rect">
            <a:avLst/>
          </a:prstGeom>
          <a:noFill/>
          <a:ln/>
        </p:spPr>
        <p:txBody>
          <a:bodyPr wrap="square" lIns="0" tIns="0" rIns="0" bIns="0" rtlCol="0" anchor="ctr"/>
          <a:lstStyle/>
          <a:p>
            <a:pPr algn="ctr" indent="0" marL="0">
              <a:buNone/>
            </a:pPr>
            <a:r>
              <a:rPr lang="en-US" sz="1000" spc="150" kern="0" dirty="0">
                <a:solidFill>
                  <a:srgbClr val="6C7B80"/>
                </a:solidFill>
                <a:latin typeface="Roboto Medium" pitchFamily="34" charset="0"/>
                <a:ea typeface="Roboto Medium" pitchFamily="34" charset="-122"/>
                <a:cs typeface="Roboto Medium" pitchFamily="34" charset="-120"/>
              </a:rPr>
              <a:t>YEAR</a:t>
            </a:r>
            <a:endParaRPr lang="en-US" sz="1000" dirty="0"/>
          </a:p>
        </p:txBody>
      </p:sp>
      <p:sp>
        <p:nvSpPr>
          <p:cNvPr id="8" name="Text 6"/>
          <p:cNvSpPr txBox="1"/>
          <p:nvPr/>
        </p:nvSpPr>
        <p:spPr>
          <a:xfrm>
            <a:off x="2834640" y="2057400"/>
            <a:ext cx="731520" cy="228600"/>
          </a:xfrm>
          <a:prstGeom prst="rect">
            <a:avLst/>
          </a:prstGeom>
          <a:noFill/>
          <a:ln/>
        </p:spPr>
        <p:txBody>
          <a:bodyPr wrap="square" lIns="0" tIns="0" rIns="0" bIns="0" rtlCol="0" anchor="ctr"/>
          <a:lstStyle/>
          <a:p>
            <a:pPr algn="ctr" indent="0" marL="0">
              <a:buNone/>
            </a:pPr>
            <a:r>
              <a:rPr lang="en-US" sz="1100" dirty="0">
                <a:solidFill>
                  <a:srgbClr val="4A5B60"/>
                </a:solidFill>
                <a:latin typeface="Roboto" pitchFamily="34" charset="0"/>
                <a:ea typeface="Roboto" pitchFamily="34" charset="-122"/>
                <a:cs typeface="Roboto" pitchFamily="34" charset="-120"/>
              </a:rPr>
              <a:t>t − 1</a:t>
            </a:r>
            <a:endParaRPr lang="en-US" sz="1100" dirty="0"/>
          </a:p>
        </p:txBody>
      </p:sp>
      <p:sp>
        <p:nvSpPr>
          <p:cNvPr id="9" name="Text 7"/>
          <p:cNvSpPr txBox="1"/>
          <p:nvPr/>
        </p:nvSpPr>
        <p:spPr>
          <a:xfrm>
            <a:off x="3931920" y="2057400"/>
            <a:ext cx="731520" cy="228600"/>
          </a:xfrm>
          <a:prstGeom prst="rect">
            <a:avLst/>
          </a:prstGeom>
          <a:noFill/>
          <a:ln/>
        </p:spPr>
        <p:txBody>
          <a:bodyPr wrap="square" lIns="0" tIns="0" rIns="0" bIns="0" rtlCol="0" anchor="ctr"/>
          <a:lstStyle/>
          <a:p>
            <a:pPr algn="ctr" indent="0" marL="0">
              <a:buNone/>
            </a:pPr>
            <a:r>
              <a:rPr lang="en-US" sz="1100" dirty="0">
                <a:solidFill>
                  <a:srgbClr val="4A5B60"/>
                </a:solidFill>
                <a:latin typeface="Roboto" pitchFamily="34" charset="0"/>
                <a:ea typeface="Roboto" pitchFamily="34" charset="-122"/>
                <a:cs typeface="Roboto" pitchFamily="34" charset="-120"/>
              </a:rPr>
              <a:t>t</a:t>
            </a:r>
            <a:endParaRPr lang="en-US" sz="1100" dirty="0"/>
          </a:p>
        </p:txBody>
      </p:sp>
      <p:sp>
        <p:nvSpPr>
          <p:cNvPr id="10" name="Text 8"/>
          <p:cNvSpPr txBox="1"/>
          <p:nvPr/>
        </p:nvSpPr>
        <p:spPr>
          <a:xfrm>
            <a:off x="502920" y="2377440"/>
            <a:ext cx="365760" cy="566928"/>
          </a:xfrm>
          <a:prstGeom prst="rect">
            <a:avLst/>
          </a:prstGeom>
          <a:noFill/>
          <a:ln/>
        </p:spPr>
        <p:txBody>
          <a:bodyPr wrap="square" lIns="0" tIns="0" rIns="0" bIns="0" rtlCol="0" anchor="ctr"/>
          <a:lstStyle/>
          <a:p>
            <a:pPr indent="0" marL="0">
              <a:buNone/>
            </a:pPr>
            <a:r>
              <a:rPr lang="en-US" sz="3000" dirty="0">
                <a:solidFill>
                  <a:srgbClr val="9A5520"/>
                </a:solidFill>
                <a:latin typeface="Roboto Light" pitchFamily="34" charset="0"/>
                <a:ea typeface="Roboto Light" pitchFamily="34" charset="-122"/>
                <a:cs typeface="Roboto Light" pitchFamily="34" charset="-120"/>
              </a:rPr>
              <a:t>+</a:t>
            </a:r>
            <a:endParaRPr lang="en-US" sz="3000" dirty="0"/>
          </a:p>
        </p:txBody>
      </p:sp>
      <p:sp>
        <p:nvSpPr>
          <p:cNvPr id="11" name="Text 9"/>
          <p:cNvSpPr txBox="1"/>
          <p:nvPr/>
        </p:nvSpPr>
        <p:spPr>
          <a:xfrm>
            <a:off x="868680" y="233172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New land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never mined before</a:t>
            </a:r>
            <a:endParaRPr lang="en-US" sz="1700" dirty="0"/>
          </a:p>
        </p:txBody>
      </p:sp>
      <p:sp>
        <p:nvSpPr>
          <p:cNvPr id="12" name="Text 10"/>
          <p:cNvSpPr/>
          <p:nvPr/>
        </p:nvSpPr>
        <p:spPr>
          <a:xfrm>
            <a:off x="2916936" y="2377440"/>
            <a:ext cx="566928" cy="566928"/>
          </a:xfrm>
          <a:prstGeom prst="rect">
            <a:avLst/>
          </a:prstGeom>
          <a:solidFill>
            <a:srgbClr val="E7E1D6"/>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forest</a:t>
            </a:r>
            <a:endParaRPr lang="en-US" sz="1000" dirty="0"/>
          </a:p>
        </p:txBody>
      </p:sp>
      <p:sp>
        <p:nvSpPr>
          <p:cNvPr id="13" name="Shape 11"/>
          <p:cNvSpPr/>
          <p:nvPr/>
        </p:nvSpPr>
        <p:spPr>
          <a:xfrm>
            <a:off x="3538728" y="2660904"/>
            <a:ext cx="438912" cy="0"/>
          </a:xfrm>
          <a:prstGeom prst="line">
            <a:avLst/>
          </a:prstGeom>
          <a:noFill/>
          <a:ln w="15875">
            <a:solidFill>
              <a:srgbClr val="4A5B60"/>
            </a:solidFill>
            <a:prstDash val="solid"/>
            <a:tailEnd type="triangle"/>
          </a:ln>
        </p:spPr>
      </p:sp>
      <p:sp>
        <p:nvSpPr>
          <p:cNvPr id="14" name="Text 12"/>
          <p:cNvSpPr/>
          <p:nvPr/>
        </p:nvSpPr>
        <p:spPr>
          <a:xfrm>
            <a:off x="4014216" y="2377440"/>
            <a:ext cx="566928" cy="566928"/>
          </a:xfrm>
          <a:prstGeom prst="rect">
            <a:avLst/>
          </a:prstGeom>
          <a:solidFill>
            <a:srgbClr val="9A5520"/>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15" name="Text 13"/>
          <p:cNvSpPr txBox="1"/>
          <p:nvPr/>
        </p:nvSpPr>
        <p:spPr>
          <a:xfrm>
            <a:off x="502920" y="3337560"/>
            <a:ext cx="365760" cy="566928"/>
          </a:xfrm>
          <a:prstGeom prst="rect">
            <a:avLst/>
          </a:prstGeom>
          <a:noFill/>
          <a:ln/>
        </p:spPr>
        <p:txBody>
          <a:bodyPr wrap="square" lIns="0" tIns="0" rIns="0" bIns="0" rtlCol="0" anchor="ctr"/>
          <a:lstStyle/>
          <a:p>
            <a:pPr indent="0" marL="0">
              <a:buNone/>
            </a:pPr>
            <a:r>
              <a:rPr lang="en-US" sz="3000" dirty="0">
                <a:solidFill>
                  <a:srgbClr val="D99A1E"/>
                </a:solidFill>
                <a:latin typeface="Roboto Light" pitchFamily="34" charset="0"/>
                <a:ea typeface="Roboto Light" pitchFamily="34" charset="-122"/>
                <a:cs typeface="Roboto Light" pitchFamily="34" charset="-120"/>
              </a:rPr>
              <a:t>+</a:t>
            </a:r>
            <a:endParaRPr lang="en-US" sz="3000" dirty="0"/>
          </a:p>
        </p:txBody>
      </p:sp>
      <p:sp>
        <p:nvSpPr>
          <p:cNvPr id="16" name="Text 14"/>
          <p:cNvSpPr txBox="1"/>
          <p:nvPr/>
        </p:nvSpPr>
        <p:spPr>
          <a:xfrm>
            <a:off x="868680" y="329184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Re-mined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mined years ago, not last year</a:t>
            </a:r>
            <a:endParaRPr lang="en-US" sz="1700" dirty="0"/>
          </a:p>
        </p:txBody>
      </p:sp>
      <p:sp>
        <p:nvSpPr>
          <p:cNvPr id="17" name="Text 15"/>
          <p:cNvSpPr/>
          <p:nvPr/>
        </p:nvSpPr>
        <p:spPr>
          <a:xfrm>
            <a:off x="2916936" y="3337560"/>
            <a:ext cx="566928" cy="566928"/>
          </a:xfrm>
          <a:prstGeom prst="rect">
            <a:avLst/>
          </a:prstGeom>
          <a:solidFill>
            <a:srgbClr val="E7E1D6"/>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old pit</a:t>
            </a:r>
            <a:endParaRPr lang="en-US" sz="1000" dirty="0"/>
          </a:p>
        </p:txBody>
      </p:sp>
      <p:sp>
        <p:nvSpPr>
          <p:cNvPr id="18" name="Shape 16"/>
          <p:cNvSpPr/>
          <p:nvPr/>
        </p:nvSpPr>
        <p:spPr>
          <a:xfrm>
            <a:off x="3538728" y="3621024"/>
            <a:ext cx="438912" cy="0"/>
          </a:xfrm>
          <a:prstGeom prst="line">
            <a:avLst/>
          </a:prstGeom>
          <a:noFill/>
          <a:ln w="15875">
            <a:solidFill>
              <a:srgbClr val="4A5B60"/>
            </a:solidFill>
            <a:prstDash val="solid"/>
            <a:tailEnd type="triangle"/>
          </a:ln>
        </p:spPr>
      </p:sp>
      <p:sp>
        <p:nvSpPr>
          <p:cNvPr id="19" name="Text 17"/>
          <p:cNvSpPr/>
          <p:nvPr/>
        </p:nvSpPr>
        <p:spPr>
          <a:xfrm>
            <a:off x="4014216" y="3337560"/>
            <a:ext cx="566928" cy="566928"/>
          </a:xfrm>
          <a:prstGeom prst="rect">
            <a:avLst/>
          </a:prstGeom>
          <a:solidFill>
            <a:srgbClr val="D99A1E"/>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20" name="Text 18"/>
          <p:cNvSpPr txBox="1"/>
          <p:nvPr/>
        </p:nvSpPr>
        <p:spPr>
          <a:xfrm>
            <a:off x="502920" y="4297680"/>
            <a:ext cx="365760" cy="566928"/>
          </a:xfrm>
          <a:prstGeom prst="rect">
            <a:avLst/>
          </a:prstGeom>
          <a:noFill/>
          <a:ln/>
        </p:spPr>
        <p:txBody>
          <a:bodyPr wrap="square" lIns="0" tIns="0" rIns="0" bIns="0" rtlCol="0" anchor="ctr"/>
          <a:lstStyle/>
          <a:p>
            <a:pPr indent="0" marL="0">
              <a:buNone/>
            </a:pPr>
            <a:r>
              <a:rPr lang="en-US" sz="3000" dirty="0">
                <a:solidFill>
                  <a:srgbClr val="14998A"/>
                </a:solidFill>
                <a:latin typeface="Roboto Light" pitchFamily="34" charset="0"/>
                <a:ea typeface="Roboto Light" pitchFamily="34" charset="-122"/>
                <a:cs typeface="Roboto Light" pitchFamily="34" charset="-120"/>
              </a:rPr>
              <a:t>−</a:t>
            </a:r>
            <a:endParaRPr lang="en-US" sz="3000" dirty="0"/>
          </a:p>
        </p:txBody>
      </p:sp>
      <p:sp>
        <p:nvSpPr>
          <p:cNvPr id="21" name="Text 19"/>
          <p:cNvSpPr txBox="1"/>
          <p:nvPr/>
        </p:nvSpPr>
        <p:spPr>
          <a:xfrm>
            <a:off x="868680" y="4251960"/>
            <a:ext cx="1920240" cy="658368"/>
          </a:xfrm>
          <a:prstGeom prst="rect">
            <a:avLst/>
          </a:prstGeom>
          <a:noFill/>
          <a:ln/>
        </p:spPr>
        <p:txBody>
          <a:bodyPr wrap="square" lIns="0" tIns="0" rIns="0" bIns="0" rtlCol="0" anchor="ctr"/>
          <a:lstStyle/>
          <a:p>
            <a:pPr indent="0" marL="0">
              <a:buNone/>
            </a:pPr>
            <a:r>
              <a:rPr lang="en-US" sz="1700" dirty="0">
                <a:solidFill>
                  <a:srgbClr val="22383F"/>
                </a:solidFill>
                <a:latin typeface="Roboto Medium" pitchFamily="34" charset="0"/>
                <a:ea typeface="Roboto Medium" pitchFamily="34" charset="-122"/>
                <a:cs typeface="Roboto Medium" pitchFamily="34" charset="-120"/>
              </a:rPr>
              <a:t>Stopped</a:t>
            </a:r>
            <a:endParaRPr lang="en-US" sz="1700" dirty="0"/>
          </a:p>
          <a:p>
            <a:pPr indent="0" marL="0">
              <a:buNone/>
            </a:pPr>
            <a:r>
              <a:rPr lang="en-US" sz="1200" dirty="0">
                <a:solidFill>
                  <a:srgbClr val="4A5B60"/>
                </a:solidFill>
                <a:latin typeface="Roboto" pitchFamily="34" charset="0"/>
                <a:ea typeface="Roboto" pitchFamily="34" charset="-122"/>
                <a:cs typeface="Roboto" pitchFamily="34" charset="-120"/>
              </a:rPr>
              <a:t>mined last year, not this year</a:t>
            </a:r>
            <a:endParaRPr lang="en-US" sz="1700" dirty="0"/>
          </a:p>
        </p:txBody>
      </p:sp>
      <p:sp>
        <p:nvSpPr>
          <p:cNvPr id="22" name="Text 20"/>
          <p:cNvSpPr/>
          <p:nvPr/>
        </p:nvSpPr>
        <p:spPr>
          <a:xfrm>
            <a:off x="2916936" y="4297680"/>
            <a:ext cx="566928" cy="566928"/>
          </a:xfrm>
          <a:prstGeom prst="rect">
            <a:avLst/>
          </a:prstGeom>
          <a:solidFill>
            <a:srgbClr val="8A6B4E"/>
          </a:solidFill>
          <a:ln w="9525">
            <a:solidFill>
              <a:srgbClr val="C9C1B4"/>
            </a:solidFill>
          </a:ln>
        </p:spPr>
        <p:txBody>
          <a:bodyPr wrap="square" lIns="25400" tIns="25400" rIns="25400" bIns="25400" rtlCol="0" anchor="ctr"/>
          <a:lstStyle/>
          <a:p>
            <a:pPr algn="ctr" indent="0" marL="0">
              <a:buNone/>
            </a:pPr>
            <a:r>
              <a:rPr lang="en-US" sz="1000" dirty="0">
                <a:solidFill>
                  <a:srgbClr val="FFFFFF"/>
                </a:solidFill>
                <a:latin typeface="Roboto Medium" pitchFamily="34" charset="0"/>
                <a:ea typeface="Roboto Medium" pitchFamily="34" charset="-122"/>
                <a:cs typeface="Roboto Medium" pitchFamily="34" charset="-120"/>
              </a:rPr>
              <a:t>mined</a:t>
            </a:r>
            <a:endParaRPr lang="en-US" sz="1000" dirty="0"/>
          </a:p>
        </p:txBody>
      </p:sp>
      <p:sp>
        <p:nvSpPr>
          <p:cNvPr id="23" name="Shape 21"/>
          <p:cNvSpPr/>
          <p:nvPr/>
        </p:nvSpPr>
        <p:spPr>
          <a:xfrm>
            <a:off x="3538728" y="4581144"/>
            <a:ext cx="438912" cy="0"/>
          </a:xfrm>
          <a:prstGeom prst="line">
            <a:avLst/>
          </a:prstGeom>
          <a:noFill/>
          <a:ln w="15875">
            <a:solidFill>
              <a:srgbClr val="4A5B60"/>
            </a:solidFill>
            <a:prstDash val="solid"/>
            <a:tailEnd type="triangle"/>
          </a:ln>
        </p:spPr>
      </p:sp>
      <p:sp>
        <p:nvSpPr>
          <p:cNvPr id="24" name="Text 22"/>
          <p:cNvSpPr/>
          <p:nvPr/>
        </p:nvSpPr>
        <p:spPr>
          <a:xfrm>
            <a:off x="4014216" y="4297680"/>
            <a:ext cx="566928" cy="566928"/>
          </a:xfrm>
          <a:prstGeom prst="rect">
            <a:avLst/>
          </a:prstGeom>
          <a:solidFill>
            <a:srgbClr val="DDEFEC"/>
          </a:solidFill>
          <a:ln w="9525">
            <a:solidFill>
              <a:srgbClr val="C9C1B4"/>
            </a:solidFill>
          </a:ln>
        </p:spPr>
        <p:txBody>
          <a:bodyPr wrap="square" lIns="25400" tIns="25400" rIns="25400" bIns="25400" rtlCol="0" anchor="ctr"/>
          <a:lstStyle/>
          <a:p>
            <a:pPr algn="ctr" indent="0" marL="0">
              <a:buNone/>
            </a:pPr>
            <a:r>
              <a:rPr lang="en-US" sz="1000" dirty="0">
                <a:solidFill>
                  <a:srgbClr val="4A5B60"/>
                </a:solidFill>
                <a:latin typeface="Roboto Medium" pitchFamily="34" charset="0"/>
                <a:ea typeface="Roboto Medium" pitchFamily="34" charset="-122"/>
                <a:cs typeface="Roboto Medium" pitchFamily="34" charset="-120"/>
              </a:rPr>
              <a:t>water / regrowth</a:t>
            </a:r>
            <a:endParaRPr lang="en-US" sz="1000" dirty="0"/>
          </a:p>
        </p:txBody>
      </p:sp>
      <p:sp>
        <p:nvSpPr>
          <p:cNvPr id="25" name="Shape 23"/>
          <p:cNvSpPr/>
          <p:nvPr/>
        </p:nvSpPr>
        <p:spPr>
          <a:xfrm>
            <a:off x="502920" y="5349240"/>
            <a:ext cx="4663440" cy="868680"/>
          </a:xfrm>
          <a:prstGeom prst="rect">
            <a:avLst/>
          </a:prstGeom>
          <a:solidFill>
            <a:srgbClr val="FBFAF7"/>
          </a:solidFill>
          <a:ln w="9525">
            <a:solidFill>
              <a:srgbClr val="D9D2C7"/>
            </a:solidFill>
            <a:prstDash val="solid"/>
          </a:ln>
        </p:spPr>
      </p:sp>
      <p:sp>
        <p:nvSpPr>
          <p:cNvPr id="26" name="Text 24"/>
          <p:cNvSpPr txBox="1"/>
          <p:nvPr/>
        </p:nvSpPr>
        <p:spPr>
          <a:xfrm>
            <a:off x="685800" y="5422392"/>
            <a:ext cx="4389120" cy="457200"/>
          </a:xfrm>
          <a:prstGeom prst="rect">
            <a:avLst/>
          </a:prstGeom>
          <a:noFill/>
          <a:ln/>
        </p:spPr>
        <p:txBody>
          <a:bodyPr wrap="square" lIns="0" tIns="0" rIns="0" bIns="0" rtlCol="0" anchor="ctr"/>
          <a:lstStyle/>
          <a:p>
            <a:pPr indent="0" marL="0">
              <a:buNone/>
            </a:pPr>
            <a:r>
              <a:rPr lang="en-US" sz="2200" b="1" dirty="0">
                <a:solidFill>
                  <a:srgbClr val="22383F"/>
                </a:solidFill>
                <a:latin typeface="Roboto Medium" pitchFamily="34" charset="0"/>
                <a:ea typeface="Roboto Medium" pitchFamily="34" charset="-122"/>
                <a:cs typeface="Roboto Medium" pitchFamily="34" charset="-120"/>
              </a:rPr>
              <a:t>Net</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9A5520"/>
                </a:solidFill>
                <a:latin typeface="Roboto Medium" pitchFamily="34" charset="0"/>
                <a:ea typeface="Roboto Medium" pitchFamily="34" charset="-122"/>
                <a:cs typeface="Roboto Medium" pitchFamily="34" charset="-120"/>
              </a:rPr>
              <a:t>new</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D99A1E"/>
                </a:solidFill>
                <a:latin typeface="Roboto Medium" pitchFamily="34" charset="0"/>
                <a:ea typeface="Roboto Medium" pitchFamily="34" charset="-122"/>
                <a:cs typeface="Roboto Medium" pitchFamily="34" charset="-120"/>
              </a:rPr>
              <a:t>re-mined</a:t>
            </a:r>
            <a:pPr indent="0" marL="0">
              <a:buNone/>
            </a:pPr>
            <a:r>
              <a:rPr lang="en-US" sz="2200" dirty="0">
                <a:solidFill>
                  <a:srgbClr val="4A5B60"/>
                </a:solidFill>
                <a:latin typeface="Roboto Medium" pitchFamily="34" charset="0"/>
                <a:ea typeface="Roboto Medium" pitchFamily="34" charset="-122"/>
                <a:cs typeface="Roboto Medium" pitchFamily="34" charset="-120"/>
              </a:rPr>
              <a:t> − </a:t>
            </a:r>
            <a:pPr indent="0" marL="0">
              <a:buNone/>
            </a:pPr>
            <a:r>
              <a:rPr lang="en-US" sz="2200" b="1" dirty="0">
                <a:solidFill>
                  <a:srgbClr val="14998A"/>
                </a:solidFill>
                <a:latin typeface="Roboto Medium" pitchFamily="34" charset="0"/>
                <a:ea typeface="Roboto Medium" pitchFamily="34" charset="-122"/>
                <a:cs typeface="Roboto Medium" pitchFamily="34" charset="-120"/>
              </a:rPr>
              <a:t>stopped</a:t>
            </a:r>
            <a:endParaRPr lang="en-US" sz="2200" dirty="0"/>
          </a:p>
        </p:txBody>
      </p:sp>
      <p:sp>
        <p:nvSpPr>
          <p:cNvPr id="27" name="Text 25"/>
          <p:cNvSpPr txBox="1"/>
          <p:nvPr/>
        </p:nvSpPr>
        <p:spPr>
          <a:xfrm>
            <a:off x="685800" y="5852160"/>
            <a:ext cx="4389120" cy="320040"/>
          </a:xfrm>
          <a:prstGeom prst="rect">
            <a:avLst/>
          </a:prstGeom>
          <a:noFill/>
          <a:ln/>
        </p:spPr>
        <p:txBody>
          <a:bodyPr wrap="square" lIns="0" tIns="0" rIns="0" bIns="0" rtlCol="0" anchor="ctr"/>
          <a:lstStyle/>
          <a:p>
            <a:pPr indent="0" marL="0">
              <a:buNone/>
            </a:pPr>
            <a:r>
              <a:rPr lang="en-US" sz="1100" dirty="0">
                <a:solidFill>
                  <a:srgbClr val="4A5B60"/>
                </a:solidFill>
                <a:latin typeface="Roboto" pitchFamily="34" charset="0"/>
                <a:ea typeface="Roboto" pitchFamily="34" charset="-122"/>
                <a:cs typeface="Roboto" pitchFamily="34" charset="-120"/>
              </a:rPr>
              <a:t>= mining area this year − last year. Hectares are a proxy for mining activity, not for miners.</a:t>
            </a:r>
            <a:endParaRPr lang="en-US" sz="1100" dirty="0"/>
          </a:p>
        </p:txBody>
      </p:sp>
      <p:pic>
        <p:nvPicPr>
          <p:cNvPr id="28" name="Image 0" descr="zone map">    </p:cNvPr>
          <p:cNvPicPr>
            <a:picLocks noChangeAspect="1"/>
          </p:cNvPicPr>
          <p:nvPr/>
        </p:nvPicPr>
        <p:blipFill>
          <a:blip r:embed="rId1"/>
          <a:stretch>
            <a:fillRect/>
          </a:stretch>
        </p:blipFill>
        <p:spPr>
          <a:xfrm>
            <a:off x="5532120" y="1737360"/>
            <a:ext cx="6156655" cy="3463119"/>
          </a:xfrm>
          <a:prstGeom prst="rect">
            <a:avLst/>
          </a:prstGeom>
        </p:spPr>
      </p:pic>
      <p:sp>
        <p:nvSpPr>
          <p:cNvPr id="29" name="Text 26"/>
          <p:cNvSpPr txBox="1"/>
          <p:nvPr/>
        </p:nvSpPr>
        <p:spPr>
          <a:xfrm>
            <a:off x="5532120" y="5310207"/>
            <a:ext cx="6156655" cy="777240"/>
          </a:xfrm>
          <a:prstGeom prst="rect">
            <a:avLst/>
          </a:prstGeom>
          <a:noFill/>
          <a:ln/>
        </p:spPr>
        <p:txBody>
          <a:bodyPr wrap="square" lIns="0" tIns="0" rIns="0" bIns="0" rtlCol="0" anchor="t"/>
          <a:lstStyle/>
          <a:p>
            <a:pPr indent="0" marL="0">
              <a:buNone/>
            </a:pPr>
            <a:r>
              <a:rPr lang="en-US" sz="1200" dirty="0">
                <a:solidFill>
                  <a:srgbClr val="22383F"/>
                </a:solidFill>
                <a:latin typeface="Roboto Medium" pitchFamily="34" charset="0"/>
                <a:ea typeface="Roboto Medium" pitchFamily="34" charset="-122"/>
                <a:cs typeface="Roboto Medium" pitchFamily="34" charset="-120"/>
              </a:rPr>
              <a:t>Same zones everywhere: </a:t>
            </a:r>
            <a:pPr indent="0" marL="0">
              <a:buNone/>
            </a:pPr>
            <a:r>
              <a:rPr lang="en-US" sz="1200" dirty="0">
                <a:solidFill>
                  <a:srgbClr val="4A5B60"/>
                </a:solidFill>
                <a:latin typeface="Roboto" pitchFamily="34" charset="0"/>
                <a:ea typeface="Roboto" pitchFamily="34" charset="-122"/>
                <a:cs typeface="Roboto" pitchFamily="34" charset="-120"/>
              </a:rPr>
              <a:t>Tambopata buffer zone (whole, incl. Kotsimba) · La Pampa sector (its 70.15–69.80° W part) · corridor across the road (D.L. 1100, ≤ 10 km north of the highway) · Amarakaeri buffer zone (less treated) · Madre de Dios.</a:t>
            </a:r>
            <a:endParaRPr lang="en-US" sz="12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03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WHERE WE ARE</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La Pampa sits one road away from legal mining land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Madre de Dios, Peru · protected areas → Interoceanic Highway → D.L. 1100 mining corridor → La Pampa sector · click to play (21 s)</a:t>
            </a:r>
            <a:endParaRPr lang="en-US" sz="12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991208" y="1737360"/>
            <a:ext cx="8209280" cy="461772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84048"/>
            <a:ext cx="373075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04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2010–2025 IN ONE MINUTE</a:t>
            </a:r>
            <a:endParaRPr lang="en-US" sz="1200" dirty="0"/>
          </a:p>
        </p:txBody>
      </p:sp>
      <p:sp>
        <p:nvSpPr>
          <p:cNvPr id="3" name="Shape 1"/>
          <p:cNvSpPr/>
          <p:nvPr/>
        </p:nvSpPr>
        <p:spPr>
          <a:xfrm>
            <a:off x="4343400" y="521208"/>
            <a:ext cx="496793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2010–2025: new pits, old pits re-mined, pits stopping</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as three flows on the map: new land (brown), re-mined (amber), stopped (teal) · counter: net ha per year, La Pampa sector and corridor across the road</a:t>
            </a:r>
            <a:endParaRPr lang="en-US" sz="12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991208" y="1737360"/>
            <a:ext cx="8209280" cy="461772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05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IT FELL, LOCALLY</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Net additions in the Tambopata buffer zone fell 90% in 2019–21</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Tambopata buffer zone (orange) vs Amarakaeri buffer zone (green) · 2010–2025 · Tambopata 1,640 → 163, Amarakaeri 289 → 574 (2016–18 → 2019–21). Thick bars and numbers at the top: period means.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1_net_two_zones.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06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WHAT FELL</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Pits going out of use made 25%–47% of the fall, most of it in 2019</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their parts, ha/yr, period means · Tambopata buffer zone vs Amarakaeri buffer zone · Tambopata 2016–18 → 2019–21: new land 2,017 → 1,061, stopped 721 → 1,413 (2.0×). Stopped land makes 25%–47% of the fall (four ways of counting map flicker); 68% of the extra stopping is in 2019.</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2_parts_two_zones.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07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2019, YEAR BY YEAR</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New pits kept opening in 2019; pits stopped where the patrols were</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their parts, ha/yr · La Pampa sector (the target) · 2016–2022 · 2019: new land 1,533 (2018: 1,835), stopped 1,495, net 243. Shaded: 2019–21.</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3_lapampa_parts.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84048"/>
            <a:ext cx="187909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08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IT MOVED</a:t>
            </a:r>
            <a:endParaRPr lang="en-US" sz="1200" dirty="0"/>
          </a:p>
        </p:txBody>
      </p:sp>
      <p:sp>
        <p:nvSpPr>
          <p:cNvPr id="3" name="Shape 1"/>
          <p:cNvSpPr/>
          <p:nvPr/>
        </p:nvSpPr>
        <p:spPr>
          <a:xfrm>
            <a:off x="2491740" y="521208"/>
            <a:ext cx="681959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Mining moved across the road; the department never fell</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parts), ha/yr · left: corridor across the road, 2010–2025, 60 → 395 (2016–18 → 2019–21) · right: Madre de Dios 3,610 → 4,639 → 12,047 (2016–18 → 2019–21 → 2022–25).</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4_moved.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84048"/>
            <a:ext cx="2372868"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09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IT CAME BACK</a:t>
            </a:r>
            <a:endParaRPr lang="en-US" sz="1200" dirty="0"/>
          </a:p>
        </p:txBody>
      </p:sp>
      <p:sp>
        <p:nvSpPr>
          <p:cNvPr id="3" name="Shape 1"/>
          <p:cNvSpPr/>
          <p:nvPr/>
        </p:nvSpPr>
        <p:spPr>
          <a:xfrm>
            <a:off x="2985516" y="521208"/>
            <a:ext cx="6325819"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It came back on old pits: 46% of added land was re-mined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their parts, ha/yr · Tambopata buffer zone · 2010–2025 · later years (2022–25): re-mined 1,139/yr, new land 1,345/yr; without the 2023 spike year re-mined 617/yr (33%).</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5_later_old_pits.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10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INSIDE THE RESERVE</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2025: mining inside the reserve jumped 241 ha after the navy left</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Tambopata National Reserve (inside the reserve, not the buffer zone) · 2011–2025 · 2019–21 mean −33/yr; mining area 2025: 777 ha. Navy left the Malinowski River posts in 2025 (MAAP #241, 2026).</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6_reserve.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11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IS IT CAUSAL?</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Did Mercurio cause the fall? Only conditionally, in hectares only</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If the comparison zones show what Tambopata would have done, Mercurio and what followed lowered net additions by 1,453–1,663 ha/yr in 2019–21 (upper bound; part of it pits stopping; coincides with COVID) · Tambopata buffer zone · ha/yr</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07_causal.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84048"/>
            <a:ext cx="1632204" cy="274320"/>
          </a:xfrm>
          <a:prstGeom prst="rect">
            <a:avLst/>
          </a:prstGeom>
          <a:noFill/>
          <a:ln/>
        </p:spPr>
        <p:txBody>
          <a:bodyPr wrap="square" lIns="0" tIns="0" rIns="0" bIns="0" rtlCol="0" anchor="ctr"/>
          <a:lstStyle/>
          <a:p>
            <a:pPr indent="0" marL="0">
              <a:buNone/>
            </a:pPr>
            <a:r>
              <a:rPr lang="en-US" sz="1200" spc="220" kern="0" dirty="0">
                <a:solidFill>
                  <a:srgbClr val="A42C58"/>
                </a:solidFill>
                <a:latin typeface="Roboto Medium" pitchFamily="34" charset="0"/>
                <a:ea typeface="Roboto Medium" pitchFamily="34" charset="-122"/>
                <a:cs typeface="Roboto Medium" pitchFamily="34" charset="-120"/>
              </a:rPr>
              <a:t>12   </a:t>
            </a:r>
            <a:pPr indent="0" marL="0">
              <a:buNone/>
            </a:pPr>
            <a:r>
              <a:rPr lang="en-US" sz="1200" spc="220" kern="0" dirty="0">
                <a:solidFill>
                  <a:srgbClr val="3C7D2C"/>
                </a:solidFill>
                <a:latin typeface="Roboto Medium" pitchFamily="34" charset="0"/>
                <a:ea typeface="Roboto Medium" pitchFamily="34" charset="-122"/>
                <a:cs typeface="Roboto Medium" pitchFamily="34" charset="-120"/>
              </a:rPr>
              <a:t>LIMITS</a:t>
            </a:r>
            <a:endParaRPr lang="en-US" sz="1200" dirty="0"/>
          </a:p>
        </p:txBody>
      </p:sp>
      <p:sp>
        <p:nvSpPr>
          <p:cNvPr id="3" name="Shape 1"/>
          <p:cNvSpPr/>
          <p:nvPr/>
        </p:nvSpPr>
        <p:spPr>
          <a:xfrm>
            <a:off x="2244852" y="521208"/>
            <a:ext cx="706648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What satellites cannot see, and which way our biases push</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measure land, not people, rivers or mercury · direction of each bias for the 2019–21 fall, Tambopata buffer zone</a:t>
            </a:r>
            <a:endParaRPr lang="en-US" sz="1250" dirty="0"/>
          </a:p>
        </p:txBody>
      </p:sp>
      <p:sp>
        <p:nvSpPr>
          <p:cNvPr id="7" name="Text 5"/>
          <p:cNvSpPr txBox="1"/>
          <p:nvPr/>
        </p:nvSpPr>
        <p:spPr>
          <a:xfrm>
            <a:off x="502920" y="1737360"/>
            <a:ext cx="5120640" cy="274320"/>
          </a:xfrm>
          <a:prstGeom prst="rect">
            <a:avLst/>
          </a:prstGeom>
          <a:noFill/>
          <a:ln/>
        </p:spPr>
        <p:txBody>
          <a:bodyPr wrap="square" lIns="0" tIns="0" rIns="0" bIns="0" rtlCol="0" anchor="ctr"/>
          <a:lstStyle/>
          <a:p>
            <a:pPr indent="0" marL="0">
              <a:buNone/>
            </a:pPr>
            <a:r>
              <a:rPr lang="en-US" sz="1100" spc="200" kern="0" dirty="0">
                <a:solidFill>
                  <a:srgbClr val="A42C58"/>
                </a:solidFill>
                <a:latin typeface="Roboto Medium" pitchFamily="34" charset="0"/>
                <a:ea typeface="Roboto Medium" pitchFamily="34" charset="-122"/>
                <a:cs typeface="Roboto Medium" pitchFamily="34" charset="-120"/>
              </a:rPr>
              <a:t>SATELLITES CAN'T SEE</a:t>
            </a:r>
            <a:endParaRPr lang="en-US" sz="1100" dirty="0"/>
          </a:p>
        </p:txBody>
      </p:sp>
      <p:sp>
        <p:nvSpPr>
          <p:cNvPr id="8" name="plate"/>
          <p:cNvSpPr/>
          <p:nvPr/>
        </p:nvSpPr>
        <p:spPr>
          <a:xfrm>
            <a:off x="502920" y="2103120"/>
            <a:ext cx="2487168" cy="2011680"/>
          </a:xfrm>
          <a:prstGeom prst="rect">
            <a:avLst/>
          </a:prstGeom>
          <a:solidFill>
            <a:srgbClr val="FBFAF7"/>
          </a:solidFill>
          <a:ln w="9525">
            <a:solidFill>
              <a:srgbClr val="D9D2C7"/>
            </a:solidFill>
            <a:prstDash val="solid"/>
          </a:ln>
        </p:spPr>
      </p:sp>
      <p:pic>
        <p:nvPicPr>
          <p:cNvPr id="9" name="Image 0" descr="preencoded.png">    </p:cNvPr>
          <p:cNvPicPr>
            <a:picLocks noChangeAspect="1"/>
          </p:cNvPicPr>
          <p:nvPr/>
        </p:nvPicPr>
        <p:blipFill>
          <a:blip r:embed="rId1"/>
          <a:stretch>
            <a:fillRect/>
          </a:stretch>
        </p:blipFill>
        <p:spPr>
          <a:xfrm>
            <a:off x="731520" y="2331720"/>
            <a:ext cx="457200" cy="457200"/>
          </a:xfrm>
          <a:prstGeom prst="rect">
            <a:avLst/>
          </a:prstGeom>
        </p:spPr>
      </p:pic>
      <p:sp>
        <p:nvSpPr>
          <p:cNvPr id="10" name="Text 7"/>
          <p:cNvSpPr txBox="1"/>
          <p:nvPr/>
        </p:nvSpPr>
        <p:spPr>
          <a:xfrm>
            <a:off x="731520" y="2926080"/>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River dredges</a:t>
            </a:r>
            <a:endParaRPr lang="en-US" sz="1800" dirty="0"/>
          </a:p>
        </p:txBody>
      </p:sp>
      <p:sp>
        <p:nvSpPr>
          <p:cNvPr id="11" name="Text 8"/>
          <p:cNvSpPr txBox="1"/>
          <p:nvPr/>
        </p:nvSpPr>
        <p:spPr>
          <a:xfrm>
            <a:off x="731520" y="3310128"/>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148 → 598 in La Pampa, 2021–23 (MAAP #193)</a:t>
            </a:r>
            <a:endParaRPr lang="en-US" sz="1300" dirty="0"/>
          </a:p>
        </p:txBody>
      </p:sp>
      <p:sp>
        <p:nvSpPr>
          <p:cNvPr id="12" name="plate"/>
          <p:cNvSpPr/>
          <p:nvPr/>
        </p:nvSpPr>
        <p:spPr>
          <a:xfrm>
            <a:off x="3136392" y="2103120"/>
            <a:ext cx="2487168" cy="2011680"/>
          </a:xfrm>
          <a:prstGeom prst="rect">
            <a:avLst/>
          </a:prstGeom>
          <a:solidFill>
            <a:srgbClr val="FBFAF7"/>
          </a:solidFill>
          <a:ln w="9525">
            <a:solidFill>
              <a:srgbClr val="D9D2C7"/>
            </a:solidFill>
            <a:prstDash val="solid"/>
          </a:ln>
        </p:spPr>
      </p:sp>
      <p:pic>
        <p:nvPicPr>
          <p:cNvPr id="13" name="Image 1" descr="preencoded.png">    </p:cNvPr>
          <p:cNvPicPr>
            <a:picLocks noChangeAspect="1"/>
          </p:cNvPicPr>
          <p:nvPr/>
        </p:nvPicPr>
        <p:blipFill>
          <a:blip r:embed="rId2"/>
          <a:stretch>
            <a:fillRect/>
          </a:stretch>
        </p:blipFill>
        <p:spPr>
          <a:xfrm>
            <a:off x="3364992" y="2331720"/>
            <a:ext cx="457200" cy="457200"/>
          </a:xfrm>
          <a:prstGeom prst="rect">
            <a:avLst/>
          </a:prstGeom>
        </p:spPr>
      </p:pic>
      <p:sp>
        <p:nvSpPr>
          <p:cNvPr id="14" name="Text 10"/>
          <p:cNvSpPr txBox="1"/>
          <p:nvPr/>
        </p:nvSpPr>
        <p:spPr>
          <a:xfrm>
            <a:off x="3364992" y="2926080"/>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Mercury</a:t>
            </a:r>
            <a:endParaRPr lang="en-US" sz="1800" dirty="0"/>
          </a:p>
        </p:txBody>
      </p:sp>
      <p:sp>
        <p:nvSpPr>
          <p:cNvPr id="15" name="Text 11"/>
          <p:cNvSpPr txBox="1"/>
          <p:nvPr/>
        </p:nvSpPr>
        <p:spPr>
          <a:xfrm>
            <a:off x="3364992" y="3310128"/>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in rivers and fish</a:t>
            </a:r>
            <a:endParaRPr lang="en-US" sz="1300" dirty="0"/>
          </a:p>
        </p:txBody>
      </p:sp>
      <p:sp>
        <p:nvSpPr>
          <p:cNvPr id="16" name="plate"/>
          <p:cNvSpPr/>
          <p:nvPr/>
        </p:nvSpPr>
        <p:spPr>
          <a:xfrm>
            <a:off x="502920" y="4261104"/>
            <a:ext cx="2487168" cy="2011680"/>
          </a:xfrm>
          <a:prstGeom prst="rect">
            <a:avLst/>
          </a:prstGeom>
          <a:solidFill>
            <a:srgbClr val="FBFAF7"/>
          </a:solidFill>
          <a:ln w="9525">
            <a:solidFill>
              <a:srgbClr val="D9D2C7"/>
            </a:solidFill>
            <a:prstDash val="solid"/>
          </a:ln>
        </p:spPr>
      </p:sp>
      <p:pic>
        <p:nvPicPr>
          <p:cNvPr id="17" name="Image 2" descr="preencoded.png">    </p:cNvPr>
          <p:cNvPicPr>
            <a:picLocks noChangeAspect="1"/>
          </p:cNvPicPr>
          <p:nvPr/>
        </p:nvPicPr>
        <p:blipFill>
          <a:blip r:embed="rId3"/>
          <a:stretch>
            <a:fillRect/>
          </a:stretch>
        </p:blipFill>
        <p:spPr>
          <a:xfrm>
            <a:off x="731520" y="4489704"/>
            <a:ext cx="457200" cy="457200"/>
          </a:xfrm>
          <a:prstGeom prst="rect">
            <a:avLst/>
          </a:prstGeom>
        </p:spPr>
      </p:pic>
      <p:sp>
        <p:nvSpPr>
          <p:cNvPr id="18" name="Text 13"/>
          <p:cNvSpPr txBox="1"/>
          <p:nvPr/>
        </p:nvSpPr>
        <p:spPr>
          <a:xfrm>
            <a:off x="731520" y="5084064"/>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People</a:t>
            </a:r>
            <a:endParaRPr lang="en-US" sz="1800" dirty="0"/>
          </a:p>
        </p:txBody>
      </p:sp>
      <p:sp>
        <p:nvSpPr>
          <p:cNvPr id="19" name="Text 14"/>
          <p:cNvSpPr txBox="1"/>
          <p:nvPr/>
        </p:nvSpPr>
        <p:spPr>
          <a:xfrm>
            <a:off x="731520" y="5468112"/>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hectares, not miners</a:t>
            </a:r>
            <a:endParaRPr lang="en-US" sz="1300" dirty="0"/>
          </a:p>
        </p:txBody>
      </p:sp>
      <p:sp>
        <p:nvSpPr>
          <p:cNvPr id="20" name="plate"/>
          <p:cNvSpPr/>
          <p:nvPr/>
        </p:nvSpPr>
        <p:spPr>
          <a:xfrm>
            <a:off x="3136392" y="4261104"/>
            <a:ext cx="2487168" cy="2011680"/>
          </a:xfrm>
          <a:prstGeom prst="rect">
            <a:avLst/>
          </a:prstGeom>
          <a:solidFill>
            <a:srgbClr val="FBFAF7"/>
          </a:solidFill>
          <a:ln w="9525">
            <a:solidFill>
              <a:srgbClr val="D9D2C7"/>
            </a:solidFill>
            <a:prstDash val="solid"/>
          </a:ln>
        </p:spPr>
      </p:sp>
      <p:pic>
        <p:nvPicPr>
          <p:cNvPr id="21" name="Image 3" descr="preencoded.png">    </p:cNvPr>
          <p:cNvPicPr>
            <a:picLocks noChangeAspect="1"/>
          </p:cNvPicPr>
          <p:nvPr/>
        </p:nvPicPr>
        <p:blipFill>
          <a:blip r:embed="rId4"/>
          <a:stretch>
            <a:fillRect/>
          </a:stretch>
        </p:blipFill>
        <p:spPr>
          <a:xfrm>
            <a:off x="3364992" y="4489704"/>
            <a:ext cx="457200" cy="457200"/>
          </a:xfrm>
          <a:prstGeom prst="rect">
            <a:avLst/>
          </a:prstGeom>
        </p:spPr>
      </p:pic>
      <p:sp>
        <p:nvSpPr>
          <p:cNvPr id="22" name="Text 16"/>
          <p:cNvSpPr txBox="1"/>
          <p:nvPr/>
        </p:nvSpPr>
        <p:spPr>
          <a:xfrm>
            <a:off x="3364992" y="5084064"/>
            <a:ext cx="2075688" cy="365760"/>
          </a:xfrm>
          <a:prstGeom prst="rect">
            <a:avLst/>
          </a:prstGeom>
          <a:noFill/>
          <a:ln/>
        </p:spPr>
        <p:txBody>
          <a:bodyPr wrap="square" lIns="0" tIns="0" rIns="0" bIns="0" rtlCol="0" anchor="ctr"/>
          <a:lstStyle/>
          <a:p>
            <a:pPr indent="0" marL="0">
              <a:buNone/>
            </a:pPr>
            <a:r>
              <a:rPr lang="en-US" sz="1800" dirty="0">
                <a:solidFill>
                  <a:srgbClr val="22383F"/>
                </a:solidFill>
                <a:latin typeface="Roboto Medium" pitchFamily="34" charset="0"/>
                <a:ea typeface="Roboto Medium" pitchFamily="34" charset="-122"/>
                <a:cs typeface="Roboto Medium" pitchFamily="34" charset="-120"/>
              </a:rPr>
              <a:t>Map flicker</a:t>
            </a:r>
            <a:endParaRPr lang="en-US" sz="1800" dirty="0"/>
          </a:p>
        </p:txBody>
      </p:sp>
      <p:sp>
        <p:nvSpPr>
          <p:cNvPr id="23" name="Text 17"/>
          <p:cNvSpPr txBox="1"/>
          <p:nvPr/>
        </p:nvSpPr>
        <p:spPr>
          <a:xfrm>
            <a:off x="3364992" y="5468112"/>
            <a:ext cx="2075688" cy="731520"/>
          </a:xfrm>
          <a:prstGeom prst="rect">
            <a:avLst/>
          </a:prstGeom>
          <a:noFill/>
          <a:ln/>
        </p:spPr>
        <p:txBody>
          <a:bodyPr wrap="square" lIns="0" tIns="0" rIns="0" bIns="0" rtlCol="0" anchor="t"/>
          <a:lstStyle/>
          <a:p>
            <a:pPr indent="0" marL="0">
              <a:buNone/>
            </a:pPr>
            <a:r>
              <a:rPr lang="en-US" sz="1300" dirty="0">
                <a:solidFill>
                  <a:srgbClr val="4A5B60"/>
                </a:solidFill>
                <a:latin typeface="Roboto" pitchFamily="34" charset="0"/>
                <a:ea typeface="Roboto" pitchFamily="34" charset="-122"/>
                <a:cs typeface="Roboto" pitchFamily="34" charset="-120"/>
              </a:rPr>
              <a:t>37% of land that stopped in 2019–21 was mined again within 2 years</a:t>
            </a:r>
            <a:endParaRPr lang="en-US" sz="1300" dirty="0"/>
          </a:p>
        </p:txBody>
      </p:sp>
      <p:sp>
        <p:nvSpPr>
          <p:cNvPr id="24" name="Text 18"/>
          <p:cNvSpPr txBox="1"/>
          <p:nvPr/>
        </p:nvSpPr>
        <p:spPr>
          <a:xfrm>
            <a:off x="6126480" y="1737360"/>
            <a:ext cx="5562295" cy="274320"/>
          </a:xfrm>
          <a:prstGeom prst="rect">
            <a:avLst/>
          </a:prstGeom>
          <a:noFill/>
          <a:ln/>
        </p:spPr>
        <p:txBody>
          <a:bodyPr wrap="square" lIns="0" tIns="0" rIns="0" bIns="0" rtlCol="0" anchor="ctr"/>
          <a:lstStyle/>
          <a:p>
            <a:pPr indent="0" marL="0">
              <a:buNone/>
            </a:pPr>
            <a:r>
              <a:rPr lang="en-US" sz="1100" spc="200" kern="0" dirty="0">
                <a:solidFill>
                  <a:srgbClr val="2B6A8A"/>
                </a:solidFill>
                <a:latin typeface="Roboto Medium" pitchFamily="34" charset="0"/>
                <a:ea typeface="Roboto Medium" pitchFamily="34" charset="-122"/>
                <a:cs typeface="Roboto Medium" pitchFamily="34" charset="-120"/>
              </a:rPr>
              <a:t>EACH BIAS MAKES THE 2019–21 FALL LOOK…</a:t>
            </a:r>
            <a:endParaRPr lang="en-US" sz="1100" dirty="0"/>
          </a:p>
        </p:txBody>
      </p:sp>
      <p:sp>
        <p:nvSpPr>
          <p:cNvPr id="25" name="Text 19"/>
          <p:cNvSpPr txBox="1"/>
          <p:nvPr/>
        </p:nvSpPr>
        <p:spPr>
          <a:xfrm>
            <a:off x="6126480" y="2121408"/>
            <a:ext cx="2671420" cy="274320"/>
          </a:xfrm>
          <a:prstGeom prst="rect">
            <a:avLst/>
          </a:prstGeom>
          <a:noFill/>
          <a:ln/>
        </p:spPr>
        <p:txBody>
          <a:bodyPr wrap="square" lIns="0" tIns="0" rIns="0" bIns="0" rtlCol="0" anchor="ctr"/>
          <a:lstStyle/>
          <a:p>
            <a:pPr algn="r" indent="0" marL="0">
              <a:buNone/>
            </a:pPr>
            <a:r>
              <a:rPr lang="en-US" sz="1400" dirty="0">
                <a:solidFill>
                  <a:srgbClr val="2B74A6"/>
                </a:solidFill>
                <a:latin typeface="Roboto Medium" pitchFamily="34" charset="0"/>
                <a:ea typeface="Roboto Medium" pitchFamily="34" charset="-122"/>
                <a:cs typeface="Roboto Medium" pitchFamily="34" charset="-120"/>
              </a:rPr>
              <a:t>smaller</a:t>
            </a:r>
            <a:endParaRPr lang="en-US" sz="1400" dirty="0"/>
          </a:p>
        </p:txBody>
      </p:sp>
      <p:sp>
        <p:nvSpPr>
          <p:cNvPr id="26" name="Text 20"/>
          <p:cNvSpPr txBox="1"/>
          <p:nvPr/>
        </p:nvSpPr>
        <p:spPr>
          <a:xfrm>
            <a:off x="9017356" y="2121408"/>
            <a:ext cx="2671420" cy="274320"/>
          </a:xfrm>
          <a:prstGeom prst="rect">
            <a:avLst/>
          </a:prstGeom>
          <a:noFill/>
          <a:ln/>
        </p:spPr>
        <p:txBody>
          <a:bodyPr wrap="square" lIns="0" tIns="0" rIns="0" bIns="0" rtlCol="0" anchor="ctr"/>
          <a:lstStyle/>
          <a:p>
            <a:pPr indent="0" marL="0">
              <a:buNone/>
            </a:pPr>
            <a:r>
              <a:rPr lang="en-US" sz="1400" dirty="0">
                <a:solidFill>
                  <a:srgbClr val="D0692F"/>
                </a:solidFill>
                <a:latin typeface="Roboto Medium" pitchFamily="34" charset="0"/>
                <a:ea typeface="Roboto Medium" pitchFamily="34" charset="-122"/>
                <a:cs typeface="Roboto Medium" pitchFamily="34" charset="-120"/>
              </a:rPr>
              <a:t>bigger</a:t>
            </a:r>
            <a:endParaRPr lang="en-US" sz="1400" dirty="0"/>
          </a:p>
        </p:txBody>
      </p:sp>
      <p:sp>
        <p:nvSpPr>
          <p:cNvPr id="27" name="Shape 21"/>
          <p:cNvSpPr/>
          <p:nvPr/>
        </p:nvSpPr>
        <p:spPr>
          <a:xfrm>
            <a:off x="8907628" y="2514600"/>
            <a:ext cx="0" cy="3291840"/>
          </a:xfrm>
          <a:prstGeom prst="line">
            <a:avLst/>
          </a:prstGeom>
          <a:noFill/>
          <a:ln w="15875">
            <a:solidFill>
              <a:srgbClr val="4A5B60"/>
            </a:solidFill>
            <a:prstDash val="solid"/>
          </a:ln>
        </p:spPr>
      </p:sp>
      <p:sp>
        <p:nvSpPr>
          <p:cNvPr id="28" name="Shape 22"/>
          <p:cNvSpPr/>
          <p:nvPr/>
        </p:nvSpPr>
        <p:spPr>
          <a:xfrm>
            <a:off x="8907628" y="2624328"/>
            <a:ext cx="2669902" cy="402336"/>
          </a:xfrm>
          <a:prstGeom prst="rect">
            <a:avLst/>
          </a:prstGeom>
          <a:solidFill>
            <a:srgbClr val="F6E1D3"/>
          </a:solidFill>
          <a:ln/>
        </p:spPr>
      </p:sp>
      <p:sp>
        <p:nvSpPr>
          <p:cNvPr id="29" name="Text 23"/>
          <p:cNvSpPr txBox="1"/>
          <p:nvPr/>
        </p:nvSpPr>
        <p:spPr>
          <a:xfrm>
            <a:off x="9017356" y="262432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Targeted at its peak</a:t>
            </a:r>
            <a:endParaRPr lang="en-US" sz="1300" dirty="0"/>
          </a:p>
        </p:txBody>
      </p:sp>
      <p:sp>
        <p:nvSpPr>
          <p:cNvPr id="30" name="Shape 24"/>
          <p:cNvSpPr/>
          <p:nvPr/>
        </p:nvSpPr>
        <p:spPr>
          <a:xfrm>
            <a:off x="8907628" y="3172968"/>
            <a:ext cx="2669902" cy="402336"/>
          </a:xfrm>
          <a:prstGeom prst="rect">
            <a:avLst/>
          </a:prstGeom>
          <a:solidFill>
            <a:srgbClr val="F6E1D3"/>
          </a:solidFill>
          <a:ln/>
        </p:spPr>
      </p:sp>
      <p:sp>
        <p:nvSpPr>
          <p:cNvPr id="31" name="Text 25"/>
          <p:cNvSpPr txBox="1"/>
          <p:nvPr/>
        </p:nvSpPr>
        <p:spPr>
          <a:xfrm>
            <a:off x="9017356" y="317296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Miners moved into comparison zones</a:t>
            </a:r>
            <a:endParaRPr lang="en-US" sz="1300" dirty="0"/>
          </a:p>
        </p:txBody>
      </p:sp>
      <p:sp>
        <p:nvSpPr>
          <p:cNvPr id="32" name="Shape 26"/>
          <p:cNvSpPr/>
          <p:nvPr/>
        </p:nvSpPr>
        <p:spPr>
          <a:xfrm>
            <a:off x="8907628" y="3721608"/>
            <a:ext cx="2669902" cy="402336"/>
          </a:xfrm>
          <a:prstGeom prst="rect">
            <a:avLst/>
          </a:prstGeom>
          <a:solidFill>
            <a:srgbClr val="F6E1D3"/>
          </a:solidFill>
          <a:ln/>
        </p:spPr>
      </p:sp>
      <p:sp>
        <p:nvSpPr>
          <p:cNvPr id="33" name="Text 27"/>
          <p:cNvSpPr txBox="1"/>
          <p:nvPr/>
        </p:nvSpPr>
        <p:spPr>
          <a:xfrm>
            <a:off x="9017356" y="372160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Big zones fall more in hectares</a:t>
            </a:r>
            <a:endParaRPr lang="en-US" sz="1300" dirty="0"/>
          </a:p>
        </p:txBody>
      </p:sp>
      <p:sp>
        <p:nvSpPr>
          <p:cNvPr id="34" name="Shape 28"/>
          <p:cNvSpPr/>
          <p:nvPr/>
        </p:nvSpPr>
        <p:spPr>
          <a:xfrm>
            <a:off x="8907628" y="4270248"/>
            <a:ext cx="2669902" cy="402336"/>
          </a:xfrm>
          <a:prstGeom prst="rect">
            <a:avLst/>
          </a:prstGeom>
          <a:solidFill>
            <a:srgbClr val="F6E1D3"/>
          </a:solidFill>
          <a:ln/>
        </p:spPr>
      </p:sp>
      <p:sp>
        <p:nvSpPr>
          <p:cNvPr id="35" name="Text 29"/>
          <p:cNvSpPr txBox="1"/>
          <p:nvPr/>
        </p:nvSpPr>
        <p:spPr>
          <a:xfrm>
            <a:off x="9017356" y="4270248"/>
            <a:ext cx="2468734" cy="402336"/>
          </a:xfrm>
          <a:prstGeom prst="rect">
            <a:avLst/>
          </a:prstGeom>
          <a:noFill/>
          <a:ln/>
        </p:spPr>
        <p:txBody>
          <a:bodyPr wrap="square" lIns="0" tIns="0" rIns="0" bIns="0" rtlCol="0" anchor="ctr"/>
          <a:lstStyle/>
          <a:p>
            <a:pPr algn="l" indent="0" marL="0">
              <a:buNone/>
            </a:pPr>
            <a:r>
              <a:rPr lang="en-US" sz="1300" dirty="0">
                <a:solidFill>
                  <a:srgbClr val="22383F"/>
                </a:solidFill>
                <a:latin typeface="Roboto" pitchFamily="34" charset="0"/>
                <a:ea typeface="Roboto" pitchFamily="34" charset="-122"/>
                <a:cs typeface="Roboto" pitchFamily="34" charset="-120"/>
              </a:rPr>
              <a:t>Pits stopping counted as less mining</a:t>
            </a:r>
            <a:endParaRPr lang="en-US" sz="1300" dirty="0"/>
          </a:p>
        </p:txBody>
      </p:sp>
      <p:sp>
        <p:nvSpPr>
          <p:cNvPr id="36" name="Shape 30"/>
          <p:cNvSpPr/>
          <p:nvPr/>
        </p:nvSpPr>
        <p:spPr>
          <a:xfrm>
            <a:off x="6237726" y="4818888"/>
            <a:ext cx="2669902" cy="402336"/>
          </a:xfrm>
          <a:prstGeom prst="rect">
            <a:avLst/>
          </a:prstGeom>
          <a:solidFill>
            <a:srgbClr val="DCE9F3"/>
          </a:solidFill>
          <a:ln/>
        </p:spPr>
      </p:sp>
      <p:sp>
        <p:nvSpPr>
          <p:cNvPr id="37" name="Text 31"/>
          <p:cNvSpPr txBox="1"/>
          <p:nvPr/>
        </p:nvSpPr>
        <p:spPr>
          <a:xfrm>
            <a:off x="6329166" y="4818888"/>
            <a:ext cx="2468734" cy="402336"/>
          </a:xfrm>
          <a:prstGeom prst="rect">
            <a:avLst/>
          </a:prstGeom>
          <a:noFill/>
          <a:ln/>
        </p:spPr>
        <p:txBody>
          <a:bodyPr wrap="square" lIns="0" tIns="0" rIns="0" bIns="0" rtlCol="0" anchor="ctr"/>
          <a:lstStyle/>
          <a:p>
            <a:pPr algn="r" indent="0" marL="0">
              <a:buNone/>
            </a:pPr>
            <a:r>
              <a:rPr lang="en-US" sz="1300" dirty="0">
                <a:solidFill>
                  <a:srgbClr val="22383F"/>
                </a:solidFill>
                <a:latin typeface="Roboto" pitchFamily="34" charset="0"/>
                <a:ea typeface="Roboto" pitchFamily="34" charset="-122"/>
                <a:cs typeface="Roboto" pitchFamily="34" charset="-120"/>
              </a:rPr>
              <a:t>Comparison zones had operations too</a:t>
            </a:r>
            <a:endParaRPr lang="en-US" sz="1300" dirty="0"/>
          </a:p>
        </p:txBody>
      </p:sp>
      <p:sp>
        <p:nvSpPr>
          <p:cNvPr id="38" name="Shape 32"/>
          <p:cNvSpPr/>
          <p:nvPr/>
        </p:nvSpPr>
        <p:spPr>
          <a:xfrm>
            <a:off x="6237726" y="5367528"/>
            <a:ext cx="2669902" cy="402336"/>
          </a:xfrm>
          <a:prstGeom prst="rect">
            <a:avLst/>
          </a:prstGeom>
          <a:solidFill>
            <a:srgbClr val="DCE9F3"/>
          </a:solidFill>
          <a:ln/>
        </p:spPr>
      </p:sp>
      <p:sp>
        <p:nvSpPr>
          <p:cNvPr id="39" name="Text 33"/>
          <p:cNvSpPr txBox="1"/>
          <p:nvPr/>
        </p:nvSpPr>
        <p:spPr>
          <a:xfrm>
            <a:off x="6329166" y="5367528"/>
            <a:ext cx="2468734" cy="402336"/>
          </a:xfrm>
          <a:prstGeom prst="rect">
            <a:avLst/>
          </a:prstGeom>
          <a:noFill/>
          <a:ln/>
        </p:spPr>
        <p:txBody>
          <a:bodyPr wrap="square" lIns="0" tIns="0" rIns="0" bIns="0" rtlCol="0" anchor="ctr"/>
          <a:lstStyle/>
          <a:p>
            <a:pPr algn="r" indent="0" marL="0">
              <a:buNone/>
            </a:pPr>
            <a:r>
              <a:rPr lang="en-US" sz="1300" dirty="0">
                <a:solidFill>
                  <a:srgbClr val="22383F"/>
                </a:solidFill>
                <a:latin typeface="Roboto" pitchFamily="34" charset="0"/>
                <a:ea typeface="Roboto" pitchFamily="34" charset="-122"/>
                <a:cs typeface="Roboto" pitchFamily="34" charset="-120"/>
              </a:rPr>
              <a:t>Yearly maps blur Feb 2019</a:t>
            </a:r>
            <a:endParaRPr lang="en-US" sz="1300" dirty="0"/>
          </a:p>
        </p:txBody>
      </p:sp>
      <p:sp>
        <p:nvSpPr>
          <p:cNvPr id="40" name="Text 34"/>
          <p:cNvSpPr txBox="1"/>
          <p:nvPr/>
        </p:nvSpPr>
        <p:spPr>
          <a:xfrm>
            <a:off x="6126480" y="6035040"/>
            <a:ext cx="5562295" cy="457200"/>
          </a:xfrm>
          <a:prstGeom prst="rect">
            <a:avLst/>
          </a:prstGeom>
          <a:noFill/>
          <a:ln/>
        </p:spPr>
        <p:txBody>
          <a:bodyPr wrap="square" lIns="0" tIns="0" rIns="0" bIns="0" rtlCol="0" anchor="t"/>
          <a:lstStyle/>
          <a:p>
            <a:pPr indent="0" marL="0">
              <a:buNone/>
            </a:pPr>
            <a:r>
              <a:rPr lang="en-US" sz="1500" dirty="0">
                <a:solidFill>
                  <a:srgbClr val="22383F"/>
                </a:solidFill>
                <a:latin typeface="Roboto Medium" pitchFamily="34" charset="0"/>
                <a:ea typeface="Roboto Medium" pitchFamily="34" charset="-122"/>
                <a:cs typeface="Roboto Medium" pitchFamily="34" charset="-120"/>
              </a:rPr>
              <a:t>Read the fall as an upper bound, the return as a lower bound.</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84048"/>
            <a:ext cx="1755648"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13   </a:t>
            </a:r>
            <a:pPr indent="0" marL="0">
              <a:buNone/>
            </a:pPr>
            <a:r>
              <a:rPr lang="en-US" sz="1200" spc="220" kern="0" dirty="0">
                <a:solidFill>
                  <a:srgbClr val="B9C94F"/>
                </a:solidFill>
                <a:latin typeface="Roboto Medium" pitchFamily="34" charset="0"/>
                <a:ea typeface="Roboto Medium" pitchFamily="34" charset="-122"/>
                <a:cs typeface="Roboto Medium" pitchFamily="34" charset="-120"/>
              </a:rPr>
              <a:t>FOR FZS</a:t>
            </a:r>
            <a:endParaRPr lang="en-US" sz="1200" dirty="0"/>
          </a:p>
        </p:txBody>
      </p:sp>
      <p:sp>
        <p:nvSpPr>
          <p:cNvPr id="3" name="Shape 1"/>
          <p:cNvSpPr/>
          <p:nvPr/>
        </p:nvSpPr>
        <p:spPr>
          <a:xfrm>
            <a:off x="2368296" y="521208"/>
            <a:ext cx="6943039" cy="0"/>
          </a:xfrm>
          <a:prstGeom prst="line">
            <a:avLst/>
          </a:prstGeom>
          <a:noFill/>
          <a:ln w="9525">
            <a:solidFill>
              <a:srgbClr val="B9C94F">
                <a:alpha val="70000"/>
              </a:srgbClr>
            </a:solidFill>
            <a:prstDash val="solid"/>
          </a:ln>
        </p:spPr>
      </p:sp>
      <p:sp>
        <p:nvSpPr>
          <p:cNvPr id="4" name="claim-P"/>
          <p:cNvSpPr/>
          <p:nvPr/>
        </p:nvSpPr>
        <p:spPr>
          <a:xfrm>
            <a:off x="9539935" y="347472"/>
            <a:ext cx="2148840" cy="310896"/>
          </a:xfrm>
          <a:prstGeom prst="roundRect">
            <a:avLst>
              <a:gd name="adj" fmla="val 50000"/>
            </a:avLst>
          </a:prstGeom>
          <a:ln w="12700">
            <a:solidFill>
              <a:srgbClr val="B9C94F"/>
            </a:solidFill>
          </a:ln>
        </p:spPr>
        <p:txBody>
          <a:bodyPr wrap="square" lIns="0" tIns="0" rIns="0" bIns="0" rtlCol="0" anchor="ctr"/>
          <a:lstStyle/>
          <a:p>
            <a:pPr algn="ctr" indent="0" marL="0">
              <a:buNone/>
            </a:pPr>
            <a:r>
              <a:rPr lang="en-US" sz="1050" spc="150" kern="0" dirty="0">
                <a:solidFill>
                  <a:srgbClr val="B9C94F"/>
                </a:solidFill>
                <a:latin typeface="Roboto Medium" pitchFamily="34" charset="0"/>
                <a:ea typeface="Roboto Medium" pitchFamily="34" charset="-122"/>
                <a:cs typeface="Roboto Medium" pitchFamily="34" charset="-120"/>
              </a:rPr>
              <a:t>PREDICTION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Stay after the sweep, and watch the ring around it</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Informed expectations from one case (prediction), not proven rules · net mining additions, Tambopata buffer zone, reserve and corridor</a:t>
            </a:r>
            <a:endParaRPr lang="en-US" sz="1250" dirty="0"/>
          </a:p>
        </p:txBody>
      </p:sp>
      <p:sp>
        <p:nvSpPr>
          <p:cNvPr id="7" name="Shape 5"/>
          <p:cNvSpPr/>
          <p:nvPr/>
        </p:nvSpPr>
        <p:spPr>
          <a:xfrm>
            <a:off x="502920" y="1965960"/>
            <a:ext cx="731520" cy="731520"/>
          </a:xfrm>
          <a:prstGeom prst="ellipse">
            <a:avLst/>
          </a:prstGeom>
          <a:solidFill>
            <a:srgbClr val="2E4850"/>
          </a:solidFill>
          <a:ln w="12700">
            <a:solidFill>
              <a:srgbClr val="B9C94F"/>
            </a:solidFill>
            <a:prstDash val="solid"/>
          </a:ln>
        </p:spPr>
      </p:sp>
      <p:pic>
        <p:nvPicPr>
          <p:cNvPr id="8" name="Image 0" descr="preencoded.png">    </p:cNvPr>
          <p:cNvPicPr>
            <a:picLocks noChangeAspect="1"/>
          </p:cNvPicPr>
          <p:nvPr/>
        </p:nvPicPr>
        <p:blipFill>
          <a:blip r:embed="rId1"/>
          <a:stretch>
            <a:fillRect/>
          </a:stretch>
        </p:blipFill>
        <p:spPr>
          <a:xfrm>
            <a:off x="667512" y="2130552"/>
            <a:ext cx="402336" cy="402336"/>
          </a:xfrm>
          <a:prstGeom prst="rect">
            <a:avLst/>
          </a:prstGeom>
        </p:spPr>
      </p:pic>
      <p:sp>
        <p:nvSpPr>
          <p:cNvPr id="9" name="Text 6"/>
          <p:cNvSpPr txBox="1"/>
          <p:nvPr/>
        </p:nvSpPr>
        <p:spPr>
          <a:xfrm>
            <a:off x="502920" y="292608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Stay after the sweep</a:t>
            </a:r>
            <a:endParaRPr lang="en-US" sz="2000" dirty="0"/>
          </a:p>
        </p:txBody>
      </p:sp>
      <p:sp>
        <p:nvSpPr>
          <p:cNvPr id="10" name="Text 7"/>
          <p:cNvSpPr txBox="1"/>
          <p:nvPr/>
        </p:nvSpPr>
        <p:spPr>
          <a:xfrm>
            <a:off x="502920" y="3749040"/>
            <a:ext cx="3474720" cy="731520"/>
          </a:xfrm>
          <a:prstGeom prst="rect">
            <a:avLst/>
          </a:prstGeom>
          <a:noFill/>
          <a:ln/>
        </p:spPr>
        <p:txBody>
          <a:bodyPr wrap="square" lIns="0" tIns="0" rIns="0" bIns="0" rtlCol="0" anchor="ctr"/>
          <a:lstStyle/>
          <a:p>
            <a:pPr indent="0" marL="0">
              <a:buNone/>
            </a:pPr>
            <a:r>
              <a:rPr lang="en-US" sz="3600" dirty="0">
                <a:solidFill>
                  <a:srgbClr val="B9C94F"/>
                </a:solidFill>
                <a:latin typeface="Roboto Light" pitchFamily="34" charset="0"/>
                <a:ea typeface="Roboto Light" pitchFamily="34" charset="-122"/>
                <a:cs typeface="Roboto Light" pitchFamily="34" charset="-120"/>
              </a:rPr>
              <a:t>163 → 1,829</a:t>
            </a:r>
            <a:endParaRPr lang="en-US" sz="3600" dirty="0"/>
          </a:p>
        </p:txBody>
      </p:sp>
      <p:sp>
        <p:nvSpPr>
          <p:cNvPr id="11" name="Text 8"/>
          <p:cNvSpPr txBox="1"/>
          <p:nvPr/>
        </p:nvSpPr>
        <p:spPr>
          <a:xfrm>
            <a:off x="502920" y="4526280"/>
            <a:ext cx="3291840" cy="109728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ha/yr net additions, 2019–21 → later years. Fund presence, not one-off operations.</a:t>
            </a:r>
            <a:endParaRPr lang="en-US" sz="1500" dirty="0"/>
          </a:p>
        </p:txBody>
      </p:sp>
      <p:sp>
        <p:nvSpPr>
          <p:cNvPr id="12" name="Shape 9"/>
          <p:cNvSpPr/>
          <p:nvPr/>
        </p:nvSpPr>
        <p:spPr>
          <a:xfrm>
            <a:off x="4096512" y="1965960"/>
            <a:ext cx="0" cy="4114800"/>
          </a:xfrm>
          <a:prstGeom prst="line">
            <a:avLst/>
          </a:prstGeom>
          <a:noFill/>
          <a:ln w="9525">
            <a:solidFill>
              <a:srgbClr val="FFFFFF">
                <a:alpha val="18000"/>
              </a:srgbClr>
            </a:solidFill>
            <a:prstDash val="solid"/>
          </a:ln>
        </p:spPr>
      </p:sp>
      <p:sp>
        <p:nvSpPr>
          <p:cNvPr id="13" name="Shape 10"/>
          <p:cNvSpPr/>
          <p:nvPr/>
        </p:nvSpPr>
        <p:spPr>
          <a:xfrm>
            <a:off x="4279392" y="1965960"/>
            <a:ext cx="731520" cy="731520"/>
          </a:xfrm>
          <a:prstGeom prst="ellipse">
            <a:avLst/>
          </a:prstGeom>
          <a:solidFill>
            <a:srgbClr val="2E4850"/>
          </a:solidFill>
          <a:ln w="12700">
            <a:solidFill>
              <a:srgbClr val="B9C94F"/>
            </a:solidFill>
            <a:prstDash val="solid"/>
          </a:ln>
        </p:spPr>
      </p:sp>
      <p:pic>
        <p:nvPicPr>
          <p:cNvPr id="14" name="Image 1" descr="preencoded.png">    </p:cNvPr>
          <p:cNvPicPr>
            <a:picLocks noChangeAspect="1"/>
          </p:cNvPicPr>
          <p:nvPr/>
        </p:nvPicPr>
        <p:blipFill>
          <a:blip r:embed="rId2"/>
          <a:stretch>
            <a:fillRect/>
          </a:stretch>
        </p:blipFill>
        <p:spPr>
          <a:xfrm>
            <a:off x="4443984" y="2130552"/>
            <a:ext cx="402336" cy="402336"/>
          </a:xfrm>
          <a:prstGeom prst="rect">
            <a:avLst/>
          </a:prstGeom>
        </p:spPr>
      </p:pic>
      <p:sp>
        <p:nvSpPr>
          <p:cNvPr id="15" name="Text 11"/>
          <p:cNvSpPr txBox="1"/>
          <p:nvPr/>
        </p:nvSpPr>
        <p:spPr>
          <a:xfrm>
            <a:off x="4279392" y="292608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Watch the ring, in near real time</a:t>
            </a:r>
            <a:endParaRPr lang="en-US" sz="2000" dirty="0"/>
          </a:p>
        </p:txBody>
      </p:sp>
      <p:sp>
        <p:nvSpPr>
          <p:cNvPr id="16" name="Text 12"/>
          <p:cNvSpPr txBox="1"/>
          <p:nvPr/>
        </p:nvSpPr>
        <p:spPr>
          <a:xfrm>
            <a:off x="4279392" y="3749040"/>
            <a:ext cx="3474720" cy="731520"/>
          </a:xfrm>
          <a:prstGeom prst="rect">
            <a:avLst/>
          </a:prstGeom>
          <a:noFill/>
          <a:ln/>
        </p:spPr>
        <p:txBody>
          <a:bodyPr wrap="square" lIns="0" tIns="0" rIns="0" bIns="0" rtlCol="0" anchor="ctr"/>
          <a:lstStyle/>
          <a:p>
            <a:pPr indent="0" marL="0">
              <a:buNone/>
            </a:pPr>
            <a:r>
              <a:rPr lang="en-US" sz="3600" dirty="0">
                <a:solidFill>
                  <a:srgbClr val="B9C94F"/>
                </a:solidFill>
                <a:latin typeface="Roboto Light" pitchFamily="34" charset="0"/>
                <a:ea typeface="Roboto Light" pitchFamily="34" charset="-122"/>
                <a:cs typeface="Roboto Light" pitchFamily="34" charset="-120"/>
              </a:rPr>
              <a:t>60 → 395</a:t>
            </a:r>
            <a:endParaRPr lang="en-US" sz="3600" dirty="0"/>
          </a:p>
        </p:txBody>
      </p:sp>
      <p:sp>
        <p:nvSpPr>
          <p:cNvPr id="17" name="Text 13"/>
          <p:cNvSpPr txBox="1"/>
          <p:nvPr/>
        </p:nvSpPr>
        <p:spPr>
          <a:xfrm>
            <a:off x="4279392" y="4526280"/>
            <a:ext cx="3291840" cy="109728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ha/yr just across the road. Forest-loss alerts on a few-km ring around each operation.</a:t>
            </a:r>
            <a:endParaRPr lang="en-US" sz="1500" dirty="0"/>
          </a:p>
        </p:txBody>
      </p:sp>
      <p:sp>
        <p:nvSpPr>
          <p:cNvPr id="18" name="Shape 14"/>
          <p:cNvSpPr/>
          <p:nvPr/>
        </p:nvSpPr>
        <p:spPr>
          <a:xfrm>
            <a:off x="7872984" y="1965960"/>
            <a:ext cx="0" cy="4114800"/>
          </a:xfrm>
          <a:prstGeom prst="line">
            <a:avLst/>
          </a:prstGeom>
          <a:noFill/>
          <a:ln w="9525">
            <a:solidFill>
              <a:srgbClr val="FFFFFF">
                <a:alpha val="18000"/>
              </a:srgbClr>
            </a:solidFill>
            <a:prstDash val="solid"/>
          </a:ln>
        </p:spPr>
      </p:sp>
      <p:sp>
        <p:nvSpPr>
          <p:cNvPr id="19" name="Shape 15"/>
          <p:cNvSpPr/>
          <p:nvPr/>
        </p:nvSpPr>
        <p:spPr>
          <a:xfrm>
            <a:off x="8055864" y="1965960"/>
            <a:ext cx="731520" cy="731520"/>
          </a:xfrm>
          <a:prstGeom prst="ellipse">
            <a:avLst/>
          </a:prstGeom>
          <a:solidFill>
            <a:srgbClr val="2E4850"/>
          </a:solidFill>
          <a:ln w="12700">
            <a:solidFill>
              <a:srgbClr val="B9C94F"/>
            </a:solidFill>
            <a:prstDash val="solid"/>
          </a:ln>
        </p:spPr>
      </p:sp>
      <p:pic>
        <p:nvPicPr>
          <p:cNvPr id="20" name="Image 2" descr="preencoded.png">    </p:cNvPr>
          <p:cNvPicPr>
            <a:picLocks noChangeAspect="1"/>
          </p:cNvPicPr>
          <p:nvPr/>
        </p:nvPicPr>
        <p:blipFill>
          <a:blip r:embed="rId3"/>
          <a:stretch>
            <a:fillRect/>
          </a:stretch>
        </p:blipFill>
        <p:spPr>
          <a:xfrm>
            <a:off x="8220456" y="2130552"/>
            <a:ext cx="402336" cy="402336"/>
          </a:xfrm>
          <a:prstGeom prst="rect">
            <a:avLst/>
          </a:prstGeom>
        </p:spPr>
      </p:pic>
      <p:sp>
        <p:nvSpPr>
          <p:cNvPr id="21" name="Text 16"/>
          <p:cNvSpPr txBox="1"/>
          <p:nvPr/>
        </p:nvSpPr>
        <p:spPr>
          <a:xfrm>
            <a:off x="8055864" y="2926080"/>
            <a:ext cx="3474720" cy="731520"/>
          </a:xfrm>
          <a:prstGeom prst="rect">
            <a:avLst/>
          </a:prstGeom>
          <a:noFill/>
          <a:ln/>
        </p:spPr>
        <p:txBody>
          <a:bodyPr wrap="square" lIns="0" tIns="0" rIns="0" bIns="0" rtlCol="0" anchor="t"/>
          <a:lstStyle/>
          <a:p>
            <a:pPr indent="0" marL="0">
              <a:buNone/>
            </a:pPr>
            <a:r>
              <a:rPr lang="en-US" sz="2000" dirty="0">
                <a:solidFill>
                  <a:srgbClr val="F3F5F2"/>
                </a:solidFill>
                <a:latin typeface="Roboto Medium" pitchFamily="34" charset="0"/>
                <a:ea typeface="Roboto Medium" pitchFamily="34" charset="-122"/>
                <a:cs typeface="Roboto Medium" pitchFamily="34" charset="-120"/>
              </a:rPr>
              <a:t>Hold the reserve's first km and the river</a:t>
            </a:r>
            <a:endParaRPr lang="en-US" sz="2000" dirty="0"/>
          </a:p>
        </p:txBody>
      </p:sp>
      <p:sp>
        <p:nvSpPr>
          <p:cNvPr id="22" name="Text 17"/>
          <p:cNvSpPr txBox="1"/>
          <p:nvPr/>
        </p:nvSpPr>
        <p:spPr>
          <a:xfrm>
            <a:off x="8055864" y="3749040"/>
            <a:ext cx="3474720" cy="731520"/>
          </a:xfrm>
          <a:prstGeom prst="rect">
            <a:avLst/>
          </a:prstGeom>
          <a:noFill/>
          <a:ln/>
        </p:spPr>
        <p:txBody>
          <a:bodyPr wrap="square" lIns="0" tIns="0" rIns="0" bIns="0" rtlCol="0" anchor="ctr"/>
          <a:lstStyle/>
          <a:p>
            <a:pPr indent="0" marL="0">
              <a:buNone/>
            </a:pPr>
            <a:r>
              <a:rPr lang="en-US" sz="3600" dirty="0">
                <a:solidFill>
                  <a:srgbClr val="B9C94F"/>
                </a:solidFill>
                <a:latin typeface="Roboto Light" pitchFamily="34" charset="0"/>
                <a:ea typeface="Roboto Light" pitchFamily="34" charset="-122"/>
                <a:cs typeface="Roboto Light" pitchFamily="34" charset="-120"/>
              </a:rPr>
              <a:t>91%</a:t>
            </a:r>
            <a:endParaRPr lang="en-US" sz="3600" dirty="0"/>
          </a:p>
        </p:txBody>
      </p:sp>
      <p:sp>
        <p:nvSpPr>
          <p:cNvPr id="23" name="Text 18"/>
          <p:cNvSpPr txBox="1"/>
          <p:nvPr/>
        </p:nvSpPr>
        <p:spPr>
          <a:xfrm>
            <a:off x="8055864" y="4526280"/>
            <a:ext cx="3291840" cy="1097280"/>
          </a:xfrm>
          <a:prstGeom prst="rect">
            <a:avLst/>
          </a:prstGeom>
          <a:noFill/>
          <a:ln/>
        </p:spPr>
        <p:txBody>
          <a:bodyPr wrap="square" lIns="0" tIns="0" rIns="0" bIns="0" rtlCol="0" anchor="t"/>
          <a:lstStyle/>
          <a:p>
            <a:pPr indent="0" marL="0">
              <a:buNone/>
            </a:pPr>
            <a:r>
              <a:rPr lang="en-US" sz="1500" dirty="0">
                <a:solidFill>
                  <a:srgbClr val="C3D0CF"/>
                </a:solidFill>
                <a:latin typeface="Roboto" pitchFamily="34" charset="0"/>
                <a:ea typeface="Roboto" pitchFamily="34" charset="-122"/>
                <a:cs typeface="Roboto" pitchFamily="34" charset="-120"/>
              </a:rPr>
              <a:t>of first-time mining inside the reserve lies within 1 km of its edge. Staff the Malinowski posts.</a:t>
            </a:r>
            <a:endParaRPr lang="en-US" sz="15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84048"/>
            <a:ext cx="1385316"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THANK YOU</a:t>
            </a:r>
            <a:endParaRPr lang="en-US" sz="1200" dirty="0"/>
          </a:p>
        </p:txBody>
      </p:sp>
      <p:sp>
        <p:nvSpPr>
          <p:cNvPr id="3" name="Shape 1"/>
          <p:cNvSpPr/>
          <p:nvPr/>
        </p:nvSpPr>
        <p:spPr>
          <a:xfrm>
            <a:off x="1997964" y="521208"/>
            <a:ext cx="9690811" cy="0"/>
          </a:xfrm>
          <a:prstGeom prst="line">
            <a:avLst/>
          </a:prstGeom>
          <a:noFill/>
          <a:ln w="9525">
            <a:solidFill>
              <a:srgbClr val="B9C94F">
                <a:alpha val="70000"/>
              </a:srgbClr>
            </a:solidFill>
            <a:prstDash val="solid"/>
          </a:ln>
        </p:spPr>
      </p:sp>
      <p:sp>
        <p:nvSpPr>
          <p:cNvPr id="4" name="Text 2"/>
          <p:cNvSpPr txBox="1"/>
          <p:nvPr/>
        </p:nvSpPr>
        <p:spPr>
          <a:xfrm>
            <a:off x="502920" y="1097280"/>
            <a:ext cx="6217920" cy="2194560"/>
          </a:xfrm>
          <a:prstGeom prst="rect">
            <a:avLst/>
          </a:prstGeom>
          <a:noFill/>
          <a:ln/>
        </p:spPr>
        <p:txBody>
          <a:bodyPr wrap="square" lIns="0" tIns="0" rIns="0" bIns="0" rtlCol="0" anchor="t"/>
          <a:lstStyle/>
          <a:p>
            <a:pPr indent="0" marL="0">
              <a:buNone/>
            </a:pPr>
            <a:r>
              <a:rPr lang="en-US" sz="5400" dirty="0">
                <a:solidFill>
                  <a:srgbClr val="F3F5F2"/>
                </a:solidFill>
                <a:latin typeface="Roboto Light" pitchFamily="34" charset="0"/>
                <a:ea typeface="Roboto Light" pitchFamily="34" charset="-122"/>
                <a:cs typeface="Roboto Light" pitchFamily="34" charset="-120"/>
              </a:rPr>
              <a:t>Questions?</a:t>
            </a:r>
            <a:endParaRPr lang="en-US" sz="5400" dirty="0"/>
          </a:p>
          <a:p>
            <a:pPr indent="0" marL="0">
              <a:buNone/>
            </a:pPr>
            <a:r>
              <a:rPr lang="en-US" sz="2200" dirty="0">
                <a:solidFill>
                  <a:srgbClr val="B9C94F"/>
                </a:solidFill>
                <a:latin typeface="Roboto Light" pitchFamily="34" charset="0"/>
                <a:ea typeface="Roboto Light" pitchFamily="34" charset="-122"/>
                <a:cs typeface="Roboto Light" pitchFamily="34" charset="-120"/>
              </a:rPr>
              <a:t>Like the anteater, mining comes back for seconds.</a:t>
            </a:r>
            <a:endParaRPr lang="en-US" sz="5400" dirty="0"/>
          </a:p>
        </p:txBody>
      </p:sp>
      <p:pic>
        <p:nvPicPr>
          <p:cNvPr id="5" name="Image 0" descr="preencoded.png">    </p:cNvPr>
          <p:cNvPicPr>
            <a:picLocks noChangeAspect="1"/>
          </p:cNvPicPr>
          <p:nvPr/>
        </p:nvPicPr>
        <p:blipFill>
          <a:blip r:embed="rId1"/>
          <a:stretch>
            <a:fillRect/>
          </a:stretch>
        </p:blipFill>
        <p:spPr>
          <a:xfrm>
            <a:off x="502920" y="3566160"/>
            <a:ext cx="1188720" cy="1188720"/>
          </a:xfrm>
          <a:prstGeom prst="rect">
            <a:avLst/>
          </a:prstGeom>
        </p:spPr>
      </p:pic>
      <p:sp>
        <p:nvSpPr>
          <p:cNvPr id="6" name="photo-placeholder"/>
          <p:cNvSpPr/>
          <p:nvPr/>
        </p:nvSpPr>
        <p:spPr>
          <a:xfrm>
            <a:off x="7086600" y="384048"/>
            <a:ext cx="4602175" cy="5943600"/>
          </a:xfrm>
          <a:prstGeom prst="rect">
            <a:avLst/>
          </a:prstGeom>
          <a:solidFill>
            <a:srgbClr val="2E4850"/>
          </a:solidFill>
          <a:ln w="12700">
            <a:solidFill>
              <a:srgbClr val="3D555D"/>
            </a:solidFill>
            <a:prstDash val="dash"/>
          </a:ln>
        </p:spPr>
      </p:sp>
      <p:sp>
        <p:nvSpPr>
          <p:cNvPr id="7" name="Text 4"/>
          <p:cNvSpPr txBox="1"/>
          <p:nvPr/>
        </p:nvSpPr>
        <p:spPr>
          <a:xfrm>
            <a:off x="7086600" y="3081528"/>
            <a:ext cx="4602175" cy="548640"/>
          </a:xfrm>
          <a:prstGeom prst="rect">
            <a:avLst/>
          </a:prstGeom>
          <a:noFill/>
          <a:ln/>
        </p:spPr>
        <p:txBody>
          <a:bodyPr wrap="square" rtlCol="0" anchor="ctr"/>
          <a:lstStyle/>
          <a:p>
            <a:pPr algn="ctr" indent="0" marL="0">
              <a:buNone/>
            </a:pPr>
            <a:r>
              <a:rPr lang="en-US" sz="1300" i="1" dirty="0">
                <a:solidFill>
                  <a:srgbClr val="C3D0CF"/>
                </a:solidFill>
                <a:latin typeface="Roboto" pitchFamily="34" charset="0"/>
                <a:ea typeface="Roboto" pitchFamily="34" charset="-122"/>
                <a:cs typeface="Roboto" pitchFamily="34" charset="-120"/>
              </a:rPr>
              <a:t>Photo: rangers / Tambopata river</a:t>
            </a:r>
            <a:endParaRPr lang="en-US" sz="13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84048"/>
            <a:ext cx="1014984" cy="274320"/>
          </a:xfrm>
          <a:prstGeom prst="rect">
            <a:avLst/>
          </a:prstGeom>
          <a:noFill/>
          <a:ln/>
        </p:spPr>
        <p:txBody>
          <a:bodyPr wrap="square" lIns="0" tIns="0" rIns="0" bIns="0" rtlCol="0" anchor="ctr"/>
          <a:lstStyle/>
          <a:p>
            <a:pPr indent="0" marL="0">
              <a:buNone/>
            </a:pPr>
            <a:r>
              <a:rPr lang="en-US" sz="1200" spc="220" kern="0" dirty="0">
                <a:solidFill>
                  <a:srgbClr val="B9C94F"/>
                </a:solidFill>
                <a:latin typeface="Roboto Medium" pitchFamily="34" charset="0"/>
                <a:ea typeface="Roboto Medium" pitchFamily="34" charset="-122"/>
                <a:cs typeface="Roboto Medium" pitchFamily="34" charset="-120"/>
              </a:rPr>
              <a:t>BACKUP</a:t>
            </a:r>
            <a:endParaRPr lang="en-US" sz="1200" dirty="0"/>
          </a:p>
        </p:txBody>
      </p:sp>
      <p:sp>
        <p:nvSpPr>
          <p:cNvPr id="3" name="Shape 1"/>
          <p:cNvSpPr/>
          <p:nvPr/>
        </p:nvSpPr>
        <p:spPr>
          <a:xfrm>
            <a:off x="1627632" y="521208"/>
            <a:ext cx="10061143" cy="0"/>
          </a:xfrm>
          <a:prstGeom prst="line">
            <a:avLst/>
          </a:prstGeom>
          <a:noFill/>
          <a:ln w="9525">
            <a:solidFill>
              <a:srgbClr val="B9C94F">
                <a:alpha val="70000"/>
              </a:srgbClr>
            </a:solidFill>
            <a:prstDash val="solid"/>
          </a:ln>
        </p:spPr>
      </p:sp>
      <p:sp>
        <p:nvSpPr>
          <p:cNvPr id="4"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F3F5F2"/>
                </a:solidFill>
                <a:latin typeface="Roboto Light" pitchFamily="34" charset="0"/>
                <a:ea typeface="Roboto Light" pitchFamily="34" charset="-122"/>
                <a:cs typeface="Roboto Light" pitchFamily="34" charset="-120"/>
              </a:rPr>
              <a:t>For questions</a:t>
            </a:r>
            <a:endParaRPr lang="en-US" sz="2800" dirty="0"/>
          </a:p>
        </p:txBody>
      </p:sp>
      <p:sp>
        <p:nvSpPr>
          <p:cNvPr id="5"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C3D0CF"/>
                </a:solidFill>
                <a:latin typeface="Roboto" pitchFamily="34" charset="0"/>
                <a:ea typeface="Roboto" pitchFamily="34" charset="-122"/>
                <a:cs typeface="Roboto" pitchFamily="34" charset="-120"/>
              </a:rPr>
              <a:t>Six attempts · stopped land · road and cells · twins · Brazil · money and gold · definitions and data · map steps</a:t>
            </a:r>
            <a:endParaRPr lang="en-US" sz="125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C3D0CF"/>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SIX ATTEMPTS</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C"/>
          <p:cNvSpPr/>
          <p:nvPr/>
        </p:nvSpPr>
        <p:spPr>
          <a:xfrm>
            <a:off x="9539935" y="347472"/>
            <a:ext cx="2148840" cy="310896"/>
          </a:xfrm>
          <a:prstGeom prst="roundRect">
            <a:avLst>
              <a:gd name="adj" fmla="val 50000"/>
            </a:avLst>
          </a:prstGeom>
          <a:solidFill>
            <a:srgbClr val="F3E3E9"/>
          </a:solidFill>
          <a:ln w="12700">
            <a:solidFill>
              <a:srgbClr val="A42C58"/>
            </a:solidFill>
          </a:ln>
        </p:spPr>
        <p:txBody>
          <a:bodyPr wrap="square" lIns="0" tIns="0" rIns="0" bIns="0" rtlCol="0" anchor="ctr"/>
          <a:lstStyle/>
          <a:p>
            <a:pPr algn="ctr" indent="0" marL="0">
              <a:buNone/>
            </a:pPr>
            <a:r>
              <a:rPr lang="en-US" sz="1050" spc="150" kern="0" dirty="0">
                <a:solidFill>
                  <a:srgbClr val="A42C58"/>
                </a:solidFill>
                <a:latin typeface="Roboto Medium" pitchFamily="34" charset="0"/>
                <a:ea typeface="Roboto Medium" pitchFamily="34" charset="-122"/>
                <a:cs typeface="Roboto Medium" pitchFamily="34" charset="-120"/>
              </a:rPr>
              <a:t>CAUSAL · CONDITIONAL</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Six attempts at cause: two hold in hectares only</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Tambopata buffer zone, 2019–21 vs before, ha/yr unless stated · all conditional on the comparison</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2926080"/>
                <a:gridCol w="2926080"/>
                <a:gridCol w="3931920"/>
                <a:gridCol w="1399032"/>
              </a:tblGrid>
              <a:tr h="603504">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METHOD</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COMPARES TAMBOPATA WITH</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RESULT (NET)</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VERDICT</a:t>
                      </a:r>
                      <a:endParaRPr lang="en-US" sz="105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1  Zone + year effects (M1–M3)</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14 Peruvian buffer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−1,453 to −1,859; scaled rank 4 of 7</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3C7D2C"/>
                          </a:solidFill>
                          <a:latin typeface="Roboto Medium" pitchFamily="34" charset="0"/>
                          <a:ea typeface="Roboto Medium" pitchFamily="34" charset="-122"/>
                          <a:cs typeface="Roboto Medium" pitchFamily="34" charset="-120"/>
                        </a:rPr>
                        <a:t>Holds in ha</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2  Synthetic control</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Weighted mix of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−411; no pre-2019 fit in hectares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8A5F00"/>
                          </a:solidFill>
                          <a:latin typeface="Roboto Medium" pitchFamily="34" charset="0"/>
                          <a:ea typeface="Roboto Medium" pitchFamily="34" charset="-122"/>
                          <a:cs typeface="Roboto Medium" pitchFamily="34" charset="-120"/>
                        </a:rPr>
                        <a:t>Weak</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3  Rule-based twins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Amanã, Tapajós, Munduruku (Brazil)</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16%–41% of their pace (AMW, other measure)</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8A5F00"/>
                          </a:solidFill>
                          <a:latin typeface="Roboto Medium" pitchFamily="34" charset="0"/>
                          <a:ea typeface="Roboto Medium" pitchFamily="34" charset="-122"/>
                          <a:cs typeface="Roboto Medium" pitchFamily="34" charset="-120"/>
                        </a:rPr>
                        <a:t>Weak</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4  Spatial RD at the road</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Either side of the highway</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+2.2 pts of land/yr (p = 0.25)</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8A5F00"/>
                          </a:solidFill>
                          <a:latin typeface="Roboto Medium" pitchFamily="34" charset="0"/>
                          <a:ea typeface="Roboto Medium" pitchFamily="34" charset="-122"/>
                          <a:cs typeface="Roboto Medium" pitchFamily="34" charset="-120"/>
                        </a:rPr>
                        <a:t>Swing only</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5  Matching (7 methods)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Areas picked by algorithm</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All slower; placebo p 0.15–0.60</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6C7B80"/>
                          </a:solidFill>
                          <a:latin typeface="Roboto Medium" pitchFamily="34" charset="0"/>
                          <a:ea typeface="Roboto Medium" pitchFamily="34" charset="-122"/>
                          <a:cs typeface="Roboto Medium" pitchFamily="34" charset="-120"/>
                        </a:rPr>
                        <a:t>Can't decide</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603504">
                <a:tc>
                  <a:txBody>
                    <a:bodyPr/>
                    <a:lstStyle/>
                    <a:p>
                      <a:pPr indent="0" marL="0">
                        <a:buNone/>
                      </a:pPr>
                      <a:r>
                        <a:rPr lang="en-US" sz="1400" dirty="0">
                          <a:solidFill>
                            <a:srgbClr val="22383F"/>
                          </a:solidFill>
                          <a:latin typeface="Roboto" pitchFamily="34" charset="0"/>
                          <a:ea typeface="Roboto" pitchFamily="34" charset="-122"/>
                          <a:cs typeface="Roboto" pitchFamily="34" charset="-120"/>
                        </a:rPr>
                        <a:t>6  Synthetic DiD</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Weighted, trend-matched zones</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22383F"/>
                          </a:solidFill>
                          <a:latin typeface="Roboto" pitchFamily="34" charset="0"/>
                          <a:ea typeface="Roboto" pitchFamily="34" charset="-122"/>
                          <a:cs typeface="Roboto" pitchFamily="34" charset="-120"/>
                        </a:rPr>
                        <a:t>−1,544; scaled rank 3 of 7</a:t>
                      </a:r>
                      <a:endParaRPr lang="en-US" sz="1400" dirty="0">
                        <a:latin typeface="Roboto" charset="0"/>
                        <a:ea typeface="Roboto" charset="0"/>
                        <a:cs typeface="Roboto"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400" dirty="0">
                          <a:solidFill>
                            <a:srgbClr val="3C7D2C"/>
                          </a:solidFill>
                          <a:latin typeface="Roboto Medium" pitchFamily="34" charset="0"/>
                          <a:ea typeface="Roboto Medium" pitchFamily="34" charset="-122"/>
                          <a:cs typeface="Roboto Medium" pitchFamily="34" charset="-120"/>
                        </a:rPr>
                        <a:t>Holds in ha</a:t>
                      </a:r>
                      <a:endParaRPr lang="en-US" sz="1400" dirty="0">
                        <a:latin typeface="Roboto Medium" charset="0"/>
                        <a:ea typeface="Roboto Medium" charset="0"/>
                        <a:cs typeface="Roboto Medium" charset="0"/>
                      </a:endParaRPr>
                    </a:p>
                  </a:txBody>
                  <a:tcPr marL="127000" marR="127000" marT="63500" marB="635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bl>
          </a:graphicData>
        </a:graphic>
      </p:graphicFrame>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84048"/>
            <a:ext cx="2866644"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STOPPED LAND</a:t>
            </a:r>
            <a:endParaRPr lang="en-US" sz="1200" dirty="0"/>
          </a:p>
        </p:txBody>
      </p:sp>
      <p:sp>
        <p:nvSpPr>
          <p:cNvPr id="3" name="Shape 1"/>
          <p:cNvSpPr/>
          <p:nvPr/>
        </p:nvSpPr>
        <p:spPr>
          <a:xfrm>
            <a:off x="3479292" y="521208"/>
            <a:ext cx="5832043"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Stopped land: often water, often mined again within 2 years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Stopped land (left the mining class), share by what it became and share mining again within 2 years, period means · four zones · 2016–18, 2019–21, 2022–25 (small numbers under the bars: stopped ha/yr). Numbers on top: share mining again within 2 years.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1_stopped_split.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84048"/>
            <a:ext cx="3977640"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ROAD AND RESERVE EDGE</a:t>
            </a:r>
            <a:endParaRPr lang="en-US" sz="1200" dirty="0"/>
          </a:p>
        </p:txBody>
      </p:sp>
      <p:sp>
        <p:nvSpPr>
          <p:cNvPr id="3" name="Shape 1"/>
          <p:cNvSpPr/>
          <p:nvPr/>
        </p:nvSpPr>
        <p:spPr>
          <a:xfrm>
            <a:off x="4590288" y="521208"/>
            <a:ext cx="472104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At the road the gap swung north; at the reserve edge nothing</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parts where linear) · La Pampa longitudes · 2014–25 · see the methods page for the full setup</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v2_rdd.png">    </p:cNvPr>
          <p:cNvPicPr>
            <a:picLocks noChangeAspect="1"/>
          </p:cNvPicPr>
          <p:nvPr/>
        </p:nvPicPr>
        <p:blipFill>
          <a:blip r:embed="rId1"/>
          <a:stretch>
            <a:fillRect/>
          </a:stretch>
        </p:blipFill>
        <p:spPr>
          <a:xfrm>
            <a:off x="3132212" y="1783080"/>
            <a:ext cx="5927271"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84048"/>
            <a:ext cx="261975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1-KM CELLS</a:t>
            </a:r>
            <a:endParaRPr lang="en-US" sz="1200" dirty="0"/>
          </a:p>
        </p:txBody>
      </p:sp>
      <p:sp>
        <p:nvSpPr>
          <p:cNvPr id="3" name="Shape 1"/>
          <p:cNvSpPr/>
          <p:nvPr/>
        </p:nvSpPr>
        <p:spPr>
          <a:xfrm>
            <a:off x="3232404" y="521208"/>
            <a:ext cx="607893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Cell panel: close to a before/after, not a clean comparison</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(and parts where linear) · La Pampa longitudes · 2014–25 · see the methods page for the full setup</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fig_v2_stats_event.png">    </p:cNvPr>
          <p:cNvPicPr>
            <a:picLocks noChangeAspect="1"/>
          </p:cNvPicPr>
          <p:nvPr/>
        </p:nvPicPr>
        <p:blipFill>
          <a:blip r:embed="rId1"/>
          <a:stretch>
            <a:fillRect/>
          </a:stretch>
        </p:blipFill>
        <p:spPr>
          <a:xfrm>
            <a:off x="1466698" y="1783080"/>
            <a:ext cx="9258300" cy="452628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84048"/>
            <a:ext cx="200253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TWINS</a:t>
            </a:r>
            <a:endParaRPr lang="en-US" sz="1200" dirty="0"/>
          </a:p>
        </p:txBody>
      </p:sp>
      <p:sp>
        <p:nvSpPr>
          <p:cNvPr id="3" name="Shape 1"/>
          <p:cNvSpPr/>
          <p:nvPr/>
        </p:nvSpPr>
        <p:spPr>
          <a:xfrm>
            <a:off x="2615184" y="521208"/>
            <a:ext cx="669615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Twins: Tambopata at 16%–41% of their pace; trends differed before</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Left: mining area (stock), index 2018 = 100, 2010–18 (pre-trends rejected, p &lt; 0.001). Right: Amazon Mining Watch new area 2019–21 per year, % of own 2018 area: a different measure, not net additions.</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2_twins.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84048"/>
            <a:ext cx="2125980"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BRAZIL</a:t>
            </a:r>
            <a:endParaRPr lang="en-US" sz="1200" dirty="0"/>
          </a:p>
        </p:txBody>
      </p:sp>
      <p:sp>
        <p:nvSpPr>
          <p:cNvPr id="3" name="Shape 1"/>
          <p:cNvSpPr/>
          <p:nvPr/>
        </p:nvSpPr>
        <p:spPr>
          <a:xfrm>
            <a:off x="2738628" y="521208"/>
            <a:ext cx="6572707"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Brazil: a boom, then a fall; operations came at the peak</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Net mining additions, ha/yr · MapBiomas Brazil (indigenous lands: Collection 11; staggered DiD: Collection 11 rasters, our pixel accounting)</a:t>
            </a:r>
            <a:endParaRPr lang="en-US" sz="1250" dirty="0"/>
          </a:p>
        </p:txBody>
      </p:sp>
      <p:sp>
        <p:nvSpPr>
          <p:cNvPr id="7" name="Text 5"/>
          <p:cNvSpPr txBox="1"/>
          <p:nvPr/>
        </p:nvSpPr>
        <p:spPr>
          <a:xfrm>
            <a:off x="502920" y="1737360"/>
            <a:ext cx="352044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ALL INDIGENOUS LANDS, ARTISANAL</a:t>
            </a:r>
            <a:endParaRPr lang="en-US" sz="1100" dirty="0"/>
          </a:p>
        </p:txBody>
      </p:sp>
      <p:sp>
        <p:nvSpPr>
          <p:cNvPr id="8" name="Text 6"/>
          <p:cNvSpPr txBox="1"/>
          <p:nvPr/>
        </p:nvSpPr>
        <p:spPr>
          <a:xfrm>
            <a:off x="502920" y="2048256"/>
            <a:ext cx="3520440" cy="777240"/>
          </a:xfrm>
          <a:prstGeom prst="rect">
            <a:avLst/>
          </a:prstGeom>
          <a:noFill/>
          <a:ln/>
        </p:spPr>
        <p:txBody>
          <a:bodyPr wrap="square" lIns="0" tIns="0" rIns="0" bIns="0" rtlCol="0" anchor="t"/>
          <a:lstStyle/>
          <a:p>
            <a:pPr indent="0" marL="0">
              <a:buNone/>
            </a:pPr>
            <a:r>
              <a:rPr lang="en-US" sz="2600" dirty="0">
                <a:solidFill>
                  <a:srgbClr val="22383F"/>
                </a:solidFill>
                <a:latin typeface="Roboto Light" pitchFamily="34" charset="0"/>
                <a:ea typeface="Roboto Light" pitchFamily="34" charset="-122"/>
                <a:cs typeface="Roboto Light" pitchFamily="34" charset="-120"/>
              </a:rPr>
              <a:t>1,332 → 4,319 → 2,978</a:t>
            </a:r>
            <a:endParaRPr lang="en-US" sz="2600" dirty="0"/>
          </a:p>
        </p:txBody>
      </p:sp>
      <p:sp>
        <p:nvSpPr>
          <p:cNvPr id="9" name="Text 7"/>
          <p:cNvSpPr txBox="1"/>
          <p:nvPr/>
        </p:nvSpPr>
        <p:spPr>
          <a:xfrm>
            <a:off x="502920" y="2852928"/>
            <a:ext cx="3520440" cy="82296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ha/yr net additions, 2016–18 → 2019–22 → 2023–25</a:t>
            </a:r>
            <a:endParaRPr lang="en-US" sz="1400" dirty="0"/>
          </a:p>
        </p:txBody>
      </p:sp>
      <p:sp>
        <p:nvSpPr>
          <p:cNvPr id="10" name="Shape 8"/>
          <p:cNvSpPr/>
          <p:nvPr/>
        </p:nvSpPr>
        <p:spPr>
          <a:xfrm>
            <a:off x="4096512" y="1737360"/>
            <a:ext cx="0" cy="2194560"/>
          </a:xfrm>
          <a:prstGeom prst="line">
            <a:avLst/>
          </a:prstGeom>
          <a:noFill/>
          <a:ln w="9525">
            <a:solidFill>
              <a:srgbClr val="D9D2C7"/>
            </a:solidFill>
            <a:prstDash val="solid"/>
          </a:ln>
        </p:spPr>
      </p:sp>
      <p:sp>
        <p:nvSpPr>
          <p:cNvPr id="11" name="Text 9"/>
          <p:cNvSpPr txBox="1"/>
          <p:nvPr/>
        </p:nvSpPr>
        <p:spPr>
          <a:xfrm>
            <a:off x="4279392" y="1737360"/>
            <a:ext cx="352044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YANOMAMI TERRITORY</a:t>
            </a:r>
            <a:endParaRPr lang="en-US" sz="1100" dirty="0"/>
          </a:p>
        </p:txBody>
      </p:sp>
      <p:sp>
        <p:nvSpPr>
          <p:cNvPr id="12" name="Text 10"/>
          <p:cNvSpPr txBox="1"/>
          <p:nvPr/>
        </p:nvSpPr>
        <p:spPr>
          <a:xfrm>
            <a:off x="4279392" y="2048256"/>
            <a:ext cx="3520440" cy="777240"/>
          </a:xfrm>
          <a:prstGeom prst="rect">
            <a:avLst/>
          </a:prstGeom>
          <a:noFill/>
          <a:ln/>
        </p:spPr>
        <p:txBody>
          <a:bodyPr wrap="square" lIns="0" tIns="0" rIns="0" bIns="0" rtlCol="0" anchor="t"/>
          <a:lstStyle/>
          <a:p>
            <a:pPr indent="0" marL="0">
              <a:buNone/>
            </a:pPr>
            <a:r>
              <a:rPr lang="en-US" sz="2600" dirty="0">
                <a:solidFill>
                  <a:srgbClr val="22383F"/>
                </a:solidFill>
                <a:latin typeface="Roboto Light" pitchFamily="34" charset="0"/>
                <a:ea typeface="Roboto Light" pitchFamily="34" charset="-122"/>
                <a:cs typeface="Roboto Light" pitchFamily="34" charset="-120"/>
              </a:rPr>
              <a:t>500 → 482</a:t>
            </a:r>
            <a:endParaRPr lang="en-US" sz="2600" dirty="0"/>
          </a:p>
        </p:txBody>
      </p:sp>
      <p:sp>
        <p:nvSpPr>
          <p:cNvPr id="13" name="Text 11"/>
          <p:cNvSpPr txBox="1"/>
          <p:nvPr/>
        </p:nvSpPr>
        <p:spPr>
          <a:xfrm>
            <a:off x="4279392" y="2852928"/>
            <a:ext cx="3520440" cy="82296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ha/yr net additions, 2019–22 → 2023–25 (operation from Feb 2023)</a:t>
            </a:r>
            <a:endParaRPr lang="en-US" sz="1400" dirty="0"/>
          </a:p>
        </p:txBody>
      </p:sp>
      <p:sp>
        <p:nvSpPr>
          <p:cNvPr id="14" name="Shape 12"/>
          <p:cNvSpPr/>
          <p:nvPr/>
        </p:nvSpPr>
        <p:spPr>
          <a:xfrm>
            <a:off x="7872984" y="1737360"/>
            <a:ext cx="0" cy="2194560"/>
          </a:xfrm>
          <a:prstGeom prst="line">
            <a:avLst/>
          </a:prstGeom>
          <a:noFill/>
          <a:ln w="9525">
            <a:solidFill>
              <a:srgbClr val="D9D2C7"/>
            </a:solidFill>
            <a:prstDash val="solid"/>
          </a:ln>
        </p:spPr>
      </p:sp>
      <p:sp>
        <p:nvSpPr>
          <p:cNvPr id="15" name="Text 13"/>
          <p:cNvSpPr txBox="1"/>
          <p:nvPr/>
        </p:nvSpPr>
        <p:spPr>
          <a:xfrm>
            <a:off x="8055864" y="1737360"/>
            <a:ext cx="3520440" cy="256032"/>
          </a:xfrm>
          <a:prstGeom prst="rect">
            <a:avLst/>
          </a:prstGeom>
          <a:noFill/>
          <a:ln/>
        </p:spPr>
        <p:txBody>
          <a:bodyPr wrap="square" lIns="0" tIns="0" rIns="0" bIns="0" rtlCol="0" anchor="ctr"/>
          <a:lstStyle/>
          <a:p>
            <a:pPr indent="0" marL="0">
              <a:buNone/>
            </a:pPr>
            <a:r>
              <a:rPr lang="en-US" sz="1100" spc="200" kern="0" dirty="0">
                <a:solidFill>
                  <a:srgbClr val="4A5B60"/>
                </a:solidFill>
                <a:latin typeface="Roboto Medium" pitchFamily="34" charset="0"/>
                <a:ea typeface="Roboto Medium" pitchFamily="34" charset="-122"/>
                <a:cs typeface="Roboto Medium" pitchFamily="34" charset="-120"/>
              </a:rPr>
              <a:t>STAGGERED DID, 9 TERRITORIES</a:t>
            </a:r>
            <a:endParaRPr lang="en-US" sz="1100" dirty="0"/>
          </a:p>
        </p:txBody>
      </p:sp>
      <p:sp>
        <p:nvSpPr>
          <p:cNvPr id="16" name="Text 14"/>
          <p:cNvSpPr txBox="1"/>
          <p:nvPr/>
        </p:nvSpPr>
        <p:spPr>
          <a:xfrm>
            <a:off x="8055864" y="2048256"/>
            <a:ext cx="3520440" cy="777240"/>
          </a:xfrm>
          <a:prstGeom prst="rect">
            <a:avLst/>
          </a:prstGeom>
          <a:noFill/>
          <a:ln/>
        </p:spPr>
        <p:txBody>
          <a:bodyPr wrap="square" lIns="0" tIns="0" rIns="0" bIns="0" rtlCol="0" anchor="t"/>
          <a:lstStyle/>
          <a:p>
            <a:pPr indent="0" marL="0">
              <a:buNone/>
            </a:pPr>
            <a:r>
              <a:rPr lang="en-US" sz="2600" dirty="0">
                <a:solidFill>
                  <a:srgbClr val="22383F"/>
                </a:solidFill>
                <a:latin typeface="Roboto Light" pitchFamily="34" charset="0"/>
                <a:ea typeface="Roboto Light" pitchFamily="34" charset="-122"/>
                <a:cs typeface="Roboto Light" pitchFamily="34" charset="-120"/>
              </a:rPr>
              <a:t>+166</a:t>
            </a:r>
            <a:endParaRPr lang="en-US" sz="2600" dirty="0"/>
          </a:p>
        </p:txBody>
      </p:sp>
      <p:sp>
        <p:nvSpPr>
          <p:cNvPr id="17" name="Text 15"/>
          <p:cNvSpPr txBox="1"/>
          <p:nvPr/>
        </p:nvSpPr>
        <p:spPr>
          <a:xfrm>
            <a:off x="8055864" y="2852928"/>
            <a:ext cx="3520440" cy="822960"/>
          </a:xfrm>
          <a:prstGeom prst="rect">
            <a:avLst/>
          </a:prstGeom>
          <a:noFill/>
          <a:ln/>
        </p:spPr>
        <p:txBody>
          <a:bodyPr wrap="square" lIns="0" tIns="0" rIns="0" bIns="0" rtlCol="0" anchor="t"/>
          <a:lstStyle/>
          <a:p>
            <a:pPr indent="0" marL="0">
              <a:buNone/>
            </a:pPr>
            <a:r>
              <a:rPr lang="en-US" sz="1400" dirty="0">
                <a:solidFill>
                  <a:srgbClr val="4A5B60"/>
                </a:solidFill>
                <a:latin typeface="Roboto" pitchFamily="34" charset="0"/>
                <a:ea typeface="Roboto" pitchFamily="34" charset="-122"/>
                <a:cs typeface="Roboto" pitchFamily="34" charset="-120"/>
              </a:rPr>
              <a:t>ha/yr net, p = 0.37: cannot separate</a:t>
            </a:r>
            <a:endParaRPr lang="en-US" sz="1400" dirty="0"/>
          </a:p>
        </p:txBody>
      </p:sp>
      <p:sp>
        <p:nvSpPr>
          <p:cNvPr id="18" name="plate"/>
          <p:cNvSpPr/>
          <p:nvPr/>
        </p:nvSpPr>
        <p:spPr>
          <a:xfrm>
            <a:off x="502920" y="4343400"/>
            <a:ext cx="11185855" cy="1097280"/>
          </a:xfrm>
          <a:prstGeom prst="rect">
            <a:avLst/>
          </a:prstGeom>
          <a:solidFill>
            <a:srgbClr val="FBFAF7"/>
          </a:solidFill>
          <a:ln w="9525">
            <a:solidFill>
              <a:srgbClr val="D9D2C7"/>
            </a:solidFill>
            <a:prstDash val="solid"/>
          </a:ln>
        </p:spPr>
      </p:sp>
      <p:sp>
        <p:nvSpPr>
          <p:cNvPr id="19" name="Text 17"/>
          <p:cNvSpPr txBox="1"/>
          <p:nvPr/>
        </p:nvSpPr>
        <p:spPr>
          <a:xfrm>
            <a:off x="731520" y="4343400"/>
            <a:ext cx="10728655" cy="1097280"/>
          </a:xfrm>
          <a:prstGeom prst="rect">
            <a:avLst/>
          </a:prstGeom>
          <a:noFill/>
          <a:ln/>
        </p:spPr>
        <p:txBody>
          <a:bodyPr wrap="square" lIns="0" tIns="0" rIns="0" bIns="0" rtlCol="0" anchor="ctr"/>
          <a:lstStyle/>
          <a:p>
            <a:pPr indent="0" marL="0">
              <a:buNone/>
            </a:pPr>
            <a:r>
              <a:rPr lang="en-US" sz="2000" dirty="0">
                <a:solidFill>
                  <a:srgbClr val="22383F"/>
                </a:solidFill>
                <a:latin typeface="Roboto Light" pitchFamily="34" charset="0"/>
                <a:ea typeface="Roboto Light" pitchFamily="34" charset="-122"/>
                <a:cs typeface="Roboto Light" pitchFamily="34" charset="-120"/>
              </a:rPr>
              <a:t>Operations came at the peak of a boom, together with national gold-sale reforms (Jan 2023). Our design cannot separate them.</a:t>
            </a:r>
            <a:endParaRPr lang="en-US" sz="2000" dirty="0"/>
          </a:p>
        </p:txBody>
      </p:sp>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84048"/>
            <a:ext cx="3113532"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MONEY AND GOLD</a:t>
            </a:r>
            <a:endParaRPr lang="en-US" sz="1200" dirty="0"/>
          </a:p>
        </p:txBody>
      </p:sp>
      <p:sp>
        <p:nvSpPr>
          <p:cNvPr id="3" name="Shape 1"/>
          <p:cNvSpPr/>
          <p:nvPr/>
        </p:nvSpPr>
        <p:spPr>
          <a:xfrm>
            <a:off x="3726180" y="521208"/>
            <a:ext cx="558515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Enforcement money peaked in 2019 and faded; gold rose 2.7-fold</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Same years in each panel · PP 0128 executed spending, Madre de Dios (lower bound) · gold price, nominal · net mining additions, La Pampa sector, ha/yr · 2012–2025. Shaded: 2019–21. Context, not a test.</a:t>
            </a:r>
            <a:endParaRPr lang="en-US" sz="1250" dirty="0"/>
          </a:p>
        </p:txBody>
      </p:sp>
      <p:sp>
        <p:nvSpPr>
          <p:cNvPr id="7" name="plate"/>
          <p:cNvSpPr/>
          <p:nvPr/>
        </p:nvSpPr>
        <p:spPr>
          <a:xfrm>
            <a:off x="502920" y="1737360"/>
            <a:ext cx="11185855" cy="4617720"/>
          </a:xfrm>
          <a:prstGeom prst="rect">
            <a:avLst/>
          </a:prstGeom>
          <a:solidFill>
            <a:srgbClr val="FBFAF7"/>
          </a:solidFill>
          <a:ln w="9525">
            <a:solidFill>
              <a:srgbClr val="D9D2C7"/>
            </a:solidFill>
            <a:prstDash val="solid"/>
          </a:ln>
        </p:spPr>
      </p:sp>
      <p:pic>
        <p:nvPicPr>
          <p:cNvPr id="8" name="Image 0" descr="slide_b3_context.png">    </p:cNvPr>
          <p:cNvPicPr>
            <a:picLocks noChangeAspect="1"/>
          </p:cNvPicPr>
          <p:nvPr/>
        </p:nvPicPr>
        <p:blipFill>
          <a:blip r:embed="rId1"/>
          <a:stretch>
            <a:fillRect/>
          </a:stretch>
        </p:blipFill>
        <p:spPr>
          <a:xfrm>
            <a:off x="557784" y="1916196"/>
            <a:ext cx="11076127" cy="4260049"/>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84048"/>
            <a:ext cx="3854196"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DEFINITIONS AND DATA</a:t>
            </a:r>
            <a:endParaRPr lang="en-US" sz="1200" dirty="0"/>
          </a:p>
        </p:txBody>
      </p:sp>
      <p:sp>
        <p:nvSpPr>
          <p:cNvPr id="3" name="Shape 1"/>
          <p:cNvSpPr/>
          <p:nvPr/>
        </p:nvSpPr>
        <p:spPr>
          <a:xfrm>
            <a:off x="4466844" y="521208"/>
            <a:ext cx="4844491"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Definitions and data</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One outcome, one zone registry, one treatment (plan v3) · every number in this deck comes from output/numbers.csv</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2651760"/>
                <a:gridCol w="5394960"/>
                <a:gridCol w="3136392"/>
              </a:tblGrid>
              <a:tr h="512064">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ITEM</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DEFINITION</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c>
                  <a:txBody>
                    <a:bodyPr/>
                    <a:lstStyle/>
                    <a:p>
                      <a:pPr indent="0" marL="0">
                        <a:buNone/>
                      </a:pPr>
                      <a:r>
                        <a:rPr lang="en-US" sz="1050" spc="150" kern="0" dirty="0">
                          <a:solidFill>
                            <a:srgbClr val="4A5B60"/>
                          </a:solidFill>
                          <a:latin typeface="Roboto Medium" pitchFamily="34" charset="0"/>
                          <a:ea typeface="Roboto Medium" pitchFamily="34" charset="-122"/>
                          <a:cs typeface="Roboto Medium" pitchFamily="34" charset="-120"/>
                        </a:rPr>
                        <a:t>SOURCE</a:t>
                      </a:r>
                      <a:endParaRPr lang="en-US" sz="1050" dirty="0">
                        <a:latin typeface="Roboto Medium" charset="0"/>
                        <a:ea typeface="Roboto Medium" charset="0"/>
                        <a:cs typeface="Roboto Medium"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E9E4DC"/>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Net mining additions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Mining area in year t − year t−1, ha/yr = new land + re-mined − stopped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MapBiomas Peru Collection 4 rasters (30 m, class 4.2)</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New land / re-mined / stopped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First time since 1985 / mined again after a gap / left the mining class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Our pixel accounting (code/raster_zones.py)</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Tambopata buffer zone</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Official SERNANP polygon, whole (incl. Kotsimba)</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SERNANP</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La Pampa sector</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Tambopata buffer zone between 70.15° and 69.80° W (no official line)</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Our boundary</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Corridor across the road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D.L. 1100 corridor ≤ 10 km north of the highway, La Pampa longitudes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INGEMMET, RAISG</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Treatment</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Operation Mercurio, Feb 2019; first treated year 2019; reference 2018</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MAAP #130; MINAM</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r h="512064">
                <a:tc>
                  <a:txBody>
                    <a:bodyPr/>
                    <a:lstStyle/>
                    <a:p>
                      <a:pPr indent="0" marL="0">
                        <a:buNone/>
                      </a:pPr>
                      <a:r>
                        <a:rPr lang="en-US" sz="1300" dirty="0">
                          <a:solidFill>
                            <a:srgbClr val="22383F"/>
                          </a:solidFill>
                          <a:latin typeface="Roboto" pitchFamily="34" charset="0"/>
                          <a:ea typeface="Roboto" pitchFamily="34" charset="-122"/>
                          <a:cs typeface="Roboto" pitchFamily="34" charset="-120"/>
                        </a:rPr>
                        <a:t>Periods</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2016–18 before · 2019–21 Mercurio and what followed · 2022–25 later years (± 2023)</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c>
                  <a:txBody>
                    <a:bodyPr/>
                    <a:lstStyle/>
                    <a:p>
                      <a:pPr indent="0" marL="0">
                        <a:buNone/>
                      </a:pPr>
                      <a:r>
                        <a:rPr lang="en-US" sz="1300" dirty="0">
                          <a:solidFill>
                            <a:srgbClr val="22383F"/>
                          </a:solidFill>
                          <a:latin typeface="Roboto" pitchFamily="34" charset="0"/>
                          <a:ea typeface="Roboto" pitchFamily="34" charset="-122"/>
                          <a:cs typeface="Roboto" pitchFamily="34" charset="-120"/>
                        </a:rPr>
                        <a:t>Course card</a:t>
                      </a:r>
                      <a:endParaRPr lang="en-US" sz="1300" dirty="0">
                        <a:latin typeface="Roboto" charset="0"/>
                        <a:ea typeface="Roboto" charset="0"/>
                        <a:cs typeface="Roboto" charset="0"/>
                      </a:endParaRPr>
                    </a:p>
                  </a:txBody>
                  <a:tcPr marL="127000" marR="127000" marT="50800" marB="50800" anchor="ctr">
                    <a:lnL w="9525" cap="flat" cmpd="sng" algn="ctr">
                      <a:solidFill>
                        <a:srgbClr val="D9D2C7"/>
                      </a:solidFill>
                      <a:prstDash val="solid"/>
                      <a:round/>
                      <a:headEnd type="none" w="med" len="med"/>
                      <a:tailEnd type="none" w="med" len="med"/>
                    </a:lnL>
                    <a:lnR w="9525" cap="flat" cmpd="sng" algn="ctr">
                      <a:solidFill>
                        <a:srgbClr val="D9D2C7"/>
                      </a:solidFill>
                      <a:prstDash val="solid"/>
                      <a:round/>
                      <a:headEnd type="none" w="med" len="med"/>
                      <a:tailEnd type="none" w="med" len="med"/>
                    </a:lnR>
                    <a:lnT w="9525" cap="flat" cmpd="sng" algn="ctr">
                      <a:solidFill>
                        <a:srgbClr val="D9D2C7"/>
                      </a:solidFill>
                      <a:prstDash val="solid"/>
                      <a:round/>
                      <a:headEnd type="none" w="med" len="med"/>
                      <a:tailEnd type="none" w="med" len="med"/>
                    </a:lnT>
                    <a:lnB w="9525" cap="flat" cmpd="sng" algn="ctr">
                      <a:solidFill>
                        <a:srgbClr val="D9D2C7"/>
                      </a:solidFill>
                      <a:prstDash val="solid"/>
                      <a:round/>
                      <a:headEnd type="none" w="med" len="med"/>
                      <a:tailEnd type="none" w="med" len="med"/>
                    </a:lnB>
                    <a:solidFill>
                      <a:srgbClr val="FBFAF7"/>
                    </a:solidFill>
                  </a:tcPr>
                </a:tc>
              </a:tr>
            </a:tbl>
          </a:graphicData>
        </a:graphic>
      </p:graphicFrame>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84048"/>
            <a:ext cx="2496312" cy="274320"/>
          </a:xfrm>
          <a:prstGeom prst="rect">
            <a:avLst/>
          </a:prstGeom>
          <a:noFill/>
          <a:ln/>
        </p:spPr>
        <p:txBody>
          <a:bodyPr wrap="square" lIns="0" tIns="0" rIns="0" bIns="0" rtlCol="0" anchor="ctr"/>
          <a:lstStyle/>
          <a:p>
            <a:pPr indent="0" marL="0">
              <a:buNone/>
            </a:pPr>
            <a:r>
              <a:rPr lang="en-US" sz="1200" spc="220" kern="0" dirty="0">
                <a:solidFill>
                  <a:srgbClr val="3C7D2C"/>
                </a:solidFill>
                <a:latin typeface="Roboto Medium" pitchFamily="34" charset="0"/>
                <a:ea typeface="Roboto Medium" pitchFamily="34" charset="-122"/>
                <a:cs typeface="Roboto Medium" pitchFamily="34" charset="-120"/>
              </a:rPr>
              <a:t>BACKUP · MAP STEPS</a:t>
            </a:r>
            <a:endParaRPr lang="en-US" sz="1200" dirty="0"/>
          </a:p>
        </p:txBody>
      </p:sp>
      <p:sp>
        <p:nvSpPr>
          <p:cNvPr id="3" name="Shape 1"/>
          <p:cNvSpPr/>
          <p:nvPr/>
        </p:nvSpPr>
        <p:spPr>
          <a:xfrm>
            <a:off x="3108960" y="521208"/>
            <a:ext cx="6202375" cy="0"/>
          </a:xfrm>
          <a:prstGeom prst="line">
            <a:avLst/>
          </a:prstGeom>
          <a:noFill/>
          <a:ln w="9525">
            <a:solidFill>
              <a:srgbClr val="3C7D2C">
                <a:alpha val="55000"/>
              </a:srgbClr>
            </a:solidFill>
            <a:prstDash val="solid"/>
          </a:ln>
        </p:spPr>
      </p:sp>
      <p:sp>
        <p:nvSpPr>
          <p:cNvPr id="4" name="claim-D"/>
          <p:cNvSpPr/>
          <p:nvPr/>
        </p:nvSpPr>
        <p:spPr>
          <a:xfrm>
            <a:off x="9539935" y="347472"/>
            <a:ext cx="2148840" cy="310896"/>
          </a:xfrm>
          <a:prstGeom prst="roundRect">
            <a:avLst>
              <a:gd name="adj" fmla="val 50000"/>
            </a:avLst>
          </a:prstGeom>
          <a:ln w="12700">
            <a:solidFill>
              <a:srgbClr val="2B6A8A"/>
            </a:solidFill>
          </a:ln>
        </p:spPr>
        <p:txBody>
          <a:bodyPr wrap="square" lIns="0" tIns="0" rIns="0" bIns="0" rtlCol="0" anchor="ctr"/>
          <a:lstStyle/>
          <a:p>
            <a:pPr algn="ctr" indent="0" marL="0">
              <a:buNone/>
            </a:pPr>
            <a:r>
              <a:rPr lang="en-US" sz="1050" spc="150" kern="0" dirty="0">
                <a:solidFill>
                  <a:srgbClr val="2B6A8A"/>
                </a:solidFill>
                <a:latin typeface="Roboto Medium" pitchFamily="34" charset="0"/>
                <a:ea typeface="Roboto Medium" pitchFamily="34" charset="-122"/>
                <a:cs typeface="Roboto Medium" pitchFamily="34" charset="-120"/>
              </a:rPr>
              <a:t>DESCRIPTION</a:t>
            </a:r>
            <a:endParaRPr lang="en-US" sz="1050" dirty="0"/>
          </a:p>
        </p:txBody>
      </p:sp>
      <p:sp>
        <p:nvSpPr>
          <p:cNvPr id="5" name="title"/>
          <p:cNvSpPr txBox="1"/>
          <p:nvPr/>
        </p:nvSpPr>
        <p:spPr>
          <a:xfrm>
            <a:off x="502920" y="731520"/>
            <a:ext cx="11185855" cy="475488"/>
          </a:xfrm>
          <a:prstGeom prst="rect">
            <a:avLst/>
          </a:prstGeom>
          <a:noFill/>
          <a:ln/>
        </p:spPr>
        <p:txBody>
          <a:bodyPr wrap="square" lIns="0" tIns="0" rIns="0" bIns="0" rtlCol="0" anchor="t"/>
          <a:lstStyle/>
          <a:p>
            <a:pPr indent="0" marL="0">
              <a:buNone/>
            </a:pPr>
            <a:r>
              <a:rPr lang="en-US" sz="2800" dirty="0">
                <a:solidFill>
                  <a:srgbClr val="22383F"/>
                </a:solidFill>
                <a:latin typeface="Roboto Light" pitchFamily="34" charset="0"/>
                <a:ea typeface="Roboto Light" pitchFamily="34" charset="-122"/>
                <a:cs typeface="Roboto Light" pitchFamily="34" charset="-120"/>
              </a:rPr>
              <a:t>The map build as four stills</a:t>
            </a:r>
            <a:endParaRPr lang="en-US" sz="2800" dirty="0"/>
          </a:p>
        </p:txBody>
      </p:sp>
      <p:sp>
        <p:nvSpPr>
          <p:cNvPr id="6" name="subtitle"/>
          <p:cNvSpPr txBox="1"/>
          <p:nvPr/>
        </p:nvSpPr>
        <p:spPr>
          <a:xfrm>
            <a:off x="502920" y="1216152"/>
            <a:ext cx="11185855" cy="457200"/>
          </a:xfrm>
          <a:prstGeom prst="rect">
            <a:avLst/>
          </a:prstGeom>
          <a:noFill/>
          <a:ln/>
        </p:spPr>
        <p:txBody>
          <a:bodyPr wrap="square" lIns="0" tIns="0" rIns="0" bIns="0" rtlCol="0" anchor="t"/>
          <a:lstStyle/>
          <a:p>
            <a:pPr indent="0" marL="0">
              <a:buNone/>
            </a:pPr>
            <a:r>
              <a:rPr lang="en-US" sz="1250" dirty="0">
                <a:solidFill>
                  <a:srgbClr val="4A5B60"/>
                </a:solidFill>
                <a:latin typeface="Roboto" pitchFamily="34" charset="0"/>
                <a:ea typeface="Roboto" pitchFamily="34" charset="-122"/>
                <a:cs typeface="Roboto" pitchFamily="34" charset="-120"/>
              </a:rPr>
              <a:t>Fallback if the video does not play · protected areas → highway → corridor → La Pampa</a:t>
            </a:r>
            <a:endParaRPr lang="en-US" sz="1250" dirty="0"/>
          </a:p>
        </p:txBody>
      </p:sp>
      <p:pic>
        <p:nvPicPr>
          <p:cNvPr id="7" name="Image 0" descr="map step 1">    </p:cNvPr>
          <p:cNvPicPr>
            <a:picLocks noChangeAspect="1"/>
          </p:cNvPicPr>
          <p:nvPr/>
        </p:nvPicPr>
        <p:blipFill>
          <a:blip r:embed="rId1"/>
          <a:stretch>
            <a:fillRect/>
          </a:stretch>
        </p:blipFill>
        <p:spPr>
          <a:xfrm>
            <a:off x="2016608" y="1737360"/>
            <a:ext cx="3942080" cy="2217420"/>
          </a:xfrm>
          <a:prstGeom prst="rect">
            <a:avLst/>
          </a:prstGeom>
        </p:spPr>
      </p:pic>
      <p:pic>
        <p:nvPicPr>
          <p:cNvPr id="8" name="Image 1" descr="map step 2">    </p:cNvPr>
          <p:cNvPicPr>
            <a:picLocks noChangeAspect="1"/>
          </p:cNvPicPr>
          <p:nvPr/>
        </p:nvPicPr>
        <p:blipFill>
          <a:blip r:embed="rId2"/>
          <a:stretch>
            <a:fillRect/>
          </a:stretch>
        </p:blipFill>
        <p:spPr>
          <a:xfrm>
            <a:off x="6233008" y="1737360"/>
            <a:ext cx="3942080" cy="2217420"/>
          </a:xfrm>
          <a:prstGeom prst="rect">
            <a:avLst/>
          </a:prstGeom>
        </p:spPr>
      </p:pic>
      <p:pic>
        <p:nvPicPr>
          <p:cNvPr id="9" name="Image 2" descr="map step 3">    </p:cNvPr>
          <p:cNvPicPr>
            <a:picLocks noChangeAspect="1"/>
          </p:cNvPicPr>
          <p:nvPr/>
        </p:nvPicPr>
        <p:blipFill>
          <a:blip r:embed="rId3"/>
          <a:stretch>
            <a:fillRect/>
          </a:stretch>
        </p:blipFill>
        <p:spPr>
          <a:xfrm>
            <a:off x="2016608" y="4137660"/>
            <a:ext cx="3942080" cy="2217420"/>
          </a:xfrm>
          <a:prstGeom prst="rect">
            <a:avLst/>
          </a:prstGeom>
        </p:spPr>
      </p:pic>
      <p:pic>
        <p:nvPicPr>
          <p:cNvPr id="10" name="Image 3" descr="map step 4">    </p:cNvPr>
          <p:cNvPicPr>
            <a:picLocks noChangeAspect="1"/>
          </p:cNvPicPr>
          <p:nvPr/>
        </p:nvPicPr>
        <p:blipFill>
          <a:blip r:embed="rId4"/>
          <a:stretch>
            <a:fillRect/>
          </a:stretch>
        </p:blipFill>
        <p:spPr>
          <a:xfrm>
            <a:off x="6233008" y="4137660"/>
            <a:ext cx="3942080" cy="2217420"/>
          </a:xfrm>
          <a:prstGeom prst="rect">
            <a:avLst/>
          </a:prstGeom>
        </p:spPr>
      </p:pic>
      <p:sp>
        <p:nvSpPr>
          <p:cNvPr id="25" name="Slide Number Placeholder 0"/>
          <p:cNvSpPr>
            <a:spLocks noGrp="1"/>
          </p:cNvSpPr>
          <p:nvPr>
            <p:ph type="sldNum" sz="quarter" idx="4294967295"/>
          </p:nvPr>
        </p:nvSpPr>
        <p:spPr>
          <a:xfrm>
            <a:off x="11140135" y="6510528"/>
            <a:ext cx="548640" cy="219456"/>
          </a:xfrm>
          <a:prstGeom prst="rect">
            <a:avLst/>
          </a:prstGeom>
          <a:extLst>
            <a:ext uri="{C572A759-6A51-4108-AA02-DFA0A04FC94B}">
              <ma14:wrappingTextBoxFlag xmlns:ma14="http://schemas.microsoft.com/office/mac/drawingml/2011/main" val="0"/>
            </a:ext>
          </a:extLst>
        </p:spPr>
        <p:txBody>
          <a:bodyPr/>
          <a:lstStyle>
            <a:lvl1pPr>
              <a:defRPr sz="900">
                <a:solidFill>
                  <a:srgbClr val="6C7B80"/>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FZS student deck">
  <a:themeElements>
    <a:clrScheme name="FZS student deck">
      <a:dk1>
        <a:srgbClr val="22383F"/>
      </a:dk1>
      <a:lt1>
        <a:srgbClr val="FFFFFF"/>
      </a:lt1>
      <a:dk2>
        <a:srgbClr val="243B42"/>
      </a:dk2>
      <a:lt2>
        <a:srgbClr val="F2EFEA"/>
      </a:lt2>
      <a:accent1>
        <a:srgbClr val="3C7D2C"/>
      </a:accent1>
      <a:accent2>
        <a:srgbClr val="B9C94F"/>
      </a:accent2>
      <a:accent3>
        <a:srgbClr val="A42C58"/>
      </a:accent3>
      <a:accent4>
        <a:srgbClr val="D0692F"/>
      </a:accent4>
      <a:accent5>
        <a:srgbClr val="2B74A6"/>
      </a:accent5>
      <a:accent6>
        <a:srgbClr val="858D90"/>
      </a:accent6>
      <a:hlink>
        <a:srgbClr val="2B74A6"/>
      </a:hlink>
      <a:folHlink>
        <a:srgbClr val="6A5ACD"/>
      </a:folHlink>
    </a:clrScheme>
    <a:fontScheme name="FZS student deck">
      <a:majorFont>
        <a:latin typeface="Roboto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Data for Good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patrols leave: Operation Mercurio and FZS</dc:title>
  <dc:subject>PptxGenJS Presentation</dc:subject>
  <dc:creator>Group Giant Anteater</dc:creator>
  <cp:lastModifiedBy>Group Giant Anteater</cp:lastModifiedBy>
  <cp:revision>1</cp:revision>
  <dcterms:created xsi:type="dcterms:W3CDTF">2026-10-15T18:09:45Z</dcterms:created>
  <dcterms:modified xsi:type="dcterms:W3CDTF">2026-10-15T18:09:45Z</dcterms:modified>
</cp:coreProperties>
</file>